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Je vais vous présenter mon stage chez One Tech Business Solutions, consacré au développement d'un système d'IA agentique pour la gestion des appels d'offres publics. En deux mois, ce projet est passé d'un proof of concept à un MVP opérationnel : cent appels d'offres centralisés, cent cinquante-deux documents intégralement traités, et une campagne de validation complète. Je vais vous montrer ce que le système fait, comment il est construit, et surtout les choix d'ingénierie qui le rendent fiable et traçable.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Tech Business Solutions est l'entité de services numériques du groupe tunisien One Tech Group. Ses domaines : le développement logiciel, l'intégration de systèmes d'information, l'IA et la Data, et l'automatisation. Pour ce profil d'entreprise, les marchés publics sont un canal commercial important — à condition de repérer tôt les bonnes opportunités dans le flux quotidien. Mon stage s'est déroulé du 26 juin au 26 août, à temps plein, avec un encadrement fait de démonstrations d'étape et de retours réguliers qui ont structuré la progression du projet.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 traitement manuel d'un appel d'offres enchaîne de nombreuses étapes : lecture, extraction, vérification d'éligibilité, échéances, risques et décision. Chaque étape est simple ; c'est leur répétition sur un volume important d'annonces qui devient coûteuse. Trois difficultés structurent le problème : l'information est dispersée, les documents sont hétérogènes — jusqu'aux scans en arabe — et les titres sont parfois trompeurs. L'enjeu du stage est de transformer ce processus en workflow fiable, répétable et traçable.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mission avait deux faces. La face pédagogique, fixée par mon encadrant : comprendre en profondeur l'IA agentique — et notamment la différence entre un agent et son modèle — et maîtriser OpenClaw. La face livrable : un système réel sur les appels d'offres tunisiens. Six capacités ont été livrées et reliées dans un même MVP : collecte, persistance, extraction documentaire avec OCR, analyse Go/No-Go traçable, automatisation quotidienne et interopérabilité MCP. Chaque capacité a été validée avant d'ajouter la suivante.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point pédagogique central : distinguer quatre notions. Le modèle génère du langage. L'agent l'encadre — objectif, contexte, outils autorisés. Les outils exécutent les opérations fiables. Le workflow borne l'ensemble. Le principe directeur qui en découle a guidé toute la conception : tout ce qui peut être codé et testé est codé et testé ; le modèle n'intervient que pour l'interprétation sémantique. En une phrase : le modèle raisonne, le code vérifie, la base conserve la preuve.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stack est volontairement standard et locale. Python pour tout le déterministe ; PostgreSQL comme source de vérité ; Docker Compose pour la reproductibilité, avec tous les ports liés à l'interface locale. OpenClaw porte la couche agentique avec deux skills métier. n8n planifie, MCP standardise l'accès, Tesseract et LibreOffice traitent les documents difficiles. La diffusion passe par Gmail et Telegram, avec Mailpit comme banc d'essai local. Et Phi-4 Mini, via Ollama, a servi de second avis local à évaluer.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Cette vue résume l'architecture livrée. HAICOP fournit les annonces et les pièces publiques. La couche Python collecte les faits, télécharge les documents, calcule les empreintes et déclenche l'OCR lorsque nécessaire. PostgreSQL devient la source de vérité. OpenClaw consomme ensuite un contexte borné pour produire une fiche et ses scores, tandis que MCP expose cinq outils métier. Enfin, n8n et le worker planifient et diffusent vers Mailpit, Gmail et Telegram. À chaque étage, les validations restent déterministes et la décision finale reste humaine.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diagramme de cas d'utilisation résume qui fait quoi. Les collaborateurs consultent et interrogent l'agent depuis Telegram. L'analyste demande des analyses et garde la décision finale. L'administrateur supervise, sauvegarde et restaure. Et n8n, acteur système, déclenche chaque jour ouvré le cas d'utilisation central : générer et diffuser le digest — qui inclut la collecte, le traitement des documents et l'analyse. Les échanges avec HAICOP se limitent strictement aux requêtes publiques et aux téléchargements bornés.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La traçabilité est portée par le modèle de données. Les faits HAICOP, les documents, le contexte, l'analyse et la diffusion sont séparés. Chaque document et chaque contexte possèdent une empreinte. Les clés métier et contraintes d'unicité permettent de rejouer une opération en mettant à jour l'existant. Pendant la campagne de validation, aucun doublon n'a été observé sur les appels d'offres, les documents, les analyses rejouées ou les envois.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À huit heures les jours ouvrés, n8n appelle une route métier authentifiée du worker. Le worker journalise l'exécution et transmet une mission bornée à OpenClaw. La CLI Python réalise ensuite la collecte, le traitement documentaire, les analyses retenues et le digest. PostgreSQL conserve les sources, les résultats et la preuve de diffusion. Une exécution rejouée reprend l'état existant et n'a produit aucun renvoi doublonné pendant les tests.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Avant toute analyse, les faits HAICOP, les documents, le profil métier et les règles de scoring sont assemblés dans un contexte empreinté. L'agent rédige une fiche en neuf sections avec quatre scores sur vingt-cinq et des preuves explicites. Python vérifie ensuite la complétude, la cohérence des scores, l'intégrité des sources et l'absence de contexte partiel. Une fiche invalide est refusée. Les seuils sont NO_GO sous 45, À DISCUTER de 45 à 69 et GO à partir de 70, uniquement avec un contexte complet. L'humain conserve la décision finale.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 snapshot validé contient cent appels d'offres et cent cinquante-deux documents sur cent cinquante-deux, tous présents, hachés et extraits. La campagne comprend soixante-deux tests locaux et cinq tests d'intégration, soit soixante-sept tests Python, ainsi que six scripts SQL. Les cinq outils MCP et les trois canaux Mailpit, Gmail et Telegram ont été validés. Deux dossiers réels ont produit des décisions NO_GO sourcées ; leur rejeu a réutilisé les identifiants d'analyse 23 et 53 sans créer de nouvelle ligne.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La démonstration s'organise autour de quatre preuves. D'abord l'état réel de PostgreSQL : appels d'offres, documents et empreintes. Ensuite une fiche Go/No-Go complète avec ses sources. Troisième preuve : le rejeu du même contexte conserve l'identifiant existant. Enfin, le pipeline produit un digest dans Mailpit, Gmail et Telegram. Si un canal externe n'est pas disponible, les mêmes preuves restent consultables dans la base et les rapports d'exécution.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La fiabilité a été conçue dès le départ. Le collecteur utilise uniquement les ressources publiques. Les informations absentes restent marquées Non trouvé, les textes des appels d'offres sont traités comme des données et les secrets sont conservés hors du dépôt. Le benchmark Phi-4 Mini reste un second avis isolé du chemin de décision. Enfin, la résilience a été vérifiée par la journalisation d'un incident réseau et par un exercice réel de restauration dans une base isolée.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Ce stage m'a fait pratiquer toute la chaîne technique : architecture, Python, PostgreSQL, Docker, traitement documentaire, OCR, OpenClaw, n8n, MCP, tests et sécurité. Les compétences transversales sont appuyées par des preuves : autonomie du cadrage à la livraison, rigueur grâce aux critères d'acceptation, esprit critique dans l'analyse des résultats, communication au fil des démonstrations et résilience lors des incidents et de l'exercice de restauration.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Pour conclure, le projet livre à One Tech une veille HAICOP centralisée, un corpus documentaire traçable, une analyse Go/No-Go contrôlée et une diffusion multicanale rejouable. La documentation, les tests et les procédures de reprise permettent le transfert technique. La phrase qui résume le choix d'architecture reste la même : le modèle raisonne, le code vérifie, la base conserve la preuve, et l'humain décide. Merci de votre attention ; je suis prêt à répondre à vos questions.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B57"/>
        </a:solidFill>
      </p:bgPr>
    </p:bg>
    <p:spTree>
      <p:nvGrpSpPr>
        <p:cNvPr id="1" name=""/>
        <p:cNvGrpSpPr/>
        <p:nvPr/>
      </p:nvGrpSpPr>
      <p:grpSpPr>
        <a:xfrm>
          <a:off x="0" y="0"/>
          <a:ext cx="0" cy="0"/>
          <a:chOff x="0" y="0"/>
          <a:chExt cx="0" cy="0"/>
        </a:xfrm>
      </p:grpSpPr>
      <p:sp>
        <p:nvSpPr>
          <p:cNvPr id="2" name="Text 0"/>
          <p:cNvSpPr txBox="1"/>
          <p:nvPr/>
        </p:nvSpPr>
        <p:spPr>
          <a:xfrm>
            <a:off x="822960" y="960120"/>
            <a:ext cx="6400800" cy="411480"/>
          </a:xfrm>
          <a:prstGeom prst="rect">
            <a:avLst/>
          </a:prstGeom>
          <a:noFill/>
          <a:ln/>
        </p:spPr>
        <p:txBody>
          <a:bodyPr wrap="square" lIns="0" tIns="0" rIns="0" bIns="0" rtlCol="0" anchor="ctr"/>
          <a:lstStyle/>
          <a:p>
            <a:pPr indent="0" marL="0">
              <a:buNone/>
            </a:pPr>
            <a:r>
              <a:rPr lang="en-US" sz="1600" spc="200" kern="0" dirty="0">
                <a:solidFill>
                  <a:srgbClr val="9FB6CC"/>
                </a:solidFill>
                <a:latin typeface="Calibri" pitchFamily="34" charset="0"/>
                <a:ea typeface="Calibri" pitchFamily="34" charset="-122"/>
                <a:cs typeface="Calibri" pitchFamily="34" charset="-120"/>
              </a:rPr>
              <a:t>Soutenance de stage</a:t>
            </a:r>
            <a:endParaRPr lang="en-US" sz="1600" dirty="0"/>
          </a:p>
        </p:txBody>
      </p:sp>
      <p:sp>
        <p:nvSpPr>
          <p:cNvPr id="3" name="Text 1"/>
          <p:cNvSpPr txBox="1"/>
          <p:nvPr/>
        </p:nvSpPr>
        <p:spPr>
          <a:xfrm>
            <a:off x="822960" y="1371600"/>
            <a:ext cx="10515600" cy="155448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Développement d'un système IA agentique pour la gestion des appels d'offres publics</a:t>
            </a:r>
            <a:endParaRPr lang="en-US" sz="3400" dirty="0"/>
          </a:p>
        </p:txBody>
      </p:sp>
      <p:sp>
        <p:nvSpPr>
          <p:cNvPr id="4" name="Text 2"/>
          <p:cNvSpPr txBox="1"/>
          <p:nvPr/>
        </p:nvSpPr>
        <p:spPr>
          <a:xfrm>
            <a:off x="822960" y="2926080"/>
            <a:ext cx="8229600" cy="502920"/>
          </a:xfrm>
          <a:prstGeom prst="rect">
            <a:avLst/>
          </a:prstGeom>
          <a:noFill/>
          <a:ln/>
        </p:spPr>
        <p:txBody>
          <a:bodyPr wrap="square" lIns="0" tIns="0" rIns="0" bIns="0" rtlCol="0" anchor="ctr"/>
          <a:lstStyle/>
          <a:p>
            <a:pPr indent="0" marL="0">
              <a:buNone/>
            </a:pPr>
            <a:r>
              <a:rPr lang="en-US" sz="2100" i="1" dirty="0">
                <a:solidFill>
                  <a:srgbClr val="E3B341"/>
                </a:solidFill>
                <a:latin typeface="Calibri" pitchFamily="34" charset="0"/>
                <a:ea typeface="Calibri" pitchFamily="34" charset="-122"/>
                <a:cs typeface="Calibri" pitchFamily="34" charset="-120"/>
              </a:rPr>
              <a:t>OneTech Tender Agent</a:t>
            </a:r>
            <a:endParaRPr lang="en-US" sz="2100" dirty="0"/>
          </a:p>
        </p:txBody>
      </p:sp>
      <p:sp>
        <p:nvSpPr>
          <p:cNvPr id="5" name="Shape 3"/>
          <p:cNvSpPr/>
          <p:nvPr/>
        </p:nvSpPr>
        <p:spPr>
          <a:xfrm>
            <a:off x="822960" y="3703320"/>
            <a:ext cx="2697480" cy="960120"/>
          </a:xfrm>
          <a:prstGeom prst="roundRect">
            <a:avLst>
              <a:gd name="adj" fmla="val 6667"/>
            </a:avLst>
          </a:prstGeom>
          <a:solidFill>
            <a:srgbClr val="27496B"/>
          </a:solidFill>
          <a:ln w="12700">
            <a:solidFill>
              <a:srgbClr val="27496B"/>
            </a:solidFill>
            <a:prstDash val="solid"/>
          </a:ln>
        </p:spPr>
      </p:sp>
      <p:sp>
        <p:nvSpPr>
          <p:cNvPr id="6" name="Text 4"/>
          <p:cNvSpPr txBox="1"/>
          <p:nvPr/>
        </p:nvSpPr>
        <p:spPr>
          <a:xfrm>
            <a:off x="822960" y="3776472"/>
            <a:ext cx="2697480" cy="457200"/>
          </a:xfrm>
          <a:prstGeom prst="rect">
            <a:avLst/>
          </a:prstGeom>
          <a:noFill/>
          <a:ln/>
        </p:spPr>
        <p:txBody>
          <a:bodyPr wrap="square" lIns="0" tIns="0" rIns="0" bIns="0" rtlCol="0" anchor="ctr"/>
          <a:lstStyle/>
          <a:p>
            <a:pPr algn="ctr" indent="0" marL="0">
              <a:buNone/>
            </a:pPr>
            <a:r>
              <a:rPr lang="en-US" sz="2400" b="1" dirty="0">
                <a:solidFill>
                  <a:srgbClr val="E3B341"/>
                </a:solidFill>
                <a:latin typeface="Cambria" pitchFamily="34" charset="0"/>
                <a:ea typeface="Cambria" pitchFamily="34" charset="-122"/>
                <a:cs typeface="Cambria" pitchFamily="34" charset="-120"/>
              </a:rPr>
              <a:t>100</a:t>
            </a:r>
            <a:endParaRPr lang="en-US" sz="2400" dirty="0"/>
          </a:p>
        </p:txBody>
      </p:sp>
      <p:sp>
        <p:nvSpPr>
          <p:cNvPr id="7" name="Text 5"/>
          <p:cNvSpPr txBox="1"/>
          <p:nvPr/>
        </p:nvSpPr>
        <p:spPr>
          <a:xfrm>
            <a:off x="914400" y="4224528"/>
            <a:ext cx="2514600" cy="384048"/>
          </a:xfrm>
          <a:prstGeom prst="rect">
            <a:avLst/>
          </a:prstGeom>
          <a:noFill/>
          <a:ln/>
        </p:spPr>
        <p:txBody>
          <a:bodyPr wrap="square" lIns="0" tIns="0" rIns="0" bIns="0" rtlCol="0" anchor="ctr"/>
          <a:lstStyle/>
          <a:p>
            <a:pPr algn="ctr" indent="0" marL="0">
              <a:buNone/>
            </a:pPr>
            <a:r>
              <a:rPr lang="en-US" sz="1200" dirty="0">
                <a:solidFill>
                  <a:srgbClr val="DDE7F0"/>
                </a:solidFill>
                <a:latin typeface="Calibri" pitchFamily="34" charset="0"/>
                <a:ea typeface="Calibri" pitchFamily="34" charset="-122"/>
                <a:cs typeface="Calibri" pitchFamily="34" charset="-120"/>
              </a:rPr>
              <a:t>appels d'offres centralisés</a:t>
            </a:r>
            <a:endParaRPr lang="en-US" sz="1200" dirty="0"/>
          </a:p>
        </p:txBody>
      </p:sp>
      <p:sp>
        <p:nvSpPr>
          <p:cNvPr id="8" name="Shape 6"/>
          <p:cNvSpPr/>
          <p:nvPr/>
        </p:nvSpPr>
        <p:spPr>
          <a:xfrm>
            <a:off x="3703320" y="3703320"/>
            <a:ext cx="2697480" cy="960120"/>
          </a:xfrm>
          <a:prstGeom prst="roundRect">
            <a:avLst>
              <a:gd name="adj" fmla="val 6667"/>
            </a:avLst>
          </a:prstGeom>
          <a:solidFill>
            <a:srgbClr val="27496B"/>
          </a:solidFill>
          <a:ln w="12700">
            <a:solidFill>
              <a:srgbClr val="27496B"/>
            </a:solidFill>
            <a:prstDash val="solid"/>
          </a:ln>
        </p:spPr>
      </p:sp>
      <p:sp>
        <p:nvSpPr>
          <p:cNvPr id="9" name="Text 7"/>
          <p:cNvSpPr txBox="1"/>
          <p:nvPr/>
        </p:nvSpPr>
        <p:spPr>
          <a:xfrm>
            <a:off x="3703320" y="3776472"/>
            <a:ext cx="2697480" cy="457200"/>
          </a:xfrm>
          <a:prstGeom prst="rect">
            <a:avLst/>
          </a:prstGeom>
          <a:noFill/>
          <a:ln/>
        </p:spPr>
        <p:txBody>
          <a:bodyPr wrap="square" lIns="0" tIns="0" rIns="0" bIns="0" rtlCol="0" anchor="ctr"/>
          <a:lstStyle/>
          <a:p>
            <a:pPr algn="ctr" indent="0" marL="0">
              <a:buNone/>
            </a:pPr>
            <a:r>
              <a:rPr lang="en-US" sz="2400" b="1" dirty="0">
                <a:solidFill>
                  <a:srgbClr val="E3B341"/>
                </a:solidFill>
                <a:latin typeface="Cambria" pitchFamily="34" charset="0"/>
                <a:ea typeface="Cambria" pitchFamily="34" charset="-122"/>
                <a:cs typeface="Cambria" pitchFamily="34" charset="-120"/>
              </a:rPr>
              <a:t>152 / 152</a:t>
            </a:r>
            <a:endParaRPr lang="en-US" sz="2400" dirty="0"/>
          </a:p>
        </p:txBody>
      </p:sp>
      <p:sp>
        <p:nvSpPr>
          <p:cNvPr id="10" name="Text 8"/>
          <p:cNvSpPr txBox="1"/>
          <p:nvPr/>
        </p:nvSpPr>
        <p:spPr>
          <a:xfrm>
            <a:off x="3794760" y="4224528"/>
            <a:ext cx="2514600" cy="384048"/>
          </a:xfrm>
          <a:prstGeom prst="rect">
            <a:avLst/>
          </a:prstGeom>
          <a:noFill/>
          <a:ln/>
        </p:spPr>
        <p:txBody>
          <a:bodyPr wrap="square" lIns="0" tIns="0" rIns="0" bIns="0" rtlCol="0" anchor="ctr"/>
          <a:lstStyle/>
          <a:p>
            <a:pPr algn="ctr" indent="0" marL="0">
              <a:buNone/>
            </a:pPr>
            <a:r>
              <a:rPr lang="en-US" sz="1200" dirty="0">
                <a:solidFill>
                  <a:srgbClr val="DDE7F0"/>
                </a:solidFill>
                <a:latin typeface="Calibri" pitchFamily="34" charset="0"/>
                <a:ea typeface="Calibri" pitchFamily="34" charset="-122"/>
                <a:cs typeface="Calibri" pitchFamily="34" charset="-120"/>
              </a:rPr>
              <a:t>documents traités</a:t>
            </a:r>
            <a:endParaRPr lang="en-US" sz="1200" dirty="0"/>
          </a:p>
        </p:txBody>
      </p:sp>
      <p:sp>
        <p:nvSpPr>
          <p:cNvPr id="11" name="Shape 9"/>
          <p:cNvSpPr/>
          <p:nvPr/>
        </p:nvSpPr>
        <p:spPr>
          <a:xfrm>
            <a:off x="6583680" y="3703320"/>
            <a:ext cx="2697480" cy="960120"/>
          </a:xfrm>
          <a:prstGeom prst="roundRect">
            <a:avLst>
              <a:gd name="adj" fmla="val 6667"/>
            </a:avLst>
          </a:prstGeom>
          <a:solidFill>
            <a:srgbClr val="27496B"/>
          </a:solidFill>
          <a:ln w="12700">
            <a:solidFill>
              <a:srgbClr val="27496B"/>
            </a:solidFill>
            <a:prstDash val="solid"/>
          </a:ln>
        </p:spPr>
      </p:sp>
      <p:sp>
        <p:nvSpPr>
          <p:cNvPr id="12" name="Text 10"/>
          <p:cNvSpPr txBox="1"/>
          <p:nvPr/>
        </p:nvSpPr>
        <p:spPr>
          <a:xfrm>
            <a:off x="6583680" y="3776472"/>
            <a:ext cx="2697480" cy="457200"/>
          </a:xfrm>
          <a:prstGeom prst="rect">
            <a:avLst/>
          </a:prstGeom>
          <a:noFill/>
          <a:ln/>
        </p:spPr>
        <p:txBody>
          <a:bodyPr wrap="square" lIns="0" tIns="0" rIns="0" bIns="0" rtlCol="0" anchor="ctr"/>
          <a:lstStyle/>
          <a:p>
            <a:pPr algn="ctr" indent="0" marL="0">
              <a:buNone/>
            </a:pPr>
            <a:r>
              <a:rPr lang="en-US" sz="2400" b="1" dirty="0">
                <a:solidFill>
                  <a:srgbClr val="E3B341"/>
                </a:solidFill>
                <a:latin typeface="Cambria" pitchFamily="34" charset="0"/>
                <a:ea typeface="Cambria" pitchFamily="34" charset="-122"/>
                <a:cs typeface="Cambria" pitchFamily="34" charset="-120"/>
              </a:rPr>
              <a:t>67 + 6</a:t>
            </a:r>
            <a:endParaRPr lang="en-US" sz="2400" dirty="0"/>
          </a:p>
        </p:txBody>
      </p:sp>
      <p:sp>
        <p:nvSpPr>
          <p:cNvPr id="13" name="Text 11"/>
          <p:cNvSpPr txBox="1"/>
          <p:nvPr/>
        </p:nvSpPr>
        <p:spPr>
          <a:xfrm>
            <a:off x="6675120" y="4224528"/>
            <a:ext cx="2514600" cy="384048"/>
          </a:xfrm>
          <a:prstGeom prst="rect">
            <a:avLst/>
          </a:prstGeom>
          <a:noFill/>
          <a:ln/>
        </p:spPr>
        <p:txBody>
          <a:bodyPr wrap="square" lIns="0" tIns="0" rIns="0" bIns="0" rtlCol="0" anchor="ctr"/>
          <a:lstStyle/>
          <a:p>
            <a:pPr algn="ctr" indent="0" marL="0">
              <a:buNone/>
            </a:pPr>
            <a:r>
              <a:rPr lang="en-US" sz="1200" dirty="0">
                <a:solidFill>
                  <a:srgbClr val="DDE7F0"/>
                </a:solidFill>
                <a:latin typeface="Calibri" pitchFamily="34" charset="0"/>
                <a:ea typeface="Calibri" pitchFamily="34" charset="-122"/>
                <a:cs typeface="Calibri" pitchFamily="34" charset="-120"/>
              </a:rPr>
              <a:t>tests réussis (Python + SQL)</a:t>
            </a:r>
            <a:endParaRPr lang="en-US" sz="1200" dirty="0"/>
          </a:p>
        </p:txBody>
      </p:sp>
      <p:sp>
        <p:nvSpPr>
          <p:cNvPr id="14" name="Text 12"/>
          <p:cNvSpPr txBox="1"/>
          <p:nvPr/>
        </p:nvSpPr>
        <p:spPr>
          <a:xfrm>
            <a:off x="822960" y="5074920"/>
            <a:ext cx="10515600" cy="1371600"/>
          </a:xfrm>
          <a:prstGeom prst="rect">
            <a:avLst/>
          </a:prstGeom>
          <a:noFill/>
          <a:ln/>
        </p:spPr>
        <p:txBody>
          <a:bodyPr wrap="square" lIns="0" tIns="0" rIns="0" bIns="0" rtlCol="0" anchor="ctr"/>
          <a:lstStyle/>
          <a:p>
            <a:pPr indent="0" marL="0">
              <a:lnSpc>
                <a:spcPct val="115000"/>
              </a:lnSpc>
              <a:buNone/>
            </a:pPr>
            <a:r>
              <a:rPr lang="en-US" sz="1450" b="1" dirty="0">
                <a:solidFill>
                  <a:srgbClr val="FFFFFF"/>
                </a:solidFill>
                <a:latin typeface="Calibri" pitchFamily="34" charset="0"/>
                <a:ea typeface="Calibri" pitchFamily="34" charset="-122"/>
                <a:cs typeface="Calibri" pitchFamily="34" charset="-120"/>
              </a:rPr>
              <a:t>Khayem Ben Ghorbel</a:t>
            </a:r>
            <a:endParaRPr lang="en-US" sz="1450" dirty="0"/>
          </a:p>
          <a:p>
            <a:pPr indent="0" marL="0">
              <a:lnSpc>
                <a:spcPct val="115000"/>
              </a:lnSpc>
              <a:buNone/>
            </a:pPr>
            <a:r>
              <a:rPr lang="en-US" sz="1450" dirty="0">
                <a:solidFill>
                  <a:srgbClr val="C9D6E2"/>
                </a:solidFill>
                <a:latin typeface="Calibri" pitchFamily="34" charset="0"/>
                <a:ea typeface="Calibri" pitchFamily="34" charset="-122"/>
                <a:cs typeface="Calibri" pitchFamily="34" charset="-120"/>
              </a:rPr>
              <a:t>CY Tech — Cycle ingénieur Informatique, ING1 (GI) · 2025–2026</a:t>
            </a:r>
            <a:endParaRPr lang="en-US" sz="1450" dirty="0"/>
          </a:p>
          <a:p>
            <a:pPr indent="0" marL="0">
              <a:lnSpc>
                <a:spcPct val="115000"/>
              </a:lnSpc>
              <a:buNone/>
            </a:pPr>
            <a:r>
              <a:rPr lang="en-US" sz="1450" dirty="0">
                <a:solidFill>
                  <a:srgbClr val="C9D6E2"/>
                </a:solidFill>
                <a:latin typeface="Calibri" pitchFamily="34" charset="0"/>
                <a:ea typeface="Calibri" pitchFamily="34" charset="-122"/>
                <a:cs typeface="Calibri" pitchFamily="34" charset="-120"/>
              </a:rPr>
              <a:t>One Tech Business Solutions (One Tech Group) · Encadrant : Makram Ben Hamed</a:t>
            </a:r>
            <a:endParaRPr lang="en-US" sz="1450" dirty="0"/>
          </a:p>
          <a:p>
            <a:pPr indent="0" marL="0">
              <a:lnSpc>
                <a:spcPct val="115000"/>
              </a:lnSpc>
              <a:buNone/>
            </a:pPr>
            <a:r>
              <a:rPr lang="en-US" sz="1450" dirty="0">
                <a:solidFill>
                  <a:srgbClr val="C9D6E2"/>
                </a:solidFill>
                <a:latin typeface="Calibri" pitchFamily="34" charset="0"/>
                <a:ea typeface="Calibri" pitchFamily="34" charset="-122"/>
                <a:cs typeface="Calibri" pitchFamily="34" charset="-120"/>
              </a:rPr>
              <a:t>Stage du 26 juin au 26 août 2026</a:t>
            </a:r>
            <a:endParaRPr lang="en-US" sz="1450" dirty="0"/>
          </a:p>
        </p:txBody>
      </p:sp>
      <p:sp>
        <p:nvSpPr>
          <p:cNvPr id="16" name="Text 13"/>
          <p:cNvSpPr txBox="1"/>
          <p:nvPr/>
        </p:nvSpPr>
        <p:spPr>
          <a:xfrm>
            <a:off x="11503152" y="6382512"/>
            <a:ext cx="411480" cy="292608"/>
          </a:xfrm>
          <a:prstGeom prst="rect">
            <a:avLst/>
          </a:prstGeom>
          <a:noFill/>
          <a:ln/>
        </p:spPr>
        <p:txBody>
          <a:bodyPr wrap="square" lIns="0" tIns="0" rIns="0" bIns="0" rtlCol="0" anchor="ctr"/>
          <a:lstStyle/>
          <a:p>
            <a:pPr algn="r" indent="0" marL="0">
              <a:buNone/>
            </a:pPr>
            <a:r>
              <a:rPr lang="en-US" sz="1100" dirty="0">
                <a:solidFill>
                  <a:srgbClr val="5A6B7C"/>
                </a:solidFill>
                <a:latin typeface="Calibri" pitchFamily="34" charset="0"/>
                <a:ea typeface="Calibri" pitchFamily="34" charset="-122"/>
                <a:cs typeface="Calibri" pitchFamily="34" charset="-120"/>
              </a:rPr>
              <a:t>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92608"/>
            <a:ext cx="11183112" cy="685800"/>
          </a:xfrm>
          <a:prstGeom prst="rect">
            <a:avLst/>
          </a:prstGeom>
          <a:noFill/>
          <a:ln/>
        </p:spPr>
        <p:txBody>
          <a:bodyPr wrap="square" lIns="0" tIns="0" rIns="0" bIns="0" rtlCol="0" anchor="ctr"/>
          <a:lstStyle/>
          <a:p>
            <a:pPr indent="0" marL="0">
              <a:buNone/>
            </a:pPr>
            <a:r>
              <a:rPr lang="en-US" sz="3100" b="1" dirty="0">
                <a:solidFill>
                  <a:srgbClr val="1F3B57"/>
                </a:solidFill>
                <a:latin typeface="Cambria" pitchFamily="34" charset="0"/>
                <a:ea typeface="Cambria" pitchFamily="34" charset="-122"/>
                <a:cs typeface="Cambria" pitchFamily="34" charset="-120"/>
              </a:rPr>
              <a:t>L'entreprise d'accueil</a:t>
            </a:r>
            <a:endParaRPr lang="en-US" sz="3100" dirty="0"/>
          </a:p>
        </p:txBody>
      </p:sp>
      <p:sp>
        <p:nvSpPr>
          <p:cNvPr id="3" name="Text 1"/>
          <p:cNvSpPr txBox="1"/>
          <p:nvPr/>
        </p:nvSpPr>
        <p:spPr>
          <a:xfrm>
            <a:off x="521208" y="932688"/>
            <a:ext cx="11146536" cy="365760"/>
          </a:xfrm>
          <a:prstGeom prst="rect">
            <a:avLst/>
          </a:prstGeom>
          <a:noFill/>
          <a:ln/>
        </p:spPr>
        <p:txBody>
          <a:bodyPr wrap="square" lIns="0" tIns="0" rIns="0" bIns="0" rtlCol="0" anchor="ctr"/>
          <a:lstStyle/>
          <a:p>
            <a:pPr indent="0" marL="0">
              <a:buNone/>
            </a:pPr>
            <a:r>
              <a:rPr lang="en-US" sz="1400" i="1" dirty="0">
                <a:solidFill>
                  <a:srgbClr val="5A6B7C"/>
                </a:solidFill>
                <a:latin typeface="Calibri" pitchFamily="34" charset="0"/>
                <a:ea typeface="Calibri" pitchFamily="34" charset="-122"/>
                <a:cs typeface="Calibri" pitchFamily="34" charset="-120"/>
              </a:rPr>
              <a:t>One Tech Business Solutions — entité de services numériques du groupe One Tech Group</a:t>
            </a:r>
            <a:endParaRPr lang="en-US" sz="1400" dirty="0"/>
          </a:p>
        </p:txBody>
      </p:sp>
      <p:sp>
        <p:nvSpPr>
          <p:cNvPr id="4" name="Shape 2"/>
          <p:cNvSpPr/>
          <p:nvPr/>
        </p:nvSpPr>
        <p:spPr>
          <a:xfrm>
            <a:off x="502920" y="1554480"/>
            <a:ext cx="5440680" cy="1188720"/>
          </a:xfrm>
          <a:prstGeom prst="roundRect">
            <a:avLst>
              <a:gd name="adj" fmla="val 5385"/>
            </a:avLst>
          </a:prstGeom>
          <a:solidFill>
            <a:srgbClr val="E8F0F8"/>
          </a:solidFill>
          <a:ln w="12700">
            <a:solidFill>
              <a:srgbClr val="E8F0F8"/>
            </a:solidFill>
            <a:prstDash val="solid"/>
          </a:ln>
        </p:spPr>
      </p:sp>
      <p:sp>
        <p:nvSpPr>
          <p:cNvPr id="5" name="Text 3"/>
          <p:cNvSpPr txBox="1"/>
          <p:nvPr/>
        </p:nvSpPr>
        <p:spPr>
          <a:xfrm>
            <a:off x="731520" y="1691640"/>
            <a:ext cx="5029200" cy="411480"/>
          </a:xfrm>
          <a:prstGeom prst="rect">
            <a:avLst/>
          </a:prstGeom>
          <a:noFill/>
          <a:ln/>
        </p:spPr>
        <p:txBody>
          <a:bodyPr wrap="square" lIns="0" tIns="0" rIns="0" bIns="0" rtlCol="0" anchor="ctr"/>
          <a:lstStyle/>
          <a:p>
            <a:pPr indent="0" marL="0">
              <a:buNone/>
            </a:pPr>
            <a:r>
              <a:rPr lang="en-US" sz="1700" b="1" dirty="0">
                <a:solidFill>
                  <a:srgbClr val="1F3B57"/>
                </a:solidFill>
                <a:latin typeface="Calibri" pitchFamily="34" charset="0"/>
                <a:ea typeface="Calibri" pitchFamily="34" charset="-122"/>
                <a:cs typeface="Calibri" pitchFamily="34" charset="-120"/>
              </a:rPr>
              <a:t>Développement logiciel</a:t>
            </a:r>
            <a:endParaRPr lang="en-US" sz="1700" dirty="0"/>
          </a:p>
        </p:txBody>
      </p:sp>
      <p:sp>
        <p:nvSpPr>
          <p:cNvPr id="6" name="Text 4"/>
          <p:cNvSpPr txBox="1"/>
          <p:nvPr/>
        </p:nvSpPr>
        <p:spPr>
          <a:xfrm>
            <a:off x="731520" y="2121408"/>
            <a:ext cx="5029200" cy="457200"/>
          </a:xfrm>
          <a:prstGeom prst="rect">
            <a:avLst/>
          </a:prstGeom>
          <a:noFill/>
          <a:ln/>
        </p:spPr>
        <p:txBody>
          <a:bodyPr wrap="square" lIns="0" tIns="0" rIns="0" bIns="0" rtlCol="0" anchor="ctr"/>
          <a:lstStyle/>
          <a:p>
            <a:pPr indent="0" marL="0">
              <a:buNone/>
            </a:pPr>
            <a:r>
              <a:rPr lang="en-US" sz="1350" dirty="0">
                <a:solidFill>
                  <a:srgbClr val="1A1A1A"/>
                </a:solidFill>
                <a:latin typeface="Calibri" pitchFamily="34" charset="0"/>
                <a:ea typeface="Calibri" pitchFamily="34" charset="-122"/>
                <a:cs typeface="Calibri" pitchFamily="34" charset="-120"/>
              </a:rPr>
              <a:t>Applications et plateformes sur mesure</a:t>
            </a:r>
            <a:endParaRPr lang="en-US" sz="1350" dirty="0"/>
          </a:p>
        </p:txBody>
      </p:sp>
      <p:sp>
        <p:nvSpPr>
          <p:cNvPr id="7" name="Shape 5"/>
          <p:cNvSpPr/>
          <p:nvPr/>
        </p:nvSpPr>
        <p:spPr>
          <a:xfrm>
            <a:off x="6126480" y="1554480"/>
            <a:ext cx="5440680" cy="1188720"/>
          </a:xfrm>
          <a:prstGeom prst="roundRect">
            <a:avLst>
              <a:gd name="adj" fmla="val 5385"/>
            </a:avLst>
          </a:prstGeom>
          <a:solidFill>
            <a:srgbClr val="E8F0F8"/>
          </a:solidFill>
          <a:ln w="12700">
            <a:solidFill>
              <a:srgbClr val="E8F0F8"/>
            </a:solidFill>
            <a:prstDash val="solid"/>
          </a:ln>
        </p:spPr>
      </p:sp>
      <p:sp>
        <p:nvSpPr>
          <p:cNvPr id="8" name="Text 6"/>
          <p:cNvSpPr txBox="1"/>
          <p:nvPr/>
        </p:nvSpPr>
        <p:spPr>
          <a:xfrm>
            <a:off x="6355080" y="1691640"/>
            <a:ext cx="5029200" cy="411480"/>
          </a:xfrm>
          <a:prstGeom prst="rect">
            <a:avLst/>
          </a:prstGeom>
          <a:noFill/>
          <a:ln/>
        </p:spPr>
        <p:txBody>
          <a:bodyPr wrap="square" lIns="0" tIns="0" rIns="0" bIns="0" rtlCol="0" anchor="ctr"/>
          <a:lstStyle/>
          <a:p>
            <a:pPr indent="0" marL="0">
              <a:buNone/>
            </a:pPr>
            <a:r>
              <a:rPr lang="en-US" sz="1700" b="1" dirty="0">
                <a:solidFill>
                  <a:srgbClr val="1F3B57"/>
                </a:solidFill>
                <a:latin typeface="Calibri" pitchFamily="34" charset="0"/>
                <a:ea typeface="Calibri" pitchFamily="34" charset="-122"/>
                <a:cs typeface="Calibri" pitchFamily="34" charset="-120"/>
              </a:rPr>
              <a:t>Intégration de systèmes</a:t>
            </a:r>
            <a:endParaRPr lang="en-US" sz="1700" dirty="0"/>
          </a:p>
        </p:txBody>
      </p:sp>
      <p:sp>
        <p:nvSpPr>
          <p:cNvPr id="9" name="Text 7"/>
          <p:cNvSpPr txBox="1"/>
          <p:nvPr/>
        </p:nvSpPr>
        <p:spPr>
          <a:xfrm>
            <a:off x="6355080" y="2121408"/>
            <a:ext cx="5029200" cy="457200"/>
          </a:xfrm>
          <a:prstGeom prst="rect">
            <a:avLst/>
          </a:prstGeom>
          <a:noFill/>
          <a:ln/>
        </p:spPr>
        <p:txBody>
          <a:bodyPr wrap="square" lIns="0" tIns="0" rIns="0" bIns="0" rtlCol="0" anchor="ctr"/>
          <a:lstStyle/>
          <a:p>
            <a:pPr indent="0" marL="0">
              <a:buNone/>
            </a:pPr>
            <a:r>
              <a:rPr lang="en-US" sz="1350" dirty="0">
                <a:solidFill>
                  <a:srgbClr val="1A1A1A"/>
                </a:solidFill>
                <a:latin typeface="Calibri" pitchFamily="34" charset="0"/>
                <a:ea typeface="Calibri" pitchFamily="34" charset="-122"/>
                <a:cs typeface="Calibri" pitchFamily="34" charset="-120"/>
              </a:rPr>
              <a:t>Systèmes d'information et interopérabilité</a:t>
            </a:r>
            <a:endParaRPr lang="en-US" sz="1350" dirty="0"/>
          </a:p>
        </p:txBody>
      </p:sp>
      <p:sp>
        <p:nvSpPr>
          <p:cNvPr id="10" name="Shape 8"/>
          <p:cNvSpPr/>
          <p:nvPr/>
        </p:nvSpPr>
        <p:spPr>
          <a:xfrm>
            <a:off x="502920" y="2926080"/>
            <a:ext cx="5440680" cy="1188720"/>
          </a:xfrm>
          <a:prstGeom prst="roundRect">
            <a:avLst>
              <a:gd name="adj" fmla="val 5385"/>
            </a:avLst>
          </a:prstGeom>
          <a:solidFill>
            <a:srgbClr val="E8F0F8"/>
          </a:solidFill>
          <a:ln w="12700">
            <a:solidFill>
              <a:srgbClr val="E8F0F8"/>
            </a:solidFill>
            <a:prstDash val="solid"/>
          </a:ln>
        </p:spPr>
      </p:sp>
      <p:sp>
        <p:nvSpPr>
          <p:cNvPr id="11" name="Text 9"/>
          <p:cNvSpPr txBox="1"/>
          <p:nvPr/>
        </p:nvSpPr>
        <p:spPr>
          <a:xfrm>
            <a:off x="731520" y="3063240"/>
            <a:ext cx="5029200" cy="411480"/>
          </a:xfrm>
          <a:prstGeom prst="rect">
            <a:avLst/>
          </a:prstGeom>
          <a:noFill/>
          <a:ln/>
        </p:spPr>
        <p:txBody>
          <a:bodyPr wrap="square" lIns="0" tIns="0" rIns="0" bIns="0" rtlCol="0" anchor="ctr"/>
          <a:lstStyle/>
          <a:p>
            <a:pPr indent="0" marL="0">
              <a:buNone/>
            </a:pPr>
            <a:r>
              <a:rPr lang="en-US" sz="1700" b="1" dirty="0">
                <a:solidFill>
                  <a:srgbClr val="1F3B57"/>
                </a:solidFill>
                <a:latin typeface="Calibri" pitchFamily="34" charset="0"/>
                <a:ea typeface="Calibri" pitchFamily="34" charset="-122"/>
                <a:cs typeface="Calibri" pitchFamily="34" charset="-120"/>
              </a:rPr>
              <a:t>IA &amp; Data</a:t>
            </a:r>
            <a:endParaRPr lang="en-US" sz="1700" dirty="0"/>
          </a:p>
        </p:txBody>
      </p:sp>
      <p:sp>
        <p:nvSpPr>
          <p:cNvPr id="12" name="Text 10"/>
          <p:cNvSpPr txBox="1"/>
          <p:nvPr/>
        </p:nvSpPr>
        <p:spPr>
          <a:xfrm>
            <a:off x="731520" y="3493008"/>
            <a:ext cx="5029200" cy="457200"/>
          </a:xfrm>
          <a:prstGeom prst="rect">
            <a:avLst/>
          </a:prstGeom>
          <a:noFill/>
          <a:ln/>
        </p:spPr>
        <p:txBody>
          <a:bodyPr wrap="square" lIns="0" tIns="0" rIns="0" bIns="0" rtlCol="0" anchor="ctr"/>
          <a:lstStyle/>
          <a:p>
            <a:pPr indent="0" marL="0">
              <a:buNone/>
            </a:pPr>
            <a:r>
              <a:rPr lang="en-US" sz="1350" dirty="0">
                <a:solidFill>
                  <a:srgbClr val="1A1A1A"/>
                </a:solidFill>
                <a:latin typeface="Calibri" pitchFamily="34" charset="0"/>
                <a:ea typeface="Calibri" pitchFamily="34" charset="-122"/>
                <a:cs typeface="Calibri" pitchFamily="34" charset="-120"/>
              </a:rPr>
              <a:t>Valorisation des données, solutions intelligentes</a:t>
            </a:r>
            <a:endParaRPr lang="en-US" sz="1350" dirty="0"/>
          </a:p>
        </p:txBody>
      </p:sp>
      <p:sp>
        <p:nvSpPr>
          <p:cNvPr id="13" name="Shape 11"/>
          <p:cNvSpPr/>
          <p:nvPr/>
        </p:nvSpPr>
        <p:spPr>
          <a:xfrm>
            <a:off x="6126480" y="2926080"/>
            <a:ext cx="5440680" cy="1188720"/>
          </a:xfrm>
          <a:prstGeom prst="roundRect">
            <a:avLst>
              <a:gd name="adj" fmla="val 5385"/>
            </a:avLst>
          </a:prstGeom>
          <a:solidFill>
            <a:srgbClr val="E8F0F8"/>
          </a:solidFill>
          <a:ln w="12700">
            <a:solidFill>
              <a:srgbClr val="E8F0F8"/>
            </a:solidFill>
            <a:prstDash val="solid"/>
          </a:ln>
        </p:spPr>
      </p:sp>
      <p:sp>
        <p:nvSpPr>
          <p:cNvPr id="14" name="Text 12"/>
          <p:cNvSpPr txBox="1"/>
          <p:nvPr/>
        </p:nvSpPr>
        <p:spPr>
          <a:xfrm>
            <a:off x="6355080" y="3063240"/>
            <a:ext cx="5029200" cy="411480"/>
          </a:xfrm>
          <a:prstGeom prst="rect">
            <a:avLst/>
          </a:prstGeom>
          <a:noFill/>
          <a:ln/>
        </p:spPr>
        <p:txBody>
          <a:bodyPr wrap="square" lIns="0" tIns="0" rIns="0" bIns="0" rtlCol="0" anchor="ctr"/>
          <a:lstStyle/>
          <a:p>
            <a:pPr indent="0" marL="0">
              <a:buNone/>
            </a:pPr>
            <a:r>
              <a:rPr lang="en-US" sz="1700" b="1" dirty="0">
                <a:solidFill>
                  <a:srgbClr val="1F3B57"/>
                </a:solidFill>
                <a:latin typeface="Calibri" pitchFamily="34" charset="0"/>
                <a:ea typeface="Calibri" pitchFamily="34" charset="-122"/>
                <a:cs typeface="Calibri" pitchFamily="34" charset="-120"/>
              </a:rPr>
              <a:t>Automatisation</a:t>
            </a:r>
            <a:endParaRPr lang="en-US" sz="1700" dirty="0"/>
          </a:p>
        </p:txBody>
      </p:sp>
      <p:sp>
        <p:nvSpPr>
          <p:cNvPr id="15" name="Text 13"/>
          <p:cNvSpPr txBox="1"/>
          <p:nvPr/>
        </p:nvSpPr>
        <p:spPr>
          <a:xfrm>
            <a:off x="6355080" y="3493008"/>
            <a:ext cx="5029200" cy="457200"/>
          </a:xfrm>
          <a:prstGeom prst="rect">
            <a:avLst/>
          </a:prstGeom>
          <a:noFill/>
          <a:ln/>
        </p:spPr>
        <p:txBody>
          <a:bodyPr wrap="square" lIns="0" tIns="0" rIns="0" bIns="0" rtlCol="0" anchor="ctr"/>
          <a:lstStyle/>
          <a:p>
            <a:pPr indent="0" marL="0">
              <a:buNone/>
            </a:pPr>
            <a:r>
              <a:rPr lang="en-US" sz="1350" dirty="0">
                <a:solidFill>
                  <a:srgbClr val="1A1A1A"/>
                </a:solidFill>
                <a:latin typeface="Calibri" pitchFamily="34" charset="0"/>
                <a:ea typeface="Calibri" pitchFamily="34" charset="-122"/>
                <a:cs typeface="Calibri" pitchFamily="34" charset="-120"/>
              </a:rPr>
              <a:t>Workflows et transformation digitale</a:t>
            </a:r>
            <a:endParaRPr lang="en-US" sz="1350" dirty="0"/>
          </a:p>
        </p:txBody>
      </p:sp>
      <p:sp>
        <p:nvSpPr>
          <p:cNvPr id="16" name="Shape 14"/>
          <p:cNvSpPr/>
          <p:nvPr/>
        </p:nvSpPr>
        <p:spPr>
          <a:xfrm>
            <a:off x="502920" y="4526280"/>
            <a:ext cx="11109960" cy="1691640"/>
          </a:xfrm>
          <a:prstGeom prst="roundRect">
            <a:avLst>
              <a:gd name="adj" fmla="val 3784"/>
            </a:avLst>
          </a:prstGeom>
          <a:solidFill>
            <a:srgbClr val="F7F9FB"/>
          </a:solidFill>
          <a:ln w="9525">
            <a:solidFill>
              <a:srgbClr val="C9D3DD"/>
            </a:solidFill>
            <a:prstDash val="solid"/>
          </a:ln>
        </p:spPr>
      </p:sp>
      <p:sp>
        <p:nvSpPr>
          <p:cNvPr id="17" name="Text 15"/>
          <p:cNvSpPr txBox="1"/>
          <p:nvPr/>
        </p:nvSpPr>
        <p:spPr>
          <a:xfrm>
            <a:off x="777240" y="4681728"/>
            <a:ext cx="10515600" cy="365760"/>
          </a:xfrm>
          <a:prstGeom prst="rect">
            <a:avLst/>
          </a:prstGeom>
          <a:noFill/>
          <a:ln/>
        </p:spPr>
        <p:txBody>
          <a:bodyPr wrap="square" lIns="0" tIns="0" rIns="0" bIns="0" rtlCol="0" anchor="ctr"/>
          <a:lstStyle/>
          <a:p>
            <a:pPr indent="0" marL="0">
              <a:buNone/>
            </a:pPr>
            <a:r>
              <a:rPr lang="en-US" sz="1500" b="1" dirty="0">
                <a:solidFill>
                  <a:srgbClr val="2E5D8A"/>
                </a:solidFill>
                <a:latin typeface="Calibri" pitchFamily="34" charset="0"/>
                <a:ea typeface="Calibri" pitchFamily="34" charset="-122"/>
                <a:cs typeface="Calibri" pitchFamily="34" charset="-120"/>
              </a:rPr>
              <a:t>Pourquoi ce sujet chez One Tech ?</a:t>
            </a:r>
            <a:endParaRPr lang="en-US" sz="1500" dirty="0"/>
          </a:p>
        </p:txBody>
      </p:sp>
      <p:sp>
        <p:nvSpPr>
          <p:cNvPr id="18" name="Text 16"/>
          <p:cNvSpPr txBox="1"/>
          <p:nvPr/>
        </p:nvSpPr>
        <p:spPr>
          <a:xfrm>
            <a:off x="777240" y="5074920"/>
            <a:ext cx="10607040" cy="1097280"/>
          </a:xfrm>
          <a:prstGeom prst="rect">
            <a:avLst/>
          </a:prstGeom>
          <a:noFill/>
          <a:ln/>
        </p:spPr>
        <p:txBody>
          <a:bodyPr wrap="square" lIns="0" tIns="0" rIns="0" bIns="0" rtlCol="0" anchor="t"/>
          <a:lstStyle/>
          <a:p>
            <a:pPr marL="177800" indent="-177800">
              <a:lnSpc>
                <a:spcPct val="106000"/>
              </a:lnSpc>
              <a:spcAft>
                <a:spcPts val="800"/>
              </a:spcAft>
              <a:buSzPct val="100000"/>
              <a:buChar char="•"/>
            </a:pPr>
            <a:r>
              <a:rPr lang="en-US" sz="1400" dirty="0">
                <a:solidFill>
                  <a:srgbClr val="1A1A1A"/>
                </a:solidFill>
                <a:latin typeface="Calibri" pitchFamily="34" charset="0"/>
                <a:ea typeface="Calibri" pitchFamily="34" charset="-122"/>
                <a:cs typeface="Calibri" pitchFamily="34" charset="-120"/>
              </a:rPr>
              <a:t>Les marchés publics sont un canal commercial naturel pour une entreprise de services numériques.</a:t>
            </a:r>
            <a:endParaRPr lang="en-US" sz="1400" dirty="0"/>
          </a:p>
          <a:p>
            <a:pPr marL="177800" indent="-177800">
              <a:lnSpc>
                <a:spcPct val="106000"/>
              </a:lnSpc>
              <a:spcAft>
                <a:spcPts val="800"/>
              </a:spcAft>
              <a:buSzPct val="100000"/>
              <a:buChar char="•"/>
            </a:pPr>
            <a:r>
              <a:rPr lang="en-US" sz="1400" dirty="0">
                <a:solidFill>
                  <a:srgbClr val="1A1A1A"/>
                </a:solidFill>
                <a:latin typeface="Calibri" pitchFamily="34" charset="0"/>
                <a:ea typeface="Calibri" pitchFamily="34" charset="-122"/>
                <a:cs typeface="Calibri" pitchFamily="34" charset="-120"/>
              </a:rPr>
              <a:t>Le besoin : détecter tôt, parmi le flux quotidien, les opportunités qui correspondent réellement au périmètre technique.</a:t>
            </a:r>
            <a:endParaRPr lang="en-US" sz="1400" dirty="0"/>
          </a:p>
          <a:p>
            <a:pPr marL="177800" indent="-177800">
              <a:lnSpc>
                <a:spcPct val="106000"/>
              </a:lnSpc>
              <a:buSzPct val="100000"/>
              <a:buChar char="•"/>
            </a:pPr>
            <a:r>
              <a:rPr lang="en-US" sz="1400" dirty="0">
                <a:solidFill>
                  <a:srgbClr val="1A1A1A"/>
                </a:solidFill>
                <a:latin typeface="Calibri" pitchFamily="34" charset="0"/>
                <a:ea typeface="Calibri" pitchFamily="34" charset="-122"/>
                <a:cs typeface="Calibri" pitchFamily="34" charset="-120"/>
              </a:rPr>
              <a:t>Mon stage : 26 juin – 26 août 2026, temps plein, encadré par Makram Ben Hamed — cadrage initial, démonstrations d'étape, retours réguliers.</a:t>
            </a:r>
            <a:endParaRPr lang="en-US" sz="1400" dirty="0"/>
          </a:p>
        </p:txBody>
      </p:sp>
      <p:sp>
        <p:nvSpPr>
          <p:cNvPr id="20" name="Text 17"/>
          <p:cNvSpPr txBox="1"/>
          <p:nvPr/>
        </p:nvSpPr>
        <p:spPr>
          <a:xfrm>
            <a:off x="11503152" y="6382512"/>
            <a:ext cx="411480" cy="292608"/>
          </a:xfrm>
          <a:prstGeom prst="rect">
            <a:avLst/>
          </a:prstGeom>
          <a:noFill/>
          <a:ln/>
        </p:spPr>
        <p:txBody>
          <a:bodyPr wrap="square" lIns="0" tIns="0" rIns="0" bIns="0" rtlCol="0" anchor="ctr"/>
          <a:lstStyle/>
          <a:p>
            <a:pPr algn="r" indent="0" marL="0">
              <a:buNone/>
            </a:pPr>
            <a:r>
              <a:rPr lang="en-US" sz="1100" dirty="0">
                <a:solidFill>
                  <a:srgbClr val="5A6B7C"/>
                </a:solidFill>
                <a:latin typeface="Calibri" pitchFamily="34" charset="0"/>
                <a:ea typeface="Calibri" pitchFamily="34" charset="-122"/>
                <a:cs typeface="Calibri" pitchFamily="34" charset="-120"/>
              </a:rPr>
              <a:t>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92608"/>
            <a:ext cx="11183112" cy="685800"/>
          </a:xfrm>
          <a:prstGeom prst="rect">
            <a:avLst/>
          </a:prstGeom>
          <a:noFill/>
          <a:ln/>
        </p:spPr>
        <p:txBody>
          <a:bodyPr wrap="square" lIns="0" tIns="0" rIns="0" bIns="0" rtlCol="0" anchor="ctr"/>
          <a:lstStyle/>
          <a:p>
            <a:pPr indent="0" marL="0">
              <a:buNone/>
            </a:pPr>
            <a:r>
              <a:rPr lang="en-US" sz="3100" b="1" dirty="0">
                <a:solidFill>
                  <a:srgbClr val="1F3B57"/>
                </a:solidFill>
                <a:latin typeface="Cambria" pitchFamily="34" charset="0"/>
                <a:ea typeface="Cambria" pitchFamily="34" charset="-122"/>
                <a:cs typeface="Cambria" pitchFamily="34" charset="-120"/>
              </a:rPr>
              <a:t>Le problème métier</a:t>
            </a:r>
            <a:endParaRPr lang="en-US" sz="3100" dirty="0"/>
          </a:p>
        </p:txBody>
      </p:sp>
      <p:sp>
        <p:nvSpPr>
          <p:cNvPr id="3" name="Text 1"/>
          <p:cNvSpPr txBox="1"/>
          <p:nvPr/>
        </p:nvSpPr>
        <p:spPr>
          <a:xfrm>
            <a:off x="521208" y="932688"/>
            <a:ext cx="11146536" cy="365760"/>
          </a:xfrm>
          <a:prstGeom prst="rect">
            <a:avLst/>
          </a:prstGeom>
          <a:noFill/>
          <a:ln/>
        </p:spPr>
        <p:txBody>
          <a:bodyPr wrap="square" lIns="0" tIns="0" rIns="0" bIns="0" rtlCol="0" anchor="ctr"/>
          <a:lstStyle/>
          <a:p>
            <a:pPr indent="0" marL="0">
              <a:buNone/>
            </a:pPr>
            <a:r>
              <a:rPr lang="en-US" sz="1400" i="1" dirty="0">
                <a:solidFill>
                  <a:srgbClr val="5A6B7C"/>
                </a:solidFill>
                <a:latin typeface="Calibri" pitchFamily="34" charset="0"/>
                <a:ea typeface="Calibri" pitchFamily="34" charset="-122"/>
                <a:cs typeface="Calibri" pitchFamily="34" charset="-120"/>
              </a:rPr>
              <a:t>Analyser un appel d'offres est simple. En surveiller des milliers, chaque jour, ne l'est pas.</a:t>
            </a:r>
            <a:endParaRPr lang="en-US" sz="1400" dirty="0"/>
          </a:p>
        </p:txBody>
      </p:sp>
      <p:sp>
        <p:nvSpPr>
          <p:cNvPr id="4" name="Shape 2"/>
          <p:cNvSpPr/>
          <p:nvPr/>
        </p:nvSpPr>
        <p:spPr>
          <a:xfrm>
            <a:off x="502920" y="1600200"/>
            <a:ext cx="5440680" cy="1371600"/>
          </a:xfrm>
          <a:prstGeom prst="roundRect">
            <a:avLst>
              <a:gd name="adj" fmla="val 4667"/>
            </a:avLst>
          </a:prstGeom>
          <a:solidFill>
            <a:srgbClr val="F7F9FB"/>
          </a:solidFill>
          <a:ln w="9525">
            <a:solidFill>
              <a:srgbClr val="C9D3DD"/>
            </a:solidFill>
            <a:prstDash val="solid"/>
          </a:ln>
        </p:spPr>
      </p:sp>
      <p:sp>
        <p:nvSpPr>
          <p:cNvPr id="5" name="Text 3"/>
          <p:cNvSpPr txBox="1"/>
          <p:nvPr/>
        </p:nvSpPr>
        <p:spPr>
          <a:xfrm>
            <a:off x="731520" y="1728216"/>
            <a:ext cx="5029200" cy="384048"/>
          </a:xfrm>
          <a:prstGeom prst="rect">
            <a:avLst/>
          </a:prstGeom>
          <a:noFill/>
          <a:ln/>
        </p:spPr>
        <p:txBody>
          <a:bodyPr wrap="square" lIns="0" tIns="0" rIns="0" bIns="0" rtlCol="0" anchor="ctr"/>
          <a:lstStyle/>
          <a:p>
            <a:pPr indent="0" marL="0">
              <a:buNone/>
            </a:pPr>
            <a:r>
              <a:rPr lang="en-US" sz="1650" b="1" dirty="0">
                <a:solidFill>
                  <a:srgbClr val="1F3B57"/>
                </a:solidFill>
                <a:latin typeface="Calibri" pitchFamily="34" charset="0"/>
                <a:ea typeface="Calibri" pitchFamily="34" charset="-122"/>
                <a:cs typeface="Calibri" pitchFamily="34" charset="-120"/>
              </a:rPr>
              <a:t>Information dispersée</a:t>
            </a:r>
            <a:endParaRPr lang="en-US" sz="1650" dirty="0"/>
          </a:p>
        </p:txBody>
      </p:sp>
      <p:sp>
        <p:nvSpPr>
          <p:cNvPr id="6" name="Text 4"/>
          <p:cNvSpPr txBox="1"/>
          <p:nvPr/>
        </p:nvSpPr>
        <p:spPr>
          <a:xfrm>
            <a:off x="731520" y="2130552"/>
            <a:ext cx="5029200" cy="777240"/>
          </a:xfrm>
          <a:prstGeom prst="rect">
            <a:avLst/>
          </a:prstGeom>
          <a:noFill/>
          <a:ln/>
        </p:spPr>
        <p:txBody>
          <a:bodyPr wrap="square" lIns="0" tIns="0" rIns="0" bIns="0" rtlCol="0" anchor="ctr"/>
          <a:lstStyle/>
          <a:p>
            <a:pPr indent="0" marL="0">
              <a:buNone/>
            </a:pPr>
            <a:r>
              <a:rPr lang="en-US" sz="1350" dirty="0">
                <a:solidFill>
                  <a:srgbClr val="1A1A1A"/>
                </a:solidFill>
                <a:latin typeface="Calibri" pitchFamily="34" charset="0"/>
                <a:ea typeface="Calibri" pitchFamily="34" charset="-122"/>
                <a:cs typeface="Calibri" pitchFamily="34" charset="-120"/>
              </a:rPr>
              <a:t>Listes, pages de détail et pièces jointes ne racontent chacune qu'une partie du dossier.</a:t>
            </a:r>
            <a:endParaRPr lang="en-US" sz="1350" dirty="0"/>
          </a:p>
        </p:txBody>
      </p:sp>
      <p:sp>
        <p:nvSpPr>
          <p:cNvPr id="7" name="Shape 5"/>
          <p:cNvSpPr/>
          <p:nvPr/>
        </p:nvSpPr>
        <p:spPr>
          <a:xfrm>
            <a:off x="6126480" y="1600200"/>
            <a:ext cx="5440680" cy="1371600"/>
          </a:xfrm>
          <a:prstGeom prst="roundRect">
            <a:avLst>
              <a:gd name="adj" fmla="val 4667"/>
            </a:avLst>
          </a:prstGeom>
          <a:solidFill>
            <a:srgbClr val="F7F9FB"/>
          </a:solidFill>
          <a:ln w="9525">
            <a:solidFill>
              <a:srgbClr val="C9D3DD"/>
            </a:solidFill>
            <a:prstDash val="solid"/>
          </a:ln>
        </p:spPr>
      </p:sp>
      <p:sp>
        <p:nvSpPr>
          <p:cNvPr id="8" name="Text 6"/>
          <p:cNvSpPr txBox="1"/>
          <p:nvPr/>
        </p:nvSpPr>
        <p:spPr>
          <a:xfrm>
            <a:off x="6355080" y="1728216"/>
            <a:ext cx="5029200" cy="384048"/>
          </a:xfrm>
          <a:prstGeom prst="rect">
            <a:avLst/>
          </a:prstGeom>
          <a:noFill/>
          <a:ln/>
        </p:spPr>
        <p:txBody>
          <a:bodyPr wrap="square" lIns="0" tIns="0" rIns="0" bIns="0" rtlCol="0" anchor="ctr"/>
          <a:lstStyle/>
          <a:p>
            <a:pPr indent="0" marL="0">
              <a:buNone/>
            </a:pPr>
            <a:r>
              <a:rPr lang="en-US" sz="1650" b="1" dirty="0">
                <a:solidFill>
                  <a:srgbClr val="1F3B57"/>
                </a:solidFill>
                <a:latin typeface="Calibri" pitchFamily="34" charset="0"/>
                <a:ea typeface="Calibri" pitchFamily="34" charset="-122"/>
                <a:cs typeface="Calibri" pitchFamily="34" charset="-120"/>
              </a:rPr>
              <a:t>Formats hétérogènes</a:t>
            </a:r>
            <a:endParaRPr lang="en-US" sz="1650" dirty="0"/>
          </a:p>
        </p:txBody>
      </p:sp>
      <p:sp>
        <p:nvSpPr>
          <p:cNvPr id="9" name="Text 7"/>
          <p:cNvSpPr txBox="1"/>
          <p:nvPr/>
        </p:nvSpPr>
        <p:spPr>
          <a:xfrm>
            <a:off x="6355080" y="2130552"/>
            <a:ext cx="5029200" cy="777240"/>
          </a:xfrm>
          <a:prstGeom prst="rect">
            <a:avLst/>
          </a:prstGeom>
          <a:noFill/>
          <a:ln/>
        </p:spPr>
        <p:txBody>
          <a:bodyPr wrap="square" lIns="0" tIns="0" rIns="0" bIns="0" rtlCol="0" anchor="ctr"/>
          <a:lstStyle/>
          <a:p>
            <a:pPr indent="0" marL="0">
              <a:buNone/>
            </a:pPr>
            <a:r>
              <a:rPr lang="en-US" sz="1350" dirty="0">
                <a:solidFill>
                  <a:srgbClr val="1A1A1A"/>
                </a:solidFill>
                <a:latin typeface="Calibri" pitchFamily="34" charset="0"/>
                <a:ea typeface="Calibri" pitchFamily="34" charset="-122"/>
                <a:cs typeface="Calibri" pitchFamily="34" charset="-120"/>
              </a:rPr>
              <a:t>PDF avec ou sans couche texte, DOCX, anciens DOC, images scannées — parfois en trois langues.</a:t>
            </a:r>
            <a:endParaRPr lang="en-US" sz="1350" dirty="0"/>
          </a:p>
        </p:txBody>
      </p:sp>
      <p:sp>
        <p:nvSpPr>
          <p:cNvPr id="10" name="Shape 8"/>
          <p:cNvSpPr/>
          <p:nvPr/>
        </p:nvSpPr>
        <p:spPr>
          <a:xfrm>
            <a:off x="502920" y="3172968"/>
            <a:ext cx="5440680" cy="1371600"/>
          </a:xfrm>
          <a:prstGeom prst="roundRect">
            <a:avLst>
              <a:gd name="adj" fmla="val 4667"/>
            </a:avLst>
          </a:prstGeom>
          <a:solidFill>
            <a:srgbClr val="F7F9FB"/>
          </a:solidFill>
          <a:ln w="9525">
            <a:solidFill>
              <a:srgbClr val="C9D3DD"/>
            </a:solidFill>
            <a:prstDash val="solid"/>
          </a:ln>
        </p:spPr>
      </p:sp>
      <p:sp>
        <p:nvSpPr>
          <p:cNvPr id="11" name="Text 9"/>
          <p:cNvSpPr txBox="1"/>
          <p:nvPr/>
        </p:nvSpPr>
        <p:spPr>
          <a:xfrm>
            <a:off x="731520" y="3300984"/>
            <a:ext cx="5029200" cy="384048"/>
          </a:xfrm>
          <a:prstGeom prst="rect">
            <a:avLst/>
          </a:prstGeom>
          <a:noFill/>
          <a:ln/>
        </p:spPr>
        <p:txBody>
          <a:bodyPr wrap="square" lIns="0" tIns="0" rIns="0" bIns="0" rtlCol="0" anchor="ctr"/>
          <a:lstStyle/>
          <a:p>
            <a:pPr indent="0" marL="0">
              <a:buNone/>
            </a:pPr>
            <a:r>
              <a:rPr lang="en-US" sz="1650" b="1" dirty="0">
                <a:solidFill>
                  <a:srgbClr val="1F3B57"/>
                </a:solidFill>
                <a:latin typeface="Calibri" pitchFamily="34" charset="0"/>
                <a:ea typeface="Calibri" pitchFamily="34" charset="-122"/>
                <a:cs typeface="Calibri" pitchFamily="34" charset="-120"/>
              </a:rPr>
              <a:t>Risque opérationnel</a:t>
            </a:r>
            <a:endParaRPr lang="en-US" sz="1650" dirty="0"/>
          </a:p>
        </p:txBody>
      </p:sp>
      <p:sp>
        <p:nvSpPr>
          <p:cNvPr id="12" name="Text 10"/>
          <p:cNvSpPr txBox="1"/>
          <p:nvPr/>
        </p:nvSpPr>
        <p:spPr>
          <a:xfrm>
            <a:off x="731520" y="3703320"/>
            <a:ext cx="5029200" cy="777240"/>
          </a:xfrm>
          <a:prstGeom prst="rect">
            <a:avLst/>
          </a:prstGeom>
          <a:noFill/>
          <a:ln/>
        </p:spPr>
        <p:txBody>
          <a:bodyPr wrap="square" lIns="0" tIns="0" rIns="0" bIns="0" rtlCol="0" anchor="ctr"/>
          <a:lstStyle/>
          <a:p>
            <a:pPr indent="0" marL="0">
              <a:buNone/>
            </a:pPr>
            <a:r>
              <a:rPr lang="en-US" sz="1350" dirty="0">
                <a:solidFill>
                  <a:srgbClr val="1A1A1A"/>
                </a:solidFill>
                <a:latin typeface="Calibri" pitchFamily="34" charset="0"/>
                <a:ea typeface="Calibri" pitchFamily="34" charset="-122"/>
                <a:cs typeface="Calibri" pitchFamily="34" charset="-120"/>
              </a:rPr>
              <a:t>Une échéance mal lue ou une pièce oubliée disqualifie un dossier entier.</a:t>
            </a:r>
            <a:endParaRPr lang="en-US" sz="1350" dirty="0"/>
          </a:p>
        </p:txBody>
      </p:sp>
      <p:sp>
        <p:nvSpPr>
          <p:cNvPr id="13" name="Shape 11"/>
          <p:cNvSpPr/>
          <p:nvPr/>
        </p:nvSpPr>
        <p:spPr>
          <a:xfrm>
            <a:off x="6126480" y="3172968"/>
            <a:ext cx="5440680" cy="1371600"/>
          </a:xfrm>
          <a:prstGeom prst="roundRect">
            <a:avLst>
              <a:gd name="adj" fmla="val 4667"/>
            </a:avLst>
          </a:prstGeom>
          <a:solidFill>
            <a:srgbClr val="F7F9FB"/>
          </a:solidFill>
          <a:ln w="9525">
            <a:solidFill>
              <a:srgbClr val="C9D3DD"/>
            </a:solidFill>
            <a:prstDash val="solid"/>
          </a:ln>
        </p:spPr>
      </p:sp>
      <p:sp>
        <p:nvSpPr>
          <p:cNvPr id="14" name="Text 12"/>
          <p:cNvSpPr txBox="1"/>
          <p:nvPr/>
        </p:nvSpPr>
        <p:spPr>
          <a:xfrm>
            <a:off x="6355080" y="3300984"/>
            <a:ext cx="5029200" cy="384048"/>
          </a:xfrm>
          <a:prstGeom prst="rect">
            <a:avLst/>
          </a:prstGeom>
          <a:noFill/>
          <a:ln/>
        </p:spPr>
        <p:txBody>
          <a:bodyPr wrap="square" lIns="0" tIns="0" rIns="0" bIns="0" rtlCol="0" anchor="ctr"/>
          <a:lstStyle/>
          <a:p>
            <a:pPr indent="0" marL="0">
              <a:buNone/>
            </a:pPr>
            <a:r>
              <a:rPr lang="en-US" sz="1650" b="1" dirty="0">
                <a:solidFill>
                  <a:srgbClr val="1F3B57"/>
                </a:solidFill>
                <a:latin typeface="Calibri" pitchFamily="34" charset="0"/>
                <a:ea typeface="Calibri" pitchFamily="34" charset="-122"/>
                <a:cs typeface="Calibri" pitchFamily="34" charset="-120"/>
              </a:rPr>
              <a:t>Titres trompeurs</a:t>
            </a:r>
            <a:endParaRPr lang="en-US" sz="1650" dirty="0"/>
          </a:p>
        </p:txBody>
      </p:sp>
      <p:sp>
        <p:nvSpPr>
          <p:cNvPr id="15" name="Text 13"/>
          <p:cNvSpPr txBox="1"/>
          <p:nvPr/>
        </p:nvSpPr>
        <p:spPr>
          <a:xfrm>
            <a:off x="6355080" y="3703320"/>
            <a:ext cx="5029200" cy="777240"/>
          </a:xfrm>
          <a:prstGeom prst="rect">
            <a:avLst/>
          </a:prstGeom>
          <a:noFill/>
          <a:ln/>
        </p:spPr>
        <p:txBody>
          <a:bodyPr wrap="square" lIns="0" tIns="0" rIns="0" bIns="0" rtlCol="0" anchor="ctr"/>
          <a:lstStyle/>
          <a:p>
            <a:pPr indent="0" marL="0">
              <a:buNone/>
            </a:pPr>
            <a:r>
              <a:rPr lang="en-US" sz="1350" dirty="0">
                <a:solidFill>
                  <a:srgbClr val="1A1A1A"/>
                </a:solidFill>
                <a:latin typeface="Calibri" pitchFamily="34" charset="0"/>
                <a:ea typeface="Calibri" pitchFamily="34" charset="-122"/>
                <a:cs typeface="Calibri" pitchFamily="34" charset="-120"/>
              </a:rPr>
              <a:t>Un vocabulaire « informatique » peut masquer un achat purement matériel — et inversement.</a:t>
            </a:r>
            <a:endParaRPr lang="en-US" sz="1350" dirty="0"/>
          </a:p>
        </p:txBody>
      </p:sp>
      <p:sp>
        <p:nvSpPr>
          <p:cNvPr id="16" name="Shape 14"/>
          <p:cNvSpPr/>
          <p:nvPr/>
        </p:nvSpPr>
        <p:spPr>
          <a:xfrm>
            <a:off x="502920" y="4983480"/>
            <a:ext cx="11109960" cy="1234440"/>
          </a:xfrm>
          <a:prstGeom prst="roundRect">
            <a:avLst>
              <a:gd name="adj" fmla="val 5185"/>
            </a:avLst>
          </a:prstGeom>
          <a:solidFill>
            <a:srgbClr val="E8F0F8"/>
          </a:solidFill>
          <a:ln w="12700">
            <a:solidFill>
              <a:srgbClr val="E8F0F8"/>
            </a:solidFill>
            <a:prstDash val="solid"/>
          </a:ln>
        </p:spPr>
      </p:sp>
      <p:sp>
        <p:nvSpPr>
          <p:cNvPr id="17" name="Text 15"/>
          <p:cNvSpPr txBox="1"/>
          <p:nvPr/>
        </p:nvSpPr>
        <p:spPr>
          <a:xfrm>
            <a:off x="777240" y="5138928"/>
            <a:ext cx="10607040" cy="960120"/>
          </a:xfrm>
          <a:prstGeom prst="rect">
            <a:avLst/>
          </a:prstGeom>
          <a:noFill/>
          <a:ln/>
        </p:spPr>
        <p:txBody>
          <a:bodyPr wrap="square" lIns="0" tIns="0" rIns="0" bIns="0" rtlCol="0" anchor="t"/>
          <a:lstStyle/>
          <a:p>
            <a:pPr indent="0" marL="0">
              <a:lnSpc>
                <a:spcPct val="110000"/>
              </a:lnSpc>
              <a:buNone/>
            </a:pPr>
            <a:r>
              <a:rPr lang="en-US" sz="1550" b="1" dirty="0">
                <a:solidFill>
                  <a:srgbClr val="1F3B57"/>
                </a:solidFill>
                <a:latin typeface="Calibri" pitchFamily="34" charset="0"/>
                <a:ea typeface="Calibri" pitchFamily="34" charset="-122"/>
                <a:cs typeface="Calibri" pitchFamily="34" charset="-120"/>
              </a:rPr>
              <a:t>Un volume important d'annonces publiques est publié sur HAICOP.  </a:t>
            </a:r>
            <a:pPr indent="0" marL="0">
              <a:lnSpc>
                <a:spcPct val="110000"/>
              </a:lnSpc>
              <a:buNone/>
            </a:pPr>
            <a:r>
              <a:rPr lang="en-US" sz="1550" dirty="0">
                <a:solidFill>
                  <a:srgbClr val="1A1A1A"/>
                </a:solidFill>
                <a:latin typeface="Calibri" pitchFamily="34" charset="0"/>
                <a:ea typeface="Calibri" pitchFamily="34" charset="-122"/>
                <a:cs typeface="Calibri" pitchFamily="34" charset="-120"/>
              </a:rPr>
              <a:t>L'enjeu n'est pas de lire un dossier : c'est de transformer un processus manuel d'une douzaine d'étapes en workflow fiable, répétable et traçable.</a:t>
            </a:r>
            <a:endParaRPr lang="en-US" sz="1550" dirty="0"/>
          </a:p>
        </p:txBody>
      </p:sp>
      <p:sp>
        <p:nvSpPr>
          <p:cNvPr id="19" name="Text 16"/>
          <p:cNvSpPr txBox="1"/>
          <p:nvPr/>
        </p:nvSpPr>
        <p:spPr>
          <a:xfrm>
            <a:off x="11503152" y="6382512"/>
            <a:ext cx="411480" cy="292608"/>
          </a:xfrm>
          <a:prstGeom prst="rect">
            <a:avLst/>
          </a:prstGeom>
          <a:noFill/>
          <a:ln/>
        </p:spPr>
        <p:txBody>
          <a:bodyPr wrap="square" lIns="0" tIns="0" rIns="0" bIns="0" rtlCol="0" anchor="ctr"/>
          <a:lstStyle/>
          <a:p>
            <a:pPr algn="r" indent="0" marL="0">
              <a:buNone/>
            </a:pPr>
            <a:r>
              <a:rPr lang="en-US" sz="1100" dirty="0">
                <a:solidFill>
                  <a:srgbClr val="5A6B7C"/>
                </a:solidFill>
                <a:latin typeface="Calibri" pitchFamily="34" charset="0"/>
                <a:ea typeface="Calibri" pitchFamily="34" charset="-122"/>
                <a:cs typeface="Calibri" pitchFamily="34" charset="-120"/>
              </a:rPr>
              <a:t>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92608"/>
            <a:ext cx="11183112" cy="685800"/>
          </a:xfrm>
          <a:prstGeom prst="rect">
            <a:avLst/>
          </a:prstGeom>
          <a:noFill/>
          <a:ln/>
        </p:spPr>
        <p:txBody>
          <a:bodyPr wrap="square" lIns="0" tIns="0" rIns="0" bIns="0" rtlCol="0" anchor="ctr"/>
          <a:lstStyle/>
          <a:p>
            <a:pPr indent="0" marL="0">
              <a:buNone/>
            </a:pPr>
            <a:r>
              <a:rPr lang="en-US" sz="3100" b="1" dirty="0">
                <a:solidFill>
                  <a:srgbClr val="1F3B57"/>
                </a:solidFill>
                <a:latin typeface="Cambria" pitchFamily="34" charset="0"/>
                <a:ea typeface="Cambria" pitchFamily="34" charset="-122"/>
                <a:cs typeface="Cambria" pitchFamily="34" charset="-120"/>
              </a:rPr>
              <a:t>La mission du stage</a:t>
            </a:r>
            <a:endParaRPr lang="en-US" sz="3100" dirty="0"/>
          </a:p>
        </p:txBody>
      </p:sp>
      <p:sp>
        <p:nvSpPr>
          <p:cNvPr id="3" name="Text 1"/>
          <p:cNvSpPr txBox="1"/>
          <p:nvPr/>
        </p:nvSpPr>
        <p:spPr>
          <a:xfrm>
            <a:off x="521208" y="932688"/>
            <a:ext cx="11146536" cy="365760"/>
          </a:xfrm>
          <a:prstGeom prst="rect">
            <a:avLst/>
          </a:prstGeom>
          <a:noFill/>
          <a:ln/>
        </p:spPr>
        <p:txBody>
          <a:bodyPr wrap="square" lIns="0" tIns="0" rIns="0" bIns="0" rtlCol="0" anchor="ctr"/>
          <a:lstStyle/>
          <a:p>
            <a:pPr indent="0" marL="0">
              <a:buNone/>
            </a:pPr>
            <a:r>
              <a:rPr lang="en-US" sz="1400" i="1" dirty="0">
                <a:solidFill>
                  <a:srgbClr val="5A6B7C"/>
                </a:solidFill>
                <a:latin typeface="Calibri" pitchFamily="34" charset="0"/>
                <a:ea typeface="Calibri" pitchFamily="34" charset="-122"/>
                <a:cs typeface="Calibri" pitchFamily="34" charset="-120"/>
              </a:rPr>
              <a:t>Un double objectif : comprendre l'IA agentique en profondeur, et livrer un système qui fonctionne.</a:t>
            </a:r>
            <a:endParaRPr lang="en-US" sz="1400" dirty="0"/>
          </a:p>
        </p:txBody>
      </p:sp>
      <p:sp>
        <p:nvSpPr>
          <p:cNvPr id="4" name="Shape 2"/>
          <p:cNvSpPr/>
          <p:nvPr/>
        </p:nvSpPr>
        <p:spPr>
          <a:xfrm>
            <a:off x="502920" y="1572768"/>
            <a:ext cx="5394960" cy="4663440"/>
          </a:xfrm>
          <a:prstGeom prst="roundRect">
            <a:avLst>
              <a:gd name="adj" fmla="val 1373"/>
            </a:avLst>
          </a:prstGeom>
          <a:solidFill>
            <a:srgbClr val="E8F0F8"/>
          </a:solidFill>
          <a:ln w="12700">
            <a:solidFill>
              <a:srgbClr val="E8F0F8"/>
            </a:solidFill>
            <a:prstDash val="solid"/>
          </a:ln>
        </p:spPr>
      </p:sp>
      <p:sp>
        <p:nvSpPr>
          <p:cNvPr id="5" name="Text 3"/>
          <p:cNvSpPr txBox="1"/>
          <p:nvPr/>
        </p:nvSpPr>
        <p:spPr>
          <a:xfrm>
            <a:off x="777240" y="1783080"/>
            <a:ext cx="4846320" cy="411480"/>
          </a:xfrm>
          <a:prstGeom prst="rect">
            <a:avLst/>
          </a:prstGeom>
          <a:noFill/>
          <a:ln/>
        </p:spPr>
        <p:txBody>
          <a:bodyPr wrap="square" lIns="0" tIns="0" rIns="0" bIns="0" rtlCol="0" anchor="ctr"/>
          <a:lstStyle/>
          <a:p>
            <a:pPr indent="0" marL="0">
              <a:buNone/>
            </a:pPr>
            <a:r>
              <a:rPr lang="en-US" sz="1700" b="1" dirty="0">
                <a:solidFill>
                  <a:srgbClr val="1F3B57"/>
                </a:solidFill>
                <a:latin typeface="Calibri" pitchFamily="34" charset="0"/>
                <a:ea typeface="Calibri" pitchFamily="34" charset="-122"/>
                <a:cs typeface="Calibri" pitchFamily="34" charset="-120"/>
              </a:rPr>
              <a:t>Objectif pédagogique</a:t>
            </a:r>
            <a:endParaRPr lang="en-US" sz="1700" dirty="0"/>
          </a:p>
        </p:txBody>
      </p:sp>
      <p:sp>
        <p:nvSpPr>
          <p:cNvPr id="6" name="Text 4"/>
          <p:cNvSpPr txBox="1"/>
          <p:nvPr/>
        </p:nvSpPr>
        <p:spPr>
          <a:xfrm>
            <a:off x="777240" y="2240280"/>
            <a:ext cx="4892040" cy="3749040"/>
          </a:xfrm>
          <a:prstGeom prst="rect">
            <a:avLst/>
          </a:prstGeom>
          <a:noFill/>
          <a:ln/>
        </p:spPr>
        <p:txBody>
          <a:bodyPr wrap="square" lIns="0" tIns="0" rIns="0" bIns="0" rtlCol="0" anchor="t"/>
          <a:lstStyle/>
          <a:p>
            <a:pPr marL="177800" indent="-177800">
              <a:lnSpc>
                <a:spcPct val="106000"/>
              </a:lnSpc>
              <a:spcAft>
                <a:spcPts val="800"/>
              </a:spcAft>
              <a:buSzPct val="100000"/>
              <a:buChar char="•"/>
            </a:pPr>
            <a:r>
              <a:rPr lang="en-US" sz="1500" dirty="0">
                <a:solidFill>
                  <a:srgbClr val="1A1A1A"/>
                </a:solidFill>
                <a:latin typeface="Calibri" pitchFamily="34" charset="0"/>
                <a:ea typeface="Calibri" pitchFamily="34" charset="-122"/>
                <a:cs typeface="Calibri" pitchFamily="34" charset="-120"/>
              </a:rPr>
              <a:t>Comprendre ce qu'est réellement une IA agentique ;</a:t>
            </a:r>
            <a:endParaRPr lang="en-US" sz="1500" dirty="0"/>
          </a:p>
          <a:p>
            <a:pPr marL="177800" indent="-177800">
              <a:lnSpc>
                <a:spcPct val="106000"/>
              </a:lnSpc>
              <a:spcAft>
                <a:spcPts val="800"/>
              </a:spcAft>
              <a:buSzPct val="100000"/>
              <a:buChar char="•"/>
            </a:pPr>
            <a:r>
              <a:rPr lang="en-US" sz="1500" dirty="0">
                <a:solidFill>
                  <a:srgbClr val="1A1A1A"/>
                </a:solidFill>
                <a:latin typeface="Calibri" pitchFamily="34" charset="0"/>
                <a:ea typeface="Calibri" pitchFamily="34" charset="-122"/>
                <a:cs typeface="Calibri" pitchFamily="34" charset="-120"/>
              </a:rPr>
              <a:t>distinguer l'agent du modèle qui l'anime ;</a:t>
            </a:r>
            <a:endParaRPr lang="en-US" sz="1500" dirty="0"/>
          </a:p>
          <a:p>
            <a:pPr marL="177800" indent="-177800">
              <a:lnSpc>
                <a:spcPct val="106000"/>
              </a:lnSpc>
              <a:spcAft>
                <a:spcPts val="800"/>
              </a:spcAft>
              <a:buSzPct val="100000"/>
              <a:buChar char="•"/>
            </a:pPr>
            <a:r>
              <a:rPr lang="en-US" sz="1500" dirty="0">
                <a:solidFill>
                  <a:srgbClr val="1A1A1A"/>
                </a:solidFill>
                <a:latin typeface="Calibri" pitchFamily="34" charset="0"/>
                <a:ea typeface="Calibri" pitchFamily="34" charset="-122"/>
                <a:cs typeface="Calibri" pitchFamily="34" charset="-120"/>
              </a:rPr>
              <a:t>maîtriser OpenClaw : skills, contexte, outils ;</a:t>
            </a:r>
            <a:endParaRPr lang="en-US" sz="1500" dirty="0"/>
          </a:p>
          <a:p>
            <a:pPr marL="177800" indent="-177800">
              <a:lnSpc>
                <a:spcPct val="106000"/>
              </a:lnSpc>
              <a:buSzPct val="100000"/>
              <a:buChar char="•"/>
            </a:pPr>
            <a:r>
              <a:rPr lang="en-US" sz="1500" dirty="0">
                <a:solidFill>
                  <a:srgbClr val="1A1A1A"/>
                </a:solidFill>
                <a:latin typeface="Calibri" pitchFamily="34" charset="0"/>
                <a:ea typeface="Calibri" pitchFamily="34" charset="-122"/>
                <a:cs typeface="Calibri" pitchFamily="34" charset="-120"/>
              </a:rPr>
              <a:t>appliquer le tout à un cas métier réel : les appels d'offres publics tunisiens (HAICOP).</a:t>
            </a:r>
            <a:endParaRPr lang="en-US" sz="1500" dirty="0"/>
          </a:p>
        </p:txBody>
      </p:sp>
      <p:sp>
        <p:nvSpPr>
          <p:cNvPr id="7" name="Shape 5"/>
          <p:cNvSpPr/>
          <p:nvPr/>
        </p:nvSpPr>
        <p:spPr>
          <a:xfrm>
            <a:off x="6172200" y="1572768"/>
            <a:ext cx="5486400" cy="4663440"/>
          </a:xfrm>
          <a:prstGeom prst="roundRect">
            <a:avLst>
              <a:gd name="adj" fmla="val 1373"/>
            </a:avLst>
          </a:prstGeom>
          <a:solidFill>
            <a:srgbClr val="F7F9FB"/>
          </a:solidFill>
          <a:ln w="9525">
            <a:solidFill>
              <a:srgbClr val="C9D3DD"/>
            </a:solidFill>
            <a:prstDash val="solid"/>
          </a:ln>
        </p:spPr>
      </p:sp>
      <p:sp>
        <p:nvSpPr>
          <p:cNvPr id="8" name="Text 6"/>
          <p:cNvSpPr txBox="1"/>
          <p:nvPr/>
        </p:nvSpPr>
        <p:spPr>
          <a:xfrm>
            <a:off x="6446520" y="1783080"/>
            <a:ext cx="5029200" cy="411480"/>
          </a:xfrm>
          <a:prstGeom prst="rect">
            <a:avLst/>
          </a:prstGeom>
          <a:noFill/>
          <a:ln/>
        </p:spPr>
        <p:txBody>
          <a:bodyPr wrap="square" lIns="0" tIns="0" rIns="0" bIns="0" rtlCol="0" anchor="ctr"/>
          <a:lstStyle/>
          <a:p>
            <a:pPr indent="0" marL="0">
              <a:buNone/>
            </a:pPr>
            <a:r>
              <a:rPr lang="en-US" sz="1700" b="1" dirty="0">
                <a:solidFill>
                  <a:srgbClr val="1F3B57"/>
                </a:solidFill>
                <a:latin typeface="Calibri" pitchFamily="34" charset="0"/>
                <a:ea typeface="Calibri" pitchFamily="34" charset="-122"/>
                <a:cs typeface="Calibri" pitchFamily="34" charset="-120"/>
              </a:rPr>
              <a:t>Six capacités livrées, reliées en un MVP</a:t>
            </a:r>
            <a:endParaRPr lang="en-US" sz="1700" dirty="0"/>
          </a:p>
        </p:txBody>
      </p:sp>
      <p:sp>
        <p:nvSpPr>
          <p:cNvPr id="9" name="Shape 7"/>
          <p:cNvSpPr/>
          <p:nvPr/>
        </p:nvSpPr>
        <p:spPr>
          <a:xfrm>
            <a:off x="6446520" y="2304288"/>
            <a:ext cx="384048" cy="384048"/>
          </a:xfrm>
          <a:prstGeom prst="ellipse">
            <a:avLst/>
          </a:prstGeom>
          <a:solidFill>
            <a:srgbClr val="1F3B57"/>
          </a:solidFill>
          <a:ln/>
        </p:spPr>
      </p:sp>
      <p:sp>
        <p:nvSpPr>
          <p:cNvPr id="10" name="Text 8"/>
          <p:cNvSpPr txBox="1"/>
          <p:nvPr/>
        </p:nvSpPr>
        <p:spPr>
          <a:xfrm>
            <a:off x="6446520" y="2304288"/>
            <a:ext cx="384048" cy="384048"/>
          </a:xfrm>
          <a:prstGeom prst="rect">
            <a:avLst/>
          </a:prstGeom>
          <a:noFill/>
          <a:ln/>
        </p:spPr>
        <p:txBody>
          <a:bodyPr wrap="square" lIns="0" tIns="0" rIns="0" bIns="0" rtlCol="0" anchor="ctr"/>
          <a:lstStyle/>
          <a:p>
            <a:pPr algn="ctr" indent="0" marL="0">
              <a:buNone/>
            </a:pPr>
            <a:r>
              <a:rPr lang="en-US" sz="1500" b="1" dirty="0">
                <a:solidFill>
                  <a:srgbClr val="E3B341"/>
                </a:solidFill>
                <a:latin typeface="Calibri" pitchFamily="34" charset="0"/>
                <a:ea typeface="Calibri" pitchFamily="34" charset="-122"/>
                <a:cs typeface="Calibri" pitchFamily="34" charset="-120"/>
              </a:rPr>
              <a:t>1</a:t>
            </a:r>
            <a:endParaRPr lang="en-US" sz="1500" dirty="0"/>
          </a:p>
        </p:txBody>
      </p:sp>
      <p:sp>
        <p:nvSpPr>
          <p:cNvPr id="11" name="Text 9"/>
          <p:cNvSpPr txBox="1"/>
          <p:nvPr/>
        </p:nvSpPr>
        <p:spPr>
          <a:xfrm>
            <a:off x="6967728" y="2286000"/>
            <a:ext cx="4572000" cy="457200"/>
          </a:xfrm>
          <a:prstGeom prst="rect">
            <a:avLst/>
          </a:prstGeom>
          <a:noFill/>
          <a:ln/>
        </p:spPr>
        <p:txBody>
          <a:bodyPr wrap="square" lIns="0" tIns="0" rIns="0" bIns="0" rtlCol="0" anchor="ctr"/>
          <a:lstStyle/>
          <a:p>
            <a:pPr indent="0" marL="0">
              <a:buNone/>
            </a:pPr>
            <a:r>
              <a:rPr lang="en-US" sz="1450" dirty="0">
                <a:solidFill>
                  <a:srgbClr val="1A1A1A"/>
                </a:solidFill>
                <a:latin typeface="Calibri" pitchFamily="34" charset="0"/>
                <a:ea typeface="Calibri" pitchFamily="34" charset="-122"/>
                <a:cs typeface="Calibri" pitchFamily="34" charset="-120"/>
              </a:rPr>
              <a:t>Collecte fiable des annonces publiques</a:t>
            </a:r>
            <a:endParaRPr lang="en-US" sz="1450" dirty="0"/>
          </a:p>
        </p:txBody>
      </p:sp>
      <p:sp>
        <p:nvSpPr>
          <p:cNvPr id="12" name="Shape 10"/>
          <p:cNvSpPr/>
          <p:nvPr/>
        </p:nvSpPr>
        <p:spPr>
          <a:xfrm>
            <a:off x="6446520" y="2953512"/>
            <a:ext cx="384048" cy="384048"/>
          </a:xfrm>
          <a:prstGeom prst="ellipse">
            <a:avLst/>
          </a:prstGeom>
          <a:solidFill>
            <a:srgbClr val="1F3B57"/>
          </a:solidFill>
          <a:ln/>
        </p:spPr>
      </p:sp>
      <p:sp>
        <p:nvSpPr>
          <p:cNvPr id="13" name="Text 11"/>
          <p:cNvSpPr txBox="1"/>
          <p:nvPr/>
        </p:nvSpPr>
        <p:spPr>
          <a:xfrm>
            <a:off x="6446520" y="2953512"/>
            <a:ext cx="384048" cy="384048"/>
          </a:xfrm>
          <a:prstGeom prst="rect">
            <a:avLst/>
          </a:prstGeom>
          <a:noFill/>
          <a:ln/>
        </p:spPr>
        <p:txBody>
          <a:bodyPr wrap="square" lIns="0" tIns="0" rIns="0" bIns="0" rtlCol="0" anchor="ctr"/>
          <a:lstStyle/>
          <a:p>
            <a:pPr algn="ctr" indent="0" marL="0">
              <a:buNone/>
            </a:pPr>
            <a:r>
              <a:rPr lang="en-US" sz="1500" b="1" dirty="0">
                <a:solidFill>
                  <a:srgbClr val="E3B341"/>
                </a:solidFill>
                <a:latin typeface="Calibri" pitchFamily="34" charset="0"/>
                <a:ea typeface="Calibri" pitchFamily="34" charset="-122"/>
                <a:cs typeface="Calibri" pitchFamily="34" charset="-120"/>
              </a:rPr>
              <a:t>2</a:t>
            </a:r>
            <a:endParaRPr lang="en-US" sz="1500" dirty="0"/>
          </a:p>
        </p:txBody>
      </p:sp>
      <p:sp>
        <p:nvSpPr>
          <p:cNvPr id="14" name="Text 12"/>
          <p:cNvSpPr txBox="1"/>
          <p:nvPr/>
        </p:nvSpPr>
        <p:spPr>
          <a:xfrm>
            <a:off x="6967728" y="2935224"/>
            <a:ext cx="4572000" cy="457200"/>
          </a:xfrm>
          <a:prstGeom prst="rect">
            <a:avLst/>
          </a:prstGeom>
          <a:noFill/>
          <a:ln/>
        </p:spPr>
        <p:txBody>
          <a:bodyPr wrap="square" lIns="0" tIns="0" rIns="0" bIns="0" rtlCol="0" anchor="ctr"/>
          <a:lstStyle/>
          <a:p>
            <a:pPr indent="0" marL="0">
              <a:buNone/>
            </a:pPr>
            <a:r>
              <a:rPr lang="en-US" sz="1450" dirty="0">
                <a:solidFill>
                  <a:srgbClr val="1A1A1A"/>
                </a:solidFill>
                <a:latin typeface="Calibri" pitchFamily="34" charset="0"/>
                <a:ea typeface="Calibri" pitchFamily="34" charset="-122"/>
                <a:cs typeface="Calibri" pitchFamily="34" charset="-120"/>
              </a:rPr>
              <a:t>Persistance PostgreSQL idempotente</a:t>
            </a:r>
            <a:endParaRPr lang="en-US" sz="1450" dirty="0"/>
          </a:p>
        </p:txBody>
      </p:sp>
      <p:sp>
        <p:nvSpPr>
          <p:cNvPr id="15" name="Shape 13"/>
          <p:cNvSpPr/>
          <p:nvPr/>
        </p:nvSpPr>
        <p:spPr>
          <a:xfrm>
            <a:off x="6446520" y="3602736"/>
            <a:ext cx="384048" cy="384048"/>
          </a:xfrm>
          <a:prstGeom prst="ellipse">
            <a:avLst/>
          </a:prstGeom>
          <a:solidFill>
            <a:srgbClr val="1F3B57"/>
          </a:solidFill>
          <a:ln/>
        </p:spPr>
      </p:sp>
      <p:sp>
        <p:nvSpPr>
          <p:cNvPr id="16" name="Text 14"/>
          <p:cNvSpPr txBox="1"/>
          <p:nvPr/>
        </p:nvSpPr>
        <p:spPr>
          <a:xfrm>
            <a:off x="6446520" y="3602736"/>
            <a:ext cx="384048" cy="384048"/>
          </a:xfrm>
          <a:prstGeom prst="rect">
            <a:avLst/>
          </a:prstGeom>
          <a:noFill/>
          <a:ln/>
        </p:spPr>
        <p:txBody>
          <a:bodyPr wrap="square" lIns="0" tIns="0" rIns="0" bIns="0" rtlCol="0" anchor="ctr"/>
          <a:lstStyle/>
          <a:p>
            <a:pPr algn="ctr" indent="0" marL="0">
              <a:buNone/>
            </a:pPr>
            <a:r>
              <a:rPr lang="en-US" sz="1500" b="1" dirty="0">
                <a:solidFill>
                  <a:srgbClr val="E3B341"/>
                </a:solidFill>
                <a:latin typeface="Calibri" pitchFamily="34" charset="0"/>
                <a:ea typeface="Calibri" pitchFamily="34" charset="-122"/>
                <a:cs typeface="Calibri" pitchFamily="34" charset="-120"/>
              </a:rPr>
              <a:t>3</a:t>
            </a:r>
            <a:endParaRPr lang="en-US" sz="1500" dirty="0"/>
          </a:p>
        </p:txBody>
      </p:sp>
      <p:sp>
        <p:nvSpPr>
          <p:cNvPr id="17" name="Text 15"/>
          <p:cNvSpPr txBox="1"/>
          <p:nvPr/>
        </p:nvSpPr>
        <p:spPr>
          <a:xfrm>
            <a:off x="6967728" y="3584448"/>
            <a:ext cx="4572000" cy="457200"/>
          </a:xfrm>
          <a:prstGeom prst="rect">
            <a:avLst/>
          </a:prstGeom>
          <a:noFill/>
          <a:ln/>
        </p:spPr>
        <p:txBody>
          <a:bodyPr wrap="square" lIns="0" tIns="0" rIns="0" bIns="0" rtlCol="0" anchor="ctr"/>
          <a:lstStyle/>
          <a:p>
            <a:pPr indent="0" marL="0">
              <a:buNone/>
            </a:pPr>
            <a:r>
              <a:rPr lang="en-US" sz="1450" dirty="0">
                <a:solidFill>
                  <a:srgbClr val="1A1A1A"/>
                </a:solidFill>
                <a:latin typeface="Calibri" pitchFamily="34" charset="0"/>
                <a:ea typeface="Calibri" pitchFamily="34" charset="-122"/>
                <a:cs typeface="Calibri" pitchFamily="34" charset="-120"/>
              </a:rPr>
              <a:t>Extraction documentaire + OCR multilingue</a:t>
            </a:r>
            <a:endParaRPr lang="en-US" sz="1450" dirty="0"/>
          </a:p>
        </p:txBody>
      </p:sp>
      <p:sp>
        <p:nvSpPr>
          <p:cNvPr id="18" name="Shape 16"/>
          <p:cNvSpPr/>
          <p:nvPr/>
        </p:nvSpPr>
        <p:spPr>
          <a:xfrm>
            <a:off x="6446520" y="4251960"/>
            <a:ext cx="384048" cy="384048"/>
          </a:xfrm>
          <a:prstGeom prst="ellipse">
            <a:avLst/>
          </a:prstGeom>
          <a:solidFill>
            <a:srgbClr val="1F3B57"/>
          </a:solidFill>
          <a:ln/>
        </p:spPr>
      </p:sp>
      <p:sp>
        <p:nvSpPr>
          <p:cNvPr id="19" name="Text 17"/>
          <p:cNvSpPr txBox="1"/>
          <p:nvPr/>
        </p:nvSpPr>
        <p:spPr>
          <a:xfrm>
            <a:off x="6446520" y="4251960"/>
            <a:ext cx="384048" cy="384048"/>
          </a:xfrm>
          <a:prstGeom prst="rect">
            <a:avLst/>
          </a:prstGeom>
          <a:noFill/>
          <a:ln/>
        </p:spPr>
        <p:txBody>
          <a:bodyPr wrap="square" lIns="0" tIns="0" rIns="0" bIns="0" rtlCol="0" anchor="ctr"/>
          <a:lstStyle/>
          <a:p>
            <a:pPr algn="ctr" indent="0" marL="0">
              <a:buNone/>
            </a:pPr>
            <a:r>
              <a:rPr lang="en-US" sz="1500" b="1" dirty="0">
                <a:solidFill>
                  <a:srgbClr val="E3B341"/>
                </a:solidFill>
                <a:latin typeface="Calibri" pitchFamily="34" charset="0"/>
                <a:ea typeface="Calibri" pitchFamily="34" charset="-122"/>
                <a:cs typeface="Calibri" pitchFamily="34" charset="-120"/>
              </a:rPr>
              <a:t>4</a:t>
            </a:r>
            <a:endParaRPr lang="en-US" sz="1500" dirty="0"/>
          </a:p>
        </p:txBody>
      </p:sp>
      <p:sp>
        <p:nvSpPr>
          <p:cNvPr id="20" name="Text 18"/>
          <p:cNvSpPr txBox="1"/>
          <p:nvPr/>
        </p:nvSpPr>
        <p:spPr>
          <a:xfrm>
            <a:off x="6967728" y="4233672"/>
            <a:ext cx="4572000" cy="457200"/>
          </a:xfrm>
          <a:prstGeom prst="rect">
            <a:avLst/>
          </a:prstGeom>
          <a:noFill/>
          <a:ln/>
        </p:spPr>
        <p:txBody>
          <a:bodyPr wrap="square" lIns="0" tIns="0" rIns="0" bIns="0" rtlCol="0" anchor="ctr"/>
          <a:lstStyle/>
          <a:p>
            <a:pPr indent="0" marL="0">
              <a:buNone/>
            </a:pPr>
            <a:r>
              <a:rPr lang="en-US" sz="1450" dirty="0">
                <a:solidFill>
                  <a:srgbClr val="1A1A1A"/>
                </a:solidFill>
                <a:latin typeface="Calibri" pitchFamily="34" charset="0"/>
                <a:ea typeface="Calibri" pitchFamily="34" charset="-122"/>
                <a:cs typeface="Calibri" pitchFamily="34" charset="-120"/>
              </a:rPr>
              <a:t>Analyse Go/No-Go traçable</a:t>
            </a:r>
            <a:endParaRPr lang="en-US" sz="1450" dirty="0"/>
          </a:p>
        </p:txBody>
      </p:sp>
      <p:sp>
        <p:nvSpPr>
          <p:cNvPr id="21" name="Shape 19"/>
          <p:cNvSpPr/>
          <p:nvPr/>
        </p:nvSpPr>
        <p:spPr>
          <a:xfrm>
            <a:off x="6446520" y="4901184"/>
            <a:ext cx="384048" cy="384048"/>
          </a:xfrm>
          <a:prstGeom prst="ellipse">
            <a:avLst/>
          </a:prstGeom>
          <a:solidFill>
            <a:srgbClr val="1F3B57"/>
          </a:solidFill>
          <a:ln/>
        </p:spPr>
      </p:sp>
      <p:sp>
        <p:nvSpPr>
          <p:cNvPr id="22" name="Text 20"/>
          <p:cNvSpPr txBox="1"/>
          <p:nvPr/>
        </p:nvSpPr>
        <p:spPr>
          <a:xfrm>
            <a:off x="6446520" y="4901184"/>
            <a:ext cx="384048" cy="384048"/>
          </a:xfrm>
          <a:prstGeom prst="rect">
            <a:avLst/>
          </a:prstGeom>
          <a:noFill/>
          <a:ln/>
        </p:spPr>
        <p:txBody>
          <a:bodyPr wrap="square" lIns="0" tIns="0" rIns="0" bIns="0" rtlCol="0" anchor="ctr"/>
          <a:lstStyle/>
          <a:p>
            <a:pPr algn="ctr" indent="0" marL="0">
              <a:buNone/>
            </a:pPr>
            <a:r>
              <a:rPr lang="en-US" sz="1500" b="1" dirty="0">
                <a:solidFill>
                  <a:srgbClr val="E3B341"/>
                </a:solidFill>
                <a:latin typeface="Calibri" pitchFamily="34" charset="0"/>
                <a:ea typeface="Calibri" pitchFamily="34" charset="-122"/>
                <a:cs typeface="Calibri" pitchFamily="34" charset="-120"/>
              </a:rPr>
              <a:t>5</a:t>
            </a:r>
            <a:endParaRPr lang="en-US" sz="1500" dirty="0"/>
          </a:p>
        </p:txBody>
      </p:sp>
      <p:sp>
        <p:nvSpPr>
          <p:cNvPr id="23" name="Text 21"/>
          <p:cNvSpPr txBox="1"/>
          <p:nvPr/>
        </p:nvSpPr>
        <p:spPr>
          <a:xfrm>
            <a:off x="6967728" y="4882896"/>
            <a:ext cx="4572000" cy="457200"/>
          </a:xfrm>
          <a:prstGeom prst="rect">
            <a:avLst/>
          </a:prstGeom>
          <a:noFill/>
          <a:ln/>
        </p:spPr>
        <p:txBody>
          <a:bodyPr wrap="square" lIns="0" tIns="0" rIns="0" bIns="0" rtlCol="0" anchor="ctr"/>
          <a:lstStyle/>
          <a:p>
            <a:pPr indent="0" marL="0">
              <a:buNone/>
            </a:pPr>
            <a:r>
              <a:rPr lang="en-US" sz="1450" dirty="0">
                <a:solidFill>
                  <a:srgbClr val="1A1A1A"/>
                </a:solidFill>
                <a:latin typeface="Calibri" pitchFamily="34" charset="0"/>
                <a:ea typeface="Calibri" pitchFamily="34" charset="-122"/>
                <a:cs typeface="Calibri" pitchFamily="34" charset="-120"/>
              </a:rPr>
              <a:t>Automatisation quotidienne multicanale</a:t>
            </a:r>
            <a:endParaRPr lang="en-US" sz="1450" dirty="0"/>
          </a:p>
        </p:txBody>
      </p:sp>
      <p:sp>
        <p:nvSpPr>
          <p:cNvPr id="24" name="Shape 22"/>
          <p:cNvSpPr/>
          <p:nvPr/>
        </p:nvSpPr>
        <p:spPr>
          <a:xfrm>
            <a:off x="6446520" y="5550408"/>
            <a:ext cx="384048" cy="384048"/>
          </a:xfrm>
          <a:prstGeom prst="ellipse">
            <a:avLst/>
          </a:prstGeom>
          <a:solidFill>
            <a:srgbClr val="1F3B57"/>
          </a:solidFill>
          <a:ln/>
        </p:spPr>
      </p:sp>
      <p:sp>
        <p:nvSpPr>
          <p:cNvPr id="25" name="Text 23"/>
          <p:cNvSpPr txBox="1"/>
          <p:nvPr/>
        </p:nvSpPr>
        <p:spPr>
          <a:xfrm>
            <a:off x="6446520" y="5550408"/>
            <a:ext cx="384048" cy="384048"/>
          </a:xfrm>
          <a:prstGeom prst="rect">
            <a:avLst/>
          </a:prstGeom>
          <a:noFill/>
          <a:ln/>
        </p:spPr>
        <p:txBody>
          <a:bodyPr wrap="square" lIns="0" tIns="0" rIns="0" bIns="0" rtlCol="0" anchor="ctr"/>
          <a:lstStyle/>
          <a:p>
            <a:pPr algn="ctr" indent="0" marL="0">
              <a:buNone/>
            </a:pPr>
            <a:r>
              <a:rPr lang="en-US" sz="1500" b="1" dirty="0">
                <a:solidFill>
                  <a:srgbClr val="E3B341"/>
                </a:solidFill>
                <a:latin typeface="Calibri" pitchFamily="34" charset="0"/>
                <a:ea typeface="Calibri" pitchFamily="34" charset="-122"/>
                <a:cs typeface="Calibri" pitchFamily="34" charset="-120"/>
              </a:rPr>
              <a:t>6</a:t>
            </a:r>
            <a:endParaRPr lang="en-US" sz="1500" dirty="0"/>
          </a:p>
        </p:txBody>
      </p:sp>
      <p:sp>
        <p:nvSpPr>
          <p:cNvPr id="26" name="Text 24"/>
          <p:cNvSpPr txBox="1"/>
          <p:nvPr/>
        </p:nvSpPr>
        <p:spPr>
          <a:xfrm>
            <a:off x="6967728" y="5532120"/>
            <a:ext cx="4572000" cy="457200"/>
          </a:xfrm>
          <a:prstGeom prst="rect">
            <a:avLst/>
          </a:prstGeom>
          <a:noFill/>
          <a:ln/>
        </p:spPr>
        <p:txBody>
          <a:bodyPr wrap="square" lIns="0" tIns="0" rIns="0" bIns="0" rtlCol="0" anchor="ctr"/>
          <a:lstStyle/>
          <a:p>
            <a:pPr indent="0" marL="0">
              <a:buNone/>
            </a:pPr>
            <a:r>
              <a:rPr lang="en-US" sz="1450" dirty="0">
                <a:solidFill>
                  <a:srgbClr val="1A1A1A"/>
                </a:solidFill>
                <a:latin typeface="Calibri" pitchFamily="34" charset="0"/>
                <a:ea typeface="Calibri" pitchFamily="34" charset="-122"/>
                <a:cs typeface="Calibri" pitchFamily="34" charset="-120"/>
              </a:rPr>
              <a:t>Interopérabilité standard (MCP)</a:t>
            </a:r>
            <a:endParaRPr lang="en-US" sz="1450" dirty="0"/>
          </a:p>
        </p:txBody>
      </p:sp>
      <p:sp>
        <p:nvSpPr>
          <p:cNvPr id="28" name="Text 25"/>
          <p:cNvSpPr txBox="1"/>
          <p:nvPr/>
        </p:nvSpPr>
        <p:spPr>
          <a:xfrm>
            <a:off x="11503152" y="6382512"/>
            <a:ext cx="411480" cy="292608"/>
          </a:xfrm>
          <a:prstGeom prst="rect">
            <a:avLst/>
          </a:prstGeom>
          <a:noFill/>
          <a:ln/>
        </p:spPr>
        <p:txBody>
          <a:bodyPr wrap="square" lIns="0" tIns="0" rIns="0" bIns="0" rtlCol="0" anchor="ctr"/>
          <a:lstStyle/>
          <a:p>
            <a:pPr algn="r" indent="0" marL="0">
              <a:buNone/>
            </a:pPr>
            <a:r>
              <a:rPr lang="en-US" sz="1100" dirty="0">
                <a:solidFill>
                  <a:srgbClr val="5A6B7C"/>
                </a:solidFill>
                <a:latin typeface="Calibri" pitchFamily="34" charset="0"/>
                <a:ea typeface="Calibri" pitchFamily="34" charset="-122"/>
                <a:cs typeface="Calibri" pitchFamily="34" charset="-120"/>
              </a:rPr>
              <a:t>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92608"/>
            <a:ext cx="11183112" cy="685800"/>
          </a:xfrm>
          <a:prstGeom prst="rect">
            <a:avLst/>
          </a:prstGeom>
          <a:noFill/>
          <a:ln/>
        </p:spPr>
        <p:txBody>
          <a:bodyPr wrap="square" lIns="0" tIns="0" rIns="0" bIns="0" rtlCol="0" anchor="ctr"/>
          <a:lstStyle/>
          <a:p>
            <a:pPr indent="0" marL="0">
              <a:buNone/>
            </a:pPr>
            <a:r>
              <a:rPr lang="en-US" sz="3100" b="1" dirty="0">
                <a:solidFill>
                  <a:srgbClr val="1F3B57"/>
                </a:solidFill>
                <a:latin typeface="Cambria" pitchFamily="34" charset="0"/>
                <a:ea typeface="Cambria" pitchFamily="34" charset="-122"/>
                <a:cs typeface="Cambria" pitchFamily="34" charset="-120"/>
              </a:rPr>
              <a:t>Qu'est-ce qu'un système agentique ?</a:t>
            </a:r>
            <a:endParaRPr lang="en-US" sz="3100" dirty="0"/>
          </a:p>
        </p:txBody>
      </p:sp>
      <p:sp>
        <p:nvSpPr>
          <p:cNvPr id="3" name="Text 1"/>
          <p:cNvSpPr txBox="1"/>
          <p:nvPr/>
        </p:nvSpPr>
        <p:spPr>
          <a:xfrm>
            <a:off x="521208" y="932688"/>
            <a:ext cx="11146536" cy="365760"/>
          </a:xfrm>
          <a:prstGeom prst="rect">
            <a:avLst/>
          </a:prstGeom>
          <a:noFill/>
          <a:ln/>
        </p:spPr>
        <p:txBody>
          <a:bodyPr wrap="square" lIns="0" tIns="0" rIns="0" bIns="0" rtlCol="0" anchor="ctr"/>
          <a:lstStyle/>
          <a:p>
            <a:pPr indent="0" marL="0">
              <a:buNone/>
            </a:pPr>
            <a:r>
              <a:rPr lang="en-US" sz="1400" i="1" dirty="0">
                <a:solidFill>
                  <a:srgbClr val="5A6B7C"/>
                </a:solidFill>
                <a:latin typeface="Calibri" pitchFamily="34" charset="0"/>
                <a:ea typeface="Calibri" pitchFamily="34" charset="-122"/>
                <a:cs typeface="Calibri" pitchFamily="34" charset="-120"/>
              </a:rPr>
              <a:t>Quatre notions à ne pas confondre — c'était le cœur de l'objectif pédagogique.</a:t>
            </a:r>
            <a:endParaRPr lang="en-US" sz="1400" dirty="0"/>
          </a:p>
        </p:txBody>
      </p:sp>
      <p:sp>
        <p:nvSpPr>
          <p:cNvPr id="4" name="Shape 2"/>
          <p:cNvSpPr/>
          <p:nvPr/>
        </p:nvSpPr>
        <p:spPr>
          <a:xfrm>
            <a:off x="502920" y="1645920"/>
            <a:ext cx="2679192" cy="1965960"/>
          </a:xfrm>
          <a:prstGeom prst="roundRect">
            <a:avLst>
              <a:gd name="adj" fmla="val 3256"/>
            </a:avLst>
          </a:prstGeom>
          <a:solidFill>
            <a:srgbClr val="E8F0F8"/>
          </a:solidFill>
          <a:ln w="12700">
            <a:solidFill>
              <a:srgbClr val="E8F0F8"/>
            </a:solidFill>
            <a:prstDash val="solid"/>
          </a:ln>
        </p:spPr>
      </p:sp>
      <p:sp>
        <p:nvSpPr>
          <p:cNvPr id="5" name="Text 3"/>
          <p:cNvSpPr txBox="1"/>
          <p:nvPr/>
        </p:nvSpPr>
        <p:spPr>
          <a:xfrm>
            <a:off x="685800" y="1828800"/>
            <a:ext cx="2331720" cy="457200"/>
          </a:xfrm>
          <a:prstGeom prst="rect">
            <a:avLst/>
          </a:prstGeom>
          <a:noFill/>
          <a:ln/>
        </p:spPr>
        <p:txBody>
          <a:bodyPr wrap="square" lIns="0" tIns="0" rIns="0" bIns="0" rtlCol="0" anchor="ctr"/>
          <a:lstStyle/>
          <a:p>
            <a:pPr indent="0" marL="0">
              <a:buNone/>
            </a:pPr>
            <a:r>
              <a:rPr lang="en-US" sz="1800" b="1" dirty="0">
                <a:solidFill>
                  <a:srgbClr val="1F3B57"/>
                </a:solidFill>
                <a:latin typeface="Cambria" pitchFamily="34" charset="0"/>
                <a:ea typeface="Cambria" pitchFamily="34" charset="-122"/>
                <a:cs typeface="Cambria" pitchFamily="34" charset="-120"/>
              </a:rPr>
              <a:t>Le modèle</a:t>
            </a:r>
            <a:endParaRPr lang="en-US" sz="1800" dirty="0"/>
          </a:p>
        </p:txBody>
      </p:sp>
      <p:sp>
        <p:nvSpPr>
          <p:cNvPr id="6" name="Text 4"/>
          <p:cNvSpPr txBox="1"/>
          <p:nvPr/>
        </p:nvSpPr>
        <p:spPr>
          <a:xfrm>
            <a:off x="685800" y="2304288"/>
            <a:ext cx="2331720" cy="1188720"/>
          </a:xfrm>
          <a:prstGeom prst="rect">
            <a:avLst/>
          </a:prstGeom>
          <a:noFill/>
          <a:ln/>
        </p:spPr>
        <p:txBody>
          <a:bodyPr wrap="square" lIns="0" tIns="0" rIns="0" bIns="0" rtlCol="0" anchor="ctr"/>
          <a:lstStyle/>
          <a:p>
            <a:pPr indent="0" marL="0">
              <a:buNone/>
            </a:pPr>
            <a:r>
              <a:rPr lang="en-US" sz="1300" dirty="0">
                <a:solidFill>
                  <a:srgbClr val="1A1A1A"/>
                </a:solidFill>
                <a:latin typeface="Calibri" pitchFamily="34" charset="0"/>
                <a:ea typeface="Calibri" pitchFamily="34" charset="-122"/>
                <a:cs typeface="Calibri" pitchFamily="34" charset="-120"/>
              </a:rPr>
              <a:t>Génère et interprète du langage. Rien de plus, rien de moins.</a:t>
            </a:r>
            <a:endParaRPr lang="en-US" sz="1300" dirty="0"/>
          </a:p>
        </p:txBody>
      </p:sp>
      <p:sp>
        <p:nvSpPr>
          <p:cNvPr id="7" name="Shape 5"/>
          <p:cNvSpPr/>
          <p:nvPr/>
        </p:nvSpPr>
        <p:spPr>
          <a:xfrm>
            <a:off x="3364992" y="1645920"/>
            <a:ext cx="2679192" cy="1965960"/>
          </a:xfrm>
          <a:prstGeom prst="roundRect">
            <a:avLst>
              <a:gd name="adj" fmla="val 3256"/>
            </a:avLst>
          </a:prstGeom>
          <a:solidFill>
            <a:srgbClr val="1F3B57"/>
          </a:solidFill>
          <a:ln w="12700">
            <a:solidFill>
              <a:srgbClr val="1F3B57"/>
            </a:solidFill>
            <a:prstDash val="solid"/>
          </a:ln>
        </p:spPr>
      </p:sp>
      <p:sp>
        <p:nvSpPr>
          <p:cNvPr id="8" name="Text 6"/>
          <p:cNvSpPr txBox="1"/>
          <p:nvPr/>
        </p:nvSpPr>
        <p:spPr>
          <a:xfrm>
            <a:off x="3547872" y="1828800"/>
            <a:ext cx="2331720" cy="457200"/>
          </a:xfrm>
          <a:prstGeom prst="rect">
            <a:avLst/>
          </a:prstGeom>
          <a:noFill/>
          <a:ln/>
        </p:spPr>
        <p:txBody>
          <a:bodyPr wrap="square" lIns="0" tIns="0" rIns="0" bIns="0" rtlCol="0" anchor="ctr"/>
          <a:lstStyle/>
          <a:p>
            <a:pPr indent="0" marL="0">
              <a:buNone/>
            </a:pPr>
            <a:r>
              <a:rPr lang="en-US" sz="1800" b="1" dirty="0">
                <a:solidFill>
                  <a:srgbClr val="E3B341"/>
                </a:solidFill>
                <a:latin typeface="Cambria" pitchFamily="34" charset="0"/>
                <a:ea typeface="Cambria" pitchFamily="34" charset="-122"/>
                <a:cs typeface="Cambria" pitchFamily="34" charset="-120"/>
              </a:rPr>
              <a:t>L'agent</a:t>
            </a:r>
            <a:endParaRPr lang="en-US" sz="1800" dirty="0"/>
          </a:p>
        </p:txBody>
      </p:sp>
      <p:sp>
        <p:nvSpPr>
          <p:cNvPr id="9" name="Text 7"/>
          <p:cNvSpPr txBox="1"/>
          <p:nvPr/>
        </p:nvSpPr>
        <p:spPr>
          <a:xfrm>
            <a:off x="3547872" y="2304288"/>
            <a:ext cx="2331720" cy="1188720"/>
          </a:xfrm>
          <a:prstGeom prst="rect">
            <a:avLst/>
          </a:prstGeom>
          <a:noFill/>
          <a:ln/>
        </p:spPr>
        <p:txBody>
          <a:bodyPr wrap="square" lIns="0" tIns="0" rIns="0" bIns="0" rtlCol="0" anchor="ctr"/>
          <a:lstStyle/>
          <a:p>
            <a:pPr indent="0" marL="0">
              <a:buNone/>
            </a:pPr>
            <a:r>
              <a:rPr lang="en-US" sz="1300" dirty="0">
                <a:solidFill>
                  <a:srgbClr val="E8EFF6"/>
                </a:solidFill>
                <a:latin typeface="Calibri" pitchFamily="34" charset="0"/>
                <a:ea typeface="Calibri" pitchFamily="34" charset="-122"/>
                <a:cs typeface="Calibri" pitchFamily="34" charset="-120"/>
              </a:rPr>
              <a:t>Encadre le modèle : un objectif, un contexte, des outils autorisés.</a:t>
            </a:r>
            <a:endParaRPr lang="en-US" sz="1300" dirty="0"/>
          </a:p>
        </p:txBody>
      </p:sp>
      <p:sp>
        <p:nvSpPr>
          <p:cNvPr id="10" name="Shape 8"/>
          <p:cNvSpPr/>
          <p:nvPr/>
        </p:nvSpPr>
        <p:spPr>
          <a:xfrm>
            <a:off x="6227064" y="1645920"/>
            <a:ext cx="2679192" cy="1965960"/>
          </a:xfrm>
          <a:prstGeom prst="roundRect">
            <a:avLst>
              <a:gd name="adj" fmla="val 3256"/>
            </a:avLst>
          </a:prstGeom>
          <a:solidFill>
            <a:srgbClr val="E8F0F8"/>
          </a:solidFill>
          <a:ln w="12700">
            <a:solidFill>
              <a:srgbClr val="E8F0F8"/>
            </a:solidFill>
            <a:prstDash val="solid"/>
          </a:ln>
        </p:spPr>
      </p:sp>
      <p:sp>
        <p:nvSpPr>
          <p:cNvPr id="11" name="Text 9"/>
          <p:cNvSpPr txBox="1"/>
          <p:nvPr/>
        </p:nvSpPr>
        <p:spPr>
          <a:xfrm>
            <a:off x="6409944" y="1828800"/>
            <a:ext cx="2331720" cy="457200"/>
          </a:xfrm>
          <a:prstGeom prst="rect">
            <a:avLst/>
          </a:prstGeom>
          <a:noFill/>
          <a:ln/>
        </p:spPr>
        <p:txBody>
          <a:bodyPr wrap="square" lIns="0" tIns="0" rIns="0" bIns="0" rtlCol="0" anchor="ctr"/>
          <a:lstStyle/>
          <a:p>
            <a:pPr indent="0" marL="0">
              <a:buNone/>
            </a:pPr>
            <a:r>
              <a:rPr lang="en-US" sz="1800" b="1" dirty="0">
                <a:solidFill>
                  <a:srgbClr val="1F3B57"/>
                </a:solidFill>
                <a:latin typeface="Cambria" pitchFamily="34" charset="0"/>
                <a:ea typeface="Cambria" pitchFamily="34" charset="-122"/>
                <a:cs typeface="Cambria" pitchFamily="34" charset="-120"/>
              </a:rPr>
              <a:t>Les outils</a:t>
            </a:r>
            <a:endParaRPr lang="en-US" sz="1800" dirty="0"/>
          </a:p>
        </p:txBody>
      </p:sp>
      <p:sp>
        <p:nvSpPr>
          <p:cNvPr id="12" name="Text 10"/>
          <p:cNvSpPr txBox="1"/>
          <p:nvPr/>
        </p:nvSpPr>
        <p:spPr>
          <a:xfrm>
            <a:off x="6409944" y="2304288"/>
            <a:ext cx="2331720" cy="1188720"/>
          </a:xfrm>
          <a:prstGeom prst="rect">
            <a:avLst/>
          </a:prstGeom>
          <a:noFill/>
          <a:ln/>
        </p:spPr>
        <p:txBody>
          <a:bodyPr wrap="square" lIns="0" tIns="0" rIns="0" bIns="0" rtlCol="0" anchor="ctr"/>
          <a:lstStyle/>
          <a:p>
            <a:pPr indent="0" marL="0">
              <a:buNone/>
            </a:pPr>
            <a:r>
              <a:rPr lang="en-US" sz="1300" dirty="0">
                <a:solidFill>
                  <a:srgbClr val="1A1A1A"/>
                </a:solidFill>
                <a:latin typeface="Calibri" pitchFamily="34" charset="0"/>
                <a:ea typeface="Calibri" pitchFamily="34" charset="-122"/>
                <a:cs typeface="Calibri" pitchFamily="34" charset="-120"/>
              </a:rPr>
              <a:t>Exécutent les opérations fiables : SQL, téléchargement, empreinte.</a:t>
            </a:r>
            <a:endParaRPr lang="en-US" sz="1300" dirty="0"/>
          </a:p>
        </p:txBody>
      </p:sp>
      <p:sp>
        <p:nvSpPr>
          <p:cNvPr id="13" name="Shape 11"/>
          <p:cNvSpPr/>
          <p:nvPr/>
        </p:nvSpPr>
        <p:spPr>
          <a:xfrm>
            <a:off x="9089136" y="1645920"/>
            <a:ext cx="2679192" cy="1965960"/>
          </a:xfrm>
          <a:prstGeom prst="roundRect">
            <a:avLst>
              <a:gd name="adj" fmla="val 3256"/>
            </a:avLst>
          </a:prstGeom>
          <a:solidFill>
            <a:srgbClr val="E8F0F8"/>
          </a:solidFill>
          <a:ln w="12700">
            <a:solidFill>
              <a:srgbClr val="E8F0F8"/>
            </a:solidFill>
            <a:prstDash val="solid"/>
          </a:ln>
        </p:spPr>
      </p:sp>
      <p:sp>
        <p:nvSpPr>
          <p:cNvPr id="14" name="Text 12"/>
          <p:cNvSpPr txBox="1"/>
          <p:nvPr/>
        </p:nvSpPr>
        <p:spPr>
          <a:xfrm>
            <a:off x="9272016" y="1828800"/>
            <a:ext cx="2331720" cy="457200"/>
          </a:xfrm>
          <a:prstGeom prst="rect">
            <a:avLst/>
          </a:prstGeom>
          <a:noFill/>
          <a:ln/>
        </p:spPr>
        <p:txBody>
          <a:bodyPr wrap="square" lIns="0" tIns="0" rIns="0" bIns="0" rtlCol="0" anchor="ctr"/>
          <a:lstStyle/>
          <a:p>
            <a:pPr indent="0" marL="0">
              <a:buNone/>
            </a:pPr>
            <a:r>
              <a:rPr lang="en-US" sz="1800" b="1" dirty="0">
                <a:solidFill>
                  <a:srgbClr val="1F3B57"/>
                </a:solidFill>
                <a:latin typeface="Cambria" pitchFamily="34" charset="0"/>
                <a:ea typeface="Cambria" pitchFamily="34" charset="-122"/>
                <a:cs typeface="Cambria" pitchFamily="34" charset="-120"/>
              </a:rPr>
              <a:t>Le workflow</a:t>
            </a:r>
            <a:endParaRPr lang="en-US" sz="1800" dirty="0"/>
          </a:p>
        </p:txBody>
      </p:sp>
      <p:sp>
        <p:nvSpPr>
          <p:cNvPr id="15" name="Text 13"/>
          <p:cNvSpPr txBox="1"/>
          <p:nvPr/>
        </p:nvSpPr>
        <p:spPr>
          <a:xfrm>
            <a:off x="9272016" y="2304288"/>
            <a:ext cx="2331720" cy="1188720"/>
          </a:xfrm>
          <a:prstGeom prst="rect">
            <a:avLst/>
          </a:prstGeom>
          <a:noFill/>
          <a:ln/>
        </p:spPr>
        <p:txBody>
          <a:bodyPr wrap="square" lIns="0" tIns="0" rIns="0" bIns="0" rtlCol="0" anchor="ctr"/>
          <a:lstStyle/>
          <a:p>
            <a:pPr indent="0" marL="0">
              <a:buNone/>
            </a:pPr>
            <a:r>
              <a:rPr lang="en-US" sz="1300" dirty="0">
                <a:solidFill>
                  <a:srgbClr val="1A1A1A"/>
                </a:solidFill>
                <a:latin typeface="Calibri" pitchFamily="34" charset="0"/>
                <a:ea typeface="Calibri" pitchFamily="34" charset="-122"/>
                <a:cs typeface="Calibri" pitchFamily="34" charset="-120"/>
              </a:rPr>
              <a:t>Borne l'ordre et le périmètre des actions possibles.</a:t>
            </a:r>
            <a:endParaRPr lang="en-US" sz="1300" dirty="0"/>
          </a:p>
        </p:txBody>
      </p:sp>
      <p:sp>
        <p:nvSpPr>
          <p:cNvPr id="16" name="Shape 14"/>
          <p:cNvSpPr/>
          <p:nvPr/>
        </p:nvSpPr>
        <p:spPr>
          <a:xfrm>
            <a:off x="502920" y="4023360"/>
            <a:ext cx="11109960" cy="2194560"/>
          </a:xfrm>
          <a:prstGeom prst="roundRect">
            <a:avLst>
              <a:gd name="adj" fmla="val 2917"/>
            </a:avLst>
          </a:prstGeom>
          <a:solidFill>
            <a:srgbClr val="F7F9FB"/>
          </a:solidFill>
          <a:ln w="9525">
            <a:solidFill>
              <a:srgbClr val="C9D3DD"/>
            </a:solidFill>
            <a:prstDash val="solid"/>
          </a:ln>
        </p:spPr>
      </p:sp>
      <p:sp>
        <p:nvSpPr>
          <p:cNvPr id="17" name="Text 15"/>
          <p:cNvSpPr txBox="1"/>
          <p:nvPr/>
        </p:nvSpPr>
        <p:spPr>
          <a:xfrm>
            <a:off x="777240" y="4206240"/>
            <a:ext cx="10515600" cy="411480"/>
          </a:xfrm>
          <a:prstGeom prst="rect">
            <a:avLst/>
          </a:prstGeom>
          <a:noFill/>
          <a:ln/>
        </p:spPr>
        <p:txBody>
          <a:bodyPr wrap="square" lIns="0" tIns="0" rIns="0" bIns="0" rtlCol="0" anchor="ctr"/>
          <a:lstStyle/>
          <a:p>
            <a:pPr indent="0" marL="0">
              <a:buNone/>
            </a:pPr>
            <a:r>
              <a:rPr lang="en-US" sz="1600" b="1" dirty="0">
                <a:solidFill>
                  <a:srgbClr val="2E5D8A"/>
                </a:solidFill>
                <a:latin typeface="Calibri" pitchFamily="34" charset="0"/>
                <a:ea typeface="Calibri" pitchFamily="34" charset="-122"/>
                <a:cs typeface="Calibri" pitchFamily="34" charset="-120"/>
              </a:rPr>
              <a:t>Le principe directeur du projet</a:t>
            </a:r>
            <a:endParaRPr lang="en-US" sz="1600" dirty="0"/>
          </a:p>
        </p:txBody>
      </p:sp>
      <p:sp>
        <p:nvSpPr>
          <p:cNvPr id="18" name="Text 16"/>
          <p:cNvSpPr txBox="1"/>
          <p:nvPr/>
        </p:nvSpPr>
        <p:spPr>
          <a:xfrm>
            <a:off x="777240" y="4663440"/>
            <a:ext cx="10561320" cy="1417320"/>
          </a:xfrm>
          <a:prstGeom prst="rect">
            <a:avLst/>
          </a:prstGeom>
          <a:noFill/>
          <a:ln/>
        </p:spPr>
        <p:txBody>
          <a:bodyPr wrap="square" lIns="0" tIns="0" rIns="0" bIns="0" rtlCol="0" anchor="ctr"/>
          <a:lstStyle/>
          <a:p>
            <a:pPr indent="0" marL="0">
              <a:lnSpc>
                <a:spcPct val="115000"/>
              </a:lnSpc>
              <a:buNone/>
            </a:pPr>
            <a:r>
              <a:rPr lang="en-US" sz="1600" b="1" dirty="0">
                <a:solidFill>
                  <a:srgbClr val="1F3B57"/>
                </a:solidFill>
                <a:latin typeface="Calibri" pitchFamily="34" charset="0"/>
                <a:ea typeface="Calibri" pitchFamily="34" charset="-122"/>
                <a:cs typeface="Calibri" pitchFamily="34" charset="-120"/>
              </a:rPr>
              <a:t>Tout ce qui peut être codé et testé est codé et testé. </a:t>
            </a:r>
            <a:pPr indent="0" marL="0">
              <a:lnSpc>
                <a:spcPct val="115000"/>
              </a:lnSpc>
              <a:buNone/>
            </a:pPr>
            <a:r>
              <a:rPr lang="en-US" sz="1600" dirty="0">
                <a:solidFill>
                  <a:srgbClr val="1A1A1A"/>
                </a:solidFill>
                <a:latin typeface="Calibri" pitchFamily="34" charset="0"/>
                <a:ea typeface="Calibri" pitchFamily="34" charset="-122"/>
                <a:cs typeface="Calibri" pitchFamily="34" charset="-120"/>
              </a:rPr>
              <a:t>Le modèle n'intervient que là où l'interprétation sémantique est nécessaire — lire un cahier des charges, rédiger une fiche argumentée. </a:t>
            </a:r>
            <a:pPr indent="0" marL="0">
              <a:lnSpc>
                <a:spcPct val="115000"/>
              </a:lnSpc>
              <a:buNone/>
            </a:pPr>
            <a:r>
              <a:rPr lang="en-US" sz="1600" b="1" i="1" dirty="0">
                <a:solidFill>
                  <a:srgbClr val="1F3B57"/>
                </a:solidFill>
                <a:latin typeface="Calibri" pitchFamily="34" charset="0"/>
                <a:ea typeface="Calibri" pitchFamily="34" charset="-122"/>
                <a:cs typeface="Calibri" pitchFamily="34" charset="-120"/>
              </a:rPr>
              <a:t>Le modèle raisonne, le code vérifie, la base conserve la preuve.</a:t>
            </a:r>
            <a:endParaRPr lang="en-US" sz="1600" dirty="0"/>
          </a:p>
        </p:txBody>
      </p:sp>
      <p:sp>
        <p:nvSpPr>
          <p:cNvPr id="20" name="Text 17"/>
          <p:cNvSpPr txBox="1"/>
          <p:nvPr/>
        </p:nvSpPr>
        <p:spPr>
          <a:xfrm>
            <a:off x="11503152" y="6382512"/>
            <a:ext cx="411480" cy="292608"/>
          </a:xfrm>
          <a:prstGeom prst="rect">
            <a:avLst/>
          </a:prstGeom>
          <a:noFill/>
          <a:ln/>
        </p:spPr>
        <p:txBody>
          <a:bodyPr wrap="square" lIns="0" tIns="0" rIns="0" bIns="0" rtlCol="0" anchor="ctr"/>
          <a:lstStyle/>
          <a:p>
            <a:pPr algn="r" indent="0" marL="0">
              <a:buNone/>
            </a:pPr>
            <a:r>
              <a:rPr lang="en-US" sz="1100" dirty="0">
                <a:solidFill>
                  <a:srgbClr val="5A6B7C"/>
                </a:solidFill>
                <a:latin typeface="Calibri" pitchFamily="34" charset="0"/>
                <a:ea typeface="Calibri" pitchFamily="34" charset="-122"/>
                <a:cs typeface="Calibri" pitchFamily="34" charset="-120"/>
              </a:rPr>
              <a:t>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92608"/>
            <a:ext cx="11183112" cy="685800"/>
          </a:xfrm>
          <a:prstGeom prst="rect">
            <a:avLst/>
          </a:prstGeom>
          <a:noFill/>
          <a:ln/>
        </p:spPr>
        <p:txBody>
          <a:bodyPr wrap="square" lIns="0" tIns="0" rIns="0" bIns="0" rtlCol="0" anchor="ctr"/>
          <a:lstStyle/>
          <a:p>
            <a:pPr indent="0" marL="0">
              <a:buNone/>
            </a:pPr>
            <a:r>
              <a:rPr lang="en-US" sz="3100" b="1" dirty="0">
                <a:solidFill>
                  <a:srgbClr val="1F3B57"/>
                </a:solidFill>
                <a:latin typeface="Cambria" pitchFamily="34" charset="0"/>
                <a:ea typeface="Cambria" pitchFamily="34" charset="-122"/>
                <a:cs typeface="Cambria" pitchFamily="34" charset="-120"/>
              </a:rPr>
              <a:t>Les outils utilisés</a:t>
            </a:r>
            <a:endParaRPr lang="en-US" sz="3100" dirty="0"/>
          </a:p>
        </p:txBody>
      </p:sp>
      <p:sp>
        <p:nvSpPr>
          <p:cNvPr id="3" name="Text 1"/>
          <p:cNvSpPr txBox="1"/>
          <p:nvPr/>
        </p:nvSpPr>
        <p:spPr>
          <a:xfrm>
            <a:off x="521208" y="932688"/>
            <a:ext cx="11146536" cy="365760"/>
          </a:xfrm>
          <a:prstGeom prst="rect">
            <a:avLst/>
          </a:prstGeom>
          <a:noFill/>
          <a:ln/>
        </p:spPr>
        <p:txBody>
          <a:bodyPr wrap="square" lIns="0" tIns="0" rIns="0" bIns="0" rtlCol="0" anchor="ctr"/>
          <a:lstStyle/>
          <a:p>
            <a:pPr indent="0" marL="0">
              <a:buNone/>
            </a:pPr>
            <a:r>
              <a:rPr lang="en-US" sz="1400" i="1" dirty="0">
                <a:solidFill>
                  <a:srgbClr val="5A6B7C"/>
                </a:solidFill>
                <a:latin typeface="Calibri" pitchFamily="34" charset="0"/>
                <a:ea typeface="Calibri" pitchFamily="34" charset="-122"/>
                <a:cs typeface="Calibri" pitchFamily="34" charset="-120"/>
              </a:rPr>
              <a:t>Une stack volontairement standard, locale et reproductible.</a:t>
            </a:r>
            <a:endParaRPr lang="en-US" sz="1400" dirty="0"/>
          </a:p>
        </p:txBody>
      </p:sp>
      <p:sp>
        <p:nvSpPr>
          <p:cNvPr id="4" name="Shape 2"/>
          <p:cNvSpPr/>
          <p:nvPr/>
        </p:nvSpPr>
        <p:spPr>
          <a:xfrm>
            <a:off x="502920" y="1600200"/>
            <a:ext cx="3639312" cy="1005840"/>
          </a:xfrm>
          <a:prstGeom prst="roundRect">
            <a:avLst>
              <a:gd name="adj" fmla="val 6364"/>
            </a:avLst>
          </a:prstGeom>
          <a:solidFill>
            <a:srgbClr val="F7F9FB"/>
          </a:solidFill>
          <a:ln w="9525">
            <a:solidFill>
              <a:srgbClr val="C9D3DD"/>
            </a:solidFill>
            <a:prstDash val="solid"/>
          </a:ln>
        </p:spPr>
      </p:sp>
      <p:sp>
        <p:nvSpPr>
          <p:cNvPr id="5" name="Text 3"/>
          <p:cNvSpPr txBox="1"/>
          <p:nvPr/>
        </p:nvSpPr>
        <p:spPr>
          <a:xfrm>
            <a:off x="685800" y="1691640"/>
            <a:ext cx="3291840" cy="365760"/>
          </a:xfrm>
          <a:prstGeom prst="rect">
            <a:avLst/>
          </a:prstGeom>
          <a:noFill/>
          <a:ln/>
        </p:spPr>
        <p:txBody>
          <a:bodyPr wrap="square" lIns="0" tIns="0" rIns="0" bIns="0" rtlCol="0" anchor="ctr"/>
          <a:lstStyle/>
          <a:p>
            <a:pPr indent="0" marL="0">
              <a:buNone/>
            </a:pPr>
            <a:r>
              <a:rPr lang="en-US" sz="1450" b="1" dirty="0">
                <a:solidFill>
                  <a:srgbClr val="1F3B57"/>
                </a:solidFill>
                <a:latin typeface="Calibri" pitchFamily="34" charset="0"/>
                <a:ea typeface="Calibri" pitchFamily="34" charset="-122"/>
                <a:cs typeface="Calibri" pitchFamily="34" charset="-120"/>
              </a:rPr>
              <a:t>Python 3</a:t>
            </a:r>
            <a:endParaRPr lang="en-US" sz="1450" dirty="0"/>
          </a:p>
        </p:txBody>
      </p:sp>
      <p:sp>
        <p:nvSpPr>
          <p:cNvPr id="6" name="Text 4"/>
          <p:cNvSpPr txBox="1"/>
          <p:nvPr/>
        </p:nvSpPr>
        <p:spPr>
          <a:xfrm>
            <a:off x="685800" y="2057400"/>
            <a:ext cx="3291840" cy="457200"/>
          </a:xfrm>
          <a:prstGeom prst="rect">
            <a:avLst/>
          </a:prstGeom>
          <a:noFill/>
          <a:ln/>
        </p:spPr>
        <p:txBody>
          <a:bodyPr wrap="square" lIns="0" tIns="0" rIns="0" bIns="0" rtlCol="0" anchor="ctr"/>
          <a:lstStyle/>
          <a:p>
            <a:pPr indent="0" marL="0">
              <a:buNone/>
            </a:pPr>
            <a:r>
              <a:rPr lang="en-US" sz="1150" dirty="0">
                <a:solidFill>
                  <a:srgbClr val="5A6B7C"/>
                </a:solidFill>
                <a:latin typeface="Calibri" pitchFamily="34" charset="0"/>
                <a:ea typeface="Calibri" pitchFamily="34" charset="-122"/>
                <a:cs typeface="Calibri" pitchFamily="34" charset="-120"/>
              </a:rPr>
              <a:t>Collecteur, traitement, CLI JSON, API</a:t>
            </a:r>
            <a:endParaRPr lang="en-US" sz="1150" dirty="0"/>
          </a:p>
        </p:txBody>
      </p:sp>
      <p:sp>
        <p:nvSpPr>
          <p:cNvPr id="7" name="Shape 5"/>
          <p:cNvSpPr/>
          <p:nvPr/>
        </p:nvSpPr>
        <p:spPr>
          <a:xfrm>
            <a:off x="4325112" y="1600200"/>
            <a:ext cx="3639312" cy="1005840"/>
          </a:xfrm>
          <a:prstGeom prst="roundRect">
            <a:avLst>
              <a:gd name="adj" fmla="val 6364"/>
            </a:avLst>
          </a:prstGeom>
          <a:solidFill>
            <a:srgbClr val="E8F0F8"/>
          </a:solidFill>
          <a:ln w="12700">
            <a:solidFill>
              <a:srgbClr val="E8F0F8"/>
            </a:solidFill>
            <a:prstDash val="solid"/>
          </a:ln>
        </p:spPr>
      </p:sp>
      <p:sp>
        <p:nvSpPr>
          <p:cNvPr id="8" name="Text 6"/>
          <p:cNvSpPr txBox="1"/>
          <p:nvPr/>
        </p:nvSpPr>
        <p:spPr>
          <a:xfrm>
            <a:off x="4507992" y="1691640"/>
            <a:ext cx="3291840" cy="365760"/>
          </a:xfrm>
          <a:prstGeom prst="rect">
            <a:avLst/>
          </a:prstGeom>
          <a:noFill/>
          <a:ln/>
        </p:spPr>
        <p:txBody>
          <a:bodyPr wrap="square" lIns="0" tIns="0" rIns="0" bIns="0" rtlCol="0" anchor="ctr"/>
          <a:lstStyle/>
          <a:p>
            <a:pPr indent="0" marL="0">
              <a:buNone/>
            </a:pPr>
            <a:r>
              <a:rPr lang="en-US" sz="1450" b="1" dirty="0">
                <a:solidFill>
                  <a:srgbClr val="1F3B57"/>
                </a:solidFill>
                <a:latin typeface="Calibri" pitchFamily="34" charset="0"/>
                <a:ea typeface="Calibri" pitchFamily="34" charset="-122"/>
                <a:cs typeface="Calibri" pitchFamily="34" charset="-120"/>
              </a:rPr>
              <a:t>PostgreSQL 16</a:t>
            </a:r>
            <a:endParaRPr lang="en-US" sz="1450" dirty="0"/>
          </a:p>
        </p:txBody>
      </p:sp>
      <p:sp>
        <p:nvSpPr>
          <p:cNvPr id="9" name="Text 7"/>
          <p:cNvSpPr txBox="1"/>
          <p:nvPr/>
        </p:nvSpPr>
        <p:spPr>
          <a:xfrm>
            <a:off x="4507992" y="2057400"/>
            <a:ext cx="3291840" cy="457200"/>
          </a:xfrm>
          <a:prstGeom prst="rect">
            <a:avLst/>
          </a:prstGeom>
          <a:noFill/>
          <a:ln/>
        </p:spPr>
        <p:txBody>
          <a:bodyPr wrap="square" lIns="0" tIns="0" rIns="0" bIns="0" rtlCol="0" anchor="ctr"/>
          <a:lstStyle/>
          <a:p>
            <a:pPr indent="0" marL="0">
              <a:buNone/>
            </a:pPr>
            <a:r>
              <a:rPr lang="en-US" sz="1150" dirty="0">
                <a:solidFill>
                  <a:srgbClr val="5A6B7C"/>
                </a:solidFill>
                <a:latin typeface="Calibri" pitchFamily="34" charset="0"/>
                <a:ea typeface="Calibri" pitchFamily="34" charset="-122"/>
                <a:cs typeface="Calibri" pitchFamily="34" charset="-120"/>
              </a:rPr>
              <a:t>Source de vérité, JSONB, contraintes</a:t>
            </a:r>
            <a:endParaRPr lang="en-US" sz="1150" dirty="0"/>
          </a:p>
        </p:txBody>
      </p:sp>
      <p:sp>
        <p:nvSpPr>
          <p:cNvPr id="10" name="Shape 8"/>
          <p:cNvSpPr/>
          <p:nvPr/>
        </p:nvSpPr>
        <p:spPr>
          <a:xfrm>
            <a:off x="8147304" y="1600200"/>
            <a:ext cx="3639312" cy="1005840"/>
          </a:xfrm>
          <a:prstGeom prst="roundRect">
            <a:avLst>
              <a:gd name="adj" fmla="val 6364"/>
            </a:avLst>
          </a:prstGeom>
          <a:solidFill>
            <a:srgbClr val="F7F9FB"/>
          </a:solidFill>
          <a:ln w="9525">
            <a:solidFill>
              <a:srgbClr val="C9D3DD"/>
            </a:solidFill>
            <a:prstDash val="solid"/>
          </a:ln>
        </p:spPr>
      </p:sp>
      <p:sp>
        <p:nvSpPr>
          <p:cNvPr id="11" name="Text 9"/>
          <p:cNvSpPr txBox="1"/>
          <p:nvPr/>
        </p:nvSpPr>
        <p:spPr>
          <a:xfrm>
            <a:off x="8330184" y="1691640"/>
            <a:ext cx="3291840" cy="365760"/>
          </a:xfrm>
          <a:prstGeom prst="rect">
            <a:avLst/>
          </a:prstGeom>
          <a:noFill/>
          <a:ln/>
        </p:spPr>
        <p:txBody>
          <a:bodyPr wrap="square" lIns="0" tIns="0" rIns="0" bIns="0" rtlCol="0" anchor="ctr"/>
          <a:lstStyle/>
          <a:p>
            <a:pPr indent="0" marL="0">
              <a:buNone/>
            </a:pPr>
            <a:r>
              <a:rPr lang="en-US" sz="1450" b="1" dirty="0">
                <a:solidFill>
                  <a:srgbClr val="1F3B57"/>
                </a:solidFill>
                <a:latin typeface="Calibri" pitchFamily="34" charset="0"/>
                <a:ea typeface="Calibri" pitchFamily="34" charset="-122"/>
                <a:cs typeface="Calibri" pitchFamily="34" charset="-120"/>
              </a:rPr>
              <a:t>Docker Compose</a:t>
            </a:r>
            <a:endParaRPr lang="en-US" sz="1450" dirty="0"/>
          </a:p>
        </p:txBody>
      </p:sp>
      <p:sp>
        <p:nvSpPr>
          <p:cNvPr id="12" name="Text 10"/>
          <p:cNvSpPr txBox="1"/>
          <p:nvPr/>
        </p:nvSpPr>
        <p:spPr>
          <a:xfrm>
            <a:off x="8330184" y="2057400"/>
            <a:ext cx="3291840" cy="457200"/>
          </a:xfrm>
          <a:prstGeom prst="rect">
            <a:avLst/>
          </a:prstGeom>
          <a:noFill/>
          <a:ln/>
        </p:spPr>
        <p:txBody>
          <a:bodyPr wrap="square" lIns="0" tIns="0" rIns="0" bIns="0" rtlCol="0" anchor="ctr"/>
          <a:lstStyle/>
          <a:p>
            <a:pPr indent="0" marL="0">
              <a:buNone/>
            </a:pPr>
            <a:r>
              <a:rPr lang="en-US" sz="1150" dirty="0">
                <a:solidFill>
                  <a:srgbClr val="5A6B7C"/>
                </a:solidFill>
                <a:latin typeface="Calibri" pitchFamily="34" charset="0"/>
                <a:ea typeface="Calibri" pitchFamily="34" charset="-122"/>
                <a:cs typeface="Calibri" pitchFamily="34" charset="-120"/>
              </a:rPr>
              <a:t>Infrastructure reproductible, 127.0.0.1</a:t>
            </a:r>
            <a:endParaRPr lang="en-US" sz="1150" dirty="0"/>
          </a:p>
        </p:txBody>
      </p:sp>
      <p:sp>
        <p:nvSpPr>
          <p:cNvPr id="13" name="Shape 11"/>
          <p:cNvSpPr/>
          <p:nvPr/>
        </p:nvSpPr>
        <p:spPr>
          <a:xfrm>
            <a:off x="502920" y="2770632"/>
            <a:ext cx="3639312" cy="1005840"/>
          </a:xfrm>
          <a:prstGeom prst="roundRect">
            <a:avLst>
              <a:gd name="adj" fmla="val 6364"/>
            </a:avLst>
          </a:prstGeom>
          <a:solidFill>
            <a:srgbClr val="F7F9FB"/>
          </a:solidFill>
          <a:ln w="9525">
            <a:solidFill>
              <a:srgbClr val="C9D3DD"/>
            </a:solidFill>
            <a:prstDash val="solid"/>
          </a:ln>
        </p:spPr>
      </p:sp>
      <p:sp>
        <p:nvSpPr>
          <p:cNvPr id="14" name="Text 12"/>
          <p:cNvSpPr txBox="1"/>
          <p:nvPr/>
        </p:nvSpPr>
        <p:spPr>
          <a:xfrm>
            <a:off x="685800" y="2862072"/>
            <a:ext cx="3291840" cy="365760"/>
          </a:xfrm>
          <a:prstGeom prst="rect">
            <a:avLst/>
          </a:prstGeom>
          <a:noFill/>
          <a:ln/>
        </p:spPr>
        <p:txBody>
          <a:bodyPr wrap="square" lIns="0" tIns="0" rIns="0" bIns="0" rtlCol="0" anchor="ctr"/>
          <a:lstStyle/>
          <a:p>
            <a:pPr indent="0" marL="0">
              <a:buNone/>
            </a:pPr>
            <a:r>
              <a:rPr lang="en-US" sz="1450" b="1" dirty="0">
                <a:solidFill>
                  <a:srgbClr val="1F3B57"/>
                </a:solidFill>
                <a:latin typeface="Calibri" pitchFamily="34" charset="0"/>
                <a:ea typeface="Calibri" pitchFamily="34" charset="-122"/>
                <a:cs typeface="Calibri" pitchFamily="34" charset="-120"/>
              </a:rPr>
              <a:t>OpenClaw</a:t>
            </a:r>
            <a:endParaRPr lang="en-US" sz="1450" dirty="0"/>
          </a:p>
        </p:txBody>
      </p:sp>
      <p:sp>
        <p:nvSpPr>
          <p:cNvPr id="15" name="Text 13"/>
          <p:cNvSpPr txBox="1"/>
          <p:nvPr/>
        </p:nvSpPr>
        <p:spPr>
          <a:xfrm>
            <a:off x="685800" y="3227832"/>
            <a:ext cx="3291840" cy="457200"/>
          </a:xfrm>
          <a:prstGeom prst="rect">
            <a:avLst/>
          </a:prstGeom>
          <a:noFill/>
          <a:ln/>
        </p:spPr>
        <p:txBody>
          <a:bodyPr wrap="square" lIns="0" tIns="0" rIns="0" bIns="0" rtlCol="0" anchor="ctr"/>
          <a:lstStyle/>
          <a:p>
            <a:pPr indent="0" marL="0">
              <a:buNone/>
            </a:pPr>
            <a:r>
              <a:rPr lang="en-US" sz="1150" dirty="0">
                <a:solidFill>
                  <a:srgbClr val="5A6B7C"/>
                </a:solidFill>
                <a:latin typeface="Calibri" pitchFamily="34" charset="0"/>
                <a:ea typeface="Calibri" pitchFamily="34" charset="-122"/>
                <a:cs typeface="Calibri" pitchFamily="34" charset="-120"/>
              </a:rPr>
              <a:t>Agent d'entreprise + skills métier</a:t>
            </a:r>
            <a:endParaRPr lang="en-US" sz="1150" dirty="0"/>
          </a:p>
        </p:txBody>
      </p:sp>
      <p:sp>
        <p:nvSpPr>
          <p:cNvPr id="16" name="Shape 14"/>
          <p:cNvSpPr/>
          <p:nvPr/>
        </p:nvSpPr>
        <p:spPr>
          <a:xfrm>
            <a:off x="4325112" y="2770632"/>
            <a:ext cx="3639312" cy="1005840"/>
          </a:xfrm>
          <a:prstGeom prst="roundRect">
            <a:avLst>
              <a:gd name="adj" fmla="val 6364"/>
            </a:avLst>
          </a:prstGeom>
          <a:solidFill>
            <a:srgbClr val="E8F0F8"/>
          </a:solidFill>
          <a:ln w="12700">
            <a:solidFill>
              <a:srgbClr val="E8F0F8"/>
            </a:solidFill>
            <a:prstDash val="solid"/>
          </a:ln>
        </p:spPr>
      </p:sp>
      <p:sp>
        <p:nvSpPr>
          <p:cNvPr id="17" name="Text 15"/>
          <p:cNvSpPr txBox="1"/>
          <p:nvPr/>
        </p:nvSpPr>
        <p:spPr>
          <a:xfrm>
            <a:off x="4507992" y="2862072"/>
            <a:ext cx="3291840" cy="365760"/>
          </a:xfrm>
          <a:prstGeom prst="rect">
            <a:avLst/>
          </a:prstGeom>
          <a:noFill/>
          <a:ln/>
        </p:spPr>
        <p:txBody>
          <a:bodyPr wrap="square" lIns="0" tIns="0" rIns="0" bIns="0" rtlCol="0" anchor="ctr"/>
          <a:lstStyle/>
          <a:p>
            <a:pPr indent="0" marL="0">
              <a:buNone/>
            </a:pPr>
            <a:r>
              <a:rPr lang="en-US" sz="1450" b="1" dirty="0">
                <a:solidFill>
                  <a:srgbClr val="1F3B57"/>
                </a:solidFill>
                <a:latin typeface="Calibri" pitchFamily="34" charset="0"/>
                <a:ea typeface="Calibri" pitchFamily="34" charset="-122"/>
                <a:cs typeface="Calibri" pitchFamily="34" charset="-120"/>
              </a:rPr>
              <a:t>n8n</a:t>
            </a:r>
            <a:endParaRPr lang="en-US" sz="1450" dirty="0"/>
          </a:p>
        </p:txBody>
      </p:sp>
      <p:sp>
        <p:nvSpPr>
          <p:cNvPr id="18" name="Text 16"/>
          <p:cNvSpPr txBox="1"/>
          <p:nvPr/>
        </p:nvSpPr>
        <p:spPr>
          <a:xfrm>
            <a:off x="4507992" y="3227832"/>
            <a:ext cx="3291840" cy="457200"/>
          </a:xfrm>
          <a:prstGeom prst="rect">
            <a:avLst/>
          </a:prstGeom>
          <a:noFill/>
          <a:ln/>
        </p:spPr>
        <p:txBody>
          <a:bodyPr wrap="square" lIns="0" tIns="0" rIns="0" bIns="0" rtlCol="0" anchor="ctr"/>
          <a:lstStyle/>
          <a:p>
            <a:pPr indent="0" marL="0">
              <a:buNone/>
            </a:pPr>
            <a:r>
              <a:rPr lang="en-US" sz="1150" dirty="0">
                <a:solidFill>
                  <a:srgbClr val="5A6B7C"/>
                </a:solidFill>
                <a:latin typeface="Calibri" pitchFamily="34" charset="0"/>
                <a:ea typeface="Calibri" pitchFamily="34" charset="-122"/>
                <a:cs typeface="Calibri" pitchFamily="34" charset="-120"/>
              </a:rPr>
              <a:t>Planification 08:00 jours ouvrés</a:t>
            </a:r>
            <a:endParaRPr lang="en-US" sz="1150" dirty="0"/>
          </a:p>
        </p:txBody>
      </p:sp>
      <p:sp>
        <p:nvSpPr>
          <p:cNvPr id="19" name="Shape 17"/>
          <p:cNvSpPr/>
          <p:nvPr/>
        </p:nvSpPr>
        <p:spPr>
          <a:xfrm>
            <a:off x="8147304" y="2770632"/>
            <a:ext cx="3639312" cy="1005840"/>
          </a:xfrm>
          <a:prstGeom prst="roundRect">
            <a:avLst>
              <a:gd name="adj" fmla="val 6364"/>
            </a:avLst>
          </a:prstGeom>
          <a:solidFill>
            <a:srgbClr val="F7F9FB"/>
          </a:solidFill>
          <a:ln w="9525">
            <a:solidFill>
              <a:srgbClr val="C9D3DD"/>
            </a:solidFill>
            <a:prstDash val="solid"/>
          </a:ln>
        </p:spPr>
      </p:sp>
      <p:sp>
        <p:nvSpPr>
          <p:cNvPr id="20" name="Text 18"/>
          <p:cNvSpPr txBox="1"/>
          <p:nvPr/>
        </p:nvSpPr>
        <p:spPr>
          <a:xfrm>
            <a:off x="8330184" y="2862072"/>
            <a:ext cx="3291840" cy="365760"/>
          </a:xfrm>
          <a:prstGeom prst="rect">
            <a:avLst/>
          </a:prstGeom>
          <a:noFill/>
          <a:ln/>
        </p:spPr>
        <p:txBody>
          <a:bodyPr wrap="square" lIns="0" tIns="0" rIns="0" bIns="0" rtlCol="0" anchor="ctr"/>
          <a:lstStyle/>
          <a:p>
            <a:pPr indent="0" marL="0">
              <a:buNone/>
            </a:pPr>
            <a:r>
              <a:rPr lang="en-US" sz="1450" b="1" dirty="0">
                <a:solidFill>
                  <a:srgbClr val="1F3B57"/>
                </a:solidFill>
                <a:latin typeface="Calibri" pitchFamily="34" charset="0"/>
                <a:ea typeface="Calibri" pitchFamily="34" charset="-122"/>
                <a:cs typeface="Calibri" pitchFamily="34" charset="-120"/>
              </a:rPr>
              <a:t>MCP</a:t>
            </a:r>
            <a:endParaRPr lang="en-US" sz="1450" dirty="0"/>
          </a:p>
        </p:txBody>
      </p:sp>
      <p:sp>
        <p:nvSpPr>
          <p:cNvPr id="21" name="Text 19"/>
          <p:cNvSpPr txBox="1"/>
          <p:nvPr/>
        </p:nvSpPr>
        <p:spPr>
          <a:xfrm>
            <a:off x="8330184" y="3227832"/>
            <a:ext cx="3291840" cy="457200"/>
          </a:xfrm>
          <a:prstGeom prst="rect">
            <a:avLst/>
          </a:prstGeom>
          <a:noFill/>
          <a:ln/>
        </p:spPr>
        <p:txBody>
          <a:bodyPr wrap="square" lIns="0" tIns="0" rIns="0" bIns="0" rtlCol="0" anchor="ctr"/>
          <a:lstStyle/>
          <a:p>
            <a:pPr indent="0" marL="0">
              <a:buNone/>
            </a:pPr>
            <a:r>
              <a:rPr lang="en-US" sz="1150" dirty="0">
                <a:solidFill>
                  <a:srgbClr val="5A6B7C"/>
                </a:solidFill>
                <a:latin typeface="Calibri" pitchFamily="34" charset="0"/>
                <a:ea typeface="Calibri" pitchFamily="34" charset="-122"/>
                <a:cs typeface="Calibri" pitchFamily="34" charset="-120"/>
              </a:rPr>
              <a:t>Cinq outils bornés, standard ouvert</a:t>
            </a:r>
            <a:endParaRPr lang="en-US" sz="1150" dirty="0"/>
          </a:p>
        </p:txBody>
      </p:sp>
      <p:sp>
        <p:nvSpPr>
          <p:cNvPr id="22" name="Shape 20"/>
          <p:cNvSpPr/>
          <p:nvPr/>
        </p:nvSpPr>
        <p:spPr>
          <a:xfrm>
            <a:off x="502920" y="3941064"/>
            <a:ext cx="3639312" cy="1005840"/>
          </a:xfrm>
          <a:prstGeom prst="roundRect">
            <a:avLst>
              <a:gd name="adj" fmla="val 6364"/>
            </a:avLst>
          </a:prstGeom>
          <a:solidFill>
            <a:srgbClr val="F7F9FB"/>
          </a:solidFill>
          <a:ln w="9525">
            <a:solidFill>
              <a:srgbClr val="C9D3DD"/>
            </a:solidFill>
            <a:prstDash val="solid"/>
          </a:ln>
        </p:spPr>
      </p:sp>
      <p:sp>
        <p:nvSpPr>
          <p:cNvPr id="23" name="Text 21"/>
          <p:cNvSpPr txBox="1"/>
          <p:nvPr/>
        </p:nvSpPr>
        <p:spPr>
          <a:xfrm>
            <a:off x="685800" y="4032504"/>
            <a:ext cx="3291840" cy="365760"/>
          </a:xfrm>
          <a:prstGeom prst="rect">
            <a:avLst/>
          </a:prstGeom>
          <a:noFill/>
          <a:ln/>
        </p:spPr>
        <p:txBody>
          <a:bodyPr wrap="square" lIns="0" tIns="0" rIns="0" bIns="0" rtlCol="0" anchor="ctr"/>
          <a:lstStyle/>
          <a:p>
            <a:pPr indent="0" marL="0">
              <a:buNone/>
            </a:pPr>
            <a:r>
              <a:rPr lang="en-US" sz="1450" b="1" dirty="0">
                <a:solidFill>
                  <a:srgbClr val="1F3B57"/>
                </a:solidFill>
                <a:latin typeface="Calibri" pitchFamily="34" charset="0"/>
                <a:ea typeface="Calibri" pitchFamily="34" charset="-122"/>
                <a:cs typeface="Calibri" pitchFamily="34" charset="-120"/>
              </a:rPr>
              <a:t>Tesseract + Poppler</a:t>
            </a:r>
            <a:endParaRPr lang="en-US" sz="1450" dirty="0"/>
          </a:p>
        </p:txBody>
      </p:sp>
      <p:sp>
        <p:nvSpPr>
          <p:cNvPr id="24" name="Text 22"/>
          <p:cNvSpPr txBox="1"/>
          <p:nvPr/>
        </p:nvSpPr>
        <p:spPr>
          <a:xfrm>
            <a:off x="685800" y="4398264"/>
            <a:ext cx="3291840" cy="457200"/>
          </a:xfrm>
          <a:prstGeom prst="rect">
            <a:avLst/>
          </a:prstGeom>
          <a:noFill/>
          <a:ln/>
        </p:spPr>
        <p:txBody>
          <a:bodyPr wrap="square" lIns="0" tIns="0" rIns="0" bIns="0" rtlCol="0" anchor="ctr"/>
          <a:lstStyle/>
          <a:p>
            <a:pPr indent="0" marL="0">
              <a:buNone/>
            </a:pPr>
            <a:r>
              <a:rPr lang="en-US" sz="1150" dirty="0">
                <a:solidFill>
                  <a:srgbClr val="5A6B7C"/>
                </a:solidFill>
                <a:latin typeface="Calibri" pitchFamily="34" charset="0"/>
                <a:ea typeface="Calibri" pitchFamily="34" charset="-122"/>
                <a:cs typeface="Calibri" pitchFamily="34" charset="-120"/>
              </a:rPr>
              <a:t>OCR français / arabe / anglais</a:t>
            </a:r>
            <a:endParaRPr lang="en-US" sz="1150" dirty="0"/>
          </a:p>
        </p:txBody>
      </p:sp>
      <p:sp>
        <p:nvSpPr>
          <p:cNvPr id="25" name="Shape 23"/>
          <p:cNvSpPr/>
          <p:nvPr/>
        </p:nvSpPr>
        <p:spPr>
          <a:xfrm>
            <a:off x="4325112" y="3941064"/>
            <a:ext cx="3639312" cy="1005840"/>
          </a:xfrm>
          <a:prstGeom prst="roundRect">
            <a:avLst>
              <a:gd name="adj" fmla="val 6364"/>
            </a:avLst>
          </a:prstGeom>
          <a:solidFill>
            <a:srgbClr val="E8F0F8"/>
          </a:solidFill>
          <a:ln w="12700">
            <a:solidFill>
              <a:srgbClr val="E8F0F8"/>
            </a:solidFill>
            <a:prstDash val="solid"/>
          </a:ln>
        </p:spPr>
      </p:sp>
      <p:sp>
        <p:nvSpPr>
          <p:cNvPr id="26" name="Text 24"/>
          <p:cNvSpPr txBox="1"/>
          <p:nvPr/>
        </p:nvSpPr>
        <p:spPr>
          <a:xfrm>
            <a:off x="4507992" y="4032504"/>
            <a:ext cx="3291840" cy="365760"/>
          </a:xfrm>
          <a:prstGeom prst="rect">
            <a:avLst/>
          </a:prstGeom>
          <a:noFill/>
          <a:ln/>
        </p:spPr>
        <p:txBody>
          <a:bodyPr wrap="square" lIns="0" tIns="0" rIns="0" bIns="0" rtlCol="0" anchor="ctr"/>
          <a:lstStyle/>
          <a:p>
            <a:pPr indent="0" marL="0">
              <a:buNone/>
            </a:pPr>
            <a:r>
              <a:rPr lang="en-US" sz="1450" b="1" dirty="0">
                <a:solidFill>
                  <a:srgbClr val="1F3B57"/>
                </a:solidFill>
                <a:latin typeface="Calibri" pitchFamily="34" charset="0"/>
                <a:ea typeface="Calibri" pitchFamily="34" charset="-122"/>
                <a:cs typeface="Calibri" pitchFamily="34" charset="-120"/>
              </a:rPr>
              <a:t>LibreOffice</a:t>
            </a:r>
            <a:endParaRPr lang="en-US" sz="1450" dirty="0"/>
          </a:p>
        </p:txBody>
      </p:sp>
      <p:sp>
        <p:nvSpPr>
          <p:cNvPr id="27" name="Text 25"/>
          <p:cNvSpPr txBox="1"/>
          <p:nvPr/>
        </p:nvSpPr>
        <p:spPr>
          <a:xfrm>
            <a:off x="4507992" y="4398264"/>
            <a:ext cx="3291840" cy="457200"/>
          </a:xfrm>
          <a:prstGeom prst="rect">
            <a:avLst/>
          </a:prstGeom>
          <a:noFill/>
          <a:ln/>
        </p:spPr>
        <p:txBody>
          <a:bodyPr wrap="square" lIns="0" tIns="0" rIns="0" bIns="0" rtlCol="0" anchor="ctr"/>
          <a:lstStyle/>
          <a:p>
            <a:pPr indent="0" marL="0">
              <a:buNone/>
            </a:pPr>
            <a:r>
              <a:rPr lang="en-US" sz="1150" dirty="0">
                <a:solidFill>
                  <a:srgbClr val="5A6B7C"/>
                </a:solidFill>
                <a:latin typeface="Calibri" pitchFamily="34" charset="0"/>
                <a:ea typeface="Calibri" pitchFamily="34" charset="-122"/>
                <a:cs typeface="Calibri" pitchFamily="34" charset="-120"/>
              </a:rPr>
              <a:t>Conversion isolée des anciens DOC</a:t>
            </a:r>
            <a:endParaRPr lang="en-US" sz="1150" dirty="0"/>
          </a:p>
        </p:txBody>
      </p:sp>
      <p:sp>
        <p:nvSpPr>
          <p:cNvPr id="28" name="Shape 26"/>
          <p:cNvSpPr/>
          <p:nvPr/>
        </p:nvSpPr>
        <p:spPr>
          <a:xfrm>
            <a:off x="8147304" y="3941064"/>
            <a:ext cx="3639312" cy="1005840"/>
          </a:xfrm>
          <a:prstGeom prst="roundRect">
            <a:avLst>
              <a:gd name="adj" fmla="val 6364"/>
            </a:avLst>
          </a:prstGeom>
          <a:solidFill>
            <a:srgbClr val="F7F9FB"/>
          </a:solidFill>
          <a:ln w="9525">
            <a:solidFill>
              <a:srgbClr val="C9D3DD"/>
            </a:solidFill>
            <a:prstDash val="solid"/>
          </a:ln>
        </p:spPr>
      </p:sp>
      <p:sp>
        <p:nvSpPr>
          <p:cNvPr id="29" name="Text 27"/>
          <p:cNvSpPr txBox="1"/>
          <p:nvPr/>
        </p:nvSpPr>
        <p:spPr>
          <a:xfrm>
            <a:off x="8330184" y="4032504"/>
            <a:ext cx="3291840" cy="365760"/>
          </a:xfrm>
          <a:prstGeom prst="rect">
            <a:avLst/>
          </a:prstGeom>
          <a:noFill/>
          <a:ln/>
        </p:spPr>
        <p:txBody>
          <a:bodyPr wrap="square" lIns="0" tIns="0" rIns="0" bIns="0" rtlCol="0" anchor="ctr"/>
          <a:lstStyle/>
          <a:p>
            <a:pPr indent="0" marL="0">
              <a:buNone/>
            </a:pPr>
            <a:r>
              <a:rPr lang="en-US" sz="1450" b="1" dirty="0">
                <a:solidFill>
                  <a:srgbClr val="1F3B57"/>
                </a:solidFill>
                <a:latin typeface="Calibri" pitchFamily="34" charset="0"/>
                <a:ea typeface="Calibri" pitchFamily="34" charset="-122"/>
                <a:cs typeface="Calibri" pitchFamily="34" charset="-120"/>
              </a:rPr>
              <a:t>Gmail + Telegram</a:t>
            </a:r>
            <a:endParaRPr lang="en-US" sz="1450" dirty="0"/>
          </a:p>
        </p:txBody>
      </p:sp>
      <p:sp>
        <p:nvSpPr>
          <p:cNvPr id="30" name="Text 28"/>
          <p:cNvSpPr txBox="1"/>
          <p:nvPr/>
        </p:nvSpPr>
        <p:spPr>
          <a:xfrm>
            <a:off x="8330184" y="4398264"/>
            <a:ext cx="3291840" cy="457200"/>
          </a:xfrm>
          <a:prstGeom prst="rect">
            <a:avLst/>
          </a:prstGeom>
          <a:noFill/>
          <a:ln/>
        </p:spPr>
        <p:txBody>
          <a:bodyPr wrap="square" lIns="0" tIns="0" rIns="0" bIns="0" rtlCol="0" anchor="ctr"/>
          <a:lstStyle/>
          <a:p>
            <a:pPr indent="0" marL="0">
              <a:buNone/>
            </a:pPr>
            <a:r>
              <a:rPr lang="en-US" sz="1150" dirty="0">
                <a:solidFill>
                  <a:srgbClr val="5A6B7C"/>
                </a:solidFill>
                <a:latin typeface="Calibri" pitchFamily="34" charset="0"/>
                <a:ea typeface="Calibri" pitchFamily="34" charset="-122"/>
                <a:cs typeface="Calibri" pitchFamily="34" charset="-120"/>
              </a:rPr>
              <a:t>Diffusion réelle, OAuth, bot dédié</a:t>
            </a:r>
            <a:endParaRPr lang="en-US" sz="1150" dirty="0"/>
          </a:p>
        </p:txBody>
      </p:sp>
      <p:sp>
        <p:nvSpPr>
          <p:cNvPr id="31" name="Shape 29"/>
          <p:cNvSpPr/>
          <p:nvPr/>
        </p:nvSpPr>
        <p:spPr>
          <a:xfrm>
            <a:off x="502920" y="5111496"/>
            <a:ext cx="3639312" cy="1005840"/>
          </a:xfrm>
          <a:prstGeom prst="roundRect">
            <a:avLst>
              <a:gd name="adj" fmla="val 6364"/>
            </a:avLst>
          </a:prstGeom>
          <a:solidFill>
            <a:srgbClr val="F7F9FB"/>
          </a:solidFill>
          <a:ln w="9525">
            <a:solidFill>
              <a:srgbClr val="C9D3DD"/>
            </a:solidFill>
            <a:prstDash val="solid"/>
          </a:ln>
        </p:spPr>
      </p:sp>
      <p:sp>
        <p:nvSpPr>
          <p:cNvPr id="32" name="Text 30"/>
          <p:cNvSpPr txBox="1"/>
          <p:nvPr/>
        </p:nvSpPr>
        <p:spPr>
          <a:xfrm>
            <a:off x="685800" y="5202936"/>
            <a:ext cx="3291840" cy="365760"/>
          </a:xfrm>
          <a:prstGeom prst="rect">
            <a:avLst/>
          </a:prstGeom>
          <a:noFill/>
          <a:ln/>
        </p:spPr>
        <p:txBody>
          <a:bodyPr wrap="square" lIns="0" tIns="0" rIns="0" bIns="0" rtlCol="0" anchor="ctr"/>
          <a:lstStyle/>
          <a:p>
            <a:pPr indent="0" marL="0">
              <a:buNone/>
            </a:pPr>
            <a:r>
              <a:rPr lang="en-US" sz="1450" b="1" dirty="0">
                <a:solidFill>
                  <a:srgbClr val="1F3B57"/>
                </a:solidFill>
                <a:latin typeface="Calibri" pitchFamily="34" charset="0"/>
                <a:ea typeface="Calibri" pitchFamily="34" charset="-122"/>
                <a:cs typeface="Calibri" pitchFamily="34" charset="-120"/>
              </a:rPr>
              <a:t>Mailpit</a:t>
            </a:r>
            <a:endParaRPr lang="en-US" sz="1450" dirty="0"/>
          </a:p>
        </p:txBody>
      </p:sp>
      <p:sp>
        <p:nvSpPr>
          <p:cNvPr id="33" name="Text 31"/>
          <p:cNvSpPr txBox="1"/>
          <p:nvPr/>
        </p:nvSpPr>
        <p:spPr>
          <a:xfrm>
            <a:off x="685800" y="5568696"/>
            <a:ext cx="3291840" cy="457200"/>
          </a:xfrm>
          <a:prstGeom prst="rect">
            <a:avLst/>
          </a:prstGeom>
          <a:noFill/>
          <a:ln/>
        </p:spPr>
        <p:txBody>
          <a:bodyPr wrap="square" lIns="0" tIns="0" rIns="0" bIns="0" rtlCol="0" anchor="ctr"/>
          <a:lstStyle/>
          <a:p>
            <a:pPr indent="0" marL="0">
              <a:buNone/>
            </a:pPr>
            <a:r>
              <a:rPr lang="en-US" sz="1150" dirty="0">
                <a:solidFill>
                  <a:srgbClr val="5A6B7C"/>
                </a:solidFill>
                <a:latin typeface="Calibri" pitchFamily="34" charset="0"/>
                <a:ea typeface="Calibri" pitchFamily="34" charset="-122"/>
                <a:cs typeface="Calibri" pitchFamily="34" charset="-120"/>
              </a:rPr>
              <a:t>Canal email local de test</a:t>
            </a:r>
            <a:endParaRPr lang="en-US" sz="1150" dirty="0"/>
          </a:p>
        </p:txBody>
      </p:sp>
      <p:sp>
        <p:nvSpPr>
          <p:cNvPr id="34" name="Shape 32"/>
          <p:cNvSpPr/>
          <p:nvPr/>
        </p:nvSpPr>
        <p:spPr>
          <a:xfrm>
            <a:off x="4325112" y="5111496"/>
            <a:ext cx="3639312" cy="1005840"/>
          </a:xfrm>
          <a:prstGeom prst="roundRect">
            <a:avLst>
              <a:gd name="adj" fmla="val 6364"/>
            </a:avLst>
          </a:prstGeom>
          <a:solidFill>
            <a:srgbClr val="E8F0F8"/>
          </a:solidFill>
          <a:ln w="12700">
            <a:solidFill>
              <a:srgbClr val="E8F0F8"/>
            </a:solidFill>
            <a:prstDash val="solid"/>
          </a:ln>
        </p:spPr>
      </p:sp>
      <p:sp>
        <p:nvSpPr>
          <p:cNvPr id="35" name="Text 33"/>
          <p:cNvSpPr txBox="1"/>
          <p:nvPr/>
        </p:nvSpPr>
        <p:spPr>
          <a:xfrm>
            <a:off x="4507992" y="5202936"/>
            <a:ext cx="3291840" cy="365760"/>
          </a:xfrm>
          <a:prstGeom prst="rect">
            <a:avLst/>
          </a:prstGeom>
          <a:noFill/>
          <a:ln/>
        </p:spPr>
        <p:txBody>
          <a:bodyPr wrap="square" lIns="0" tIns="0" rIns="0" bIns="0" rtlCol="0" anchor="ctr"/>
          <a:lstStyle/>
          <a:p>
            <a:pPr indent="0" marL="0">
              <a:buNone/>
            </a:pPr>
            <a:r>
              <a:rPr lang="en-US" sz="1450" b="1" dirty="0">
                <a:solidFill>
                  <a:srgbClr val="1F3B57"/>
                </a:solidFill>
                <a:latin typeface="Calibri" pitchFamily="34" charset="0"/>
                <a:ea typeface="Calibri" pitchFamily="34" charset="-122"/>
                <a:cs typeface="Calibri" pitchFamily="34" charset="-120"/>
              </a:rPr>
              <a:t>Ollama · Phi-4 Mini</a:t>
            </a:r>
            <a:endParaRPr lang="en-US" sz="1450" dirty="0"/>
          </a:p>
        </p:txBody>
      </p:sp>
      <p:sp>
        <p:nvSpPr>
          <p:cNvPr id="36" name="Text 34"/>
          <p:cNvSpPr txBox="1"/>
          <p:nvPr/>
        </p:nvSpPr>
        <p:spPr>
          <a:xfrm>
            <a:off x="4507992" y="5568696"/>
            <a:ext cx="3291840" cy="457200"/>
          </a:xfrm>
          <a:prstGeom prst="rect">
            <a:avLst/>
          </a:prstGeom>
          <a:noFill/>
          <a:ln/>
        </p:spPr>
        <p:txBody>
          <a:bodyPr wrap="square" lIns="0" tIns="0" rIns="0" bIns="0" rtlCol="0" anchor="ctr"/>
          <a:lstStyle/>
          <a:p>
            <a:pPr indent="0" marL="0">
              <a:buNone/>
            </a:pPr>
            <a:r>
              <a:rPr lang="en-US" sz="1150" dirty="0">
                <a:solidFill>
                  <a:srgbClr val="5A6B7C"/>
                </a:solidFill>
                <a:latin typeface="Calibri" pitchFamily="34" charset="0"/>
                <a:ea typeface="Calibri" pitchFamily="34" charset="-122"/>
                <a:cs typeface="Calibri" pitchFamily="34" charset="-120"/>
              </a:rPr>
              <a:t>Benchmark local encadré (second avis)</a:t>
            </a:r>
            <a:endParaRPr lang="en-US" sz="1150" dirty="0"/>
          </a:p>
        </p:txBody>
      </p:sp>
      <p:sp>
        <p:nvSpPr>
          <p:cNvPr id="37" name="Shape 35"/>
          <p:cNvSpPr/>
          <p:nvPr/>
        </p:nvSpPr>
        <p:spPr>
          <a:xfrm>
            <a:off x="8147304" y="5111496"/>
            <a:ext cx="3639312" cy="1005840"/>
          </a:xfrm>
          <a:prstGeom prst="roundRect">
            <a:avLst>
              <a:gd name="adj" fmla="val 6364"/>
            </a:avLst>
          </a:prstGeom>
          <a:solidFill>
            <a:srgbClr val="F7F9FB"/>
          </a:solidFill>
          <a:ln w="9525">
            <a:solidFill>
              <a:srgbClr val="C9D3DD"/>
            </a:solidFill>
            <a:prstDash val="solid"/>
          </a:ln>
        </p:spPr>
      </p:sp>
      <p:sp>
        <p:nvSpPr>
          <p:cNvPr id="38" name="Text 36"/>
          <p:cNvSpPr txBox="1"/>
          <p:nvPr/>
        </p:nvSpPr>
        <p:spPr>
          <a:xfrm>
            <a:off x="8330184" y="5202936"/>
            <a:ext cx="3291840" cy="365760"/>
          </a:xfrm>
          <a:prstGeom prst="rect">
            <a:avLst/>
          </a:prstGeom>
          <a:noFill/>
          <a:ln/>
        </p:spPr>
        <p:txBody>
          <a:bodyPr wrap="square" lIns="0" tIns="0" rIns="0" bIns="0" rtlCol="0" anchor="ctr"/>
          <a:lstStyle/>
          <a:p>
            <a:pPr indent="0" marL="0">
              <a:buNone/>
            </a:pPr>
            <a:r>
              <a:rPr lang="en-US" sz="1450" b="1" dirty="0">
                <a:solidFill>
                  <a:srgbClr val="1F3B57"/>
                </a:solidFill>
                <a:latin typeface="Calibri" pitchFamily="34" charset="0"/>
                <a:ea typeface="Calibri" pitchFamily="34" charset="-122"/>
                <a:cs typeface="Calibri" pitchFamily="34" charset="-120"/>
              </a:rPr>
              <a:t>pgAdmin · pytest</a:t>
            </a:r>
            <a:endParaRPr lang="en-US" sz="1450" dirty="0"/>
          </a:p>
        </p:txBody>
      </p:sp>
      <p:sp>
        <p:nvSpPr>
          <p:cNvPr id="39" name="Text 37"/>
          <p:cNvSpPr txBox="1"/>
          <p:nvPr/>
        </p:nvSpPr>
        <p:spPr>
          <a:xfrm>
            <a:off x="8330184" y="5568696"/>
            <a:ext cx="3291840" cy="457200"/>
          </a:xfrm>
          <a:prstGeom prst="rect">
            <a:avLst/>
          </a:prstGeom>
          <a:noFill/>
          <a:ln/>
        </p:spPr>
        <p:txBody>
          <a:bodyPr wrap="square" lIns="0" tIns="0" rIns="0" bIns="0" rtlCol="0" anchor="ctr"/>
          <a:lstStyle/>
          <a:p>
            <a:pPr indent="0" marL="0">
              <a:buNone/>
            </a:pPr>
            <a:r>
              <a:rPr lang="en-US" sz="1150" dirty="0">
                <a:solidFill>
                  <a:srgbClr val="5A6B7C"/>
                </a:solidFill>
                <a:latin typeface="Calibri" pitchFamily="34" charset="0"/>
                <a:ea typeface="Calibri" pitchFamily="34" charset="-122"/>
                <a:cs typeface="Calibri" pitchFamily="34" charset="-120"/>
              </a:rPr>
              <a:t>62 tests locaux + 5 intégration</a:t>
            </a:r>
            <a:endParaRPr lang="en-US" sz="1150" dirty="0"/>
          </a:p>
        </p:txBody>
      </p:sp>
      <p:sp>
        <p:nvSpPr>
          <p:cNvPr id="41" name="Text 38"/>
          <p:cNvSpPr txBox="1"/>
          <p:nvPr/>
        </p:nvSpPr>
        <p:spPr>
          <a:xfrm>
            <a:off x="11503152" y="6382512"/>
            <a:ext cx="411480" cy="292608"/>
          </a:xfrm>
          <a:prstGeom prst="rect">
            <a:avLst/>
          </a:prstGeom>
          <a:noFill/>
          <a:ln/>
        </p:spPr>
        <p:txBody>
          <a:bodyPr wrap="square" lIns="0" tIns="0" rIns="0" bIns="0" rtlCol="0" anchor="ctr"/>
          <a:lstStyle/>
          <a:p>
            <a:pPr algn="r" indent="0" marL="0">
              <a:buNone/>
            </a:pPr>
            <a:r>
              <a:rPr lang="en-US" sz="1100" dirty="0">
                <a:solidFill>
                  <a:srgbClr val="5A6B7C"/>
                </a:solidFill>
                <a:latin typeface="Calibri" pitchFamily="34" charset="0"/>
                <a:ea typeface="Calibri" pitchFamily="34" charset="-122"/>
                <a:cs typeface="Calibri" pitchFamily="34" charset="-120"/>
              </a:rPr>
              <a:t>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6" name="Text 2"/>
          <p:cNvSpPr txBox="1"/>
          <p:nvPr/>
        </p:nvSpPr>
        <p:spPr>
          <a:xfrm>
            <a:off x="11503152" y="6382512"/>
            <a:ext cx="411480" cy="292608"/>
          </a:xfrm>
          <a:prstGeom prst="rect">
            <a:avLst/>
          </a:prstGeom>
          <a:noFill/>
          <a:ln/>
        </p:spPr>
        <p:txBody>
          <a:bodyPr wrap="square" lIns="0" tIns="0" rIns="0" bIns="0" rtlCol="0" anchor="ctr"/>
          <a:lstStyle/>
          <a:p>
            <a:pPr algn="r" indent="0" marL="0">
              <a:buNone/>
            </a:pPr>
            <a:r>
              <a:rPr lang="en-US" sz="1100" dirty="0">
                <a:solidFill>
                  <a:srgbClr val="5A6B7C"/>
                </a:solidFill>
                <a:latin typeface="Calibri" pitchFamily="34" charset="0"/>
                <a:ea typeface="Calibri" pitchFamily="34" charset="-122"/>
                <a:cs typeface="Calibri" pitchFamily="34" charset="-120"/>
              </a:rPr>
              <a:t>7</a:t>
            </a:r>
            <a:endParaRPr lang="en-US" sz="1100" dirty="0"/>
          </a:p>
        </p:txBody>
      </p:sp>
      <p:pic>
        <p:nvPicPr>
          <p:cNvPr id="7" name="Picture 6" descr="architecture_finale.png"/>
          <p:cNvPicPr>
            <a:picLocks noChangeAspect="1"/>
          </p:cNvPicPr>
          <p:nvPr/>
        </p:nvPicPr>
        <p:blipFill>
          <a:blip r:embed="rId4"/>
          <a:stretch>
            <a:fillRect/>
          </a:stretch>
        </p:blipFill>
        <p:spPr>
          <a:xfrm>
            <a:off x="0" y="0"/>
            <a:ext cx="12191695" cy="624809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92608"/>
            <a:ext cx="11183112" cy="685800"/>
          </a:xfrm>
          <a:prstGeom prst="rect">
            <a:avLst/>
          </a:prstGeom>
          <a:noFill/>
          <a:ln/>
        </p:spPr>
        <p:txBody>
          <a:bodyPr wrap="square" lIns="0" tIns="0" rIns="0" bIns="0" rtlCol="0" anchor="ctr"/>
          <a:lstStyle/>
          <a:p>
            <a:pPr indent="0" marL="0">
              <a:buNone/>
            </a:pPr>
            <a:r>
              <a:rPr lang="en-US" sz="3100" b="1" dirty="0">
                <a:solidFill>
                  <a:srgbClr val="1F3B57"/>
                </a:solidFill>
                <a:latin typeface="Cambria" pitchFamily="34" charset="0"/>
                <a:ea typeface="Cambria" pitchFamily="34" charset="-122"/>
                <a:cs typeface="Cambria" pitchFamily="34" charset="-120"/>
              </a:rPr>
              <a:t>Cas d'utilisation</a:t>
            </a:r>
            <a:endParaRPr lang="en-US" sz="3100" dirty="0"/>
          </a:p>
        </p:txBody>
      </p:sp>
      <p:sp>
        <p:nvSpPr>
          <p:cNvPr id="3" name="Text 1"/>
          <p:cNvSpPr txBox="1"/>
          <p:nvPr/>
        </p:nvSpPr>
        <p:spPr>
          <a:xfrm>
            <a:off x="521208" y="932688"/>
            <a:ext cx="11146536" cy="365760"/>
          </a:xfrm>
          <a:prstGeom prst="rect">
            <a:avLst/>
          </a:prstGeom>
          <a:noFill/>
          <a:ln/>
        </p:spPr>
        <p:txBody>
          <a:bodyPr wrap="square" lIns="0" tIns="0" rIns="0" bIns="0" rtlCol="0" anchor="ctr"/>
          <a:lstStyle/>
          <a:p>
            <a:pPr indent="0" marL="0">
              <a:buNone/>
            </a:pPr>
            <a:r>
              <a:rPr lang="en-US" sz="1400" i="1" dirty="0">
                <a:solidFill>
                  <a:srgbClr val="5A6B7C"/>
                </a:solidFill>
                <a:latin typeface="Calibri" pitchFamily="34" charset="0"/>
                <a:ea typeface="Calibri" pitchFamily="34" charset="-122"/>
                <a:cs typeface="Calibri" pitchFamily="34" charset="-120"/>
              </a:rPr>
              <a:t>Le digest quotidien (UC4) inclut collecte, traitement documentaire et analyse — c'est l'enchaînement rejoué chaque jour ouvré.</a:t>
            </a:r>
            <a:endParaRPr lang="en-US" sz="1400" dirty="0"/>
          </a:p>
        </p:txBody>
      </p:sp>
      <p:pic>
        <p:nvPicPr>
          <p:cNvPr id="4" name="Image 0" descr="/home/claude/diagrams/usecase.png">    </p:cNvPr>
          <p:cNvPicPr>
            <a:picLocks noChangeAspect="1"/>
          </p:cNvPicPr>
          <p:nvPr/>
        </p:nvPicPr>
        <p:blipFill>
          <a:blip r:embed="rId1"/>
          <a:stretch>
            <a:fillRect/>
          </a:stretch>
        </p:blipFill>
        <p:spPr>
          <a:xfrm>
            <a:off x="457200" y="1518845"/>
            <a:ext cx="11247120" cy="4826151"/>
          </a:xfrm>
          <a:prstGeom prst="rect">
            <a:avLst/>
          </a:prstGeom>
        </p:spPr>
      </p:pic>
      <p:sp>
        <p:nvSpPr>
          <p:cNvPr id="6" name="Text 2"/>
          <p:cNvSpPr txBox="1"/>
          <p:nvPr/>
        </p:nvSpPr>
        <p:spPr>
          <a:xfrm>
            <a:off x="11503152" y="6382512"/>
            <a:ext cx="411480" cy="292608"/>
          </a:xfrm>
          <a:prstGeom prst="rect">
            <a:avLst/>
          </a:prstGeom>
          <a:noFill/>
          <a:ln/>
        </p:spPr>
        <p:txBody>
          <a:bodyPr wrap="square" lIns="0" tIns="0" rIns="0" bIns="0" rtlCol="0" anchor="ctr"/>
          <a:lstStyle/>
          <a:p>
            <a:pPr algn="r" indent="0" marL="0">
              <a:buNone/>
            </a:pPr>
            <a:r>
              <a:rPr lang="en-US" sz="1100" dirty="0">
                <a:solidFill>
                  <a:srgbClr val="5A6B7C"/>
                </a:solidFill>
                <a:latin typeface="Calibri" pitchFamily="34" charset="0"/>
                <a:ea typeface="Calibri" pitchFamily="34" charset="-122"/>
                <a:cs typeface="Calibri" pitchFamily="34" charset="-120"/>
              </a:rPr>
              <a:t>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6" name="Text 2"/>
          <p:cNvSpPr txBox="1"/>
          <p:nvPr/>
        </p:nvSpPr>
        <p:spPr>
          <a:xfrm>
            <a:off x="11503152" y="6382512"/>
            <a:ext cx="411480" cy="292608"/>
          </a:xfrm>
          <a:prstGeom prst="rect">
            <a:avLst/>
          </a:prstGeom>
          <a:noFill/>
          <a:ln/>
        </p:spPr>
        <p:txBody>
          <a:bodyPr wrap="square" lIns="0" tIns="0" rIns="0" bIns="0" rtlCol="0" anchor="ctr"/>
          <a:lstStyle/>
          <a:p>
            <a:pPr algn="r" indent="0" marL="0">
              <a:buNone/>
            </a:pPr>
            <a:r>
              <a:rPr lang="en-US" sz="1100" dirty="0">
                <a:solidFill>
                  <a:srgbClr val="5A6B7C"/>
                </a:solidFill>
                <a:latin typeface="Calibri" pitchFamily="34" charset="0"/>
                <a:ea typeface="Calibri" pitchFamily="34" charset="-122"/>
                <a:cs typeface="Calibri" pitchFamily="34" charset="-120"/>
              </a:rPr>
              <a:t>9</a:t>
            </a:r>
            <a:endParaRPr lang="en-US" sz="1100" dirty="0"/>
          </a:p>
        </p:txBody>
      </p:sp>
      <p:pic>
        <p:nvPicPr>
          <p:cNvPr id="7" name="Picture 6" descr="traceabilite_finale.png"/>
          <p:cNvPicPr>
            <a:picLocks noChangeAspect="1"/>
          </p:cNvPicPr>
          <p:nvPr/>
        </p:nvPicPr>
        <p:blipFill>
          <a:blip r:embed="rId4"/>
          <a:stretch>
            <a:fillRect/>
          </a:stretch>
        </p:blipFill>
        <p:spPr>
          <a:xfrm>
            <a:off x="0" y="0"/>
            <a:ext cx="12191695" cy="624809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6" name="Text 2"/>
          <p:cNvSpPr txBox="1"/>
          <p:nvPr/>
        </p:nvSpPr>
        <p:spPr>
          <a:xfrm>
            <a:off x="11503152" y="6382512"/>
            <a:ext cx="411480" cy="292608"/>
          </a:xfrm>
          <a:prstGeom prst="rect">
            <a:avLst/>
          </a:prstGeom>
          <a:noFill/>
          <a:ln/>
        </p:spPr>
        <p:txBody>
          <a:bodyPr wrap="square" lIns="0" tIns="0" rIns="0" bIns="0" rtlCol="0" anchor="ctr"/>
          <a:lstStyle/>
          <a:p>
            <a:pPr algn="r" indent="0" marL="0">
              <a:buNone/>
            </a:pPr>
            <a:r>
              <a:rPr lang="en-US" sz="1100" dirty="0">
                <a:solidFill>
                  <a:srgbClr val="5A6B7C"/>
                </a:solidFill>
                <a:latin typeface="Calibri" pitchFamily="34" charset="0"/>
                <a:ea typeface="Calibri" pitchFamily="34" charset="-122"/>
                <a:cs typeface="Calibri" pitchFamily="34" charset="-120"/>
              </a:rPr>
              <a:t>10</a:t>
            </a:r>
            <a:endParaRPr lang="en-US" sz="1100" dirty="0"/>
          </a:p>
        </p:txBody>
      </p:sp>
      <p:pic>
        <p:nvPicPr>
          <p:cNvPr id="7" name="Picture 6" descr="pipeline_quotidien_final.png"/>
          <p:cNvPicPr>
            <a:picLocks noChangeAspect="1"/>
          </p:cNvPicPr>
          <p:nvPr/>
        </p:nvPicPr>
        <p:blipFill>
          <a:blip r:embed="rId4"/>
          <a:stretch>
            <a:fillRect/>
          </a:stretch>
        </p:blipFill>
        <p:spPr>
          <a:xfrm>
            <a:off x="0" y="0"/>
            <a:ext cx="12191695" cy="624809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9" name="Text 5"/>
          <p:cNvSpPr txBox="1"/>
          <p:nvPr/>
        </p:nvSpPr>
        <p:spPr>
          <a:xfrm>
            <a:off x="11503152" y="6382512"/>
            <a:ext cx="411480" cy="292608"/>
          </a:xfrm>
          <a:prstGeom prst="rect">
            <a:avLst/>
          </a:prstGeom>
          <a:noFill/>
          <a:ln/>
        </p:spPr>
        <p:txBody>
          <a:bodyPr wrap="square" lIns="0" tIns="0" rIns="0" bIns="0" rtlCol="0" anchor="ctr"/>
          <a:lstStyle/>
          <a:p>
            <a:pPr algn="r" indent="0" marL="0">
              <a:buNone/>
            </a:pPr>
            <a:r>
              <a:rPr lang="en-US" sz="1100" dirty="0">
                <a:solidFill>
                  <a:srgbClr val="5A6B7C"/>
                </a:solidFill>
                <a:latin typeface="Calibri" pitchFamily="34" charset="0"/>
                <a:ea typeface="Calibri" pitchFamily="34" charset="-122"/>
                <a:cs typeface="Calibri" pitchFamily="34" charset="-120"/>
              </a:rPr>
              <a:t>11</a:t>
            </a:r>
            <a:endParaRPr lang="en-US" sz="1100" dirty="0"/>
          </a:p>
        </p:txBody>
      </p:sp>
      <p:pic>
        <p:nvPicPr>
          <p:cNvPr id="10" name="Picture 9" descr="analyse_go_nogo_finale.png"/>
          <p:cNvPicPr>
            <a:picLocks noChangeAspect="1"/>
          </p:cNvPicPr>
          <p:nvPr/>
        </p:nvPicPr>
        <p:blipFill>
          <a:blip r:embed="rId4"/>
          <a:stretch>
            <a:fillRect/>
          </a:stretch>
        </p:blipFill>
        <p:spPr>
          <a:xfrm>
            <a:off x="0" y="0"/>
            <a:ext cx="12191695" cy="624809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92608"/>
            <a:ext cx="11183112" cy="685800"/>
          </a:xfrm>
          <a:prstGeom prst="rect">
            <a:avLst/>
          </a:prstGeom>
          <a:noFill/>
          <a:ln/>
        </p:spPr>
        <p:txBody>
          <a:bodyPr wrap="square" lIns="0" tIns="0" rIns="0" bIns="0" rtlCol="0" anchor="ctr"/>
          <a:lstStyle/>
          <a:p>
            <a:pPr indent="0" marL="0">
              <a:buNone/>
            </a:pPr>
            <a:r>
              <a:rPr lang="en-US" sz="3100" b="1" dirty="0">
                <a:solidFill>
                  <a:srgbClr val="1F3B57"/>
                </a:solidFill>
                <a:latin typeface="Cambria" pitchFamily="34" charset="0"/>
                <a:ea typeface="Cambria" pitchFamily="34" charset="-122"/>
                <a:cs typeface="Cambria" pitchFamily="34" charset="-120"/>
              </a:rPr>
              <a:t>Résultats mesurés</a:t>
            </a:r>
            <a:endParaRPr lang="en-US" sz="3100" dirty="0"/>
          </a:p>
        </p:txBody>
      </p:sp>
      <p:sp>
        <p:nvSpPr>
          <p:cNvPr id="3" name="Text 1"/>
          <p:cNvSpPr txBox="1"/>
          <p:nvPr/>
        </p:nvSpPr>
        <p:spPr>
          <a:xfrm>
            <a:off x="521208" y="932688"/>
            <a:ext cx="11146536" cy="365760"/>
          </a:xfrm>
          <a:prstGeom prst="rect">
            <a:avLst/>
          </a:prstGeom>
          <a:noFill/>
          <a:ln/>
        </p:spPr>
        <p:txBody>
          <a:bodyPr wrap="square" lIns="0" tIns="0" rIns="0" bIns="0" rtlCol="0" anchor="ctr"/>
          <a:lstStyle/>
          <a:p>
            <a:pPr indent="0" marL="0">
              <a:buNone/>
            </a:pPr>
            <a:r>
              <a:rPr lang="en-US" sz="1400" i="1" dirty="0">
                <a:solidFill>
                  <a:srgbClr val="5A6B7C"/>
                </a:solidFill>
                <a:latin typeface="Calibri" pitchFamily="34" charset="0"/>
                <a:ea typeface="Calibri" pitchFamily="34" charset="-122"/>
                <a:cs typeface="Calibri" pitchFamily="34" charset="-120"/>
              </a:rPr>
              <a:t>Snapshot validé du 26 août 2026 — chaque chiffre est vérifiable dans la base et les rapports de test.</a:t>
            </a:r>
            <a:endParaRPr lang="en-US" sz="1400" dirty="0"/>
          </a:p>
        </p:txBody>
      </p:sp>
      <p:sp>
        <p:nvSpPr>
          <p:cNvPr id="4" name="Shape 2"/>
          <p:cNvSpPr/>
          <p:nvPr/>
        </p:nvSpPr>
        <p:spPr>
          <a:xfrm>
            <a:off x="502920" y="1691640"/>
            <a:ext cx="3639312" cy="1298448"/>
          </a:xfrm>
          <a:prstGeom prst="roundRect">
            <a:avLst>
              <a:gd name="adj" fmla="val 4930"/>
            </a:avLst>
          </a:prstGeom>
          <a:solidFill>
            <a:srgbClr val="E8F0F8"/>
          </a:solidFill>
          <a:ln w="12700">
            <a:solidFill>
              <a:srgbClr val="E8F0F8"/>
            </a:solidFill>
            <a:prstDash val="solid"/>
          </a:ln>
        </p:spPr>
      </p:sp>
      <p:sp>
        <p:nvSpPr>
          <p:cNvPr id="5" name="Text 3"/>
          <p:cNvSpPr txBox="1"/>
          <p:nvPr/>
        </p:nvSpPr>
        <p:spPr>
          <a:xfrm>
            <a:off x="502920" y="1764792"/>
            <a:ext cx="3639312" cy="675193"/>
          </a:xfrm>
          <a:prstGeom prst="rect">
            <a:avLst/>
          </a:prstGeom>
          <a:noFill/>
          <a:ln/>
        </p:spPr>
        <p:txBody>
          <a:bodyPr wrap="square" lIns="0" tIns="0" rIns="0" bIns="0" rtlCol="0" anchor="ctr"/>
          <a:lstStyle/>
          <a:p>
            <a:pPr algn="ctr" indent="0" marL="0">
              <a:buNone/>
            </a:pPr>
            <a:r>
              <a:rPr lang="en-US" sz="3000" b="1" dirty="0">
                <a:solidFill>
                  <a:srgbClr val="1F3B57"/>
                </a:solidFill>
                <a:latin typeface="Cambria" pitchFamily="34" charset="0"/>
                <a:ea typeface="Cambria" pitchFamily="34" charset="-122"/>
                <a:cs typeface="Cambria" pitchFamily="34" charset="-120"/>
              </a:rPr>
              <a:t>100</a:t>
            </a:r>
            <a:endParaRPr lang="en-US" sz="3000" dirty="0"/>
          </a:p>
        </p:txBody>
      </p:sp>
      <p:sp>
        <p:nvSpPr>
          <p:cNvPr id="6" name="Text 4"/>
          <p:cNvSpPr txBox="1"/>
          <p:nvPr/>
        </p:nvSpPr>
        <p:spPr>
          <a:xfrm>
            <a:off x="576072" y="2405786"/>
            <a:ext cx="3493008" cy="519379"/>
          </a:xfrm>
          <a:prstGeom prst="rect">
            <a:avLst/>
          </a:prstGeom>
          <a:noFill/>
          <a:ln/>
        </p:spPr>
        <p:txBody>
          <a:bodyPr wrap="square" lIns="0" tIns="0" rIns="0" bIns="0" rtlCol="0" anchor="t"/>
          <a:lstStyle/>
          <a:p>
            <a:pPr algn="ctr" indent="0" marL="0">
              <a:buNone/>
            </a:pPr>
            <a:r>
              <a:rPr lang="en-US" sz="1250" dirty="0">
                <a:solidFill>
                  <a:srgbClr val="1A1A1A"/>
                </a:solidFill>
                <a:latin typeface="Calibri" pitchFamily="34" charset="0"/>
                <a:ea typeface="Calibri" pitchFamily="34" charset="-122"/>
                <a:cs typeface="Calibri" pitchFamily="34" charset="-120"/>
              </a:rPr>
              <a:t>appels d'offres centralisés</a:t>
            </a:r>
            <a:endParaRPr lang="en-US" sz="1250" dirty="0"/>
          </a:p>
        </p:txBody>
      </p:sp>
      <p:sp>
        <p:nvSpPr>
          <p:cNvPr id="7" name="Shape 5"/>
          <p:cNvSpPr/>
          <p:nvPr/>
        </p:nvSpPr>
        <p:spPr>
          <a:xfrm>
            <a:off x="4325112" y="1691640"/>
            <a:ext cx="3639312" cy="1298448"/>
          </a:xfrm>
          <a:prstGeom prst="roundRect">
            <a:avLst>
              <a:gd name="adj" fmla="val 4930"/>
            </a:avLst>
          </a:prstGeom>
          <a:solidFill>
            <a:srgbClr val="E8F0F8"/>
          </a:solidFill>
          <a:ln w="12700">
            <a:solidFill>
              <a:srgbClr val="E8F0F8"/>
            </a:solidFill>
            <a:prstDash val="solid"/>
          </a:ln>
        </p:spPr>
      </p:sp>
      <p:sp>
        <p:nvSpPr>
          <p:cNvPr id="8" name="Text 6"/>
          <p:cNvSpPr txBox="1"/>
          <p:nvPr/>
        </p:nvSpPr>
        <p:spPr>
          <a:xfrm>
            <a:off x="4325112" y="1764792"/>
            <a:ext cx="3639312" cy="675193"/>
          </a:xfrm>
          <a:prstGeom prst="rect">
            <a:avLst/>
          </a:prstGeom>
          <a:noFill/>
          <a:ln/>
        </p:spPr>
        <p:txBody>
          <a:bodyPr wrap="square" lIns="0" tIns="0" rIns="0" bIns="0" rtlCol="0" anchor="ctr"/>
          <a:lstStyle/>
          <a:p>
            <a:pPr algn="ctr" indent="0" marL="0">
              <a:buNone/>
            </a:pPr>
            <a:r>
              <a:rPr lang="en-US" sz="3000" b="1" dirty="0">
                <a:solidFill>
                  <a:srgbClr val="1F3B57"/>
                </a:solidFill>
                <a:latin typeface="Cambria" pitchFamily="34" charset="0"/>
                <a:ea typeface="Cambria" pitchFamily="34" charset="-122"/>
                <a:cs typeface="Cambria" pitchFamily="34" charset="-120"/>
              </a:rPr>
              <a:t>152 / 152</a:t>
            </a:r>
            <a:endParaRPr lang="en-US" sz="3000" dirty="0"/>
          </a:p>
        </p:txBody>
      </p:sp>
      <p:sp>
        <p:nvSpPr>
          <p:cNvPr id="9" name="Text 7"/>
          <p:cNvSpPr txBox="1"/>
          <p:nvPr/>
        </p:nvSpPr>
        <p:spPr>
          <a:xfrm>
            <a:off x="4398264" y="2405786"/>
            <a:ext cx="3493008" cy="519379"/>
          </a:xfrm>
          <a:prstGeom prst="rect">
            <a:avLst/>
          </a:prstGeom>
          <a:noFill/>
          <a:ln/>
        </p:spPr>
        <p:txBody>
          <a:bodyPr wrap="square" lIns="0" tIns="0" rIns="0" bIns="0" rtlCol="0" anchor="t"/>
          <a:lstStyle/>
          <a:p>
            <a:pPr algn="ctr" indent="0" marL="0">
              <a:buNone/>
            </a:pPr>
            <a:r>
              <a:rPr lang="en-US" sz="1250" dirty="0">
                <a:solidFill>
                  <a:srgbClr val="1A1A1A"/>
                </a:solidFill>
                <a:latin typeface="Calibri" pitchFamily="34" charset="0"/>
                <a:ea typeface="Calibri" pitchFamily="34" charset="-122"/>
                <a:cs typeface="Calibri" pitchFamily="34" charset="-120"/>
              </a:rPr>
              <a:t>documents présents, hashés, extraits</a:t>
            </a:r>
            <a:endParaRPr lang="en-US" sz="1250" dirty="0"/>
          </a:p>
        </p:txBody>
      </p:sp>
      <p:sp>
        <p:nvSpPr>
          <p:cNvPr id="10" name="Shape 8"/>
          <p:cNvSpPr/>
          <p:nvPr/>
        </p:nvSpPr>
        <p:spPr>
          <a:xfrm>
            <a:off x="8147304" y="1691640"/>
            <a:ext cx="3639312" cy="1298448"/>
          </a:xfrm>
          <a:prstGeom prst="roundRect">
            <a:avLst>
              <a:gd name="adj" fmla="val 4930"/>
            </a:avLst>
          </a:prstGeom>
          <a:solidFill>
            <a:srgbClr val="E8F0F8"/>
          </a:solidFill>
          <a:ln w="12700">
            <a:solidFill>
              <a:srgbClr val="E8F0F8"/>
            </a:solidFill>
            <a:prstDash val="solid"/>
          </a:ln>
        </p:spPr>
      </p:sp>
      <p:sp>
        <p:nvSpPr>
          <p:cNvPr id="11" name="Text 9"/>
          <p:cNvSpPr txBox="1"/>
          <p:nvPr/>
        </p:nvSpPr>
        <p:spPr>
          <a:xfrm>
            <a:off x="8147304" y="1764792"/>
            <a:ext cx="3639312" cy="675193"/>
          </a:xfrm>
          <a:prstGeom prst="rect">
            <a:avLst/>
          </a:prstGeom>
          <a:noFill/>
          <a:ln/>
        </p:spPr>
        <p:txBody>
          <a:bodyPr wrap="square" lIns="0" tIns="0" rIns="0" bIns="0" rtlCol="0" anchor="ctr"/>
          <a:lstStyle/>
          <a:p>
            <a:pPr algn="ctr" indent="0" marL="0">
              <a:buNone/>
            </a:pPr>
            <a:r>
              <a:rPr lang="en-US" sz="3000" b="1" dirty="0">
                <a:solidFill>
                  <a:srgbClr val="1F3B57"/>
                </a:solidFill>
                <a:latin typeface="Cambria" pitchFamily="34" charset="0"/>
                <a:ea typeface="Cambria" pitchFamily="34" charset="-122"/>
                <a:cs typeface="Cambria" pitchFamily="34" charset="-120"/>
              </a:rPr>
              <a:t>Aucun</a:t>
            </a:r>
            <a:endParaRPr lang="en-US" sz="3000" dirty="0"/>
          </a:p>
        </p:txBody>
      </p:sp>
      <p:sp>
        <p:nvSpPr>
          <p:cNvPr id="12" name="Text 10"/>
          <p:cNvSpPr txBox="1"/>
          <p:nvPr/>
        </p:nvSpPr>
        <p:spPr>
          <a:xfrm>
            <a:off x="8220456" y="2405786"/>
            <a:ext cx="3493008" cy="519379"/>
          </a:xfrm>
          <a:prstGeom prst="rect">
            <a:avLst/>
          </a:prstGeom>
          <a:noFill/>
          <a:ln/>
        </p:spPr>
        <p:txBody>
          <a:bodyPr wrap="square" lIns="0" tIns="0" rIns="0" bIns="0" rtlCol="0" anchor="t"/>
          <a:lstStyle/>
          <a:p>
            <a:pPr algn="ctr" indent="0" marL="0">
              <a:buNone/>
            </a:pPr>
            <a:r>
              <a:rPr lang="en-US" sz="1250" dirty="0">
                <a:solidFill>
                  <a:srgbClr val="1A1A1A"/>
                </a:solidFill>
                <a:latin typeface="Calibri" pitchFamily="34" charset="0"/>
                <a:ea typeface="Calibri" pitchFamily="34" charset="-122"/>
                <a:cs typeface="Calibri" pitchFamily="34" charset="-120"/>
              </a:rPr>
              <a:t>doublon observé pendant la validation</a:t>
            </a:r>
            <a:endParaRPr lang="en-US" sz="1250" dirty="0"/>
          </a:p>
        </p:txBody>
      </p:sp>
      <p:sp>
        <p:nvSpPr>
          <p:cNvPr id="13" name="Shape 11"/>
          <p:cNvSpPr/>
          <p:nvPr/>
        </p:nvSpPr>
        <p:spPr>
          <a:xfrm>
            <a:off x="502920" y="3172968"/>
            <a:ext cx="3639312" cy="1298448"/>
          </a:xfrm>
          <a:prstGeom prst="roundRect">
            <a:avLst>
              <a:gd name="adj" fmla="val 4930"/>
            </a:avLst>
          </a:prstGeom>
          <a:solidFill>
            <a:srgbClr val="E8F0F8"/>
          </a:solidFill>
          <a:ln w="12700">
            <a:solidFill>
              <a:srgbClr val="E8F0F8"/>
            </a:solidFill>
            <a:prstDash val="solid"/>
          </a:ln>
        </p:spPr>
      </p:sp>
      <p:sp>
        <p:nvSpPr>
          <p:cNvPr id="14" name="Text 12"/>
          <p:cNvSpPr txBox="1"/>
          <p:nvPr/>
        </p:nvSpPr>
        <p:spPr>
          <a:xfrm>
            <a:off x="502920" y="3246120"/>
            <a:ext cx="3639312" cy="675193"/>
          </a:xfrm>
          <a:prstGeom prst="rect">
            <a:avLst/>
          </a:prstGeom>
          <a:noFill/>
          <a:ln/>
        </p:spPr>
        <p:txBody>
          <a:bodyPr wrap="square" lIns="0" tIns="0" rIns="0" bIns="0" rtlCol="0" anchor="ctr"/>
          <a:lstStyle/>
          <a:p>
            <a:pPr algn="ctr" indent="0" marL="0">
              <a:buNone/>
            </a:pPr>
            <a:r>
              <a:rPr lang="en-US" sz="3000" b="1" dirty="0">
                <a:solidFill>
                  <a:srgbClr val="1F3B57"/>
                </a:solidFill>
                <a:latin typeface="Cambria" pitchFamily="34" charset="0"/>
                <a:ea typeface="Cambria" pitchFamily="34" charset="-122"/>
                <a:cs typeface="Cambria" pitchFamily="34" charset="-120"/>
              </a:rPr>
              <a:t>67 + 6</a:t>
            </a:r>
            <a:endParaRPr lang="en-US" sz="3000" dirty="0"/>
          </a:p>
        </p:txBody>
      </p:sp>
      <p:sp>
        <p:nvSpPr>
          <p:cNvPr id="15" name="Text 13"/>
          <p:cNvSpPr txBox="1"/>
          <p:nvPr/>
        </p:nvSpPr>
        <p:spPr>
          <a:xfrm>
            <a:off x="576072" y="3887114"/>
            <a:ext cx="3493008" cy="519379"/>
          </a:xfrm>
          <a:prstGeom prst="rect">
            <a:avLst/>
          </a:prstGeom>
          <a:noFill/>
          <a:ln/>
        </p:spPr>
        <p:txBody>
          <a:bodyPr wrap="square" lIns="0" tIns="0" rIns="0" bIns="0" rtlCol="0" anchor="t"/>
          <a:lstStyle/>
          <a:p>
            <a:pPr algn="ctr" indent="0" marL="0">
              <a:buNone/>
            </a:pPr>
            <a:r>
              <a:rPr lang="en-US" sz="1250" dirty="0">
                <a:solidFill>
                  <a:srgbClr val="1A1A1A"/>
                </a:solidFill>
                <a:latin typeface="Calibri" pitchFamily="34" charset="0"/>
                <a:ea typeface="Calibri" pitchFamily="34" charset="-122"/>
                <a:cs typeface="Calibri" pitchFamily="34" charset="-120"/>
              </a:rPr>
              <a:t>62 locaux + 5 intégration Python + 6 SQL</a:t>
            </a:r>
            <a:endParaRPr lang="en-US" sz="1250" dirty="0"/>
          </a:p>
        </p:txBody>
      </p:sp>
      <p:sp>
        <p:nvSpPr>
          <p:cNvPr id="16" name="Shape 14"/>
          <p:cNvSpPr/>
          <p:nvPr/>
        </p:nvSpPr>
        <p:spPr>
          <a:xfrm>
            <a:off x="4325112" y="3172968"/>
            <a:ext cx="3639312" cy="1298448"/>
          </a:xfrm>
          <a:prstGeom prst="roundRect">
            <a:avLst>
              <a:gd name="adj" fmla="val 4930"/>
            </a:avLst>
          </a:prstGeom>
          <a:solidFill>
            <a:srgbClr val="E8F0F8"/>
          </a:solidFill>
          <a:ln w="12700">
            <a:solidFill>
              <a:srgbClr val="E8F0F8"/>
            </a:solidFill>
            <a:prstDash val="solid"/>
          </a:ln>
        </p:spPr>
      </p:sp>
      <p:sp>
        <p:nvSpPr>
          <p:cNvPr id="17" name="Text 15"/>
          <p:cNvSpPr txBox="1"/>
          <p:nvPr/>
        </p:nvSpPr>
        <p:spPr>
          <a:xfrm>
            <a:off x="4325112" y="3246120"/>
            <a:ext cx="3639312" cy="675193"/>
          </a:xfrm>
          <a:prstGeom prst="rect">
            <a:avLst/>
          </a:prstGeom>
          <a:noFill/>
          <a:ln/>
        </p:spPr>
        <p:txBody>
          <a:bodyPr wrap="square" lIns="0" tIns="0" rIns="0" bIns="0" rtlCol="0" anchor="ctr"/>
          <a:lstStyle/>
          <a:p>
            <a:pPr algn="ctr" indent="0" marL="0">
              <a:buNone/>
            </a:pPr>
            <a:r>
              <a:rPr lang="en-US" sz="3000" b="1" dirty="0">
                <a:solidFill>
                  <a:srgbClr val="1F3B57"/>
                </a:solidFill>
                <a:latin typeface="Cambria" pitchFamily="34" charset="0"/>
                <a:ea typeface="Cambria" pitchFamily="34" charset="-122"/>
                <a:cs typeface="Cambria" pitchFamily="34" charset="-120"/>
              </a:rPr>
              <a:t>5 / 5</a:t>
            </a:r>
            <a:endParaRPr lang="en-US" sz="3000" dirty="0"/>
          </a:p>
        </p:txBody>
      </p:sp>
      <p:sp>
        <p:nvSpPr>
          <p:cNvPr id="18" name="Text 16"/>
          <p:cNvSpPr txBox="1"/>
          <p:nvPr/>
        </p:nvSpPr>
        <p:spPr>
          <a:xfrm>
            <a:off x="4398264" y="3887114"/>
            <a:ext cx="3493008" cy="519379"/>
          </a:xfrm>
          <a:prstGeom prst="rect">
            <a:avLst/>
          </a:prstGeom>
          <a:noFill/>
          <a:ln/>
        </p:spPr>
        <p:txBody>
          <a:bodyPr wrap="square" lIns="0" tIns="0" rIns="0" bIns="0" rtlCol="0" anchor="t"/>
          <a:lstStyle/>
          <a:p>
            <a:pPr algn="ctr" indent="0" marL="0">
              <a:buNone/>
            </a:pPr>
            <a:r>
              <a:rPr lang="en-US" sz="1250" dirty="0">
                <a:solidFill>
                  <a:srgbClr val="1A1A1A"/>
                </a:solidFill>
                <a:latin typeface="Calibri" pitchFamily="34" charset="0"/>
                <a:ea typeface="Calibri" pitchFamily="34" charset="-122"/>
                <a:cs typeface="Calibri" pitchFamily="34" charset="-120"/>
              </a:rPr>
              <a:t>outils MCP découverts et exécutés</a:t>
            </a:r>
            <a:endParaRPr lang="en-US" sz="1250" dirty="0"/>
          </a:p>
        </p:txBody>
      </p:sp>
      <p:sp>
        <p:nvSpPr>
          <p:cNvPr id="19" name="Shape 17"/>
          <p:cNvSpPr/>
          <p:nvPr/>
        </p:nvSpPr>
        <p:spPr>
          <a:xfrm>
            <a:off x="8147304" y="3172968"/>
            <a:ext cx="3639312" cy="1298448"/>
          </a:xfrm>
          <a:prstGeom prst="roundRect">
            <a:avLst>
              <a:gd name="adj" fmla="val 4930"/>
            </a:avLst>
          </a:prstGeom>
          <a:solidFill>
            <a:srgbClr val="E8F0F8"/>
          </a:solidFill>
          <a:ln w="12700">
            <a:solidFill>
              <a:srgbClr val="E8F0F8"/>
            </a:solidFill>
            <a:prstDash val="solid"/>
          </a:ln>
        </p:spPr>
      </p:sp>
      <p:sp>
        <p:nvSpPr>
          <p:cNvPr id="20" name="Text 18"/>
          <p:cNvSpPr txBox="1"/>
          <p:nvPr/>
        </p:nvSpPr>
        <p:spPr>
          <a:xfrm>
            <a:off x="8147304" y="3246120"/>
            <a:ext cx="3639312" cy="675193"/>
          </a:xfrm>
          <a:prstGeom prst="rect">
            <a:avLst/>
          </a:prstGeom>
          <a:noFill/>
          <a:ln/>
        </p:spPr>
        <p:txBody>
          <a:bodyPr wrap="square" lIns="0" tIns="0" rIns="0" bIns="0" rtlCol="0" anchor="ctr"/>
          <a:lstStyle/>
          <a:p>
            <a:pPr algn="ctr" indent="0" marL="0">
              <a:buNone/>
            </a:pPr>
            <a:r>
              <a:rPr lang="en-US" sz="3000" b="1" dirty="0">
                <a:solidFill>
                  <a:srgbClr val="1F3B57"/>
                </a:solidFill>
                <a:latin typeface="Cambria" pitchFamily="34" charset="0"/>
                <a:ea typeface="Cambria" pitchFamily="34" charset="-122"/>
                <a:cs typeface="Cambria" pitchFamily="34" charset="-120"/>
              </a:rPr>
              <a:t>3</a:t>
            </a:r>
            <a:endParaRPr lang="en-US" sz="3000" dirty="0"/>
          </a:p>
        </p:txBody>
      </p:sp>
      <p:sp>
        <p:nvSpPr>
          <p:cNvPr id="21" name="Text 19"/>
          <p:cNvSpPr txBox="1"/>
          <p:nvPr/>
        </p:nvSpPr>
        <p:spPr>
          <a:xfrm>
            <a:off x="8220456" y="3887114"/>
            <a:ext cx="3493008" cy="519379"/>
          </a:xfrm>
          <a:prstGeom prst="rect">
            <a:avLst/>
          </a:prstGeom>
          <a:noFill/>
          <a:ln/>
        </p:spPr>
        <p:txBody>
          <a:bodyPr wrap="square" lIns="0" tIns="0" rIns="0" bIns="0" rtlCol="0" anchor="t"/>
          <a:lstStyle/>
          <a:p>
            <a:pPr algn="ctr" indent="0" marL="0">
              <a:buNone/>
            </a:pPr>
            <a:r>
              <a:rPr lang="en-US" sz="1250" dirty="0">
                <a:solidFill>
                  <a:srgbClr val="1A1A1A"/>
                </a:solidFill>
                <a:latin typeface="Calibri" pitchFamily="34" charset="0"/>
                <a:ea typeface="Calibri" pitchFamily="34" charset="-122"/>
                <a:cs typeface="Calibri" pitchFamily="34" charset="-120"/>
              </a:rPr>
              <a:t>canaux validés : Mailpit, Gmail, Telegram</a:t>
            </a:r>
            <a:endParaRPr lang="en-US" sz="1250" dirty="0"/>
          </a:p>
        </p:txBody>
      </p:sp>
      <p:sp>
        <p:nvSpPr>
          <p:cNvPr id="22" name="Shape 20"/>
          <p:cNvSpPr/>
          <p:nvPr/>
        </p:nvSpPr>
        <p:spPr>
          <a:xfrm>
            <a:off x="502920" y="4892040"/>
            <a:ext cx="11109960" cy="1371600"/>
          </a:xfrm>
          <a:prstGeom prst="roundRect">
            <a:avLst>
              <a:gd name="adj" fmla="val 4667"/>
            </a:avLst>
          </a:prstGeom>
          <a:solidFill>
            <a:srgbClr val="F7F9FB"/>
          </a:solidFill>
          <a:ln w="9525">
            <a:solidFill>
              <a:srgbClr val="C9D3DD"/>
            </a:solidFill>
            <a:prstDash val="solid"/>
          </a:ln>
        </p:spPr>
      </p:sp>
      <p:sp>
        <p:nvSpPr>
          <p:cNvPr id="23" name="Text 21"/>
          <p:cNvSpPr txBox="1"/>
          <p:nvPr/>
        </p:nvSpPr>
        <p:spPr>
          <a:xfrm>
            <a:off x="777240" y="5029200"/>
            <a:ext cx="10515600" cy="365760"/>
          </a:xfrm>
          <a:prstGeom prst="rect">
            <a:avLst/>
          </a:prstGeom>
          <a:noFill/>
          <a:ln/>
        </p:spPr>
        <p:txBody>
          <a:bodyPr wrap="square" lIns="0" tIns="0" rIns="0" bIns="0" rtlCol="0" anchor="ctr"/>
          <a:lstStyle/>
          <a:p>
            <a:pPr indent="0" marL="0">
              <a:buNone/>
            </a:pPr>
            <a:r>
              <a:rPr lang="en-US" sz="1450" b="1" dirty="0">
                <a:solidFill>
                  <a:srgbClr val="2E5D8A"/>
                </a:solidFill>
                <a:latin typeface="Calibri" pitchFamily="34" charset="0"/>
                <a:ea typeface="Calibri" pitchFamily="34" charset="-122"/>
                <a:cs typeface="Calibri" pitchFamily="34" charset="-120"/>
              </a:rPr>
              <a:t>Deux analyses réelles, entièrement traçables</a:t>
            </a:r>
            <a:endParaRPr lang="en-US" sz="1450" dirty="0"/>
          </a:p>
        </p:txBody>
      </p:sp>
      <p:sp>
        <p:nvSpPr>
          <p:cNvPr id="24" name="Text 22"/>
          <p:cNvSpPr txBox="1"/>
          <p:nvPr/>
        </p:nvSpPr>
        <p:spPr>
          <a:xfrm>
            <a:off x="777240" y="5394960"/>
            <a:ext cx="10607040" cy="777240"/>
          </a:xfrm>
          <a:prstGeom prst="rect">
            <a:avLst/>
          </a:prstGeom>
          <a:noFill/>
          <a:ln/>
        </p:spPr>
        <p:txBody>
          <a:bodyPr wrap="square" lIns="0" tIns="0" rIns="0" bIns="0" rtlCol="0" anchor="ctr"/>
          <a:lstStyle/>
          <a:p>
            <a:pPr indent="0" marL="0">
              <a:lnSpc>
                <a:spcPct val="110000"/>
              </a:lnSpc>
              <a:buNone/>
            </a:pPr>
            <a:r>
              <a:rPr lang="en-US" sz="1300" dirty="0">
                <a:solidFill>
                  <a:srgbClr val="1A1A1A"/>
                </a:solidFill>
                <a:latin typeface="Calibri" pitchFamily="34" charset="0"/>
                <a:ea typeface="Calibri" pitchFamily="34" charset="-122"/>
                <a:cs typeface="Calibri" pitchFamily="34" charset="-120"/>
              </a:rPr>
              <a:t>Tender-103283 (SNIT) : 24/100 → NO_GO — analyse ID 23   ·   Tender-103307 (Hôpital Charles Nicolle) : 36/100 → NO_GO — analyse ID 53.  </a:t>
            </a:r>
            <a:pPr indent="0" marL="0">
              <a:lnSpc>
                <a:spcPct val="110000"/>
              </a:lnSpc>
              <a:buNone/>
            </a:pPr>
            <a:r>
              <a:rPr lang="en-US" sz="1300" i="1" dirty="0">
                <a:solidFill>
                  <a:srgbClr val="5A6B7C"/>
                </a:solidFill>
                <a:latin typeface="Calibri" pitchFamily="34" charset="0"/>
                <a:ea typeface="Calibri" pitchFamily="34" charset="-122"/>
                <a:cs typeface="Calibri" pitchFamily="34" charset="-120"/>
              </a:rPr>
              <a:t>Rejeu : mêmes identifiants d'analyse, aucune nouvelle ligne créée. Écarter proprement les dossiers hors périmètre, c'est la fonction première du système.</a:t>
            </a:r>
            <a:endParaRPr lang="en-US" sz="1300" dirty="0"/>
          </a:p>
        </p:txBody>
      </p:sp>
      <p:sp>
        <p:nvSpPr>
          <p:cNvPr id="26" name="Text 23"/>
          <p:cNvSpPr txBox="1"/>
          <p:nvPr/>
        </p:nvSpPr>
        <p:spPr>
          <a:xfrm>
            <a:off x="11503152" y="6382512"/>
            <a:ext cx="411480" cy="292608"/>
          </a:xfrm>
          <a:prstGeom prst="rect">
            <a:avLst/>
          </a:prstGeom>
          <a:noFill/>
          <a:ln/>
        </p:spPr>
        <p:txBody>
          <a:bodyPr wrap="square" lIns="0" tIns="0" rIns="0" bIns="0" rtlCol="0" anchor="ctr"/>
          <a:lstStyle/>
          <a:p>
            <a:pPr algn="r" indent="0" marL="0">
              <a:buNone/>
            </a:pPr>
            <a:r>
              <a:rPr lang="en-US" sz="1100" dirty="0">
                <a:solidFill>
                  <a:srgbClr val="5A6B7C"/>
                </a:solidFill>
                <a:latin typeface="Calibri" pitchFamily="34" charset="0"/>
                <a:ea typeface="Calibri" pitchFamily="34" charset="-122"/>
                <a:cs typeface="Calibri"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F3B57"/>
        </a:solidFill>
      </p:bgPr>
    </p:bg>
    <p:spTree>
      <p:nvGrpSpPr>
        <p:cNvPr id="1" name=""/>
        <p:cNvGrpSpPr/>
        <p:nvPr/>
      </p:nvGrpSpPr>
      <p:grpSpPr>
        <a:xfrm>
          <a:off x="0" y="0"/>
          <a:ext cx="0" cy="0"/>
          <a:chOff x="0" y="0"/>
          <a:chExt cx="0" cy="0"/>
        </a:xfrm>
      </p:grpSpPr>
      <p:sp>
        <p:nvSpPr>
          <p:cNvPr id="2" name="Text 0"/>
          <p:cNvSpPr txBox="1"/>
          <p:nvPr/>
        </p:nvSpPr>
        <p:spPr>
          <a:xfrm>
            <a:off x="502920" y="292608"/>
            <a:ext cx="11183112" cy="685800"/>
          </a:xfrm>
          <a:prstGeom prst="rect">
            <a:avLst/>
          </a:prstGeom>
          <a:noFill/>
          <a:ln/>
        </p:spPr>
        <p:txBody>
          <a:bodyPr wrap="square" lIns="0" tIns="0" rIns="0" bIns="0" rtlCol="0" anchor="ctr"/>
          <a:lstStyle/>
          <a:p>
            <a:pPr indent="0" marL="0">
              <a:buNone/>
            </a:pPr>
            <a:r>
              <a:rPr lang="en-US" sz="3100" b="1" dirty="0">
                <a:solidFill>
                  <a:srgbClr val="FFFFFF"/>
                </a:solidFill>
                <a:latin typeface="Cambria" pitchFamily="34" charset="0"/>
                <a:ea typeface="Cambria" pitchFamily="34" charset="-122"/>
                <a:cs typeface="Cambria" pitchFamily="34" charset="-120"/>
              </a:rPr>
              <a:t>Démonstration</a:t>
            </a:r>
            <a:endParaRPr lang="en-US" sz="3100" dirty="0"/>
          </a:p>
        </p:txBody>
      </p:sp>
      <p:sp>
        <p:nvSpPr>
          <p:cNvPr id="3" name="Text 1"/>
          <p:cNvSpPr txBox="1"/>
          <p:nvPr/>
        </p:nvSpPr>
        <p:spPr>
          <a:xfrm>
            <a:off x="521208" y="932688"/>
            <a:ext cx="11146536" cy="365760"/>
          </a:xfrm>
          <a:prstGeom prst="rect">
            <a:avLst/>
          </a:prstGeom>
          <a:noFill/>
          <a:ln/>
        </p:spPr>
        <p:txBody>
          <a:bodyPr wrap="square" lIns="0" tIns="0" rIns="0" bIns="0" rtlCol="0" anchor="ctr"/>
          <a:lstStyle/>
          <a:p>
            <a:pPr indent="0" marL="0">
              <a:buNone/>
            </a:pPr>
            <a:r>
              <a:rPr lang="en-US" sz="1400" i="1" dirty="0">
                <a:solidFill>
                  <a:srgbClr val="B9C9D8"/>
                </a:solidFill>
                <a:latin typeface="Calibri" pitchFamily="34" charset="0"/>
                <a:ea typeface="Calibri" pitchFamily="34" charset="-122"/>
                <a:cs typeface="Calibri" pitchFamily="34" charset="-120"/>
              </a:rPr>
              <a:t>Quatre preuves, en direct.</a:t>
            </a:r>
            <a:endParaRPr lang="en-US" sz="1400" dirty="0"/>
          </a:p>
        </p:txBody>
      </p:sp>
      <p:sp>
        <p:nvSpPr>
          <p:cNvPr id="4" name="Shape 2"/>
          <p:cNvSpPr/>
          <p:nvPr/>
        </p:nvSpPr>
        <p:spPr>
          <a:xfrm>
            <a:off x="502920" y="1691640"/>
            <a:ext cx="5440680" cy="1828800"/>
          </a:xfrm>
          <a:prstGeom prst="roundRect">
            <a:avLst>
              <a:gd name="adj" fmla="val 3500"/>
            </a:avLst>
          </a:prstGeom>
          <a:solidFill>
            <a:srgbClr val="27496B"/>
          </a:solidFill>
          <a:ln w="12700">
            <a:solidFill>
              <a:srgbClr val="27496B"/>
            </a:solidFill>
            <a:prstDash val="solid"/>
          </a:ln>
        </p:spPr>
      </p:sp>
      <p:sp>
        <p:nvSpPr>
          <p:cNvPr id="5" name="Shape 3"/>
          <p:cNvSpPr/>
          <p:nvPr/>
        </p:nvSpPr>
        <p:spPr>
          <a:xfrm>
            <a:off x="731520" y="1920240"/>
            <a:ext cx="502920" cy="502920"/>
          </a:xfrm>
          <a:prstGeom prst="ellipse">
            <a:avLst/>
          </a:prstGeom>
          <a:solidFill>
            <a:srgbClr val="E3B341"/>
          </a:solidFill>
          <a:ln/>
        </p:spPr>
      </p:sp>
      <p:sp>
        <p:nvSpPr>
          <p:cNvPr id="6" name="Text 4"/>
          <p:cNvSpPr txBox="1"/>
          <p:nvPr/>
        </p:nvSpPr>
        <p:spPr>
          <a:xfrm>
            <a:off x="731520" y="1920240"/>
            <a:ext cx="502920" cy="502920"/>
          </a:xfrm>
          <a:prstGeom prst="rect">
            <a:avLst/>
          </a:prstGeom>
          <a:noFill/>
          <a:ln/>
        </p:spPr>
        <p:txBody>
          <a:bodyPr wrap="square" lIns="0" tIns="0" rIns="0" bIns="0" rtlCol="0" anchor="ctr"/>
          <a:lstStyle/>
          <a:p>
            <a:pPr algn="ctr" indent="0" marL="0">
              <a:buNone/>
            </a:pPr>
            <a:r>
              <a:rPr lang="en-US" sz="2000" b="1" dirty="0">
                <a:solidFill>
                  <a:srgbClr val="1F3B57"/>
                </a:solidFill>
                <a:latin typeface="Cambria" pitchFamily="34" charset="0"/>
                <a:ea typeface="Cambria" pitchFamily="34" charset="-122"/>
                <a:cs typeface="Cambria" pitchFamily="34" charset="-120"/>
              </a:rPr>
              <a:t>1</a:t>
            </a:r>
            <a:endParaRPr lang="en-US" sz="2000" dirty="0"/>
          </a:p>
        </p:txBody>
      </p:sp>
      <p:sp>
        <p:nvSpPr>
          <p:cNvPr id="7" name="Text 5"/>
          <p:cNvSpPr txBox="1"/>
          <p:nvPr/>
        </p:nvSpPr>
        <p:spPr>
          <a:xfrm>
            <a:off x="1417320" y="1892808"/>
            <a:ext cx="4297680" cy="457200"/>
          </a:xfrm>
          <a:prstGeom prst="rect">
            <a:avLst/>
          </a:prstGeom>
          <a:noFill/>
          <a:ln/>
        </p:spPr>
        <p:txBody>
          <a:bodyPr wrap="square" lIns="0" tIns="0" rIns="0" bIns="0" rtlCol="0" anchor="ctr"/>
          <a:lstStyle/>
          <a:p>
            <a:pPr indent="0" marL="0">
              <a:buNone/>
            </a:pPr>
            <a:r>
              <a:rPr lang="en-US" sz="1750" b="1" dirty="0">
                <a:solidFill>
                  <a:srgbClr val="FFFFFF"/>
                </a:solidFill>
                <a:latin typeface="Calibri" pitchFamily="34" charset="0"/>
                <a:ea typeface="Calibri" pitchFamily="34" charset="-122"/>
                <a:cs typeface="Calibri" pitchFamily="34" charset="-120"/>
              </a:rPr>
              <a:t>Les données</a:t>
            </a:r>
            <a:endParaRPr lang="en-US" sz="1750" dirty="0"/>
          </a:p>
        </p:txBody>
      </p:sp>
      <p:sp>
        <p:nvSpPr>
          <p:cNvPr id="8" name="Text 6"/>
          <p:cNvSpPr txBox="1"/>
          <p:nvPr/>
        </p:nvSpPr>
        <p:spPr>
          <a:xfrm>
            <a:off x="1417320" y="2404872"/>
            <a:ext cx="4343400" cy="1005840"/>
          </a:xfrm>
          <a:prstGeom prst="rect">
            <a:avLst/>
          </a:prstGeom>
          <a:noFill/>
          <a:ln/>
        </p:spPr>
        <p:txBody>
          <a:bodyPr wrap="square" lIns="0" tIns="0" rIns="0" bIns="0" rtlCol="0" anchor="ctr"/>
          <a:lstStyle/>
          <a:p>
            <a:pPr indent="0" marL="0">
              <a:buNone/>
            </a:pPr>
            <a:r>
              <a:rPr lang="en-US" sz="1350" dirty="0">
                <a:solidFill>
                  <a:srgbClr val="DCE6EF"/>
                </a:solidFill>
                <a:latin typeface="Calibri" pitchFamily="34" charset="0"/>
                <a:ea typeface="Calibri" pitchFamily="34" charset="-122"/>
                <a:cs typeface="Calibri" pitchFamily="34" charset="-120"/>
              </a:rPr>
              <a:t>PostgreSQL : appels d'offres, documents, empreintes — l'état réel de la base.</a:t>
            </a:r>
            <a:endParaRPr lang="en-US" sz="1350" dirty="0"/>
          </a:p>
        </p:txBody>
      </p:sp>
      <p:sp>
        <p:nvSpPr>
          <p:cNvPr id="9" name="Shape 7"/>
          <p:cNvSpPr/>
          <p:nvPr/>
        </p:nvSpPr>
        <p:spPr>
          <a:xfrm>
            <a:off x="6172200" y="1691640"/>
            <a:ext cx="5440680" cy="1828800"/>
          </a:xfrm>
          <a:prstGeom prst="roundRect">
            <a:avLst>
              <a:gd name="adj" fmla="val 3500"/>
            </a:avLst>
          </a:prstGeom>
          <a:solidFill>
            <a:srgbClr val="27496B"/>
          </a:solidFill>
          <a:ln w="12700">
            <a:solidFill>
              <a:srgbClr val="27496B"/>
            </a:solidFill>
            <a:prstDash val="solid"/>
          </a:ln>
        </p:spPr>
      </p:sp>
      <p:sp>
        <p:nvSpPr>
          <p:cNvPr id="10" name="Shape 8"/>
          <p:cNvSpPr/>
          <p:nvPr/>
        </p:nvSpPr>
        <p:spPr>
          <a:xfrm>
            <a:off x="6400800" y="1920240"/>
            <a:ext cx="502920" cy="502920"/>
          </a:xfrm>
          <a:prstGeom prst="ellipse">
            <a:avLst/>
          </a:prstGeom>
          <a:solidFill>
            <a:srgbClr val="E3B341"/>
          </a:solidFill>
          <a:ln/>
        </p:spPr>
      </p:sp>
      <p:sp>
        <p:nvSpPr>
          <p:cNvPr id="11" name="Text 9"/>
          <p:cNvSpPr txBox="1"/>
          <p:nvPr/>
        </p:nvSpPr>
        <p:spPr>
          <a:xfrm>
            <a:off x="6400800" y="1920240"/>
            <a:ext cx="502920" cy="502920"/>
          </a:xfrm>
          <a:prstGeom prst="rect">
            <a:avLst/>
          </a:prstGeom>
          <a:noFill/>
          <a:ln/>
        </p:spPr>
        <p:txBody>
          <a:bodyPr wrap="square" lIns="0" tIns="0" rIns="0" bIns="0" rtlCol="0" anchor="ctr"/>
          <a:lstStyle/>
          <a:p>
            <a:pPr algn="ctr" indent="0" marL="0">
              <a:buNone/>
            </a:pPr>
            <a:r>
              <a:rPr lang="en-US" sz="2000" b="1" dirty="0">
                <a:solidFill>
                  <a:srgbClr val="1F3B57"/>
                </a:solidFill>
                <a:latin typeface="Cambria" pitchFamily="34" charset="0"/>
                <a:ea typeface="Cambria" pitchFamily="34" charset="-122"/>
                <a:cs typeface="Cambria" pitchFamily="34" charset="-120"/>
              </a:rPr>
              <a:t>2</a:t>
            </a:r>
            <a:endParaRPr lang="en-US" sz="2000" dirty="0"/>
          </a:p>
        </p:txBody>
      </p:sp>
      <p:sp>
        <p:nvSpPr>
          <p:cNvPr id="12" name="Text 10"/>
          <p:cNvSpPr txBox="1"/>
          <p:nvPr/>
        </p:nvSpPr>
        <p:spPr>
          <a:xfrm>
            <a:off x="7086600" y="1892808"/>
            <a:ext cx="4297680" cy="457200"/>
          </a:xfrm>
          <a:prstGeom prst="rect">
            <a:avLst/>
          </a:prstGeom>
          <a:noFill/>
          <a:ln/>
        </p:spPr>
        <p:txBody>
          <a:bodyPr wrap="square" lIns="0" tIns="0" rIns="0" bIns="0" rtlCol="0" anchor="ctr"/>
          <a:lstStyle/>
          <a:p>
            <a:pPr indent="0" marL="0">
              <a:buNone/>
            </a:pPr>
            <a:r>
              <a:rPr lang="en-US" sz="1750" b="1" dirty="0">
                <a:solidFill>
                  <a:srgbClr val="FFFFFF"/>
                </a:solidFill>
                <a:latin typeface="Calibri" pitchFamily="34" charset="0"/>
                <a:ea typeface="Calibri" pitchFamily="34" charset="-122"/>
                <a:cs typeface="Calibri" pitchFamily="34" charset="-120"/>
              </a:rPr>
              <a:t>Une analyse</a:t>
            </a:r>
            <a:endParaRPr lang="en-US" sz="1750" dirty="0"/>
          </a:p>
        </p:txBody>
      </p:sp>
      <p:sp>
        <p:nvSpPr>
          <p:cNvPr id="13" name="Text 11"/>
          <p:cNvSpPr txBox="1"/>
          <p:nvPr/>
        </p:nvSpPr>
        <p:spPr>
          <a:xfrm>
            <a:off x="7086600" y="2404872"/>
            <a:ext cx="4343400" cy="1005840"/>
          </a:xfrm>
          <a:prstGeom prst="rect">
            <a:avLst/>
          </a:prstGeom>
          <a:noFill/>
          <a:ln/>
        </p:spPr>
        <p:txBody>
          <a:bodyPr wrap="square" lIns="0" tIns="0" rIns="0" bIns="0" rtlCol="0" anchor="ctr"/>
          <a:lstStyle/>
          <a:p>
            <a:pPr indent="0" marL="0">
              <a:buNone/>
            </a:pPr>
            <a:r>
              <a:rPr lang="en-US" sz="1350" dirty="0">
                <a:solidFill>
                  <a:srgbClr val="DCE6EF"/>
                </a:solidFill>
                <a:latin typeface="Calibri" pitchFamily="34" charset="0"/>
                <a:ea typeface="Calibri" pitchFamily="34" charset="-122"/>
                <a:cs typeface="Calibri" pitchFamily="34" charset="-120"/>
              </a:rPr>
              <a:t>Demande en langage naturel → fiche Go/No-Go en neuf sections, scores et décision.</a:t>
            </a:r>
            <a:endParaRPr lang="en-US" sz="1350" dirty="0"/>
          </a:p>
        </p:txBody>
      </p:sp>
      <p:sp>
        <p:nvSpPr>
          <p:cNvPr id="14" name="Shape 12"/>
          <p:cNvSpPr/>
          <p:nvPr/>
        </p:nvSpPr>
        <p:spPr>
          <a:xfrm>
            <a:off x="502920" y="3749040"/>
            <a:ext cx="5440680" cy="1828800"/>
          </a:xfrm>
          <a:prstGeom prst="roundRect">
            <a:avLst>
              <a:gd name="adj" fmla="val 3500"/>
            </a:avLst>
          </a:prstGeom>
          <a:solidFill>
            <a:srgbClr val="27496B"/>
          </a:solidFill>
          <a:ln w="12700">
            <a:solidFill>
              <a:srgbClr val="27496B"/>
            </a:solidFill>
            <a:prstDash val="solid"/>
          </a:ln>
        </p:spPr>
      </p:sp>
      <p:sp>
        <p:nvSpPr>
          <p:cNvPr id="15" name="Shape 13"/>
          <p:cNvSpPr/>
          <p:nvPr/>
        </p:nvSpPr>
        <p:spPr>
          <a:xfrm>
            <a:off x="731520" y="3977640"/>
            <a:ext cx="502920" cy="502920"/>
          </a:xfrm>
          <a:prstGeom prst="ellipse">
            <a:avLst/>
          </a:prstGeom>
          <a:solidFill>
            <a:srgbClr val="E3B341"/>
          </a:solidFill>
          <a:ln/>
        </p:spPr>
      </p:sp>
      <p:sp>
        <p:nvSpPr>
          <p:cNvPr id="16" name="Text 14"/>
          <p:cNvSpPr txBox="1"/>
          <p:nvPr/>
        </p:nvSpPr>
        <p:spPr>
          <a:xfrm>
            <a:off x="731520" y="3977640"/>
            <a:ext cx="502920" cy="502920"/>
          </a:xfrm>
          <a:prstGeom prst="rect">
            <a:avLst/>
          </a:prstGeom>
          <a:noFill/>
          <a:ln/>
        </p:spPr>
        <p:txBody>
          <a:bodyPr wrap="square" lIns="0" tIns="0" rIns="0" bIns="0" rtlCol="0" anchor="ctr"/>
          <a:lstStyle/>
          <a:p>
            <a:pPr algn="ctr" indent="0" marL="0">
              <a:buNone/>
            </a:pPr>
            <a:r>
              <a:rPr lang="en-US" sz="2000" b="1" dirty="0">
                <a:solidFill>
                  <a:srgbClr val="1F3B57"/>
                </a:solidFill>
                <a:latin typeface="Cambria" pitchFamily="34" charset="0"/>
                <a:ea typeface="Cambria" pitchFamily="34" charset="-122"/>
                <a:cs typeface="Cambria" pitchFamily="34" charset="-120"/>
              </a:rPr>
              <a:t>3</a:t>
            </a:r>
            <a:endParaRPr lang="en-US" sz="2000" dirty="0"/>
          </a:p>
        </p:txBody>
      </p:sp>
      <p:sp>
        <p:nvSpPr>
          <p:cNvPr id="17" name="Text 15"/>
          <p:cNvSpPr txBox="1"/>
          <p:nvPr/>
        </p:nvSpPr>
        <p:spPr>
          <a:xfrm>
            <a:off x="1417320" y="3950208"/>
            <a:ext cx="4297680" cy="457200"/>
          </a:xfrm>
          <a:prstGeom prst="rect">
            <a:avLst/>
          </a:prstGeom>
          <a:noFill/>
          <a:ln/>
        </p:spPr>
        <p:txBody>
          <a:bodyPr wrap="square" lIns="0" tIns="0" rIns="0" bIns="0" rtlCol="0" anchor="ctr"/>
          <a:lstStyle/>
          <a:p>
            <a:pPr indent="0" marL="0">
              <a:buNone/>
            </a:pPr>
            <a:r>
              <a:rPr lang="en-US" sz="1750" b="1" dirty="0">
                <a:solidFill>
                  <a:srgbClr val="FFFFFF"/>
                </a:solidFill>
                <a:latin typeface="Calibri" pitchFamily="34" charset="0"/>
                <a:ea typeface="Calibri" pitchFamily="34" charset="-122"/>
                <a:cs typeface="Calibri" pitchFamily="34" charset="-120"/>
              </a:rPr>
              <a:t>L'idempotence</a:t>
            </a:r>
            <a:endParaRPr lang="en-US" sz="1750" dirty="0"/>
          </a:p>
        </p:txBody>
      </p:sp>
      <p:sp>
        <p:nvSpPr>
          <p:cNvPr id="18" name="Text 16"/>
          <p:cNvSpPr txBox="1"/>
          <p:nvPr/>
        </p:nvSpPr>
        <p:spPr>
          <a:xfrm>
            <a:off x="1417320" y="4462272"/>
            <a:ext cx="4343400" cy="1005840"/>
          </a:xfrm>
          <a:prstGeom prst="rect">
            <a:avLst/>
          </a:prstGeom>
          <a:noFill/>
          <a:ln/>
        </p:spPr>
        <p:txBody>
          <a:bodyPr wrap="square" lIns="0" tIns="0" rIns="0" bIns="0" rtlCol="0" anchor="ctr"/>
          <a:lstStyle/>
          <a:p>
            <a:pPr indent="0" marL="0">
              <a:buNone/>
            </a:pPr>
            <a:r>
              <a:rPr lang="en-US" sz="1350" dirty="0">
                <a:solidFill>
                  <a:srgbClr val="DCE6EF"/>
                </a:solidFill>
                <a:latin typeface="Calibri" pitchFamily="34" charset="0"/>
                <a:ea typeface="Calibri" pitchFamily="34" charset="-122"/>
                <a:cs typeface="Calibri" pitchFamily="34" charset="-120"/>
              </a:rPr>
              <a:t>Rejeu du même contexte → même identifiant d'analyse, aucune nouvelle ligne créée.</a:t>
            </a:r>
            <a:endParaRPr lang="en-US" sz="1350" dirty="0"/>
          </a:p>
        </p:txBody>
      </p:sp>
      <p:sp>
        <p:nvSpPr>
          <p:cNvPr id="19" name="Shape 17"/>
          <p:cNvSpPr/>
          <p:nvPr/>
        </p:nvSpPr>
        <p:spPr>
          <a:xfrm>
            <a:off x="6172200" y="3749040"/>
            <a:ext cx="5440680" cy="1828800"/>
          </a:xfrm>
          <a:prstGeom prst="roundRect">
            <a:avLst>
              <a:gd name="adj" fmla="val 3500"/>
            </a:avLst>
          </a:prstGeom>
          <a:solidFill>
            <a:srgbClr val="27496B"/>
          </a:solidFill>
          <a:ln w="12700">
            <a:solidFill>
              <a:srgbClr val="27496B"/>
            </a:solidFill>
            <a:prstDash val="solid"/>
          </a:ln>
        </p:spPr>
      </p:sp>
      <p:sp>
        <p:nvSpPr>
          <p:cNvPr id="20" name="Shape 18"/>
          <p:cNvSpPr/>
          <p:nvPr/>
        </p:nvSpPr>
        <p:spPr>
          <a:xfrm>
            <a:off x="6400800" y="3977640"/>
            <a:ext cx="502920" cy="502920"/>
          </a:xfrm>
          <a:prstGeom prst="ellipse">
            <a:avLst/>
          </a:prstGeom>
          <a:solidFill>
            <a:srgbClr val="E3B341"/>
          </a:solidFill>
          <a:ln/>
        </p:spPr>
      </p:sp>
      <p:sp>
        <p:nvSpPr>
          <p:cNvPr id="21" name="Text 19"/>
          <p:cNvSpPr txBox="1"/>
          <p:nvPr/>
        </p:nvSpPr>
        <p:spPr>
          <a:xfrm>
            <a:off x="6400800" y="3977640"/>
            <a:ext cx="502920" cy="502920"/>
          </a:xfrm>
          <a:prstGeom prst="rect">
            <a:avLst/>
          </a:prstGeom>
          <a:noFill/>
          <a:ln/>
        </p:spPr>
        <p:txBody>
          <a:bodyPr wrap="square" lIns="0" tIns="0" rIns="0" bIns="0" rtlCol="0" anchor="ctr"/>
          <a:lstStyle/>
          <a:p>
            <a:pPr algn="ctr" indent="0" marL="0">
              <a:buNone/>
            </a:pPr>
            <a:r>
              <a:rPr lang="en-US" sz="2000" b="1" dirty="0">
                <a:solidFill>
                  <a:srgbClr val="1F3B57"/>
                </a:solidFill>
                <a:latin typeface="Cambria" pitchFamily="34" charset="0"/>
                <a:ea typeface="Cambria" pitchFamily="34" charset="-122"/>
                <a:cs typeface="Cambria" pitchFamily="34" charset="-120"/>
              </a:rPr>
              <a:t>4</a:t>
            </a:r>
            <a:endParaRPr lang="en-US" sz="2000" dirty="0"/>
          </a:p>
        </p:txBody>
      </p:sp>
      <p:sp>
        <p:nvSpPr>
          <p:cNvPr id="22" name="Text 20"/>
          <p:cNvSpPr txBox="1"/>
          <p:nvPr/>
        </p:nvSpPr>
        <p:spPr>
          <a:xfrm>
            <a:off x="7086600" y="3950208"/>
            <a:ext cx="4297680" cy="457200"/>
          </a:xfrm>
          <a:prstGeom prst="rect">
            <a:avLst/>
          </a:prstGeom>
          <a:noFill/>
          <a:ln/>
        </p:spPr>
        <p:txBody>
          <a:bodyPr wrap="square" lIns="0" tIns="0" rIns="0" bIns="0" rtlCol="0" anchor="ctr"/>
          <a:lstStyle/>
          <a:p>
            <a:pPr indent="0" marL="0">
              <a:buNone/>
            </a:pPr>
            <a:r>
              <a:rPr lang="en-US" sz="1750" b="1" dirty="0">
                <a:solidFill>
                  <a:srgbClr val="FFFFFF"/>
                </a:solidFill>
                <a:latin typeface="Calibri" pitchFamily="34" charset="0"/>
                <a:ea typeface="Calibri" pitchFamily="34" charset="-122"/>
                <a:cs typeface="Calibri" pitchFamily="34" charset="-120"/>
              </a:rPr>
              <a:t>La diffusion</a:t>
            </a:r>
            <a:endParaRPr lang="en-US" sz="1750" dirty="0"/>
          </a:p>
        </p:txBody>
      </p:sp>
      <p:sp>
        <p:nvSpPr>
          <p:cNvPr id="23" name="Text 21"/>
          <p:cNvSpPr txBox="1"/>
          <p:nvPr/>
        </p:nvSpPr>
        <p:spPr>
          <a:xfrm>
            <a:off x="7086600" y="4462272"/>
            <a:ext cx="4343400" cy="1005840"/>
          </a:xfrm>
          <a:prstGeom prst="rect">
            <a:avLst/>
          </a:prstGeom>
          <a:noFill/>
          <a:ln/>
        </p:spPr>
        <p:txBody>
          <a:bodyPr wrap="square" lIns="0" tIns="0" rIns="0" bIns="0" rtlCol="0" anchor="ctr"/>
          <a:lstStyle/>
          <a:p>
            <a:pPr indent="0" marL="0">
              <a:buNone/>
            </a:pPr>
            <a:r>
              <a:rPr lang="en-US" sz="1350" dirty="0">
                <a:solidFill>
                  <a:srgbClr val="DCE6EF"/>
                </a:solidFill>
                <a:latin typeface="Calibri" pitchFamily="34" charset="0"/>
                <a:ea typeface="Calibri" pitchFamily="34" charset="-122"/>
                <a:cs typeface="Calibri" pitchFamily="34" charset="-120"/>
              </a:rPr>
              <a:t>Exécution du pipeline → digest dans Mailpit / Gmail et publication Telegram.</a:t>
            </a:r>
            <a:endParaRPr lang="en-US" sz="1350" dirty="0"/>
          </a:p>
        </p:txBody>
      </p:sp>
      <p:sp>
        <p:nvSpPr>
          <p:cNvPr id="24" name="Text 22"/>
          <p:cNvSpPr txBox="1"/>
          <p:nvPr/>
        </p:nvSpPr>
        <p:spPr>
          <a:xfrm>
            <a:off x="502920" y="5989320"/>
            <a:ext cx="11155680" cy="457200"/>
          </a:xfrm>
          <a:prstGeom prst="rect">
            <a:avLst/>
          </a:prstGeom>
          <a:noFill/>
          <a:ln/>
        </p:spPr>
        <p:txBody>
          <a:bodyPr wrap="square" lIns="0" tIns="0" rIns="0" bIns="0" rtlCol="0" anchor="ctr"/>
          <a:lstStyle/>
          <a:p>
            <a:pPr indent="0" marL="0">
              <a:buNone/>
            </a:pPr>
            <a:r>
              <a:rPr lang="en-US" sz="1300" i="1" dirty="0">
                <a:solidFill>
                  <a:srgbClr val="B9C9D8"/>
                </a:solidFill>
                <a:latin typeface="Calibri" pitchFamily="34" charset="0"/>
                <a:ea typeface="Calibri" pitchFamily="34" charset="-122"/>
                <a:cs typeface="Calibri" pitchFamily="34" charset="-120"/>
              </a:rPr>
              <a:t>Chaque preuve reste vérifiable dans PostgreSQL et les rapports d'exécution : la démonstration est reproductible.</a:t>
            </a:r>
            <a:endParaRPr lang="en-US" sz="1300" dirty="0"/>
          </a:p>
        </p:txBody>
      </p:sp>
      <p:sp>
        <p:nvSpPr>
          <p:cNvPr id="26" name="Text 23"/>
          <p:cNvSpPr txBox="1"/>
          <p:nvPr/>
        </p:nvSpPr>
        <p:spPr>
          <a:xfrm>
            <a:off x="11503152" y="6382512"/>
            <a:ext cx="411480" cy="292608"/>
          </a:xfrm>
          <a:prstGeom prst="rect">
            <a:avLst/>
          </a:prstGeom>
          <a:noFill/>
          <a:ln/>
        </p:spPr>
        <p:txBody>
          <a:bodyPr wrap="square" lIns="0" tIns="0" rIns="0" bIns="0" rtlCol="0" anchor="ctr"/>
          <a:lstStyle/>
          <a:p>
            <a:pPr algn="r" indent="0" marL="0">
              <a:buNone/>
            </a:pPr>
            <a:r>
              <a:rPr lang="en-US" sz="1100" dirty="0">
                <a:solidFill>
                  <a:srgbClr val="5A6B7C"/>
                </a:solidFill>
                <a:latin typeface="Calibri" pitchFamily="34" charset="0"/>
                <a:ea typeface="Calibri" pitchFamily="34" charset="-122"/>
                <a:cs typeface="Calibri" pitchFamily="34" charset="-120"/>
              </a:rPr>
              <a:t>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92608"/>
            <a:ext cx="11183112" cy="685800"/>
          </a:xfrm>
          <a:prstGeom prst="rect">
            <a:avLst/>
          </a:prstGeom>
          <a:noFill/>
          <a:ln/>
        </p:spPr>
        <p:txBody>
          <a:bodyPr wrap="square" lIns="0" tIns="0" rIns="0" bIns="0" rtlCol="0" anchor="ctr"/>
          <a:lstStyle/>
          <a:p>
            <a:pPr indent="0" marL="0">
              <a:buNone/>
            </a:pPr>
            <a:r>
              <a:rPr lang="en-US" sz="3100" b="1" dirty="0">
                <a:solidFill>
                  <a:srgbClr val="1F3B57"/>
                </a:solidFill>
                <a:latin typeface="Cambria" pitchFamily="34" charset="0"/>
                <a:ea typeface="Cambria" pitchFamily="34" charset="-122"/>
                <a:cs typeface="Cambria" pitchFamily="34" charset="-120"/>
              </a:rPr>
              <a:t>Garde-fous : la fiabilité comme choix de conception</a:t>
            </a:r>
            <a:endParaRPr lang="en-US" sz="3100" dirty="0"/>
          </a:p>
        </p:txBody>
      </p:sp>
      <p:sp>
        <p:nvSpPr>
          <p:cNvPr id="3" name="Shape 1"/>
          <p:cNvSpPr/>
          <p:nvPr/>
        </p:nvSpPr>
        <p:spPr>
          <a:xfrm>
            <a:off x="502920" y="1417320"/>
            <a:ext cx="5440680" cy="1444752"/>
          </a:xfrm>
          <a:prstGeom prst="roundRect">
            <a:avLst>
              <a:gd name="adj" fmla="val 4430"/>
            </a:avLst>
          </a:prstGeom>
          <a:solidFill>
            <a:srgbClr val="E8F0F8"/>
          </a:solidFill>
          <a:ln w="12700">
            <a:solidFill>
              <a:srgbClr val="E8F0F8"/>
            </a:solidFill>
            <a:prstDash val="solid"/>
          </a:ln>
        </p:spPr>
      </p:sp>
      <p:sp>
        <p:nvSpPr>
          <p:cNvPr id="4" name="Text 2"/>
          <p:cNvSpPr txBox="1"/>
          <p:nvPr/>
        </p:nvSpPr>
        <p:spPr>
          <a:xfrm>
            <a:off x="731520" y="1536192"/>
            <a:ext cx="5029200" cy="384048"/>
          </a:xfrm>
          <a:prstGeom prst="rect">
            <a:avLst/>
          </a:prstGeom>
          <a:noFill/>
          <a:ln/>
        </p:spPr>
        <p:txBody>
          <a:bodyPr wrap="square" lIns="0" tIns="0" rIns="0" bIns="0" rtlCol="0" anchor="ctr"/>
          <a:lstStyle/>
          <a:p>
            <a:pPr indent="0" marL="0">
              <a:buNone/>
            </a:pPr>
            <a:r>
              <a:rPr lang="en-US" sz="1550" b="1" dirty="0">
                <a:solidFill>
                  <a:srgbClr val="1F3B57"/>
                </a:solidFill>
                <a:latin typeface="Calibri" pitchFamily="34" charset="0"/>
                <a:ea typeface="Calibri" pitchFamily="34" charset="-122"/>
                <a:cs typeface="Calibri" pitchFamily="34" charset="-120"/>
              </a:rPr>
              <a:t>Frontières légales</a:t>
            </a:r>
            <a:endParaRPr lang="en-US" sz="1550" dirty="0"/>
          </a:p>
        </p:txBody>
      </p:sp>
      <p:sp>
        <p:nvSpPr>
          <p:cNvPr id="5" name="Text 3"/>
          <p:cNvSpPr txBox="1"/>
          <p:nvPr/>
        </p:nvSpPr>
        <p:spPr>
          <a:xfrm>
            <a:off x="731520" y="1938528"/>
            <a:ext cx="5029200" cy="868680"/>
          </a:xfrm>
          <a:prstGeom prst="rect">
            <a:avLst/>
          </a:prstGeom>
          <a:noFill/>
          <a:ln/>
        </p:spPr>
        <p:txBody>
          <a:bodyPr wrap="square" lIns="0" tIns="0" rIns="0" bIns="0" rtlCol="0" anchor="ctr"/>
          <a:lstStyle/>
          <a:p>
            <a:pPr indent="0" marL="0">
              <a:buNone/>
            </a:pPr>
            <a:r>
              <a:rPr lang="en-US" sz="1250" dirty="0">
                <a:solidFill>
                  <a:srgbClr val="1A1A1A"/>
                </a:solidFill>
                <a:latin typeface="Calibri" pitchFamily="34" charset="0"/>
                <a:ea typeface="Calibri" pitchFamily="34" charset="-122"/>
                <a:cs typeface="Calibri" pitchFamily="34" charset="-120"/>
              </a:rPr>
              <a:t>Ressources publiques uniquement ; aucune authentification contournée — l'humain fournit les documents restreints.</a:t>
            </a:r>
            <a:endParaRPr lang="en-US" sz="1250" dirty="0"/>
          </a:p>
        </p:txBody>
      </p:sp>
      <p:sp>
        <p:nvSpPr>
          <p:cNvPr id="6" name="Shape 4"/>
          <p:cNvSpPr/>
          <p:nvPr/>
        </p:nvSpPr>
        <p:spPr>
          <a:xfrm>
            <a:off x="6126480" y="1417320"/>
            <a:ext cx="5440680" cy="1444752"/>
          </a:xfrm>
          <a:prstGeom prst="roundRect">
            <a:avLst>
              <a:gd name="adj" fmla="val 4430"/>
            </a:avLst>
          </a:prstGeom>
          <a:solidFill>
            <a:srgbClr val="F7F9FB"/>
          </a:solidFill>
          <a:ln w="9525">
            <a:solidFill>
              <a:srgbClr val="C9D3DD"/>
            </a:solidFill>
            <a:prstDash val="solid"/>
          </a:ln>
        </p:spPr>
      </p:sp>
      <p:sp>
        <p:nvSpPr>
          <p:cNvPr id="7" name="Text 5"/>
          <p:cNvSpPr txBox="1"/>
          <p:nvPr/>
        </p:nvSpPr>
        <p:spPr>
          <a:xfrm>
            <a:off x="6355080" y="1536192"/>
            <a:ext cx="5029200" cy="384048"/>
          </a:xfrm>
          <a:prstGeom prst="rect">
            <a:avLst/>
          </a:prstGeom>
          <a:noFill/>
          <a:ln/>
        </p:spPr>
        <p:txBody>
          <a:bodyPr wrap="square" lIns="0" tIns="0" rIns="0" bIns="0" rtlCol="0" anchor="ctr"/>
          <a:lstStyle/>
          <a:p>
            <a:pPr indent="0" marL="0">
              <a:buNone/>
            </a:pPr>
            <a:r>
              <a:rPr lang="en-US" sz="1550" b="1" dirty="0">
                <a:solidFill>
                  <a:srgbClr val="1F3B57"/>
                </a:solidFill>
                <a:latin typeface="Calibri" pitchFamily="34" charset="0"/>
                <a:ea typeface="Calibri" pitchFamily="34" charset="-122"/>
                <a:cs typeface="Calibri" pitchFamily="34" charset="-120"/>
              </a:rPr>
              <a:t>Anti-hallucination</a:t>
            </a:r>
            <a:endParaRPr lang="en-US" sz="1550" dirty="0"/>
          </a:p>
        </p:txBody>
      </p:sp>
      <p:sp>
        <p:nvSpPr>
          <p:cNvPr id="8" name="Text 6"/>
          <p:cNvSpPr txBox="1"/>
          <p:nvPr/>
        </p:nvSpPr>
        <p:spPr>
          <a:xfrm>
            <a:off x="6355080" y="1938528"/>
            <a:ext cx="5029200" cy="868680"/>
          </a:xfrm>
          <a:prstGeom prst="rect">
            <a:avLst/>
          </a:prstGeom>
          <a:noFill/>
          <a:ln/>
        </p:spPr>
        <p:txBody>
          <a:bodyPr wrap="square" lIns="0" tIns="0" rIns="0" bIns="0" rtlCol="0" anchor="ctr"/>
          <a:lstStyle/>
          <a:p>
            <a:pPr indent="0" marL="0">
              <a:buNone/>
            </a:pPr>
            <a:r>
              <a:rPr lang="en-US" sz="1250" dirty="0">
                <a:solidFill>
                  <a:srgbClr val="1A1A1A"/>
                </a:solidFill>
                <a:latin typeface="Calibri" pitchFamily="34" charset="0"/>
                <a:ea typeface="Calibri" pitchFamily="34" charset="-122"/>
                <a:cs typeface="Calibri" pitchFamily="34" charset="-120"/>
              </a:rPr>
              <a:t>« Non trouvé » obligatoire, fiche imposée, validation indépendante avant toute persistance.</a:t>
            </a:r>
            <a:endParaRPr lang="en-US" sz="1250" dirty="0"/>
          </a:p>
        </p:txBody>
      </p:sp>
      <p:sp>
        <p:nvSpPr>
          <p:cNvPr id="9" name="Shape 7"/>
          <p:cNvSpPr/>
          <p:nvPr/>
        </p:nvSpPr>
        <p:spPr>
          <a:xfrm>
            <a:off x="502920" y="3044952"/>
            <a:ext cx="5440680" cy="1444752"/>
          </a:xfrm>
          <a:prstGeom prst="roundRect">
            <a:avLst>
              <a:gd name="adj" fmla="val 4430"/>
            </a:avLst>
          </a:prstGeom>
          <a:solidFill>
            <a:srgbClr val="E8F0F8"/>
          </a:solidFill>
          <a:ln w="12700">
            <a:solidFill>
              <a:srgbClr val="E8F0F8"/>
            </a:solidFill>
            <a:prstDash val="solid"/>
          </a:ln>
        </p:spPr>
      </p:sp>
      <p:sp>
        <p:nvSpPr>
          <p:cNvPr id="10" name="Text 8"/>
          <p:cNvSpPr txBox="1"/>
          <p:nvPr/>
        </p:nvSpPr>
        <p:spPr>
          <a:xfrm>
            <a:off x="731520" y="3163824"/>
            <a:ext cx="5029200" cy="384048"/>
          </a:xfrm>
          <a:prstGeom prst="rect">
            <a:avLst/>
          </a:prstGeom>
          <a:noFill/>
          <a:ln/>
        </p:spPr>
        <p:txBody>
          <a:bodyPr wrap="square" lIns="0" tIns="0" rIns="0" bIns="0" rtlCol="0" anchor="ctr"/>
          <a:lstStyle/>
          <a:p>
            <a:pPr indent="0" marL="0">
              <a:buNone/>
            </a:pPr>
            <a:r>
              <a:rPr lang="en-US" sz="1550" b="1" dirty="0">
                <a:solidFill>
                  <a:srgbClr val="1F3B57"/>
                </a:solidFill>
                <a:latin typeface="Calibri" pitchFamily="34" charset="0"/>
                <a:ea typeface="Calibri" pitchFamily="34" charset="-122"/>
                <a:cs typeface="Calibri" pitchFamily="34" charset="-120"/>
              </a:rPr>
              <a:t>Anti-injection</a:t>
            </a:r>
            <a:endParaRPr lang="en-US" sz="1550" dirty="0"/>
          </a:p>
        </p:txBody>
      </p:sp>
      <p:sp>
        <p:nvSpPr>
          <p:cNvPr id="11" name="Text 9"/>
          <p:cNvSpPr txBox="1"/>
          <p:nvPr/>
        </p:nvSpPr>
        <p:spPr>
          <a:xfrm>
            <a:off x="731520" y="3566160"/>
            <a:ext cx="5029200" cy="868680"/>
          </a:xfrm>
          <a:prstGeom prst="rect">
            <a:avLst/>
          </a:prstGeom>
          <a:noFill/>
          <a:ln/>
        </p:spPr>
        <p:txBody>
          <a:bodyPr wrap="square" lIns="0" tIns="0" rIns="0" bIns="0" rtlCol="0" anchor="ctr"/>
          <a:lstStyle/>
          <a:p>
            <a:pPr indent="0" marL="0">
              <a:buNone/>
            </a:pPr>
            <a:r>
              <a:rPr lang="en-US" sz="1250" dirty="0">
                <a:solidFill>
                  <a:srgbClr val="1A1A1A"/>
                </a:solidFill>
                <a:latin typeface="Calibri" pitchFamily="34" charset="0"/>
                <a:ea typeface="Calibri" pitchFamily="34" charset="-122"/>
                <a:cs typeface="Calibri" pitchFamily="34" charset="-120"/>
              </a:rPr>
              <a:t>Les textes d'appels d'offres sont des données à analyser — jamais des instructions pour l'agent.</a:t>
            </a:r>
            <a:endParaRPr lang="en-US" sz="1250" dirty="0"/>
          </a:p>
        </p:txBody>
      </p:sp>
      <p:sp>
        <p:nvSpPr>
          <p:cNvPr id="12" name="Shape 10"/>
          <p:cNvSpPr/>
          <p:nvPr/>
        </p:nvSpPr>
        <p:spPr>
          <a:xfrm>
            <a:off x="6126480" y="3044952"/>
            <a:ext cx="5440680" cy="1444752"/>
          </a:xfrm>
          <a:prstGeom prst="roundRect">
            <a:avLst>
              <a:gd name="adj" fmla="val 4430"/>
            </a:avLst>
          </a:prstGeom>
          <a:solidFill>
            <a:srgbClr val="F7F9FB"/>
          </a:solidFill>
          <a:ln w="9525">
            <a:solidFill>
              <a:srgbClr val="C9D3DD"/>
            </a:solidFill>
            <a:prstDash val="solid"/>
          </a:ln>
        </p:spPr>
      </p:sp>
      <p:sp>
        <p:nvSpPr>
          <p:cNvPr id="13" name="Text 11"/>
          <p:cNvSpPr txBox="1"/>
          <p:nvPr/>
        </p:nvSpPr>
        <p:spPr>
          <a:xfrm>
            <a:off x="6355080" y="3163824"/>
            <a:ext cx="5029200" cy="384048"/>
          </a:xfrm>
          <a:prstGeom prst="rect">
            <a:avLst/>
          </a:prstGeom>
          <a:noFill/>
          <a:ln/>
        </p:spPr>
        <p:txBody>
          <a:bodyPr wrap="square" lIns="0" tIns="0" rIns="0" bIns="0" rtlCol="0" anchor="ctr"/>
          <a:lstStyle/>
          <a:p>
            <a:pPr indent="0" marL="0">
              <a:buNone/>
            </a:pPr>
            <a:r>
              <a:rPr lang="en-US" sz="1550" b="1" dirty="0">
                <a:solidFill>
                  <a:srgbClr val="1F3B57"/>
                </a:solidFill>
                <a:latin typeface="Calibri" pitchFamily="34" charset="0"/>
                <a:ea typeface="Calibri" pitchFamily="34" charset="-122"/>
                <a:cs typeface="Calibri" pitchFamily="34" charset="-120"/>
              </a:rPr>
              <a:t>Secrets maîtrisés</a:t>
            </a:r>
            <a:endParaRPr lang="en-US" sz="1550" dirty="0"/>
          </a:p>
        </p:txBody>
      </p:sp>
      <p:sp>
        <p:nvSpPr>
          <p:cNvPr id="14" name="Text 12"/>
          <p:cNvSpPr txBox="1"/>
          <p:nvPr/>
        </p:nvSpPr>
        <p:spPr>
          <a:xfrm>
            <a:off x="6355080" y="3566160"/>
            <a:ext cx="5029200" cy="868680"/>
          </a:xfrm>
          <a:prstGeom prst="rect">
            <a:avLst/>
          </a:prstGeom>
          <a:noFill/>
          <a:ln/>
        </p:spPr>
        <p:txBody>
          <a:bodyPr wrap="square" lIns="0" tIns="0" rIns="0" bIns="0" rtlCol="0" anchor="ctr"/>
          <a:lstStyle/>
          <a:p>
            <a:pPr indent="0" marL="0">
              <a:buNone/>
            </a:pPr>
            <a:r>
              <a:rPr lang="en-US" sz="1250" dirty="0">
                <a:solidFill>
                  <a:srgbClr val="1A1A1A"/>
                </a:solidFill>
                <a:latin typeface="Calibri" pitchFamily="34" charset="0"/>
                <a:ea typeface="Calibri" pitchFamily="34" charset="-122"/>
                <a:cs typeface="Calibri" pitchFamily="34" charset="-120"/>
              </a:rPr>
              <a:t>Jetons et clés hors dépôt, erreurs expurgées, sauvegardes assainies, services en local.</a:t>
            </a:r>
            <a:endParaRPr lang="en-US" sz="1250" dirty="0"/>
          </a:p>
        </p:txBody>
      </p:sp>
      <p:sp>
        <p:nvSpPr>
          <p:cNvPr id="15" name="Shape 13"/>
          <p:cNvSpPr/>
          <p:nvPr/>
        </p:nvSpPr>
        <p:spPr>
          <a:xfrm>
            <a:off x="502920" y="4672584"/>
            <a:ext cx="5440680" cy="1444752"/>
          </a:xfrm>
          <a:prstGeom prst="roundRect">
            <a:avLst>
              <a:gd name="adj" fmla="val 4430"/>
            </a:avLst>
          </a:prstGeom>
          <a:solidFill>
            <a:srgbClr val="E8F0F8"/>
          </a:solidFill>
          <a:ln w="12700">
            <a:solidFill>
              <a:srgbClr val="E8F0F8"/>
            </a:solidFill>
            <a:prstDash val="solid"/>
          </a:ln>
        </p:spPr>
      </p:sp>
      <p:sp>
        <p:nvSpPr>
          <p:cNvPr id="16" name="Text 14"/>
          <p:cNvSpPr txBox="1"/>
          <p:nvPr/>
        </p:nvSpPr>
        <p:spPr>
          <a:xfrm>
            <a:off x="731520" y="4791456"/>
            <a:ext cx="5029200" cy="384048"/>
          </a:xfrm>
          <a:prstGeom prst="rect">
            <a:avLst/>
          </a:prstGeom>
          <a:noFill/>
          <a:ln/>
        </p:spPr>
        <p:txBody>
          <a:bodyPr wrap="square" lIns="0" tIns="0" rIns="0" bIns="0" rtlCol="0" anchor="ctr"/>
          <a:lstStyle/>
          <a:p>
            <a:pPr indent="0" marL="0">
              <a:buNone/>
            </a:pPr>
            <a:r>
              <a:rPr lang="en-US" sz="1550" b="1" dirty="0">
                <a:solidFill>
                  <a:srgbClr val="1F3B57"/>
                </a:solidFill>
                <a:latin typeface="Calibri" pitchFamily="34" charset="0"/>
                <a:ea typeface="Calibri" pitchFamily="34" charset="-122"/>
                <a:cs typeface="Calibri" pitchFamily="34" charset="-120"/>
              </a:rPr>
              <a:t>Second avis encadré</a:t>
            </a:r>
            <a:endParaRPr lang="en-US" sz="1550" dirty="0"/>
          </a:p>
        </p:txBody>
      </p:sp>
      <p:sp>
        <p:nvSpPr>
          <p:cNvPr id="17" name="Text 15"/>
          <p:cNvSpPr txBox="1"/>
          <p:nvPr/>
        </p:nvSpPr>
        <p:spPr>
          <a:xfrm>
            <a:off x="731520" y="5193792"/>
            <a:ext cx="5029200" cy="868680"/>
          </a:xfrm>
          <a:prstGeom prst="rect">
            <a:avLst/>
          </a:prstGeom>
          <a:noFill/>
          <a:ln/>
        </p:spPr>
        <p:txBody>
          <a:bodyPr wrap="square" lIns="0" tIns="0" rIns="0" bIns="0" rtlCol="0" anchor="ctr"/>
          <a:lstStyle/>
          <a:p>
            <a:pPr indent="0" marL="0">
              <a:buNone/>
            </a:pPr>
            <a:r>
              <a:rPr lang="en-US" sz="1250" dirty="0">
                <a:solidFill>
                  <a:srgbClr val="1A1A1A"/>
                </a:solidFill>
                <a:latin typeface="Calibri" pitchFamily="34" charset="0"/>
                <a:ea typeface="Calibri" pitchFamily="34" charset="-122"/>
                <a:cs typeface="Calibri" pitchFamily="34" charset="-120"/>
              </a:rPr>
              <a:t>Phi-4 Mini a été évalué comme second avis local, isolé du chemin de décision et soumis aux mêmes contrôles.</a:t>
            </a:r>
            <a:endParaRPr lang="en-US" sz="1250" dirty="0"/>
          </a:p>
        </p:txBody>
      </p:sp>
      <p:sp>
        <p:nvSpPr>
          <p:cNvPr id="18" name="Shape 16"/>
          <p:cNvSpPr/>
          <p:nvPr/>
        </p:nvSpPr>
        <p:spPr>
          <a:xfrm>
            <a:off x="6126480" y="4672584"/>
            <a:ext cx="5440680" cy="1444752"/>
          </a:xfrm>
          <a:prstGeom prst="roundRect">
            <a:avLst>
              <a:gd name="adj" fmla="val 4430"/>
            </a:avLst>
          </a:prstGeom>
          <a:solidFill>
            <a:srgbClr val="F7F9FB"/>
          </a:solidFill>
          <a:ln w="9525">
            <a:solidFill>
              <a:srgbClr val="C9D3DD"/>
            </a:solidFill>
            <a:prstDash val="solid"/>
          </a:ln>
        </p:spPr>
      </p:sp>
      <p:sp>
        <p:nvSpPr>
          <p:cNvPr id="19" name="Text 17"/>
          <p:cNvSpPr txBox="1"/>
          <p:nvPr/>
        </p:nvSpPr>
        <p:spPr>
          <a:xfrm>
            <a:off x="6355080" y="4791456"/>
            <a:ext cx="5029200" cy="384048"/>
          </a:xfrm>
          <a:prstGeom prst="rect">
            <a:avLst/>
          </a:prstGeom>
          <a:noFill/>
          <a:ln/>
        </p:spPr>
        <p:txBody>
          <a:bodyPr wrap="square" lIns="0" tIns="0" rIns="0" bIns="0" rtlCol="0" anchor="ctr"/>
          <a:lstStyle/>
          <a:p>
            <a:pPr indent="0" marL="0">
              <a:buNone/>
            </a:pPr>
            <a:r>
              <a:rPr lang="en-US" sz="1550" b="1" dirty="0">
                <a:solidFill>
                  <a:srgbClr val="1F3B57"/>
                </a:solidFill>
                <a:latin typeface="Calibri" pitchFamily="34" charset="0"/>
                <a:ea typeface="Calibri" pitchFamily="34" charset="-122"/>
                <a:cs typeface="Calibri" pitchFamily="34" charset="-120"/>
              </a:rPr>
              <a:t>Résilience prouvée</a:t>
            </a:r>
            <a:endParaRPr lang="en-US" sz="1550" dirty="0"/>
          </a:p>
        </p:txBody>
      </p:sp>
      <p:sp>
        <p:nvSpPr>
          <p:cNvPr id="20" name="Text 18"/>
          <p:cNvSpPr txBox="1"/>
          <p:nvPr/>
        </p:nvSpPr>
        <p:spPr>
          <a:xfrm>
            <a:off x="6355080" y="5193792"/>
            <a:ext cx="5029200" cy="868680"/>
          </a:xfrm>
          <a:prstGeom prst="rect">
            <a:avLst/>
          </a:prstGeom>
          <a:noFill/>
          <a:ln/>
        </p:spPr>
        <p:txBody>
          <a:bodyPr wrap="square" lIns="0" tIns="0" rIns="0" bIns="0" rtlCol="0" anchor="ctr"/>
          <a:lstStyle/>
          <a:p>
            <a:pPr indent="0" marL="0">
              <a:buNone/>
            </a:pPr>
            <a:r>
              <a:rPr lang="en-US" sz="1250" dirty="0">
                <a:solidFill>
                  <a:srgbClr val="1A1A1A"/>
                </a:solidFill>
                <a:latin typeface="Calibri" pitchFamily="34" charset="0"/>
                <a:ea typeface="Calibri" pitchFamily="34" charset="-122"/>
                <a:cs typeface="Calibri" pitchFamily="34" charset="-120"/>
              </a:rPr>
              <a:t>Incident réseau HAICOP journalisé sans perte ; sauvegarde restaurée et vérifiée en base isolée.</a:t>
            </a:r>
            <a:endParaRPr lang="en-US" sz="1250" dirty="0"/>
          </a:p>
        </p:txBody>
      </p:sp>
      <p:sp>
        <p:nvSpPr>
          <p:cNvPr id="22" name="Text 19"/>
          <p:cNvSpPr txBox="1"/>
          <p:nvPr/>
        </p:nvSpPr>
        <p:spPr>
          <a:xfrm>
            <a:off x="11503152" y="6382512"/>
            <a:ext cx="411480" cy="292608"/>
          </a:xfrm>
          <a:prstGeom prst="rect">
            <a:avLst/>
          </a:prstGeom>
          <a:noFill/>
          <a:ln/>
        </p:spPr>
        <p:txBody>
          <a:bodyPr wrap="square" lIns="0" tIns="0" rIns="0" bIns="0" rtlCol="0" anchor="ctr"/>
          <a:lstStyle/>
          <a:p>
            <a:pPr algn="r" indent="0" marL="0">
              <a:buNone/>
            </a:pPr>
            <a:r>
              <a:rPr lang="en-US" sz="1100" dirty="0">
                <a:solidFill>
                  <a:srgbClr val="5A6B7C"/>
                </a:solidFill>
                <a:latin typeface="Calibri" pitchFamily="34" charset="0"/>
                <a:ea typeface="Calibri" pitchFamily="34" charset="-122"/>
                <a:cs typeface="Calibri" pitchFamily="34" charset="-120"/>
              </a:rPr>
              <a:t>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92608"/>
            <a:ext cx="11183112" cy="685800"/>
          </a:xfrm>
          <a:prstGeom prst="rect">
            <a:avLst/>
          </a:prstGeom>
          <a:noFill/>
          <a:ln/>
        </p:spPr>
        <p:txBody>
          <a:bodyPr wrap="square" lIns="0" tIns="0" rIns="0" bIns="0" rtlCol="0" anchor="ctr"/>
          <a:lstStyle/>
          <a:p>
            <a:pPr indent="0" marL="0">
              <a:buNone/>
            </a:pPr>
            <a:r>
              <a:rPr lang="en-US" sz="3100" b="1" dirty="0">
                <a:solidFill>
                  <a:srgbClr val="1F3B57"/>
                </a:solidFill>
                <a:latin typeface="Cambria" pitchFamily="34" charset="0"/>
                <a:ea typeface="Cambria" pitchFamily="34" charset="-122"/>
                <a:cs typeface="Cambria" pitchFamily="34" charset="-120"/>
              </a:rPr>
              <a:t>Compétences développées</a:t>
            </a:r>
            <a:endParaRPr lang="en-US" sz="3100" dirty="0"/>
          </a:p>
        </p:txBody>
      </p:sp>
      <p:sp>
        <p:nvSpPr>
          <p:cNvPr id="3" name="Shape 1"/>
          <p:cNvSpPr/>
          <p:nvPr/>
        </p:nvSpPr>
        <p:spPr>
          <a:xfrm>
            <a:off x="502920" y="1371600"/>
            <a:ext cx="5394960" cy="5029200"/>
          </a:xfrm>
          <a:prstGeom prst="roundRect">
            <a:avLst>
              <a:gd name="adj" fmla="val 1273"/>
            </a:avLst>
          </a:prstGeom>
          <a:solidFill>
            <a:srgbClr val="E8F0F8"/>
          </a:solidFill>
          <a:ln w="12700">
            <a:solidFill>
              <a:srgbClr val="E8F0F8"/>
            </a:solidFill>
            <a:prstDash val="solid"/>
          </a:ln>
        </p:spPr>
      </p:sp>
      <p:sp>
        <p:nvSpPr>
          <p:cNvPr id="4" name="Text 2"/>
          <p:cNvSpPr txBox="1"/>
          <p:nvPr/>
        </p:nvSpPr>
        <p:spPr>
          <a:xfrm>
            <a:off x="777240" y="1554480"/>
            <a:ext cx="4846320" cy="411480"/>
          </a:xfrm>
          <a:prstGeom prst="rect">
            <a:avLst/>
          </a:prstGeom>
          <a:noFill/>
          <a:ln/>
        </p:spPr>
        <p:txBody>
          <a:bodyPr wrap="square" lIns="0" tIns="0" rIns="0" bIns="0" rtlCol="0" anchor="ctr"/>
          <a:lstStyle/>
          <a:p>
            <a:pPr indent="0" marL="0">
              <a:buNone/>
            </a:pPr>
            <a:r>
              <a:rPr lang="en-US" sz="1700" b="1" dirty="0">
                <a:solidFill>
                  <a:srgbClr val="1F3B57"/>
                </a:solidFill>
                <a:latin typeface="Calibri" pitchFamily="34" charset="0"/>
                <a:ea typeface="Calibri" pitchFamily="34" charset="-122"/>
                <a:cs typeface="Calibri" pitchFamily="34" charset="-120"/>
              </a:rPr>
              <a:t>Techniques</a:t>
            </a:r>
            <a:endParaRPr lang="en-US" sz="1700" dirty="0"/>
          </a:p>
        </p:txBody>
      </p:sp>
      <p:sp>
        <p:nvSpPr>
          <p:cNvPr id="5" name="Text 3"/>
          <p:cNvSpPr txBox="1"/>
          <p:nvPr/>
        </p:nvSpPr>
        <p:spPr>
          <a:xfrm>
            <a:off x="777240" y="2011680"/>
            <a:ext cx="4937760" cy="4206240"/>
          </a:xfrm>
          <a:prstGeom prst="rect">
            <a:avLst/>
          </a:prstGeom>
          <a:noFill/>
          <a:ln/>
        </p:spPr>
        <p:txBody>
          <a:bodyPr wrap="square" lIns="73152" tIns="0" rIns="73152" bIns="0" rtlCol="0" anchor="t"/>
          <a:lstStyle/>
          <a:p>
            <a:pPr marL="177800" indent="-177800">
              <a:lnSpc>
                <a:spcPct val="106000"/>
              </a:lnSpc>
              <a:spcAft>
                <a:spcPts val="900"/>
              </a:spcAft>
              <a:buSzPct val="100000"/>
              <a:buChar char="•"/>
              <a:defRPr sz="1650">
                <a:solidFill>
                  <a:srgbClr val="102A43"/>
                </a:solidFill>
                <a:latin typeface="Aptos"/>
              </a:defRPr>
            </a:pPr>
            <a:r>
              <a:t>• Architecture par couches et responsabilités</a:t>
            </a:r>
            <a:endParaRPr lang="en-US" sz="1350" dirty="0"/>
          </a:p>
          <a:p>
            <a:pPr>
              <a:spcAft>
                <a:spcPts val="900"/>
              </a:spcAft>
              <a:defRPr sz="1650">
                <a:solidFill>
                  <a:srgbClr val="102A43"/>
                </a:solidFill>
                <a:latin typeface="Aptos"/>
              </a:defRPr>
            </a:pPr>
            <a:r>
              <a:t>• Python structuré : package, CLI JSON et API FastAPI</a:t>
            </a:r>
          </a:p>
          <a:p>
            <a:pPr>
              <a:spcAft>
                <a:spcPts val="900"/>
              </a:spcAft>
              <a:defRPr sz="1650">
                <a:solidFill>
                  <a:srgbClr val="102A43"/>
                </a:solidFill>
                <a:latin typeface="Aptos"/>
              </a:defRPr>
            </a:pPr>
            <a:r>
              <a:t>• PostgreSQL : JSONB, contraintes, migrations et idempotence</a:t>
            </a:r>
          </a:p>
          <a:p>
            <a:pPr>
              <a:spcAft>
                <a:spcPts val="900"/>
              </a:spcAft>
              <a:defRPr sz="1650">
                <a:solidFill>
                  <a:srgbClr val="102A43"/>
                </a:solidFill>
                <a:latin typeface="Aptos"/>
              </a:defRPr>
            </a:pPr>
            <a:r>
              <a:t>• Traitement documentaire : PDF, DOCX, DOC et OCR multilingue</a:t>
            </a:r>
          </a:p>
          <a:p>
            <a:pPr>
              <a:spcAft>
                <a:spcPts val="900"/>
              </a:spcAft>
              <a:defRPr sz="1650">
                <a:solidFill>
                  <a:srgbClr val="102A43"/>
                </a:solidFill>
                <a:latin typeface="Aptos"/>
              </a:defRPr>
            </a:pPr>
            <a:r>
              <a:t>• OpenClaw, n8n et MCP : orchestration agentique bornée</a:t>
            </a:r>
          </a:p>
          <a:p>
            <a:pPr>
              <a:spcAft>
                <a:spcPts val="900"/>
              </a:spcAft>
              <a:defRPr sz="1650">
                <a:solidFill>
                  <a:srgbClr val="102A43"/>
                </a:solidFill>
                <a:latin typeface="Aptos"/>
              </a:defRPr>
            </a:pPr>
            <a:r>
              <a:t>• Qualité : 62 tests locaux, 5 d'intégration et 6 scripts SQL</a:t>
            </a:r>
          </a:p>
        </p:txBody>
      </p:sp>
      <p:sp>
        <p:nvSpPr>
          <p:cNvPr id="6" name="Shape 4"/>
          <p:cNvSpPr/>
          <p:nvPr/>
        </p:nvSpPr>
        <p:spPr>
          <a:xfrm>
            <a:off x="6172200" y="1371600"/>
            <a:ext cx="5486400" cy="5029200"/>
          </a:xfrm>
          <a:prstGeom prst="roundRect">
            <a:avLst>
              <a:gd name="adj" fmla="val 1273"/>
            </a:avLst>
          </a:prstGeom>
          <a:solidFill>
            <a:srgbClr val="F7F9FB"/>
          </a:solidFill>
          <a:ln w="9525">
            <a:solidFill>
              <a:srgbClr val="C9D3DD"/>
            </a:solidFill>
            <a:prstDash val="solid"/>
          </a:ln>
        </p:spPr>
      </p:sp>
      <p:sp>
        <p:nvSpPr>
          <p:cNvPr id="7" name="Text 5"/>
          <p:cNvSpPr txBox="1"/>
          <p:nvPr/>
        </p:nvSpPr>
        <p:spPr>
          <a:xfrm>
            <a:off x="6446520" y="1554480"/>
            <a:ext cx="5029200" cy="411480"/>
          </a:xfrm>
          <a:prstGeom prst="rect">
            <a:avLst/>
          </a:prstGeom>
          <a:noFill/>
          <a:ln/>
        </p:spPr>
        <p:txBody>
          <a:bodyPr wrap="square" lIns="0" tIns="0" rIns="0" bIns="0" rtlCol="0" anchor="ctr"/>
          <a:lstStyle/>
          <a:p>
            <a:pPr indent="0" marL="0">
              <a:buNone/>
            </a:pPr>
            <a:r>
              <a:rPr lang="en-US" sz="1700" b="1" dirty="0">
                <a:solidFill>
                  <a:srgbClr val="1F3B57"/>
                </a:solidFill>
                <a:latin typeface="Calibri" pitchFamily="34" charset="0"/>
                <a:ea typeface="Calibri" pitchFamily="34" charset="-122"/>
                <a:cs typeface="Calibri" pitchFamily="34" charset="-120"/>
              </a:rPr>
              <a:t>Transversales — avec leurs preuves</a:t>
            </a:r>
            <a:endParaRPr lang="en-US" sz="1700" dirty="0"/>
          </a:p>
        </p:txBody>
      </p:sp>
      <p:sp>
        <p:nvSpPr>
          <p:cNvPr id="8" name="Text 6"/>
          <p:cNvSpPr txBox="1"/>
          <p:nvPr/>
        </p:nvSpPr>
        <p:spPr>
          <a:xfrm>
            <a:off x="6446520" y="2011680"/>
            <a:ext cx="4983480" cy="4206240"/>
          </a:xfrm>
          <a:prstGeom prst="rect">
            <a:avLst/>
          </a:prstGeom>
          <a:noFill/>
          <a:ln/>
        </p:spPr>
        <p:txBody>
          <a:bodyPr wrap="square" lIns="73152" tIns="0" rIns="73152" bIns="0" rtlCol="0" anchor="t"/>
          <a:lstStyle/>
          <a:p>
            <a:pPr marL="177800" indent="-177800">
              <a:lnSpc>
                <a:spcPct val="106000"/>
              </a:lnSpc>
              <a:spcAft>
                <a:spcPts val="900"/>
              </a:spcAft>
              <a:buSzPct val="100000"/>
              <a:buChar char="•"/>
              <a:defRPr sz="1700">
                <a:solidFill>
                  <a:srgbClr val="102A43"/>
                </a:solidFill>
                <a:latin typeface="Aptos"/>
              </a:defRPr>
            </a:pPr>
            <a:r>
              <a:t>• Autonomie : conduite du cadrage jusqu'à la livraison</a:t>
            </a:r>
            <a:endParaRPr lang="en-US" sz="1350" dirty="0"/>
          </a:p>
          <a:p>
            <a:pPr>
              <a:spcAft>
                <a:spcPts val="900"/>
              </a:spcAft>
              <a:defRPr sz="1700">
                <a:solidFill>
                  <a:srgbClr val="102A43"/>
                </a:solidFill>
                <a:latin typeface="Aptos"/>
              </a:defRPr>
            </a:pPr>
            <a:r>
              <a:t>• Rigueur : critères d'acceptation et preuves avant validation</a:t>
            </a:r>
          </a:p>
          <a:p>
            <a:pPr>
              <a:spcAft>
                <a:spcPts val="900"/>
              </a:spcAft>
              <a:defRPr sz="1700">
                <a:solidFill>
                  <a:srgbClr val="102A43"/>
                </a:solidFill>
                <a:latin typeface="Aptos"/>
              </a:defRPr>
            </a:pPr>
            <a:r>
              <a:t>• Esprit critique : résultats relus, faux positifs analysés</a:t>
            </a:r>
          </a:p>
          <a:p>
            <a:pPr>
              <a:spcAft>
                <a:spcPts val="900"/>
              </a:spcAft>
              <a:defRPr sz="1700">
                <a:solidFill>
                  <a:srgbClr val="102A43"/>
                </a:solidFill>
                <a:latin typeface="Aptos"/>
              </a:defRPr>
            </a:pPr>
            <a:r>
              <a:t>• Communication : démonstrations régulières et documentation</a:t>
            </a:r>
          </a:p>
          <a:p>
            <a:pPr>
              <a:spcAft>
                <a:spcPts val="900"/>
              </a:spcAft>
              <a:defRPr sz="1700">
                <a:solidFill>
                  <a:srgbClr val="102A43"/>
                </a:solidFill>
                <a:latin typeface="Aptos"/>
              </a:defRPr>
            </a:pPr>
            <a:r>
              <a:t>• Résilience : incidents journalisés et restauration testée</a:t>
            </a:r>
          </a:p>
        </p:txBody>
      </p:sp>
      <p:sp>
        <p:nvSpPr>
          <p:cNvPr id="10" name="Text 7"/>
          <p:cNvSpPr txBox="1"/>
          <p:nvPr/>
        </p:nvSpPr>
        <p:spPr>
          <a:xfrm>
            <a:off x="11503152" y="6382512"/>
            <a:ext cx="411480" cy="292608"/>
          </a:xfrm>
          <a:prstGeom prst="rect">
            <a:avLst/>
          </a:prstGeom>
          <a:noFill/>
          <a:ln/>
        </p:spPr>
        <p:txBody>
          <a:bodyPr wrap="square" lIns="0" tIns="0" rIns="0" bIns="0" rtlCol="0" anchor="ctr"/>
          <a:lstStyle/>
          <a:p>
            <a:pPr algn="r" indent="0" marL="0">
              <a:buNone/>
            </a:pPr>
            <a:r>
              <a:rPr lang="en-US" sz="1100" dirty="0">
                <a:solidFill>
                  <a:srgbClr val="5A6B7C"/>
                </a:solidFill>
                <a:latin typeface="Calibri" pitchFamily="34" charset="0"/>
                <a:ea typeface="Calibri" pitchFamily="34" charset="-122"/>
                <a:cs typeface="Calibri" pitchFamily="34" charset="-120"/>
              </a:rPr>
              <a:t>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F3B57"/>
        </a:solidFill>
      </p:bgPr>
    </p:bg>
    <p:spTree>
      <p:nvGrpSpPr>
        <p:cNvPr id="1" name=""/>
        <p:cNvGrpSpPr/>
        <p:nvPr/>
      </p:nvGrpSpPr>
      <p:grpSpPr>
        <a:xfrm>
          <a:off x="0" y="0"/>
          <a:ext cx="0" cy="0"/>
          <a:chOff x="0" y="0"/>
          <a:chExt cx="0" cy="0"/>
        </a:xfrm>
      </p:grpSpPr>
      <p:sp>
        <p:nvSpPr>
          <p:cNvPr id="2" name="Text 0"/>
          <p:cNvSpPr txBox="1"/>
          <p:nvPr/>
        </p:nvSpPr>
        <p:spPr>
          <a:xfrm>
            <a:off x="502920" y="292608"/>
            <a:ext cx="11183112" cy="685800"/>
          </a:xfrm>
          <a:prstGeom prst="rect">
            <a:avLst/>
          </a:prstGeom>
          <a:noFill/>
          <a:ln/>
        </p:spPr>
        <p:txBody>
          <a:bodyPr wrap="square" lIns="0" tIns="0" rIns="0" bIns="0" rtlCol="0" anchor="ctr"/>
          <a:lstStyle/>
          <a:p>
            <a:pPr indent="0" marL="0">
              <a:buNone/>
            </a:pPr>
            <a:r>
              <a:rPr lang="en-US" sz="3100" b="1" dirty="0">
                <a:solidFill>
                  <a:srgbClr val="FFFFFF"/>
                </a:solidFill>
                <a:latin typeface="Cambria" pitchFamily="34" charset="0"/>
                <a:ea typeface="Cambria" pitchFamily="34" charset="-122"/>
                <a:cs typeface="Cambria" pitchFamily="34" charset="-120"/>
              </a:rPr>
              <a:t>Conclusion</a:t>
            </a:r>
            <a:endParaRPr lang="en-US" sz="3100" dirty="0"/>
          </a:p>
        </p:txBody>
      </p:sp>
      <p:sp>
        <p:nvSpPr>
          <p:cNvPr id="3" name="Text 1"/>
          <p:cNvSpPr txBox="1"/>
          <p:nvPr/>
        </p:nvSpPr>
        <p:spPr>
          <a:xfrm>
            <a:off x="822960" y="1234440"/>
            <a:ext cx="10515600" cy="777240"/>
          </a:xfrm>
          <a:prstGeom prst="rect">
            <a:avLst/>
          </a:prstGeom>
          <a:noFill/>
          <a:ln/>
        </p:spPr>
        <p:txBody>
          <a:bodyPr wrap="square" lIns="0" tIns="0" rIns="0" bIns="0" rtlCol="0" anchor="ctr"/>
          <a:lstStyle/>
          <a:p>
            <a:pPr indent="0" marL="0">
              <a:lnSpc>
                <a:spcPct val="110000"/>
              </a:lnSpc>
              <a:buNone/>
            </a:pPr>
            <a:r>
              <a:rPr lang="en-US" sz="1900" b="1" dirty="0">
                <a:solidFill>
                  <a:srgbClr val="E3B341"/>
                </a:solidFill>
                <a:latin typeface="Calibri" pitchFamily="34" charset="0"/>
                <a:ea typeface="Calibri" pitchFamily="34" charset="-122"/>
                <a:cs typeface="Calibri" pitchFamily="34" charset="-120"/>
              </a:rPr>
              <a:t>Un MVP opérationnel, validé et démonstrable </a:t>
            </a:r>
            <a:pPr indent="0" marL="0">
              <a:lnSpc>
                <a:spcPct val="110000"/>
              </a:lnSpc>
              <a:buNone/>
            </a:pPr>
            <a:r>
              <a:rPr lang="en-US" sz="1900" dirty="0">
                <a:solidFill>
                  <a:srgbClr val="E3EBF2"/>
                </a:solidFill>
                <a:latin typeface="Calibri" pitchFamily="34" charset="0"/>
                <a:ea typeface="Calibri" pitchFamily="34" charset="-122"/>
                <a:cs typeface="Calibri" pitchFamily="34" charset="-120"/>
              </a:rPr>
              <a:t>— construit en deux mois, du proof of concept à l'automatisation quotidienne multicanale.</a:t>
            </a:r>
            <a:endParaRPr lang="en-US" sz="1900" dirty="0"/>
          </a:p>
        </p:txBody>
      </p:sp>
      <p:sp>
        <p:nvSpPr>
          <p:cNvPr id="4" name="Shape 2"/>
          <p:cNvSpPr/>
          <p:nvPr/>
        </p:nvSpPr>
        <p:spPr>
          <a:xfrm>
            <a:off x="822960" y="2240280"/>
            <a:ext cx="10515600" cy="1143000"/>
          </a:xfrm>
          <a:prstGeom prst="roundRect">
            <a:avLst>
              <a:gd name="adj" fmla="val 5600"/>
            </a:avLst>
          </a:prstGeom>
          <a:solidFill>
            <a:srgbClr val="27496B"/>
          </a:solidFill>
          <a:ln w="12700">
            <a:solidFill>
              <a:srgbClr val="27496B"/>
            </a:solidFill>
            <a:prstDash val="solid"/>
          </a:ln>
        </p:spPr>
      </p:sp>
      <p:sp>
        <p:nvSpPr>
          <p:cNvPr id="5" name="Text 3"/>
          <p:cNvSpPr txBox="1"/>
          <p:nvPr/>
        </p:nvSpPr>
        <p:spPr>
          <a:xfrm>
            <a:off x="822960" y="2240280"/>
            <a:ext cx="10515600" cy="1143000"/>
          </a:xfrm>
          <a:prstGeom prst="rect">
            <a:avLst/>
          </a:prstGeom>
          <a:noFill/>
          <a:ln/>
        </p:spPr>
        <p:txBody>
          <a:bodyPr wrap="square" lIns="0" tIns="0" rIns="0" bIns="0" rtlCol="0" anchor="ctr"/>
          <a:lstStyle/>
          <a:p>
            <a:pPr algn="ctr" indent="0" marL="0">
              <a:buNone/>
            </a:pPr>
            <a:r>
              <a:rPr lang="en-US" sz="2400" b="1" i="1" dirty="0">
                <a:solidFill>
                  <a:srgbClr val="FFFFFF"/>
                </a:solidFill>
                <a:latin typeface="Cambria" pitchFamily="34" charset="0"/>
                <a:ea typeface="Cambria" pitchFamily="34" charset="-122"/>
                <a:cs typeface="Cambria" pitchFamily="34" charset="-120"/>
              </a:rPr>
              <a:t>Le modèle raisonne. Le code vérifie. La base conserve la preuve.</a:t>
            </a:r>
            <a:endParaRPr lang="en-US" sz="2400" dirty="0"/>
          </a:p>
        </p:txBody>
      </p:sp>
      <p:sp>
        <p:nvSpPr>
          <p:cNvPr id="6" name="Text 4"/>
          <p:cNvSpPr txBox="1"/>
          <p:nvPr/>
        </p:nvSpPr>
        <p:spPr>
          <a:xfrm>
            <a:off x="822960" y="3749040"/>
            <a:ext cx="10515600" cy="411480"/>
          </a:xfrm>
          <a:prstGeom prst="rect">
            <a:avLst/>
          </a:prstGeom>
          <a:noFill/>
          <a:ln/>
        </p:spPr>
        <p:txBody>
          <a:bodyPr wrap="square" lIns="0" tIns="0" rIns="0" bIns="0" rtlCol="0" anchor="ctr"/>
          <a:lstStyle/>
          <a:p>
            <a:pPr indent="0" marL="0">
              <a:buNone/>
            </a:pPr>
            <a:r>
              <a:rPr lang="en-US" sz="1600" b="1" dirty="0">
                <a:solidFill>
                  <a:srgbClr val="E3B341"/>
                </a:solidFill>
                <a:latin typeface="Calibri" pitchFamily="34" charset="0"/>
                <a:ea typeface="Calibri" pitchFamily="34" charset="-122"/>
                <a:cs typeface="Calibri" pitchFamily="34" charset="-120"/>
              </a:rPr>
              <a:t>Apports livrés à One Tech</a:t>
            </a:r>
            <a:endParaRPr lang="en-US" sz="1600" dirty="0"/>
          </a:p>
        </p:txBody>
      </p:sp>
      <p:sp>
        <p:nvSpPr>
          <p:cNvPr id="7" name="Text 5"/>
          <p:cNvSpPr txBox="1"/>
          <p:nvPr/>
        </p:nvSpPr>
        <p:spPr>
          <a:xfrm>
            <a:off x="822960" y="4206240"/>
            <a:ext cx="10607040" cy="1463040"/>
          </a:xfrm>
          <a:prstGeom prst="rect">
            <a:avLst/>
          </a:prstGeom>
          <a:noFill/>
          <a:ln/>
        </p:spPr>
        <p:txBody>
          <a:bodyPr wrap="square" lIns="0" tIns="0" rIns="0" bIns="0" rtlCol="0" anchor="t"/>
          <a:lstStyle/>
          <a:p>
            <a:pPr>
              <a:spcAft>
                <a:spcPts val="700"/>
              </a:spcAft>
              <a:defRPr sz="1800">
                <a:solidFill>
                  <a:srgbClr val="FFFFFF"/>
                </a:solidFill>
                <a:latin typeface="Aptos"/>
              </a:defRPr>
            </a:pPr>
            <a:r>
              <a:t>• Veille HAICOP centralisée et corpus documentaire exploitable</a:t>
            </a:r>
          </a:p>
          <a:p>
            <a:pPr>
              <a:spcAft>
                <a:spcPts val="700"/>
              </a:spcAft>
              <a:defRPr sz="1800">
                <a:solidFill>
                  <a:srgbClr val="FFFFFF"/>
                </a:solidFill>
                <a:latin typeface="Aptos"/>
              </a:defRPr>
            </a:pPr>
            <a:r>
              <a:t>• Analyses Go/No-Go structurées, sourcées et contrôlées</a:t>
            </a:r>
          </a:p>
          <a:p>
            <a:pPr>
              <a:spcAft>
                <a:spcPts val="700"/>
              </a:spcAft>
              <a:defRPr sz="1800">
                <a:solidFill>
                  <a:srgbClr val="FFFFFF"/>
                </a:solidFill>
                <a:latin typeface="Aptos"/>
              </a:defRPr>
            </a:pPr>
            <a:r>
              <a:t>• Exécution quotidienne et diffusion multicanale traçables</a:t>
            </a:r>
          </a:p>
          <a:p>
            <a:pPr>
              <a:spcAft>
                <a:spcPts val="700"/>
              </a:spcAft>
              <a:defRPr sz="1800">
                <a:solidFill>
                  <a:srgbClr val="FFFFFF"/>
                </a:solidFill>
                <a:latin typeface="Aptos"/>
              </a:defRPr>
            </a:pPr>
            <a:r>
              <a:t>• Documentation, tests et procédures de reprise pour le transfert</a:t>
            </a:r>
          </a:p>
        </p:txBody>
      </p:sp>
      <p:sp>
        <p:nvSpPr>
          <p:cNvPr id="8" name="Text 6"/>
          <p:cNvSpPr txBox="1"/>
          <p:nvPr/>
        </p:nvSpPr>
        <p:spPr>
          <a:xfrm>
            <a:off x="822960" y="5989320"/>
            <a:ext cx="10515600" cy="50292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Merci de votre attention — place à vos questions.</a:t>
            </a:r>
            <a:endParaRPr lang="en-US" sz="2000" dirty="0"/>
          </a:p>
        </p:txBody>
      </p:sp>
      <p:sp>
        <p:nvSpPr>
          <p:cNvPr id="10" name="Text 7"/>
          <p:cNvSpPr txBox="1"/>
          <p:nvPr/>
        </p:nvSpPr>
        <p:spPr>
          <a:xfrm>
            <a:off x="11503152" y="6382512"/>
            <a:ext cx="411480" cy="292608"/>
          </a:xfrm>
          <a:prstGeom prst="rect">
            <a:avLst/>
          </a:prstGeom>
          <a:noFill/>
          <a:ln/>
        </p:spPr>
        <p:txBody>
          <a:bodyPr wrap="square" lIns="0" tIns="0" rIns="0" bIns="0" rtlCol="0" anchor="ctr"/>
          <a:lstStyle/>
          <a:p>
            <a:pPr algn="r" indent="0" marL="0">
              <a:buNone/>
            </a:pPr>
            <a:r>
              <a:rPr lang="en-US" sz="1100" dirty="0">
                <a:solidFill>
                  <a:srgbClr val="5A6B7C"/>
                </a:solidFill>
                <a:latin typeface="Calibri" pitchFamily="34" charset="0"/>
                <a:ea typeface="Calibri" pitchFamily="34" charset="-122"/>
                <a:cs typeface="Calibri" pitchFamily="34" charset="-120"/>
              </a:rPr>
              <a:t>16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OneTech Tender Agent — Soutenance de stage</dc:title>
  <dc:subject>PptxGenJS Presentation</dc:subject>
  <dc:creator>Khayem Ben Ghorbel</dc:creator>
  <cp:lastModifiedBy>Khayem Ben Ghorbel</cp:lastModifiedBy>
  <cp:revision>1</cp:revision>
  <dcterms:created xsi:type="dcterms:W3CDTF">2026-08-26T19:57:09Z</dcterms:created>
  <dcterms:modified xsi:type="dcterms:W3CDTF">2026-08-26T19:57:09Z</dcterms:modified>
</cp:coreProperties>
</file>