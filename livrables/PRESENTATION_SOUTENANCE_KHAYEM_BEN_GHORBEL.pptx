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de8199ddadc4231" Type="http://schemas.openxmlformats.org/officeDocument/2006/relationships/officeDocument" Target="ppt/presentation.xml"/><Relationship Id="R3d570fd7f190439d" Type="http://schemas.openxmlformats.org/officeDocument/2006/relationships/extended-properties" Target="docProps/app.xml"/><Relationship Id="R422a7c85cd40448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e47e1b1c67f8437d"/>
  </p:sldMasterIdLst>
  <p:notesMasterIdLst>
    <p:notesMasterId xmlns:r="http://schemas.openxmlformats.org/officeDocument/2006/relationships" r:id="Rc6e0364da7124ec4"/>
  </p:notesMasterIdLst>
  <p:sldIdLst>
    <p:sldId xmlns:r="http://schemas.openxmlformats.org/officeDocument/2006/relationships" id="256" r:id="R62310c663caf4d5b"/>
    <p:sldId xmlns:r="http://schemas.openxmlformats.org/officeDocument/2006/relationships" id="257" r:id="Rfa6fcdb123734185"/>
    <p:sldId xmlns:r="http://schemas.openxmlformats.org/officeDocument/2006/relationships" id="258" r:id="R6411892e822a4bfd"/>
    <p:sldId xmlns:r="http://schemas.openxmlformats.org/officeDocument/2006/relationships" id="259" r:id="R1cb3cffdea524d26"/>
    <p:sldId xmlns:r="http://schemas.openxmlformats.org/officeDocument/2006/relationships" id="260" r:id="R7c0015889c844649"/>
    <p:sldId xmlns:r="http://schemas.openxmlformats.org/officeDocument/2006/relationships" id="261" r:id="Re7358286353c4820"/>
    <p:sldId xmlns:r="http://schemas.openxmlformats.org/officeDocument/2006/relationships" id="262" r:id="R845e5ef4e5704227"/>
    <p:sldId xmlns:r="http://schemas.openxmlformats.org/officeDocument/2006/relationships" id="263" r:id="Rceaf44288a3544bd"/>
    <p:sldId xmlns:r="http://schemas.openxmlformats.org/officeDocument/2006/relationships" id="264" r:id="R54b9e5c1e6b34679"/>
    <p:sldId xmlns:r="http://schemas.openxmlformats.org/officeDocument/2006/relationships" id="265" r:id="R92606a108b67445e"/>
    <p:sldId xmlns:r="http://schemas.openxmlformats.org/officeDocument/2006/relationships" id="266" r:id="Rf80002b568324b45"/>
    <p:sldId xmlns:r="http://schemas.openxmlformats.org/officeDocument/2006/relationships" id="267" r:id="R3059822eb19a4902"/>
    <p:sldId xmlns:r="http://schemas.openxmlformats.org/officeDocument/2006/relationships" id="268" r:id="R89e750a19be94033"/>
    <p:sldId xmlns:r="http://schemas.openxmlformats.org/officeDocument/2006/relationships" id="269" r:id="R40240d29ad4545fd"/>
    <p:sldId xmlns:r="http://schemas.openxmlformats.org/officeDocument/2006/relationships" id="270" r:id="R7e3113670c7f4557"/>
    <p:sldId xmlns:r="http://schemas.openxmlformats.org/officeDocument/2006/relationships" id="271" r:id="Raf438c599b944d1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d295daa39614380" Type="http://schemas.openxmlformats.org/officeDocument/2006/relationships/theme" Target="theme/theme1.xml"/><Relationship Id="R1cb3cffdea524d26" Type="http://schemas.openxmlformats.org/officeDocument/2006/relationships/slide" Target="slides/slide4.xml"/><Relationship Id="R3059822eb19a4902" Type="http://schemas.openxmlformats.org/officeDocument/2006/relationships/slide" Target="slides/slide12.xml"/><Relationship Id="R40240d29ad4545fd" Type="http://schemas.openxmlformats.org/officeDocument/2006/relationships/slide" Target="slides/slide14.xml"/><Relationship Id="R54b9e5c1e6b34679" Type="http://schemas.openxmlformats.org/officeDocument/2006/relationships/slide" Target="slides/slide9.xml"/><Relationship Id="R62310c663caf4d5b" Type="http://schemas.openxmlformats.org/officeDocument/2006/relationships/slide" Target="slides/slide1.xml"/><Relationship Id="R6411892e822a4bfd" Type="http://schemas.openxmlformats.org/officeDocument/2006/relationships/slide" Target="slides/slide3.xml"/><Relationship Id="R7c0015889c844649" Type="http://schemas.openxmlformats.org/officeDocument/2006/relationships/slide" Target="slides/slide5.xml"/><Relationship Id="R7e3113670c7f4557" Type="http://schemas.openxmlformats.org/officeDocument/2006/relationships/slide" Target="slides/slide15.xml"/><Relationship Id="R845e5ef4e5704227" Type="http://schemas.openxmlformats.org/officeDocument/2006/relationships/slide" Target="slides/slide7.xml"/><Relationship Id="R89e750a19be94033" Type="http://schemas.openxmlformats.org/officeDocument/2006/relationships/slide" Target="slides/slide13.xml"/><Relationship Id="R92606a108b67445e" Type="http://schemas.openxmlformats.org/officeDocument/2006/relationships/slide" Target="slides/slide10.xml"/><Relationship Id="R92796e5c656645f4" Type="http://schemas.openxmlformats.org/officeDocument/2006/relationships/presProps" Target="presProps.xml"/><Relationship Id="Raf438c599b944d1f" Type="http://schemas.openxmlformats.org/officeDocument/2006/relationships/slide" Target="slides/slide16.xml"/><Relationship Id="Rc6e0364da7124ec4" Type="http://schemas.openxmlformats.org/officeDocument/2006/relationships/notesMaster" Target="notesMasters/notesMaster1.xml"/><Relationship Id="Rceaf44288a3544bd" Type="http://schemas.openxmlformats.org/officeDocument/2006/relationships/slide" Target="slides/slide8.xml"/><Relationship Id="Re09f3c7622fe46a3" Type="http://schemas.openxmlformats.org/officeDocument/2006/relationships/tableStyles" Target="tableStyles.xml"/><Relationship Id="Re47e1b1c67f8437d" Type="http://schemas.openxmlformats.org/officeDocument/2006/relationships/slideMaster" Target="slideMasters/slideMaster1.xml"/><Relationship Id="Re7358286353c4820" Type="http://schemas.openxmlformats.org/officeDocument/2006/relationships/slide" Target="slides/slide6.xml"/><Relationship Id="Rf80002b568324b45" Type="http://schemas.openxmlformats.org/officeDocument/2006/relationships/slide" Target="slides/slide11.xml"/><Relationship Id="Rfa6fcdb123734185"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e4f14649957047c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d67ea72c5134178" Type="http://schemas.openxmlformats.org/officeDocument/2006/relationships/slide" Target="../slides/slide1.xml"/><Relationship Id="Rce94dc20c67340c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ff926b2566f4e91" Type="http://schemas.openxmlformats.org/officeDocument/2006/relationships/notesMaster" Target="../notesMasters/notesMaster1.xml"/><Relationship Id="R92bce3ed6d414e7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43e4208e53eb4528" Type="http://schemas.openxmlformats.org/officeDocument/2006/relationships/notesMaster" Target="../notesMasters/notesMaster1.xml"/><Relationship Id="R49afd29b61844fc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dc9d26215914f77" Type="http://schemas.openxmlformats.org/officeDocument/2006/relationships/notesMaster" Target="../notesMasters/notesMaster1.xml"/><Relationship Id="Rdf25e953919d4f4f"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4be3195de0e43be" Type="http://schemas.openxmlformats.org/officeDocument/2006/relationships/notesMaster" Target="../notesMasters/notesMaster1.xml"/><Relationship Id="Recba7281ca3b494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95e866fe2f3470e" Type="http://schemas.openxmlformats.org/officeDocument/2006/relationships/notesMaster" Target="../notesMasters/notesMaster1.xml"/><Relationship Id="Rdd2b73ef15004f29"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7bc43da182574f2c" Type="http://schemas.openxmlformats.org/officeDocument/2006/relationships/notesMaster" Target="../notesMasters/notesMaster1.xml"/><Relationship Id="Rd81c13f179b443c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7302c46187d146d9" Type="http://schemas.openxmlformats.org/officeDocument/2006/relationships/notesMaster" Target="../notesMasters/notesMaster1.xml"/><Relationship Id="R9ca14ec4a9184956"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c79ff54c12204c36" Type="http://schemas.openxmlformats.org/officeDocument/2006/relationships/notesMaster" Target="../notesMasters/notesMaster1.xml"/><Relationship Id="Rf02c73036f384658"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8ec00b569814a8b" Type="http://schemas.openxmlformats.org/officeDocument/2006/relationships/slide" Target="../slides/slide10.xml"/><Relationship Id="Ra678f2c990c34bd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dea50dfe41df4d69" Type="http://schemas.openxmlformats.org/officeDocument/2006/relationships/notesMaster" Target="../notesMasters/notesMaster1.xml"/><Relationship Id="Re4482f340e884743"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b92c2b7cd0ea4864" Type="http://schemas.openxmlformats.org/officeDocument/2006/relationships/slide" Target="../slides/slide12.xml"/><Relationship Id="Rc10bdd75497f4d3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6b1502141d3440a9" Type="http://schemas.openxmlformats.org/officeDocument/2006/relationships/notesMaster" Target="../notesMasters/notesMaster1.xml"/><Relationship Id="Rbf964b82b25443f3"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97e0c4034c844fd9" Type="http://schemas.openxmlformats.org/officeDocument/2006/relationships/slide" Target="../slides/slide14.xml"/><Relationship Id="Rd6516e76b4ed4c20"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ace245abb35c4880" Type="http://schemas.openxmlformats.org/officeDocument/2006/relationships/slide" Target="../slides/slide15.xml"/><Relationship Id="Rb92fae1e33594079"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a5992e2b9c3f42b0" Type="http://schemas.openxmlformats.org/officeDocument/2006/relationships/notesMaster" Target="../notesMasters/notesMaster1.xml"/><Relationship Id="Rad10a8cc85774d8a" Type="http://schemas.openxmlformats.org/officeDocument/2006/relationships/slide" Target="../slides/slide16.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Bonjour. Mon stage s’est déroulé chez One Tech Business Solutions du 26 juin au 26 août 2026. Le sujet était de construire un système IA agentique pour la gestion des appels d’offres publics. La promesse du prototype tient en une phrase : partir d’une source publique et de documents hétérogènes, produire une recommandation Go / No-Go argumentée, puis la diffuser sans perdre la traçabilité ni le contrôle humain. Cette présentation suit le chemin réel du système : collecte, compréhension documentaire, analyse, orchestration et validation.</a:t>
            </a:r>
          </a:p>
          <a:p xmlns:a="http://schemas.openxmlformats.org/drawingml/2006/main">
            <a:r>
              <a:t/>
            </a:r>
          </a:p>
          <a:p xmlns:a="http://schemas.openxmlformats.org/drawingml/2006/main">
            <a:r>
              <a:t>[Sources]</a:t>
            </a:r>
          </a:p>
          <a:p xmlns:a="http://schemas.openxmlformats.org/drawingml/2006/main">
            <a:r>
              <a:t>- Dépôt OneTech Tender Agent : README.md et docs/HANDOFF_CHATGPT_CLAUDE_RAPPORT_PRESENTATION_2026-08-26.md (audit local, 26 août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projet ne se résume pas à une interface de conversation. Il se trouve à l’intersection de trois contraintes. D’abord, les données publiques sont hétérogènes et parfois incomplètes. Ensuite, les pièces de consultation arrivent dans plusieurs formats, dont des PDF scannés et des fichiers bureautiques anciens. Enfin, la sortie doit rester exploitable par un décideur : chaque recommandation doit être reliée aux faits collectés et aux extraits documentaires. Mon travail a donc couvert toute la chaîne technique, depuis l’acquisition jusqu’à la diffusion contrôlée.</a:t>
            </a:r>
          </a:p>
          <a:p xmlns:a="http://schemas.openxmlformats.org/drawingml/2006/main">
            <a:r>
              <a:t/>
            </a:r>
          </a:p>
          <a:p xmlns:a="http://schemas.openxmlformats.org/drawingml/2006/main">
            <a:r>
              <a:t>[Sources]</a:t>
            </a:r>
          </a:p>
          <a:p xmlns:a="http://schemas.openxmlformats.org/drawingml/2006/main">
            <a:r>
              <a:t>- Dépôt OneTech Tender Agent : config/, database/, src/onetech_ao/, automation/, docs/OPERATIONS.md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J’ai formulé la problématique autour de la preuve. Un résumé fluide mais non vérifiable ne suffit pas dans un contexte d’appel d’offres. Le système doit d’abord détecter, ensuite comprendre les documents, puis arbitrer selon une grille explicite et enfin diffuser le résultat de façon contrôlée. La question directrice est donc : comment automatiser l’analyse sans déléguer la décision ? La réponse retenue combine une base relationnelle comme source de vérité, un contexte sémantique figé par empreinte, une sortie IA structurée et une validation humaine obligatoire.</a:t>
            </a:r>
          </a:p>
          <a:p xmlns:a="http://schemas.openxmlformats.org/drawingml/2006/main">
            <a:r>
              <a:t/>
            </a:r>
          </a:p>
          <a:p xmlns:a="http://schemas.openxmlformats.org/drawingml/2006/main">
            <a:r>
              <a:t>[Sources]</a:t>
            </a:r>
          </a:p>
          <a:p xmlns:a="http://schemas.openxmlformats.org/drawingml/2006/main">
            <a:r>
              <a:t>- Dépôt OneTech Tender Agent : src/onetech_ao/analysis.py, automation.py, documents.py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démarche a été incrémentale. J’ai commencé par le cadrage de la source publique et du schéma de données. Le risque principal s’est ensuite déplacé vers l’acquisition et la lecture fiable des pièces. Une fois ces faits stabilisés, j’ai ajouté l’analyse Go / No-Go et ses garde-fous. L’automatisation n’est arrivée qu’après : planification n8n, digest et registre de diffusion. Enfin, j’ai consolidé l’interopérabilité MCP, l’interaction Telegram, les tests et la documentation de passation. Cet ordre évite qu’un agent sophistiqué repose sur des données fragiles.</a:t>
            </a:r>
          </a:p>
          <a:p xmlns:a="http://schemas.openxmlformats.org/drawingml/2006/main">
            <a:r>
              <a:t/>
            </a:r>
          </a:p>
          <a:p xmlns:a="http://schemas.openxmlformats.org/drawingml/2006/main">
            <a:r>
              <a:t>[Sources]</a:t>
            </a:r>
          </a:p>
          <a:p xmlns:a="http://schemas.openxmlformats.org/drawingml/2006/main">
            <a:r>
              <a:t>- Dépôt OneTech Tender Agent : historique Git (25 commits) et handoff technique daté du 26 août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 diagramme clarifie les responsabilités. Le décideur consulte les appels d’offres, demande une analyse et conserve la validation finale. L’automate n8n déclenche les traitements bornés et la diffusion. HAICOP reste une source publique externe ; le système ne contourne aucun espace authentifié. À l’intérieur de la frontière applicative, les cas d’utilisation essentiels sont la collecte, la lecture des pièces, la consultation, l’analyse et le digest. Cette séparation est importante : le canal d’accès ne modifie pas la logique de décision.</a:t>
            </a:r>
          </a:p>
          <a:p xmlns:a="http://schemas.openxmlformats.org/drawingml/2006/main">
            <a:r>
              <a:t/>
            </a:r>
          </a:p>
          <a:p xmlns:a="http://schemas.openxmlformats.org/drawingml/2006/main">
            <a:r>
              <a:t>[Sources]</a:t>
            </a:r>
          </a:p>
          <a:p xmlns:a="http://schemas.openxmlformats.org/drawingml/2006/main">
            <a:r>
              <a:t>- Dépôt OneTech Tender Agent : src/onetech_ao/mcp_server.py, automation.py, worker.py et workflows n8n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L’architecture suit un flux simple mais rigoureux. Le collecteur interroge uniquement la source publique autorisée. Le processeur documentaire télécharge des fichiers bornés, vérifie leur signature, extrait le texte ou lance l’OCR. PostgreSQL conserve les faits, les documents, les empreintes et les analyses. L’agent OpenClaw raisonne sur un contexte préparé et figé, puis n8n orchestre l’exécution et les canaux. La base de données sert de source de vérité ; le modèle n’est jamais la mémoire transactionnelle du système. Les frontières de confiance séparent le réseau public, les services locaux, les secrets et la décision humaine.</a:t>
            </a:r>
          </a:p>
          <a:p xmlns:a="http://schemas.openxmlformats.org/drawingml/2006/main">
            <a:r>
              <a:t/>
            </a:r>
          </a:p>
          <a:p xmlns:a="http://schemas.openxmlformats.org/drawingml/2006/main">
            <a:r>
              <a:t>[Sources]</a:t>
            </a:r>
          </a:p>
          <a:p xmlns:a="http://schemas.openxmlformats.org/drawingml/2006/main">
            <a:r>
              <a:t>- Dépôt OneTech Tender Agent : docker-compose.yml, src/onetech_ao/collector.py, documents.py, analysis.py, worker.py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traçabilité est portée par le modèle de données. Un appel d’offres possède ses faits source et plusieurs documents. Les documents stockent leur URL, leur type détecté, leur empreinte et l’état d’extraction. L’analyse n’est pas écrasée dans la table des faits : elle possède un instantané de contexte et une empreinte propre. La diffusion est enregistrée par canal et destinataire. Les contraintes d’unicité permettent de rejouer une collecte ou une exécution sans créer de doublons. Cette structure rend les sorties auditables et limite les réanalyses lorsque le contexte n’a pas changé.</a:t>
            </a:r>
          </a:p>
          <a:p xmlns:a="http://schemas.openxmlformats.org/drawingml/2006/main">
            <a:r>
              <a:t/>
            </a:r>
          </a:p>
          <a:p xmlns:a="http://schemas.openxmlformats.org/drawingml/2006/main">
            <a:r>
              <a:t>[Sources]</a:t>
            </a:r>
          </a:p>
          <a:p xmlns:a="http://schemas.openxmlformats.org/drawingml/2006/main">
            <a:r>
              <a:t>- Dépôt OneTech Tender Agent : migrations 001, 003, 004, 005, 006 et 007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pipeline documentaire est l’un des apports techniques majeurs. Avant tout téléchargement, le système vérifie l’hôte, le chemin et le protocole. La taille, les délais, le nombre de pages et les archives sont bornés. Le type réel du fichier est déterminé par sa signature, pas uniquement par son extension. Les PDF utilisent d’abord l’extraction native ; l’OCR ne traite que les pages sans texte. Les fichiers bureautiques anciens sont convertis dans un processus isolé. Chaque pièce reçoit une empreinte SHA-256 et un statut persistant. Le corpus vérifié contient 152 pièces, toutes présentes, hachées et extraites.</a:t>
            </a:r>
          </a:p>
          <a:p xmlns:a="http://schemas.openxmlformats.org/drawingml/2006/main">
            <a:r>
              <a:t/>
            </a:r>
          </a:p>
          <a:p xmlns:a="http://schemas.openxmlformats.org/drawingml/2006/main">
            <a:r>
              <a:t>[Sources]</a:t>
            </a:r>
          </a:p>
          <a:p xmlns:a="http://schemas.openxmlformats.org/drawingml/2006/main">
            <a:r>
              <a:t>- Dépôt OneTech Tender Agent : src/onetech_ao/documents.py et tables documentaires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L’analyse utilise une grille de quatre dimensions, chacune notée sur vingt-cinq points : adéquation, délai, administratif et risque. L’agent doit produire neuf sections, les quatre scores, une décision, des preuves et des réserves. Mais la sortie du modèle n’est pas acceptée telle quelle. Le code vérifie la présence des sections, la somme des scores, la cohérence avec les seuils et l’empreinte du contexte. Un contexte partiel ne peut jamais conduire à un GO définitif. L’analyse validée est ensuite persistée avec l’instantané exact qui l’a produite.</a:t>
            </a:r>
          </a:p>
          <a:p xmlns:a="http://schemas.openxmlformats.org/drawingml/2006/main">
            <a:r>
              <a:t/>
            </a:r>
          </a:p>
          <a:p xmlns:a="http://schemas.openxmlformats.org/drawingml/2006/main">
            <a:r>
              <a:t>[Sources]</a:t>
            </a:r>
          </a:p>
          <a:p xmlns:a="http://schemas.openxmlformats.org/drawingml/2006/main">
            <a:r>
              <a:t>- Dépôt OneTech Tender Agent : src/onetech_ao/analysis.py et migration 004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Voici la séquence quotidienne. Le workflow n8n déclenche le worker à huit heures les jours ouvrés. Le worker appelle le collecteur, qui récupère un volume borné de consultations et journalise chaque exécution. Les pièces sont traitées dans une limite séparée. Pour chaque candidat pertinent, PostgreSQL construit le contexte et son empreinte. Si l’empreinte n’a pas changé, le système évite une analyse inutile. Sinon, l’agent produit la fiche structurée. Enfin, le registre de diffusion réserve la combinaison canal-destinataire avant l’envoi, ce qui protège les rejoués contre les doublons.</a:t>
            </a:r>
          </a:p>
          <a:p xmlns:a="http://schemas.openxmlformats.org/drawingml/2006/main">
            <a:r>
              <a:t/>
            </a:r>
          </a:p>
          <a:p xmlns:a="http://schemas.openxmlformats.org/drawingml/2006/main">
            <a:r>
              <a:t>[Sources]</a:t>
            </a:r>
          </a:p>
          <a:p xmlns:a="http://schemas.openxmlformats.org/drawingml/2006/main">
            <a:r>
              <a:t>- Dépôt OneTech Tender Agent : config/automation.json, automation.py, worker.py et workflow daily n8n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canal Telegram a un périmètre volontairement fermé. Le poller n’accepte que le groupe configuré et seulement une mention, une commande ou une réponse au bot. Les messages privés, les messages de bots et le bruit du groupe sont ignorés. L’identifiant de mise à jour et le message sont enregistrés pour l’idempotence, mais le contenu du message n’est pas conservé. Le worker envoie ensuite un prompt fixe à OpenClaw, reçoit la réponse et la segmente selon la limite Telegram. En cas d’incertitude après un envoi, il n’effectue pas de renvoi automatique aveugle.</a:t>
            </a:r>
          </a:p>
          <a:p xmlns:a="http://schemas.openxmlformats.org/drawingml/2006/main">
            <a:r>
              <a:t/>
            </a:r>
          </a:p>
          <a:p xmlns:a="http://schemas.openxmlformats.org/drawingml/2006/main">
            <a:r>
              <a:t>[Sources]</a:t>
            </a:r>
          </a:p>
          <a:p xmlns:a="http://schemas.openxmlformats.org/drawingml/2006/main">
            <a:r>
              <a:t>- Dépôt OneTech Tender Agent : src/onetech_ao/telegram.py, worker.py et migration 007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 fournit l’interface entre l’agent et le domaine métier. Le serveur expose exactement cinq outils : collecter, lister, obtenir un appel d’offres, préparer ou relire une analyse, et générer un digest. Les outils ont des entrées et sorties bornées, des enveloppes JSON déterministes et des erreurs masquées. Ils n’embarquent pas la stratégie conversationnelle. L’agent choisit l’outil et compose la réponse, tandis que chaque outil reste étroit et testable. Cette séparation réduit l’exposition de la base et rend l’intégration réutilisable par différents clients compatibles MCP.</a:t>
            </a:r>
          </a:p>
          <a:p xmlns:a="http://schemas.openxmlformats.org/drawingml/2006/main">
            <a:r>
              <a:t/>
            </a:r>
          </a:p>
          <a:p xmlns:a="http://schemas.openxmlformats.org/drawingml/2006/main">
            <a:r>
              <a:t>[Sources]</a:t>
            </a:r>
          </a:p>
          <a:p xmlns:a="http://schemas.openxmlformats.org/drawingml/2006/main">
            <a:r>
              <a:t>- Dépôt OneTech Tender Agent : src/onetech_ao/mcp_server.py</a:t>
            </a:r>
          </a:p>
          <a:p xmlns:a="http://schemas.openxmlformats.org/drawingml/2006/main">
            <a:r>
              <a:t>- Model Context Protocol specification : https://modelcontextprotocol.io/specification/2025-06-18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Les résultats sont mesurés à deux niveaux. Sur les données, le système contient cent appels d’offres et cent cinquante-deux pièces, toutes présentes, hachées et extraites, sans doublons de consultations ou de documents. Sur la qualité logicielle, j’ai relancé aujourd’hui la suite disponible sans Docker : soixante-deux tests sur soixante-deux passent, avec cinq tests d’intégration désélectionnés. La validation full-stack documentée dans le dépôt reste de soixante-sept tests Python et six tests SQL. Les cinq outils MCP sont présents et les trois canaux de diffusion ont été validés.</a:t>
            </a:r>
          </a:p>
          <a:p xmlns:a="http://schemas.openxmlformats.org/drawingml/2006/main">
            <a:r>
              <a:t/>
            </a:r>
          </a:p>
          <a:p xmlns:a="http://schemas.openxmlformats.org/drawingml/2006/main">
            <a:r>
              <a:t>[Sources]</a:t>
            </a:r>
          </a:p>
          <a:p xmlns:a="http://schemas.openxmlformats.org/drawingml/2006/main">
            <a:r>
              <a:t>- Exécution locale du 26 août 2026 : pytest -m 'not integration and not network' → 62 passed, 5 deselected</a:t>
            </a:r>
          </a:p>
          <a:p xmlns:a="http://schemas.openxmlformats.org/drawingml/2006/main">
            <a:r>
              <a:t>- Dépôt OneTech Tender Agent : handoff de validation full-stack, base de données et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robustesse n’est pas confiée à un seul composant. Les entrées réseau et les fichiers sont validés avant traitement. Les écritures passent par des transactions et des upserts ; les conversions externes utilisent des délais et aucun shell. Pour l’IA, le contexte est figé et les scores sont recalculés par le code. Les secrets restent en variables d’environnement et sont masqués dans les diagnostics. Enfin, le registre de diffusion empêche les doublons. La règle de gouvernance reste constante : le système recommande et documente ; un humain décide.</a:t>
            </a:r>
          </a:p>
          <a:p xmlns:a="http://schemas.openxmlformats.org/drawingml/2006/main">
            <a:r>
              <a:t/>
            </a:r>
          </a:p>
          <a:p xmlns:a="http://schemas.openxmlformats.org/drawingml/2006/main">
            <a:r>
              <a:t>[Sources]</a:t>
            </a:r>
          </a:p>
          <a:p xmlns:a="http://schemas.openxmlformats.org/drawingml/2006/main">
            <a:r>
              <a:t>- Dépôt OneTech Tender Agent : config.py, haicop.py, documents.py, analysis.py, automation.py, worker.py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Pour la démonstration, deux analyses enregistrées sont particulièrement parlantes. Le dossier 103283 obtient vingt-quatre sur cent et le dossier 103307 trente-six sur cent ; les deux sont classés NO_GO avec une fiche argumentée. L’intérêt n’est pas d’obtenir artificiellement un GO, mais de montrer que le système sait refuser et expliciter ses raisons. Je rejoue ensuite une étape pour montrer l’idempotence : les mêmes consultations, pièces, contextes et livraisons ne produisent pas de doublons. La démonstration reste centrée sur les preuves déjà présentes dans le dépôt.</a:t>
            </a:r>
          </a:p>
          <a:p xmlns:a="http://schemas.openxmlformats.org/drawingml/2006/main">
            <a:r>
              <a:t/>
            </a:r>
          </a:p>
          <a:p xmlns:a="http://schemas.openxmlformats.org/drawingml/2006/main">
            <a:r>
              <a:t>[Sources]</a:t>
            </a:r>
          </a:p>
          <a:p xmlns:a="http://schemas.openxmlformats.org/drawingml/2006/main">
            <a:r>
              <a:t>- Dépôt OneTech Tender Agent : analyses persistées et fiches Tender-103283 / Tender-103307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Pour conclure, j’ai livré un MVP opérationnel, validé et démontrable. Son intérêt principal n’est pas de remplacer l’expertise métier, mais de transformer un volume de données et de documents en une recommandation structurée, vérifiable et rejouable. Le projet m’a permis de progresser en data engineering, en fiabilité logicielle, en intégration de systèmes et en gouvernance de l’IA. Le message que je retiens est simple : dans un processus de décision, un agent utile n’est pas seulement intelligent ; il est traçable. Je peux maintenant passer aux questions ou ouvrir la démonstration technique.</a:t>
            </a:r>
          </a:p>
          <a:p xmlns:a="http://schemas.openxmlformats.org/drawingml/2006/main">
            <a:r>
              <a:t/>
            </a:r>
          </a:p>
          <a:p xmlns:a="http://schemas.openxmlformats.org/drawingml/2006/main">
            <a:r>
              <a:t>[Sources]</a:t>
            </a:r>
          </a:p>
          <a:p xmlns:a="http://schemas.openxmlformats.org/drawingml/2006/main">
            <a:r>
              <a:t>- Dépôt OneTech Tender Agent : synthèse de l’audit technique et résultats de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9ec6e7465cd4f3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cd20ba2443f146e4" Type="http://schemas.openxmlformats.org/officeDocument/2006/relationships/theme" Target="theme/theme2.xml"/><Relationship Id="Rf58496d4be5f4f2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8496d4be5f4f2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39b7fb6fbc04ff6" Type="http://schemas.openxmlformats.org/officeDocument/2006/relationships/slideLayout" Target="../slideLayouts/slideLayout1.xml"/><Relationship Id="R945b8b50f9b84d1c"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c5b55d59fd784285" Type="http://schemas.openxmlformats.org/officeDocument/2006/relationships/notesSlide" Target="../notesSlides/notesSlide2.xml"/><Relationship Id="Rc625ffce8c9843b6"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1607b6507a4d4d0f" Type="http://schemas.openxmlformats.org/officeDocument/2006/relationships/slideLayout" Target="../slideLayouts/slideLayout1.xml"/><Relationship Id="R6fe28ce5381c4e5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99b2489d974f4bc1" Type="http://schemas.openxmlformats.org/officeDocument/2006/relationships/slideLayout" Target="../slideLayouts/slideLayout1.xml"/><Relationship Id="R9b05b2bc9cbf454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667da632e9f4e92" Type="http://schemas.openxmlformats.org/officeDocument/2006/relationships/slideLayout" Target="../slideLayouts/slideLayout1.xml"/><Relationship Id="R837ea5f21fc64ca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5a423af88bf64291" Type="http://schemas.openxmlformats.org/officeDocument/2006/relationships/slideLayout" Target="../slideLayouts/slideLayout1.xml"/><Relationship Id="Rcd48beca0e4844c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ba07b7cbb34a42ee" Type="http://schemas.openxmlformats.org/officeDocument/2006/relationships/slideLayout" Target="../slideLayouts/slideLayout1.xml"/><Relationship Id="Rf955d0136aba489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aa80e64150cd4ca0" Type="http://schemas.openxmlformats.org/officeDocument/2006/relationships/slideLayout" Target="../slideLayouts/slideLayout1.xml"/><Relationship Id="Rf536d490fa984c6e"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223592fa1ec44869" Type="http://schemas.openxmlformats.org/officeDocument/2006/relationships/notesSlide" Target="../notesSlides/notesSlide9.xml"/><Relationship Id="R8a144e4ff04c434e"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00d234faa6724d8c" Type="http://schemas.openxmlformats.org/officeDocument/2006/relationships/notesSlide" Target="../notesSlides/notesSlide10.xml"/><Relationship Id="R4e4e4bf8c7214a94"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e3a6ceb4e0b34213" Type="http://schemas.openxmlformats.org/officeDocument/2006/relationships/slideLayout" Target="../slideLayouts/slideLayout1.xml"/><Relationship Id="Rf7ee895b122c47b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2643a1da20d944a7" Type="http://schemas.openxmlformats.org/officeDocument/2006/relationships/slideLayout" Target="../slideLayouts/slideLayout1.xml"/><Relationship Id="Re10827729e084a3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342fc24347bd41b8" Type="http://schemas.openxmlformats.org/officeDocument/2006/relationships/notesSlide" Target="../notesSlides/notesSlide13.xml"/><Relationship Id="Rb19c3e59089c4320"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201f38c181114013" Type="http://schemas.openxmlformats.org/officeDocument/2006/relationships/notesSlide" Target="../notesSlides/notesSlide14.xml"/><Relationship Id="Reb3fe54312e143a4"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d8a9a6aac33a48e3" Type="http://schemas.openxmlformats.org/officeDocument/2006/relationships/slideLayout" Target="../slideLayouts/slideLayout1.xml"/><Relationship Id="Red2c2dac73f44e1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72789bb198744496" Type="http://schemas.openxmlformats.org/officeDocument/2006/relationships/notesSlide" Target="../notesSlides/notesSlide16.xml"/><Relationship Id="R8e68b16238dc4e77" Type="http://schemas.openxmlformats.org/officeDocument/2006/relationships/slideLayout" Target="../slideLayouts/slideLayout1.xml"/></Relationships>
</file>

<file path=ppt/slides/slide1.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1486A83-ADFB-48F2-A47D-4F3FD10B2C1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oundRect">
            <a:avLst>
              <a:gd name="adj" fmla="val 0"/>
            </a:avLst>
          </a:prstGeom>
          <a:solidFill xmlns:a="http://schemas.openxmlformats.org/drawingml/2006/main">
            <a:srgbClr val="2FB9DB"/>
          </a:solidFill>
          <a:ln xmlns:a="http://schemas.openxmlformats.org/drawingml/2006/main" w="0">
            <a:solidFill>
              <a:srgbClr val="2FB9DB"/>
            </a:solidFill>
            <a:prstDash val="solid"/>
          </a:ln>
        </p:spPr>
      </p:sp>
      <p:sp>
        <p:nvSpPr>
          <p:cNvPr id="2" name="">
            <a:extLst xmlns:a="http://schemas.openxmlformats.org/drawingml/2006/main">
              <a:ext uri="{FF2B5EF4-FFF2-40B4-BE49-F238E27FC236}">
                <a16:creationId xmlns:a16="http://schemas.microsoft.com/office/drawing/2014/main" id="{021B28AB-07B2-4D5C-9232-724B1E33AA10}"/>
              </a:ext>
            </a:extLst>
          </p:cNvPr>
          <p:cNvSpPr>
            <a:spLocks xmlns:a="http://schemas.openxmlformats.org/drawingml/2006/main" noGrp="1"/>
          </p:cNvSpPr>
          <p:nvPr/>
        </p:nvSpPr>
        <p:spPr>
          <a:xfrm xmlns:a="http://schemas.openxmlformats.org/drawingml/2006/main">
            <a:off x="609600" y="514350"/>
            <a:ext cx="552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PROJET DE FIN DE STAGE · 2026</a:t>
            </a:r>
          </a:p>
        </p:txBody>
      </p:sp>
      <p:sp>
        <p:nvSpPr>
          <p:cNvPr id="3" name="">
            <a:extLst xmlns:a="http://schemas.openxmlformats.org/drawingml/2006/main">
              <a:ext uri="{FF2B5EF4-FFF2-40B4-BE49-F238E27FC236}">
                <a16:creationId xmlns:a16="http://schemas.microsoft.com/office/drawing/2014/main" id="{DB5228DE-C1A4-4A02-8626-A98F9DF1168D}"/>
              </a:ext>
            </a:extLst>
          </p:cNvPr>
          <p:cNvSpPr>
            <a:spLocks xmlns:a="http://schemas.openxmlformats.org/drawingml/2006/main" noGrp="1"/>
          </p:cNvSpPr>
          <p:nvPr/>
        </p:nvSpPr>
        <p:spPr>
          <a:xfrm xmlns:a="http://schemas.openxmlformats.org/drawingml/2006/main">
            <a:off x="590550" y="1485900"/>
            <a:ext cx="6858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100" b="1" i="0">
                <a:solidFill>
                  <a:srgbClr val="FFFFFF"/>
                </a:solidFill>
                <a:latin typeface="Aptos"/>
                <a:ea typeface="Aptos"/>
                <a:cs typeface="Aptos"/>
              </a:defRPr>
            </a:pPr>
            <a:r>
              <a:rPr sz="5100" b="1" i="0">
                <a:solidFill>
                  <a:srgbClr val="FFFFFF"/>
                </a:solidFill>
                <a:latin typeface="Aptos"/>
                <a:ea typeface="Aptos"/>
                <a:cs typeface="Aptos"/>
              </a:rPr>
              <a:t>OneTech</a:t>
            </a:r>
          </a:p>
          <a:p xmlns:a="http://schemas.openxmlformats.org/drawingml/2006/main">
            <a:pPr algn="l">
              <a:defRPr sz="5100" b="1" i="0">
                <a:solidFill>
                  <a:srgbClr val="FFFFFF"/>
                </a:solidFill>
                <a:latin typeface="Aptos"/>
                <a:ea typeface="Aptos"/>
                <a:cs typeface="Aptos"/>
              </a:defRPr>
            </a:pPr>
            <a:r>
              <a:rPr sz="5100" b="1" i="0">
                <a:solidFill>
                  <a:srgbClr val="FFFFFF"/>
                </a:solidFill>
                <a:latin typeface="Aptos"/>
                <a:ea typeface="Aptos"/>
                <a:cs typeface="Aptos"/>
              </a:rPr>
              <a:t>Tender Agent</a:t>
            </a:r>
          </a:p>
        </p:txBody>
      </p:sp>
      <p:sp>
        <p:nvSpPr>
          <p:cNvPr id="4" name="">
            <a:extLst xmlns:a="http://schemas.openxmlformats.org/drawingml/2006/main">
              <a:ext uri="{FF2B5EF4-FFF2-40B4-BE49-F238E27FC236}">
                <a16:creationId xmlns:a16="http://schemas.microsoft.com/office/drawing/2014/main" id="{F4C9CDF6-A346-4BB2-B364-C636FAA4B0D2}"/>
              </a:ext>
            </a:extLst>
          </p:cNvPr>
          <p:cNvSpPr>
            <a:spLocks xmlns:a="http://schemas.openxmlformats.org/drawingml/2006/main" noGrp="1"/>
          </p:cNvSpPr>
          <p:nvPr/>
        </p:nvSpPr>
        <p:spPr>
          <a:xfrm xmlns:a="http://schemas.openxmlformats.org/drawingml/2006/main">
            <a:off x="628650" y="3810000"/>
            <a:ext cx="6858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0" i="0">
                <a:solidFill>
                  <a:srgbClr val="D6E7F6"/>
                </a:solidFill>
                <a:latin typeface="Aptos"/>
                <a:ea typeface="Aptos"/>
                <a:cs typeface="Aptos"/>
              </a:defRPr>
            </a:pPr>
            <a:r>
              <a:rPr sz="2025" b="0" i="0">
                <a:solidFill>
                  <a:srgbClr val="D6E7F6"/>
                </a:solidFill>
                <a:latin typeface="Aptos"/>
                <a:ea typeface="Aptos"/>
                <a:cs typeface="Aptos"/>
              </a:rPr>
              <a:t>Un système IA agentique traçable pour transformer des appels d’offres publics en décisions Go / No-Go argumentées.</a:t>
            </a:r>
          </a:p>
        </p:txBody>
      </p:sp>
      <p:sp>
        <p:nvSpPr>
          <p:cNvPr id="5" name="">
            <a:extLst xmlns:a="http://schemas.openxmlformats.org/drawingml/2006/main">
              <a:ext uri="{FF2B5EF4-FFF2-40B4-BE49-F238E27FC236}">
                <a16:creationId xmlns:a16="http://schemas.microsoft.com/office/drawing/2014/main" id="{264187C9-1C65-435F-AF6F-9389A911A920}"/>
              </a:ext>
            </a:extLst>
          </p:cNvPr>
          <p:cNvSpPr>
            <a:spLocks xmlns:a="http://schemas.openxmlformats.org/drawingml/2006/main" noGrp="1"/>
          </p:cNvSpPr>
          <p:nvPr/>
        </p:nvSpPr>
        <p:spPr>
          <a:xfrm xmlns:a="http://schemas.openxmlformats.org/drawingml/2006/main">
            <a:off x="8382000" y="1028700"/>
            <a:ext cx="2667000" cy="4572000"/>
          </a:xfrm>
          <a:prstGeom xmlns:a="http://schemas.openxmlformats.org/drawingml/2006/main" prst="roundRect">
            <a:avLst>
              <a:gd name="adj" fmla="val 5714"/>
            </a:avLst>
          </a:prstGeom>
          <a:solidFill xmlns:a="http://schemas.openxmlformats.org/drawingml/2006/main">
            <a:srgbClr val="123968"/>
          </a:solidFill>
          <a:ln xmlns:a="http://schemas.openxmlformats.org/drawingml/2006/main" w="9525">
            <a:solidFill>
              <a:srgbClr val="31557A"/>
            </a:solidFill>
            <a:prstDash val="solid"/>
          </a:ln>
        </p:spPr>
      </p:sp>
      <p:sp>
        <p:nvSpPr>
          <p:cNvPr id="6" name="">
            <a:extLst xmlns:a="http://schemas.openxmlformats.org/drawingml/2006/main">
              <a:ext uri="{FF2B5EF4-FFF2-40B4-BE49-F238E27FC236}">
                <a16:creationId xmlns:a16="http://schemas.microsoft.com/office/drawing/2014/main" id="{3A87868D-D6E6-4F7D-94B1-55FC5873534D}"/>
              </a:ext>
            </a:extLst>
          </p:cNvPr>
          <p:cNvSpPr>
            <a:spLocks xmlns:a="http://schemas.openxmlformats.org/drawingml/2006/main" noGrp="1"/>
          </p:cNvSpPr>
          <p:nvPr/>
        </p:nvSpPr>
        <p:spPr>
          <a:xfrm xmlns:a="http://schemas.openxmlformats.org/drawingml/2006/main">
            <a:off x="8705850" y="14287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01</a:t>
            </a:r>
          </a:p>
        </p:txBody>
      </p:sp>
      <p:sp>
        <p:nvSpPr>
          <p:cNvPr id="7" name="">
            <a:extLst xmlns:a="http://schemas.openxmlformats.org/drawingml/2006/main">
              <a:ext uri="{FF2B5EF4-FFF2-40B4-BE49-F238E27FC236}">
                <a16:creationId xmlns:a16="http://schemas.microsoft.com/office/drawing/2014/main" id="{A8784251-7B4F-46B6-B388-05B5AFCE6839}"/>
              </a:ext>
            </a:extLst>
          </p:cNvPr>
          <p:cNvSpPr>
            <a:spLocks xmlns:a="http://schemas.openxmlformats.org/drawingml/2006/main" noGrp="1"/>
          </p:cNvSpPr>
          <p:nvPr/>
        </p:nvSpPr>
        <p:spPr>
          <a:xfrm xmlns:a="http://schemas.openxmlformats.org/drawingml/2006/main">
            <a:off x="9220200" y="1390650"/>
            <a:ext cx="142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Aptos"/>
                <a:ea typeface="Aptos"/>
                <a:cs typeface="Aptos"/>
              </a:defRPr>
            </a:pPr>
            <a:r>
              <a:rPr sz="1800" b="1" i="0">
                <a:solidFill>
                  <a:srgbClr val="FFFFFF"/>
                </a:solidFill>
                <a:latin typeface="Aptos"/>
                <a:ea typeface="Aptos"/>
                <a:cs typeface="Aptos"/>
              </a:rPr>
              <a:t>Collecter</a:t>
            </a:r>
          </a:p>
        </p:txBody>
      </p:sp>
      <p:sp>
        <p:nvSpPr>
          <p:cNvPr id="8" name="">
            <a:extLst xmlns:a="http://schemas.openxmlformats.org/drawingml/2006/main">
              <a:ext uri="{FF2B5EF4-FFF2-40B4-BE49-F238E27FC236}">
                <a16:creationId xmlns:a16="http://schemas.microsoft.com/office/drawing/2014/main" id="{F9D7075C-9173-4C97-98B5-C838B252F0A4}"/>
              </a:ext>
            </a:extLst>
          </p:cNvPr>
          <p:cNvSpPr>
            <a:spLocks xmlns:a="http://schemas.openxmlformats.org/drawingml/2006/main" noGrp="1"/>
          </p:cNvSpPr>
          <p:nvPr/>
        </p:nvSpPr>
        <p:spPr>
          <a:xfrm xmlns:a="http://schemas.openxmlformats.org/drawingml/2006/main">
            <a:off x="9220200" y="1752600"/>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BFD3E6"/>
                </a:solidFill>
                <a:latin typeface="Aptos"/>
                <a:ea typeface="Aptos"/>
                <a:cs typeface="Aptos"/>
              </a:defRPr>
            </a:pPr>
            <a:r>
              <a:rPr sz="1125" b="0" i="0">
                <a:solidFill>
                  <a:srgbClr val="BFD3E6"/>
                </a:solidFill>
                <a:latin typeface="Aptos"/>
                <a:ea typeface="Aptos"/>
                <a:cs typeface="Aptos"/>
              </a:rPr>
              <a:t>Source publique</a:t>
            </a:r>
          </a:p>
        </p:txBody>
      </p:sp>
      <p:sp>
        <p:nvSpPr>
          <p:cNvPr id="9" name="">
            <a:extLst xmlns:a="http://schemas.openxmlformats.org/drawingml/2006/main">
              <a:ext uri="{FF2B5EF4-FFF2-40B4-BE49-F238E27FC236}">
                <a16:creationId xmlns:a16="http://schemas.microsoft.com/office/drawing/2014/main" id="{DEC5810F-4C19-4245-93BE-EA62C9E976F9}"/>
              </a:ext>
            </a:extLst>
          </p:cNvPr>
          <p:cNvSpPr>
            <a:spLocks xmlns:a="http://schemas.openxmlformats.org/drawingml/2006/main" noGrp="1"/>
          </p:cNvSpPr>
          <p:nvPr/>
        </p:nvSpPr>
        <p:spPr>
          <a:xfrm xmlns:a="http://schemas.openxmlformats.org/drawingml/2006/main">
            <a:off x="8724900" y="2324100"/>
            <a:ext cx="1847850" cy="0"/>
          </a:xfrm>
          <a:prstGeom xmlns:a="http://schemas.openxmlformats.org/drawingml/2006/main" prst="line">
            <a:avLst/>
          </a:prstGeom>
          <a:noFill xmlns:a="http://schemas.openxmlformats.org/drawingml/2006/main"/>
          <a:ln xmlns:a="http://schemas.openxmlformats.org/drawingml/2006/main" w="9525">
            <a:solidFill>
              <a:srgbClr val="31557A"/>
            </a:solidFill>
            <a:prstDash val="solid"/>
          </a:ln>
        </p:spPr>
      </p:sp>
      <p:sp>
        <p:nvSpPr>
          <p:cNvPr id="10" name="">
            <a:extLst xmlns:a="http://schemas.openxmlformats.org/drawingml/2006/main">
              <a:ext uri="{FF2B5EF4-FFF2-40B4-BE49-F238E27FC236}">
                <a16:creationId xmlns:a16="http://schemas.microsoft.com/office/drawing/2014/main" id="{A219D5D4-52E0-4611-AD83-C41570063D4C}"/>
              </a:ext>
            </a:extLst>
          </p:cNvPr>
          <p:cNvSpPr>
            <a:spLocks xmlns:a="http://schemas.openxmlformats.org/drawingml/2006/main" noGrp="1"/>
          </p:cNvSpPr>
          <p:nvPr/>
        </p:nvSpPr>
        <p:spPr>
          <a:xfrm xmlns:a="http://schemas.openxmlformats.org/drawingml/2006/main">
            <a:off x="8705850" y="274320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02</a:t>
            </a:r>
          </a:p>
        </p:txBody>
      </p:sp>
      <p:sp>
        <p:nvSpPr>
          <p:cNvPr id="11" name="">
            <a:extLst xmlns:a="http://schemas.openxmlformats.org/drawingml/2006/main">
              <a:ext uri="{FF2B5EF4-FFF2-40B4-BE49-F238E27FC236}">
                <a16:creationId xmlns:a16="http://schemas.microsoft.com/office/drawing/2014/main" id="{811FF469-4895-4644-8A60-5F187836DF61}"/>
              </a:ext>
            </a:extLst>
          </p:cNvPr>
          <p:cNvSpPr>
            <a:spLocks xmlns:a="http://schemas.openxmlformats.org/drawingml/2006/main" noGrp="1"/>
          </p:cNvSpPr>
          <p:nvPr/>
        </p:nvSpPr>
        <p:spPr>
          <a:xfrm xmlns:a="http://schemas.openxmlformats.org/drawingml/2006/main">
            <a:off x="9220200" y="2705100"/>
            <a:ext cx="142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Aptos"/>
                <a:ea typeface="Aptos"/>
                <a:cs typeface="Aptos"/>
              </a:defRPr>
            </a:pPr>
            <a:r>
              <a:rPr sz="1800" b="1" i="0">
                <a:solidFill>
                  <a:srgbClr val="FFFFFF"/>
                </a:solidFill>
                <a:latin typeface="Aptos"/>
                <a:ea typeface="Aptos"/>
                <a:cs typeface="Aptos"/>
              </a:rPr>
              <a:t>Comprendre</a:t>
            </a:r>
          </a:p>
        </p:txBody>
      </p:sp>
      <p:sp>
        <p:nvSpPr>
          <p:cNvPr id="12" name="">
            <a:extLst xmlns:a="http://schemas.openxmlformats.org/drawingml/2006/main">
              <a:ext uri="{FF2B5EF4-FFF2-40B4-BE49-F238E27FC236}">
                <a16:creationId xmlns:a16="http://schemas.microsoft.com/office/drawing/2014/main" id="{C33E4890-BDC4-4D18-B751-3877945382ED}"/>
              </a:ext>
            </a:extLst>
          </p:cNvPr>
          <p:cNvSpPr>
            <a:spLocks xmlns:a="http://schemas.openxmlformats.org/drawingml/2006/main" noGrp="1"/>
          </p:cNvSpPr>
          <p:nvPr/>
        </p:nvSpPr>
        <p:spPr>
          <a:xfrm xmlns:a="http://schemas.openxmlformats.org/drawingml/2006/main">
            <a:off x="9220200" y="3067050"/>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BFD3E6"/>
                </a:solidFill>
                <a:latin typeface="Aptos"/>
                <a:ea typeface="Aptos"/>
                <a:cs typeface="Aptos"/>
              </a:defRPr>
            </a:pPr>
            <a:r>
              <a:rPr sz="1125" b="0" i="0">
                <a:solidFill>
                  <a:srgbClr val="BFD3E6"/>
                </a:solidFill>
                <a:latin typeface="Aptos"/>
                <a:ea typeface="Aptos"/>
                <a:cs typeface="Aptos"/>
              </a:rPr>
              <a:t>Documents &amp; OCR</a:t>
            </a:r>
          </a:p>
        </p:txBody>
      </p:sp>
      <p:sp>
        <p:nvSpPr>
          <p:cNvPr id="13" name="">
            <a:extLst xmlns:a="http://schemas.openxmlformats.org/drawingml/2006/main">
              <a:ext uri="{FF2B5EF4-FFF2-40B4-BE49-F238E27FC236}">
                <a16:creationId xmlns:a16="http://schemas.microsoft.com/office/drawing/2014/main" id="{BA0BB606-D6F7-4A1D-ABF2-EE6EA1107387}"/>
              </a:ext>
            </a:extLst>
          </p:cNvPr>
          <p:cNvSpPr>
            <a:spLocks xmlns:a="http://schemas.openxmlformats.org/drawingml/2006/main" noGrp="1"/>
          </p:cNvSpPr>
          <p:nvPr/>
        </p:nvSpPr>
        <p:spPr>
          <a:xfrm xmlns:a="http://schemas.openxmlformats.org/drawingml/2006/main">
            <a:off x="8724900" y="3638550"/>
            <a:ext cx="1847850" cy="0"/>
          </a:xfrm>
          <a:prstGeom xmlns:a="http://schemas.openxmlformats.org/drawingml/2006/main" prst="line">
            <a:avLst/>
          </a:prstGeom>
          <a:noFill xmlns:a="http://schemas.openxmlformats.org/drawingml/2006/main"/>
          <a:ln xmlns:a="http://schemas.openxmlformats.org/drawingml/2006/main" w="9525">
            <a:solidFill>
              <a:srgbClr val="31557A"/>
            </a:solidFill>
            <a:prstDash val="solid"/>
          </a:ln>
        </p:spPr>
      </p:sp>
      <p:sp>
        <p:nvSpPr>
          <p:cNvPr id="14" name="">
            <a:extLst xmlns:a="http://schemas.openxmlformats.org/drawingml/2006/main">
              <a:ext uri="{FF2B5EF4-FFF2-40B4-BE49-F238E27FC236}">
                <a16:creationId xmlns:a16="http://schemas.microsoft.com/office/drawing/2014/main" id="{F264819A-789B-4082-817F-7FF405882E70}"/>
              </a:ext>
            </a:extLst>
          </p:cNvPr>
          <p:cNvSpPr>
            <a:spLocks xmlns:a="http://schemas.openxmlformats.org/drawingml/2006/main" noGrp="1"/>
          </p:cNvSpPr>
          <p:nvPr/>
        </p:nvSpPr>
        <p:spPr>
          <a:xfrm xmlns:a="http://schemas.openxmlformats.org/drawingml/2006/main">
            <a:off x="8705850" y="4057650"/>
            <a:ext cx="4381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03</a:t>
            </a:r>
          </a:p>
        </p:txBody>
      </p:sp>
      <p:sp>
        <p:nvSpPr>
          <p:cNvPr id="15" name="">
            <a:extLst xmlns:a="http://schemas.openxmlformats.org/drawingml/2006/main">
              <a:ext uri="{FF2B5EF4-FFF2-40B4-BE49-F238E27FC236}">
                <a16:creationId xmlns:a16="http://schemas.microsoft.com/office/drawing/2014/main" id="{64F90531-507A-4667-886B-511122DBCE30}"/>
              </a:ext>
            </a:extLst>
          </p:cNvPr>
          <p:cNvSpPr>
            <a:spLocks xmlns:a="http://schemas.openxmlformats.org/drawingml/2006/main" noGrp="1"/>
          </p:cNvSpPr>
          <p:nvPr/>
        </p:nvSpPr>
        <p:spPr>
          <a:xfrm xmlns:a="http://schemas.openxmlformats.org/drawingml/2006/main">
            <a:off x="9220200" y="4019550"/>
            <a:ext cx="142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00" b="1" i="0">
                <a:solidFill>
                  <a:srgbClr val="FFFFFF"/>
                </a:solidFill>
                <a:latin typeface="Aptos"/>
                <a:ea typeface="Aptos"/>
                <a:cs typeface="Aptos"/>
              </a:defRPr>
            </a:pPr>
            <a:r>
              <a:rPr sz="1800" b="1" i="0">
                <a:solidFill>
                  <a:srgbClr val="FFFFFF"/>
                </a:solidFill>
                <a:latin typeface="Aptos"/>
                <a:ea typeface="Aptos"/>
                <a:cs typeface="Aptos"/>
              </a:rPr>
              <a:t>Décider</a:t>
            </a:r>
          </a:p>
        </p:txBody>
      </p:sp>
      <p:sp>
        <p:nvSpPr>
          <p:cNvPr id="16" name="">
            <a:extLst xmlns:a="http://schemas.openxmlformats.org/drawingml/2006/main">
              <a:ext uri="{FF2B5EF4-FFF2-40B4-BE49-F238E27FC236}">
                <a16:creationId xmlns:a16="http://schemas.microsoft.com/office/drawing/2014/main" id="{143D6769-6ACD-4AA4-8E97-C13E4D12D61F}"/>
              </a:ext>
            </a:extLst>
          </p:cNvPr>
          <p:cNvSpPr>
            <a:spLocks xmlns:a="http://schemas.openxmlformats.org/drawingml/2006/main" noGrp="1"/>
          </p:cNvSpPr>
          <p:nvPr/>
        </p:nvSpPr>
        <p:spPr>
          <a:xfrm xmlns:a="http://schemas.openxmlformats.org/drawingml/2006/main">
            <a:off x="9220200" y="4381500"/>
            <a:ext cx="142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BFD3E6"/>
                </a:solidFill>
                <a:latin typeface="Aptos"/>
                <a:ea typeface="Aptos"/>
                <a:cs typeface="Aptos"/>
              </a:defRPr>
            </a:pPr>
            <a:r>
              <a:rPr sz="1125" b="0" i="0">
                <a:solidFill>
                  <a:srgbClr val="BFD3E6"/>
                </a:solidFill>
                <a:latin typeface="Aptos"/>
                <a:ea typeface="Aptos"/>
                <a:cs typeface="Aptos"/>
              </a:rPr>
              <a:t>Preuves &amp; contrôle humain</a:t>
            </a:r>
          </a:p>
        </p:txBody>
      </p:sp>
      <p:sp>
        <p:nvSpPr>
          <p:cNvPr id="17" name="">
            <a:extLst xmlns:a="http://schemas.openxmlformats.org/drawingml/2006/main">
              <a:ext uri="{FF2B5EF4-FFF2-40B4-BE49-F238E27FC236}">
                <a16:creationId xmlns:a16="http://schemas.microsoft.com/office/drawing/2014/main" id="{2471A91A-F306-425C-BC38-8DBEAB025DE8}"/>
              </a:ext>
            </a:extLst>
          </p:cNvPr>
          <p:cNvSpPr>
            <a:spLocks xmlns:a="http://schemas.openxmlformats.org/drawingml/2006/main" noGrp="1"/>
          </p:cNvSpPr>
          <p:nvPr/>
        </p:nvSpPr>
        <p:spPr>
          <a:xfrm xmlns:a="http://schemas.openxmlformats.org/drawingml/2006/main">
            <a:off x="628650" y="6000750"/>
            <a:ext cx="885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0" i="0">
                <a:solidFill>
                  <a:srgbClr val="D6E7F6"/>
                </a:solidFill>
                <a:latin typeface="Aptos"/>
                <a:ea typeface="Aptos"/>
                <a:cs typeface="Aptos"/>
              </a:defRPr>
            </a:pPr>
            <a:r>
              <a:rPr sz="1275" b="0" i="0">
                <a:solidFill>
                  <a:srgbClr val="D6E7F6"/>
                </a:solidFill>
                <a:latin typeface="Aptos"/>
                <a:ea typeface="Aptos"/>
                <a:cs typeface="Aptos"/>
              </a:rPr>
              <a:t>Khayem Ben Ghorbel · CY Tech · One Tech Business Solutions</a:t>
            </a:r>
          </a:p>
        </p:txBody>
      </p:sp>
    </p:spTree>
    <p:extLst>
      <p:ext uri="{BB962C8B-B14F-4D97-AF65-F5344CB8AC3E}">
        <p14:creationId xmlns:p14="http://schemas.microsoft.com/office/powerpoint/2010/main" val="1840901668"/>
      </p:ext>
    </p:extLst>
  </p:cSld>
</p:sld>
</file>

<file path=ppt/slides/slide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AA3E7968-99E5-4D54-9BCD-A548259762AD}"/>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CONTEXTE</a:t>
            </a:r>
          </a:p>
        </p:txBody>
      </p:sp>
      <p:sp>
        <p:nvSpPr>
          <p:cNvPr id="2" name="">
            <a:extLst xmlns:a="http://schemas.openxmlformats.org/drawingml/2006/main">
              <a:ext uri="{FF2B5EF4-FFF2-40B4-BE49-F238E27FC236}">
                <a16:creationId xmlns:a16="http://schemas.microsoft.com/office/drawing/2014/main" id="{0B34ABE5-8183-43AF-B4E1-DBF17EDE3961}"/>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Une mission située entre données, IA et décision</a:t>
            </a:r>
          </a:p>
        </p:txBody>
      </p:sp>
      <p:sp>
        <p:nvSpPr>
          <p:cNvPr id="3" name="">
            <a:extLst xmlns:a="http://schemas.openxmlformats.org/drawingml/2006/main">
              <a:ext uri="{FF2B5EF4-FFF2-40B4-BE49-F238E27FC236}">
                <a16:creationId xmlns:a16="http://schemas.microsoft.com/office/drawing/2014/main" id="{CA127E33-87A5-4A3D-82BE-E19C4C87F16B}"/>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414AF279-3E49-4D6E-AFBF-449304E18102}"/>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88A11007-FD28-43B9-9A09-ABDDFBC61B2C}"/>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02</a:t>
            </a:r>
          </a:p>
        </p:txBody>
      </p:sp>
      <p:sp>
        <p:nvSpPr>
          <p:cNvPr id="6" name="">
            <a:extLst xmlns:a="http://schemas.openxmlformats.org/drawingml/2006/main">
              <a:ext uri="{FF2B5EF4-FFF2-40B4-BE49-F238E27FC236}">
                <a16:creationId xmlns:a16="http://schemas.microsoft.com/office/drawing/2014/main" id="{9C2375EB-1525-492A-B751-B5E67589248C}"/>
              </a:ext>
            </a:extLst>
          </p:cNvPr>
          <p:cNvSpPr>
            <a:spLocks xmlns:a="http://schemas.openxmlformats.org/drawingml/2006/main" noGrp="1"/>
          </p:cNvSpPr>
          <p:nvPr/>
        </p:nvSpPr>
        <p:spPr>
          <a:xfrm xmlns:a="http://schemas.openxmlformats.org/drawingml/2006/main">
            <a:off x="476250" y="1714500"/>
            <a:ext cx="3333750" cy="4000500"/>
          </a:xfrm>
          <a:prstGeom xmlns:a="http://schemas.openxmlformats.org/drawingml/2006/main" prst="roundRect">
            <a:avLst>
              <a:gd name="adj" fmla="val 457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9F4F04FC-6347-4078-B4A6-1D28EEE99F33}"/>
              </a:ext>
            </a:extLst>
          </p:cNvPr>
          <p:cNvSpPr>
            <a:spLocks xmlns:a="http://schemas.openxmlformats.org/drawingml/2006/main" noGrp="1"/>
          </p:cNvSpPr>
          <p:nvPr/>
        </p:nvSpPr>
        <p:spPr>
          <a:xfrm xmlns:a="http://schemas.openxmlformats.org/drawingml/2006/main">
            <a:off x="476250" y="1714500"/>
            <a:ext cx="76200" cy="4000500"/>
          </a:xfrm>
          <a:prstGeom xmlns:a="http://schemas.openxmlformats.org/drawingml/2006/main" prst="roundRect">
            <a:avLst>
              <a:gd name="adj" fmla="val 50000"/>
            </a:avLst>
          </a:prstGeom>
          <a:solidFill xmlns:a="http://schemas.openxmlformats.org/drawingml/2006/main">
            <a:srgbClr val="1D5AA6"/>
          </a:solidFill>
          <a:ln xmlns:a="http://schemas.openxmlformats.org/drawingml/2006/main" w="0">
            <a:solidFill>
              <a:srgbClr val="1D5AA6"/>
            </a:solidFill>
            <a:prstDash val="solid"/>
          </a:ln>
        </p:spPr>
      </p:sp>
      <p:sp>
        <p:nvSpPr>
          <p:cNvPr id="8" name="">
            <a:extLst xmlns:a="http://schemas.openxmlformats.org/drawingml/2006/main">
              <a:ext uri="{FF2B5EF4-FFF2-40B4-BE49-F238E27FC236}">
                <a16:creationId xmlns:a16="http://schemas.microsoft.com/office/drawing/2014/main" id="{87479BBC-18C6-4655-A82F-4D9BA37485AF}"/>
              </a:ext>
            </a:extLst>
          </p:cNvPr>
          <p:cNvSpPr>
            <a:spLocks xmlns:a="http://schemas.openxmlformats.org/drawingml/2006/main" noGrp="1"/>
          </p:cNvSpPr>
          <p:nvPr/>
        </p:nvSpPr>
        <p:spPr>
          <a:xfrm xmlns:a="http://schemas.openxmlformats.org/drawingml/2006/main">
            <a:off x="685800" y="18669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0B2545"/>
                </a:solidFill>
                <a:latin typeface="Aptos"/>
                <a:ea typeface="Aptos"/>
                <a:cs typeface="Aptos"/>
              </a:defRPr>
            </a:pPr>
            <a:r>
              <a:rPr sz="1575" b="1" i="0">
                <a:solidFill>
                  <a:srgbClr val="0B2545"/>
                </a:solidFill>
                <a:latin typeface="Aptos"/>
                <a:ea typeface="Aptos"/>
                <a:cs typeface="Aptos"/>
              </a:rPr>
              <a:t>Terrain</a:t>
            </a:r>
          </a:p>
        </p:txBody>
      </p:sp>
      <p:sp>
        <p:nvSpPr>
          <p:cNvPr id="9" name="">
            <a:extLst xmlns:a="http://schemas.openxmlformats.org/drawingml/2006/main">
              <a:ext uri="{FF2B5EF4-FFF2-40B4-BE49-F238E27FC236}">
                <a16:creationId xmlns:a16="http://schemas.microsoft.com/office/drawing/2014/main" id="{E685565A-BEC0-4ECD-BA50-64BA51A64F4E}"/>
              </a:ext>
            </a:extLst>
          </p:cNvPr>
          <p:cNvSpPr>
            <a:spLocks xmlns:a="http://schemas.openxmlformats.org/drawingml/2006/main" noGrp="1"/>
          </p:cNvSpPr>
          <p:nvPr/>
        </p:nvSpPr>
        <p:spPr>
          <a:xfrm xmlns:a="http://schemas.openxmlformats.org/drawingml/2006/main">
            <a:off x="685800" y="2266950"/>
            <a:ext cx="2952750" cy="3314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0" i="0">
                <a:solidFill>
                  <a:srgbClr val="101828"/>
                </a:solidFill>
                <a:latin typeface="Aptos"/>
                <a:ea typeface="Aptos"/>
                <a:cs typeface="Aptos"/>
              </a:defRPr>
            </a:pPr>
            <a:r>
              <a:rPr sz="1500" b="0" i="0">
                <a:solidFill>
                  <a:srgbClr val="101828"/>
                </a:solidFill>
                <a:latin typeface="Aptos"/>
                <a:ea typeface="Aptos"/>
                <a:cs typeface="Aptos"/>
              </a:rPr>
              <a:t>Entité d’accueil</a:t>
            </a:r>
          </a:p>
          <a:p xmlns:a="http://schemas.openxmlformats.org/drawingml/2006/main">
            <a:pPr algn="l">
              <a:defRPr sz="1500" b="0" i="0">
                <a:solidFill>
                  <a:srgbClr val="101828"/>
                </a:solidFill>
                <a:latin typeface="Aptos"/>
                <a:ea typeface="Aptos"/>
                <a:cs typeface="Aptos"/>
              </a:defRPr>
            </a:pPr>
            <a:r>
              <a:rPr sz="1500" b="0" i="0">
                <a:solidFill>
                  <a:srgbClr val="101828"/>
                </a:solidFill>
                <a:latin typeface="Aptos"/>
                <a:ea typeface="Aptos"/>
                <a:cs typeface="Aptos"/>
              </a:rPr>
              <a:t>One Tech Business Solutions</a:t>
            </a:r>
          </a:p>
          <a:p xmlns:a="http://schemas.openxmlformats.org/drawingml/2006/main">
            <a:r>
              <a:t/>
            </a:r>
          </a:p>
          <a:p xmlns:a="http://schemas.openxmlformats.org/drawingml/2006/main">
            <a:pPr algn="l">
              <a:defRPr sz="1500" b="0" i="0">
                <a:solidFill>
                  <a:srgbClr val="101828"/>
                </a:solidFill>
                <a:latin typeface="Aptos"/>
                <a:ea typeface="Aptos"/>
                <a:cs typeface="Aptos"/>
              </a:defRPr>
            </a:pPr>
            <a:r>
              <a:rPr sz="1500" b="0" i="0">
                <a:solidFill>
                  <a:srgbClr val="101828"/>
                </a:solidFill>
                <a:latin typeface="Aptos"/>
                <a:ea typeface="Aptos"/>
                <a:cs typeface="Aptos"/>
              </a:rPr>
              <a:t>Contexte métier</a:t>
            </a:r>
          </a:p>
          <a:p xmlns:a="http://schemas.openxmlformats.org/drawingml/2006/main">
            <a:pPr algn="l">
              <a:defRPr sz="1500" b="0" i="0">
                <a:solidFill>
                  <a:srgbClr val="101828"/>
                </a:solidFill>
                <a:latin typeface="Aptos"/>
                <a:ea typeface="Aptos"/>
                <a:cs typeface="Aptos"/>
              </a:defRPr>
            </a:pPr>
            <a:r>
              <a:rPr sz="1500" b="0" i="0">
                <a:solidFill>
                  <a:srgbClr val="101828"/>
                </a:solidFill>
                <a:latin typeface="Aptos"/>
                <a:ea typeface="Aptos"/>
                <a:cs typeface="Aptos"/>
              </a:rPr>
              <a:t>Appels d’offres publics tunisiens</a:t>
            </a:r>
          </a:p>
          <a:p xmlns:a="http://schemas.openxmlformats.org/drawingml/2006/main">
            <a:r>
              <a:t/>
            </a:r>
          </a:p>
          <a:p xmlns:a="http://schemas.openxmlformats.org/drawingml/2006/main">
            <a:pPr algn="l">
              <a:defRPr sz="1500" b="0" i="0">
                <a:solidFill>
                  <a:srgbClr val="101828"/>
                </a:solidFill>
                <a:latin typeface="Aptos"/>
                <a:ea typeface="Aptos"/>
                <a:cs typeface="Aptos"/>
              </a:defRPr>
            </a:pPr>
            <a:r>
              <a:rPr sz="1500" b="0" i="0">
                <a:solidFill>
                  <a:srgbClr val="101828"/>
                </a:solidFill>
                <a:latin typeface="Aptos"/>
                <a:ea typeface="Aptos"/>
                <a:cs typeface="Aptos"/>
              </a:rPr>
              <a:t>Source étudiée</a:t>
            </a:r>
          </a:p>
          <a:p xmlns:a="http://schemas.openxmlformats.org/drawingml/2006/main">
            <a:pPr algn="l">
              <a:defRPr sz="1500" b="0" i="0">
                <a:solidFill>
                  <a:srgbClr val="101828"/>
                </a:solidFill>
                <a:latin typeface="Aptos"/>
                <a:ea typeface="Aptos"/>
                <a:cs typeface="Aptos"/>
              </a:defRPr>
            </a:pPr>
            <a:r>
              <a:rPr sz="1500" b="0" i="0">
                <a:solidFill>
                  <a:srgbClr val="101828"/>
                </a:solidFill>
                <a:latin typeface="Aptos"/>
                <a:ea typeface="Aptos"/>
                <a:cs typeface="Aptos"/>
              </a:rPr>
              <a:t>HAICOP / marchespublics.gov.tn</a:t>
            </a:r>
          </a:p>
        </p:txBody>
      </p:sp>
      <p:sp>
        <p:nvSpPr>
          <p:cNvPr id="10" name="">
            <a:extLst xmlns:a="http://schemas.openxmlformats.org/drawingml/2006/main">
              <a:ext uri="{FF2B5EF4-FFF2-40B4-BE49-F238E27FC236}">
                <a16:creationId xmlns:a16="http://schemas.microsoft.com/office/drawing/2014/main" id="{3D64D846-E868-442F-AC7A-62D4CDAADA82}"/>
              </a:ext>
            </a:extLst>
          </p:cNvPr>
          <p:cNvSpPr>
            <a:spLocks xmlns:a="http://schemas.openxmlformats.org/drawingml/2006/main" noGrp="1"/>
          </p:cNvSpPr>
          <p:nvPr/>
        </p:nvSpPr>
        <p:spPr>
          <a:xfrm xmlns:a="http://schemas.openxmlformats.org/drawingml/2006/main">
            <a:off x="4191000" y="1714500"/>
            <a:ext cx="3333750" cy="4000500"/>
          </a:xfrm>
          <a:prstGeom xmlns:a="http://schemas.openxmlformats.org/drawingml/2006/main" prst="roundRect">
            <a:avLst>
              <a:gd name="adj" fmla="val 457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02B09603-2FCE-4E17-9D34-BF7C04FBAC20}"/>
              </a:ext>
            </a:extLst>
          </p:cNvPr>
          <p:cNvSpPr>
            <a:spLocks xmlns:a="http://schemas.openxmlformats.org/drawingml/2006/main" noGrp="1"/>
          </p:cNvSpPr>
          <p:nvPr/>
        </p:nvSpPr>
        <p:spPr>
          <a:xfrm xmlns:a="http://schemas.openxmlformats.org/drawingml/2006/main">
            <a:off x="4191000" y="1714500"/>
            <a:ext cx="76200" cy="4000500"/>
          </a:xfrm>
          <a:prstGeom xmlns:a="http://schemas.openxmlformats.org/drawingml/2006/main" prst="roundRect">
            <a:avLst>
              <a:gd name="adj" fmla="val 50000"/>
            </a:avLst>
          </a:prstGeom>
          <a:solidFill xmlns:a="http://schemas.openxmlformats.org/drawingml/2006/main">
            <a:srgbClr val="2FB9DB"/>
          </a:solidFill>
          <a:ln xmlns:a="http://schemas.openxmlformats.org/drawingml/2006/main" w="0">
            <a:solidFill>
              <a:srgbClr val="2FB9DB"/>
            </a:solidFill>
            <a:prstDash val="solid"/>
          </a:ln>
        </p:spPr>
      </p:sp>
      <p:sp>
        <p:nvSpPr>
          <p:cNvPr id="12" name="">
            <a:extLst xmlns:a="http://schemas.openxmlformats.org/drawingml/2006/main">
              <a:ext uri="{FF2B5EF4-FFF2-40B4-BE49-F238E27FC236}">
                <a16:creationId xmlns:a16="http://schemas.microsoft.com/office/drawing/2014/main" id="{C9E28847-0F20-42B6-A720-8D3E0228EE17}"/>
              </a:ext>
            </a:extLst>
          </p:cNvPr>
          <p:cNvSpPr>
            <a:spLocks xmlns:a="http://schemas.openxmlformats.org/drawingml/2006/main" noGrp="1"/>
          </p:cNvSpPr>
          <p:nvPr/>
        </p:nvSpPr>
        <p:spPr>
          <a:xfrm xmlns:a="http://schemas.openxmlformats.org/drawingml/2006/main">
            <a:off x="4400550" y="18669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0B2545"/>
                </a:solidFill>
                <a:latin typeface="Aptos"/>
                <a:ea typeface="Aptos"/>
                <a:cs typeface="Aptos"/>
              </a:defRPr>
            </a:pPr>
            <a:r>
              <a:rPr sz="1575" b="1" i="0">
                <a:solidFill>
                  <a:srgbClr val="0B2545"/>
                </a:solidFill>
                <a:latin typeface="Aptos"/>
                <a:ea typeface="Aptos"/>
                <a:cs typeface="Aptos"/>
              </a:rPr>
              <a:t>Mission</a:t>
            </a:r>
          </a:p>
        </p:txBody>
      </p:sp>
      <p:sp>
        <p:nvSpPr>
          <p:cNvPr id="13" name="">
            <a:extLst xmlns:a="http://schemas.openxmlformats.org/drawingml/2006/main">
              <a:ext uri="{FF2B5EF4-FFF2-40B4-BE49-F238E27FC236}">
                <a16:creationId xmlns:a16="http://schemas.microsoft.com/office/drawing/2014/main" id="{BE89075B-02AB-4B9B-A411-00765E0F8E6E}"/>
              </a:ext>
            </a:extLst>
          </p:cNvPr>
          <p:cNvSpPr>
            <a:spLocks xmlns:a="http://schemas.openxmlformats.org/drawingml/2006/main" noGrp="1"/>
          </p:cNvSpPr>
          <p:nvPr/>
        </p:nvSpPr>
        <p:spPr>
          <a:xfrm xmlns:a="http://schemas.openxmlformats.org/drawingml/2006/main">
            <a:off x="4400550" y="2266950"/>
            <a:ext cx="2952750" cy="3314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Concevoir un MVP capable de :</a:t>
            </a:r>
          </a:p>
          <a:p xmlns:a="http://schemas.openxmlformats.org/drawingml/2006/main">
            <a:r>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collecter les consultations publiques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récupérer et lire leurs pièces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construire une analyse Go / No-Go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automatiser un digest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répondre via Telegram.</a:t>
            </a:r>
          </a:p>
        </p:txBody>
      </p:sp>
      <p:sp>
        <p:nvSpPr>
          <p:cNvPr id="14" name="">
            <a:extLst xmlns:a="http://schemas.openxmlformats.org/drawingml/2006/main">
              <a:ext uri="{FF2B5EF4-FFF2-40B4-BE49-F238E27FC236}">
                <a16:creationId xmlns:a16="http://schemas.microsoft.com/office/drawing/2014/main" id="{1A574413-D7A0-4F70-84C1-FDB3A6C40C5C}"/>
              </a:ext>
            </a:extLst>
          </p:cNvPr>
          <p:cNvSpPr>
            <a:spLocks xmlns:a="http://schemas.openxmlformats.org/drawingml/2006/main" noGrp="1"/>
          </p:cNvSpPr>
          <p:nvPr/>
        </p:nvSpPr>
        <p:spPr>
          <a:xfrm xmlns:a="http://schemas.openxmlformats.org/drawingml/2006/main">
            <a:off x="7905750" y="1714500"/>
            <a:ext cx="3333750" cy="4000500"/>
          </a:xfrm>
          <a:prstGeom xmlns:a="http://schemas.openxmlformats.org/drawingml/2006/main" prst="roundRect">
            <a:avLst>
              <a:gd name="adj" fmla="val 457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1DE1D67D-978F-488D-AAA2-F9B4FE1387D1}"/>
              </a:ext>
            </a:extLst>
          </p:cNvPr>
          <p:cNvSpPr>
            <a:spLocks xmlns:a="http://schemas.openxmlformats.org/drawingml/2006/main" noGrp="1"/>
          </p:cNvSpPr>
          <p:nvPr/>
        </p:nvSpPr>
        <p:spPr>
          <a:xfrm xmlns:a="http://schemas.openxmlformats.org/drawingml/2006/main">
            <a:off x="7905750" y="1714500"/>
            <a:ext cx="76200" cy="4000500"/>
          </a:xfrm>
          <a:prstGeom xmlns:a="http://schemas.openxmlformats.org/drawingml/2006/main" prst="roundRect">
            <a:avLst>
              <a:gd name="adj" fmla="val 50000"/>
            </a:avLst>
          </a:prstGeom>
          <a:solidFill xmlns:a="http://schemas.openxmlformats.org/drawingml/2006/main">
            <a:srgbClr val="D99520"/>
          </a:solidFill>
          <a:ln xmlns:a="http://schemas.openxmlformats.org/drawingml/2006/main" w="0">
            <a:solidFill>
              <a:srgbClr val="D99520"/>
            </a:solidFill>
            <a:prstDash val="solid"/>
          </a:ln>
        </p:spPr>
      </p:sp>
      <p:sp>
        <p:nvSpPr>
          <p:cNvPr id="16" name="">
            <a:extLst xmlns:a="http://schemas.openxmlformats.org/drawingml/2006/main">
              <a:ext uri="{FF2B5EF4-FFF2-40B4-BE49-F238E27FC236}">
                <a16:creationId xmlns:a16="http://schemas.microsoft.com/office/drawing/2014/main" id="{ACB6097B-3140-43C0-936A-F25310BB3DD9}"/>
              </a:ext>
            </a:extLst>
          </p:cNvPr>
          <p:cNvSpPr>
            <a:spLocks xmlns:a="http://schemas.openxmlformats.org/drawingml/2006/main" noGrp="1"/>
          </p:cNvSpPr>
          <p:nvPr/>
        </p:nvSpPr>
        <p:spPr>
          <a:xfrm xmlns:a="http://schemas.openxmlformats.org/drawingml/2006/main">
            <a:off x="8115300" y="1866900"/>
            <a:ext cx="297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0B2545"/>
                </a:solidFill>
                <a:latin typeface="Aptos"/>
                <a:ea typeface="Aptos"/>
                <a:cs typeface="Aptos"/>
              </a:defRPr>
            </a:pPr>
            <a:r>
              <a:rPr sz="1575" b="1" i="0">
                <a:solidFill>
                  <a:srgbClr val="0B2545"/>
                </a:solidFill>
                <a:latin typeface="Aptos"/>
                <a:ea typeface="Aptos"/>
                <a:cs typeface="Aptos"/>
              </a:rPr>
              <a:t>Contraintes</a:t>
            </a:r>
          </a:p>
        </p:txBody>
      </p:sp>
      <p:sp>
        <p:nvSpPr>
          <p:cNvPr id="17" name="">
            <a:extLst xmlns:a="http://schemas.openxmlformats.org/drawingml/2006/main">
              <a:ext uri="{FF2B5EF4-FFF2-40B4-BE49-F238E27FC236}">
                <a16:creationId xmlns:a16="http://schemas.microsoft.com/office/drawing/2014/main" id="{3F441C1E-71D1-4E32-A386-33791FBC44B5}"/>
              </a:ext>
            </a:extLst>
          </p:cNvPr>
          <p:cNvSpPr>
            <a:spLocks xmlns:a="http://schemas.openxmlformats.org/drawingml/2006/main" noGrp="1"/>
          </p:cNvSpPr>
          <p:nvPr/>
        </p:nvSpPr>
        <p:spPr>
          <a:xfrm xmlns:a="http://schemas.openxmlformats.org/drawingml/2006/main">
            <a:off x="8115300" y="2266950"/>
            <a:ext cx="2952750" cy="3314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données incomplètes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PDF scannés et formats bureautiques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délais et volumes bornés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aucune décision sans preuve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reprise idempotente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secrets hors code.</a:t>
            </a:r>
          </a:p>
        </p:txBody>
      </p:sp>
    </p:spTree>
    <p:extLst>
      <p:ext uri="{BB962C8B-B14F-4D97-AF65-F5344CB8AC3E}">
        <p14:creationId xmlns:p14="http://schemas.microsoft.com/office/powerpoint/2010/main" val="448704428"/>
      </p:ext>
    </p:extLst>
  </p:cSld>
</p:sld>
</file>

<file path=ppt/slides/slide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ACED0BD0-9208-4E3A-AEFC-2617F2195E00}"/>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PROBLÉMATIQUE</a:t>
            </a:r>
          </a:p>
        </p:txBody>
      </p:sp>
      <p:sp>
        <p:nvSpPr>
          <p:cNvPr id="2" name="">
            <a:extLst xmlns:a="http://schemas.openxmlformats.org/drawingml/2006/main">
              <a:ext uri="{FF2B5EF4-FFF2-40B4-BE49-F238E27FC236}">
                <a16:creationId xmlns:a16="http://schemas.microsoft.com/office/drawing/2014/main" id="{B6966FB1-9254-409E-AB3C-2CCF93DD67CC}"/>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34"/>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Le risque n’est pas de manquer un résumé — c’est de perdre la preuve</a:t>
            </a:r>
          </a:p>
        </p:txBody>
      </p:sp>
      <p:sp>
        <p:nvSpPr>
          <p:cNvPr id="3" name="">
            <a:extLst xmlns:a="http://schemas.openxmlformats.org/drawingml/2006/main">
              <a:ext uri="{FF2B5EF4-FFF2-40B4-BE49-F238E27FC236}">
                <a16:creationId xmlns:a16="http://schemas.microsoft.com/office/drawing/2014/main" id="{A354A185-15A0-4660-9F6E-85172A99F435}"/>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56E3FEA8-F370-4CD8-8F2E-943FAFABC12C}"/>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B00F2146-EC38-407D-93C4-ECEAA089CEDA}"/>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03</a:t>
            </a:r>
          </a:p>
        </p:txBody>
      </p:sp>
      <p:sp>
        <p:nvSpPr>
          <p:cNvPr id="6" name="">
            <a:extLst xmlns:a="http://schemas.openxmlformats.org/drawingml/2006/main">
              <a:ext uri="{FF2B5EF4-FFF2-40B4-BE49-F238E27FC236}">
                <a16:creationId xmlns:a16="http://schemas.microsoft.com/office/drawing/2014/main" id="{7FBF01AC-CFB6-4269-8C65-545243CE3193}"/>
              </a:ext>
            </a:extLst>
          </p:cNvPr>
          <p:cNvSpPr>
            <a:spLocks xmlns:a="http://schemas.openxmlformats.org/drawingml/2006/main" noGrp="1"/>
          </p:cNvSpPr>
          <p:nvPr/>
        </p:nvSpPr>
        <p:spPr>
          <a:xfrm xmlns:a="http://schemas.openxmlformats.org/drawingml/2006/main">
            <a:off x="514350" y="1952625"/>
            <a:ext cx="400050" cy="400050"/>
          </a:xfrm>
          <a:prstGeom xmlns:a="http://schemas.openxmlformats.org/drawingml/2006/main" prst="ellipse">
            <a:avLst/>
          </a:prstGeom>
          <a:solidFill xmlns:a="http://schemas.openxmlformats.org/drawingml/2006/main">
            <a:srgbClr val="1D5AA6"/>
          </a:solidFill>
          <a:ln xmlns:a="http://schemas.openxmlformats.org/drawingml/2006/main" w="9525">
            <a:solidFill>
              <a:srgbClr val="1D5AA6"/>
            </a:solidFill>
            <a:prstDash val="solid"/>
          </a:ln>
        </p:spPr>
      </p:sp>
      <p:sp>
        <p:nvSpPr>
          <p:cNvPr id="7" name="">
            <a:extLst xmlns:a="http://schemas.openxmlformats.org/drawingml/2006/main">
              <a:ext uri="{FF2B5EF4-FFF2-40B4-BE49-F238E27FC236}">
                <a16:creationId xmlns:a16="http://schemas.microsoft.com/office/drawing/2014/main" id="{E00A4D6F-F1C9-4197-9292-9BA790CE8884}"/>
              </a:ext>
            </a:extLst>
          </p:cNvPr>
          <p:cNvSpPr>
            <a:spLocks xmlns:a="http://schemas.openxmlformats.org/drawingml/2006/main" noGrp="1"/>
          </p:cNvSpPr>
          <p:nvPr/>
        </p:nvSpPr>
        <p:spPr>
          <a:xfrm xmlns:a="http://schemas.openxmlformats.org/drawingml/2006/main">
            <a:off x="514350" y="1962150"/>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590C745B-6B72-4AD8-81F6-AC052013C8AD}"/>
              </a:ext>
            </a:extLst>
          </p:cNvPr>
          <p:cNvSpPr>
            <a:spLocks xmlns:a="http://schemas.openxmlformats.org/drawingml/2006/main" noGrp="1"/>
          </p:cNvSpPr>
          <p:nvPr/>
        </p:nvSpPr>
        <p:spPr>
          <a:xfrm xmlns:a="http://schemas.openxmlformats.org/drawingml/2006/main">
            <a:off x="514350" y="2533650"/>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0B2545"/>
                </a:solidFill>
                <a:latin typeface="Aptos"/>
                <a:ea typeface="Aptos"/>
                <a:cs typeface="Aptos"/>
              </a:defRPr>
            </a:pPr>
            <a:r>
              <a:rPr sz="1875" b="1" i="0">
                <a:solidFill>
                  <a:srgbClr val="0B2545"/>
                </a:solidFill>
                <a:latin typeface="Aptos"/>
                <a:ea typeface="Aptos"/>
                <a:cs typeface="Aptos"/>
              </a:rPr>
              <a:t>Détecter</a:t>
            </a:r>
          </a:p>
        </p:txBody>
      </p:sp>
      <p:sp>
        <p:nvSpPr>
          <p:cNvPr id="9" name="">
            <a:extLst xmlns:a="http://schemas.openxmlformats.org/drawingml/2006/main">
              <a:ext uri="{FF2B5EF4-FFF2-40B4-BE49-F238E27FC236}">
                <a16:creationId xmlns:a16="http://schemas.microsoft.com/office/drawing/2014/main" id="{D40A0B4E-6687-4CE6-A32C-A7FEF5AF7005}"/>
              </a:ext>
            </a:extLst>
          </p:cNvPr>
          <p:cNvSpPr>
            <a:spLocks xmlns:a="http://schemas.openxmlformats.org/drawingml/2006/main" noGrp="1"/>
          </p:cNvSpPr>
          <p:nvPr/>
        </p:nvSpPr>
        <p:spPr>
          <a:xfrm xmlns:a="http://schemas.openxmlformats.org/drawingml/2006/main">
            <a:off x="514350" y="3048000"/>
            <a:ext cx="2190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Quelles consultations sont pertinentes ?</a:t>
            </a:r>
          </a:p>
        </p:txBody>
      </p:sp>
      <p:sp>
        <p:nvSpPr>
          <p:cNvPr id="10" name="">
            <a:extLst xmlns:a="http://schemas.openxmlformats.org/drawingml/2006/main">
              <a:ext uri="{FF2B5EF4-FFF2-40B4-BE49-F238E27FC236}">
                <a16:creationId xmlns:a16="http://schemas.microsoft.com/office/drawing/2014/main" id="{B6404E76-7FAF-4B5C-BD35-8267ED155E3A}"/>
              </a:ext>
            </a:extLst>
          </p:cNvPr>
          <p:cNvSpPr>
            <a:spLocks xmlns:a="http://schemas.openxmlformats.org/drawingml/2006/main" noGrp="1"/>
          </p:cNvSpPr>
          <p:nvPr/>
        </p:nvSpPr>
        <p:spPr>
          <a:xfrm xmlns:a="http://schemas.openxmlformats.org/drawingml/2006/main">
            <a:off x="2705100" y="2286000"/>
            <a:ext cx="523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550" b="1" i="0">
                <a:solidFill>
                  <a:srgbClr val="2FB9DB"/>
                </a:solidFill>
                <a:latin typeface="Aptos"/>
                <a:ea typeface="Aptos"/>
                <a:cs typeface="Aptos"/>
              </a:defRPr>
            </a:pPr>
            <a:r>
              <a:rPr sz="2550" b="1" i="0">
                <a:solidFill>
                  <a:srgbClr val="2FB9DB"/>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28DC6CD3-C476-4871-BADC-C1B6E05531B5}"/>
              </a:ext>
            </a:extLst>
          </p:cNvPr>
          <p:cNvSpPr>
            <a:spLocks xmlns:a="http://schemas.openxmlformats.org/drawingml/2006/main" noGrp="1"/>
          </p:cNvSpPr>
          <p:nvPr/>
        </p:nvSpPr>
        <p:spPr>
          <a:xfrm xmlns:a="http://schemas.openxmlformats.org/drawingml/2006/main">
            <a:off x="3390900" y="1952625"/>
            <a:ext cx="400050" cy="400050"/>
          </a:xfrm>
          <a:prstGeom xmlns:a="http://schemas.openxmlformats.org/drawingml/2006/main" prst="ellipse">
            <a:avLst/>
          </a:prstGeom>
          <a:solidFill xmlns:a="http://schemas.openxmlformats.org/drawingml/2006/main">
            <a:srgbClr val="1D5AA6"/>
          </a:solidFill>
          <a:ln xmlns:a="http://schemas.openxmlformats.org/drawingml/2006/main" w="9525">
            <a:solidFill>
              <a:srgbClr val="1D5AA6"/>
            </a:solidFill>
            <a:prstDash val="solid"/>
          </a:ln>
        </p:spPr>
      </p:sp>
      <p:sp>
        <p:nvSpPr>
          <p:cNvPr id="12" name="">
            <a:extLst xmlns:a="http://schemas.openxmlformats.org/drawingml/2006/main">
              <a:ext uri="{FF2B5EF4-FFF2-40B4-BE49-F238E27FC236}">
                <a16:creationId xmlns:a16="http://schemas.microsoft.com/office/drawing/2014/main" id="{5792814F-0DBD-479E-B1CA-3A2026AA69FB}"/>
              </a:ext>
            </a:extLst>
          </p:cNvPr>
          <p:cNvSpPr>
            <a:spLocks xmlns:a="http://schemas.openxmlformats.org/drawingml/2006/main" noGrp="1"/>
          </p:cNvSpPr>
          <p:nvPr/>
        </p:nvSpPr>
        <p:spPr>
          <a:xfrm xmlns:a="http://schemas.openxmlformats.org/drawingml/2006/main">
            <a:off x="3390900" y="1962150"/>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2</a:t>
            </a:r>
          </a:p>
        </p:txBody>
      </p:sp>
      <p:sp>
        <p:nvSpPr>
          <p:cNvPr id="13" name="">
            <a:extLst xmlns:a="http://schemas.openxmlformats.org/drawingml/2006/main">
              <a:ext uri="{FF2B5EF4-FFF2-40B4-BE49-F238E27FC236}">
                <a16:creationId xmlns:a16="http://schemas.microsoft.com/office/drawing/2014/main" id="{9C7B6A2B-7BE5-4172-8179-6161952D3E30}"/>
              </a:ext>
            </a:extLst>
          </p:cNvPr>
          <p:cNvSpPr>
            <a:spLocks xmlns:a="http://schemas.openxmlformats.org/drawingml/2006/main" noGrp="1"/>
          </p:cNvSpPr>
          <p:nvPr/>
        </p:nvSpPr>
        <p:spPr>
          <a:xfrm xmlns:a="http://schemas.openxmlformats.org/drawingml/2006/main">
            <a:off x="3390900" y="2533650"/>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0B2545"/>
                </a:solidFill>
                <a:latin typeface="Aptos"/>
                <a:ea typeface="Aptos"/>
                <a:cs typeface="Aptos"/>
              </a:defRPr>
            </a:pPr>
            <a:r>
              <a:rPr sz="1875" b="1" i="0">
                <a:solidFill>
                  <a:srgbClr val="0B2545"/>
                </a:solidFill>
                <a:latin typeface="Aptos"/>
                <a:ea typeface="Aptos"/>
                <a:cs typeface="Aptos"/>
              </a:rPr>
              <a:t>Comprendre</a:t>
            </a:r>
          </a:p>
        </p:txBody>
      </p:sp>
      <p:sp>
        <p:nvSpPr>
          <p:cNvPr id="14" name="">
            <a:extLst xmlns:a="http://schemas.openxmlformats.org/drawingml/2006/main">
              <a:ext uri="{FF2B5EF4-FFF2-40B4-BE49-F238E27FC236}">
                <a16:creationId xmlns:a16="http://schemas.microsoft.com/office/drawing/2014/main" id="{23C1973D-27EE-4539-A8C1-54AD48B013CF}"/>
              </a:ext>
            </a:extLst>
          </p:cNvPr>
          <p:cNvSpPr>
            <a:spLocks xmlns:a="http://schemas.openxmlformats.org/drawingml/2006/main" noGrp="1"/>
          </p:cNvSpPr>
          <p:nvPr/>
        </p:nvSpPr>
        <p:spPr>
          <a:xfrm xmlns:a="http://schemas.openxmlformats.org/drawingml/2006/main">
            <a:off x="3390900" y="3048000"/>
            <a:ext cx="2190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Que disent réellement les pièces ?</a:t>
            </a:r>
          </a:p>
        </p:txBody>
      </p:sp>
      <p:sp>
        <p:nvSpPr>
          <p:cNvPr id="15" name="">
            <a:extLst xmlns:a="http://schemas.openxmlformats.org/drawingml/2006/main">
              <a:ext uri="{FF2B5EF4-FFF2-40B4-BE49-F238E27FC236}">
                <a16:creationId xmlns:a16="http://schemas.microsoft.com/office/drawing/2014/main" id="{67980B0A-BB46-42B9-81CF-DCD4183D5A00}"/>
              </a:ext>
            </a:extLst>
          </p:cNvPr>
          <p:cNvSpPr>
            <a:spLocks xmlns:a="http://schemas.openxmlformats.org/drawingml/2006/main" noGrp="1"/>
          </p:cNvSpPr>
          <p:nvPr/>
        </p:nvSpPr>
        <p:spPr>
          <a:xfrm xmlns:a="http://schemas.openxmlformats.org/drawingml/2006/main">
            <a:off x="5581650" y="2286000"/>
            <a:ext cx="523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550" b="1" i="0">
                <a:solidFill>
                  <a:srgbClr val="2FB9DB"/>
                </a:solidFill>
                <a:latin typeface="Aptos"/>
                <a:ea typeface="Aptos"/>
                <a:cs typeface="Aptos"/>
              </a:defRPr>
            </a:pPr>
            <a:r>
              <a:rPr sz="2550" b="1" i="0">
                <a:solidFill>
                  <a:srgbClr val="2FB9DB"/>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EA8F39F8-E28A-4FB5-978B-2ECE7714A3C8}"/>
              </a:ext>
            </a:extLst>
          </p:cNvPr>
          <p:cNvSpPr>
            <a:spLocks xmlns:a="http://schemas.openxmlformats.org/drawingml/2006/main" noGrp="1"/>
          </p:cNvSpPr>
          <p:nvPr/>
        </p:nvSpPr>
        <p:spPr>
          <a:xfrm xmlns:a="http://schemas.openxmlformats.org/drawingml/2006/main">
            <a:off x="6267450" y="1952625"/>
            <a:ext cx="400050" cy="400050"/>
          </a:xfrm>
          <a:prstGeom xmlns:a="http://schemas.openxmlformats.org/drawingml/2006/main" prst="ellipse">
            <a:avLst/>
          </a:prstGeom>
          <a:solidFill xmlns:a="http://schemas.openxmlformats.org/drawingml/2006/main">
            <a:srgbClr val="1D5AA6"/>
          </a:solidFill>
          <a:ln xmlns:a="http://schemas.openxmlformats.org/drawingml/2006/main" w="9525">
            <a:solidFill>
              <a:srgbClr val="1D5AA6"/>
            </a:solidFill>
            <a:prstDash val="solid"/>
          </a:ln>
        </p:spPr>
      </p:sp>
      <p:sp>
        <p:nvSpPr>
          <p:cNvPr id="17" name="">
            <a:extLst xmlns:a="http://schemas.openxmlformats.org/drawingml/2006/main">
              <a:ext uri="{FF2B5EF4-FFF2-40B4-BE49-F238E27FC236}">
                <a16:creationId xmlns:a16="http://schemas.microsoft.com/office/drawing/2014/main" id="{91BDF296-AC8C-44E8-817A-BD075191BEF7}"/>
              </a:ext>
            </a:extLst>
          </p:cNvPr>
          <p:cNvSpPr>
            <a:spLocks xmlns:a="http://schemas.openxmlformats.org/drawingml/2006/main" noGrp="1"/>
          </p:cNvSpPr>
          <p:nvPr/>
        </p:nvSpPr>
        <p:spPr>
          <a:xfrm xmlns:a="http://schemas.openxmlformats.org/drawingml/2006/main">
            <a:off x="6267450" y="1962150"/>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3</a:t>
            </a:r>
          </a:p>
        </p:txBody>
      </p:sp>
      <p:sp>
        <p:nvSpPr>
          <p:cNvPr id="18" name="">
            <a:extLst xmlns:a="http://schemas.openxmlformats.org/drawingml/2006/main">
              <a:ext uri="{FF2B5EF4-FFF2-40B4-BE49-F238E27FC236}">
                <a16:creationId xmlns:a16="http://schemas.microsoft.com/office/drawing/2014/main" id="{FD0A8630-297D-4398-9819-3F2AF3F50F9C}"/>
              </a:ext>
            </a:extLst>
          </p:cNvPr>
          <p:cNvSpPr>
            <a:spLocks xmlns:a="http://schemas.openxmlformats.org/drawingml/2006/main" noGrp="1"/>
          </p:cNvSpPr>
          <p:nvPr/>
        </p:nvSpPr>
        <p:spPr>
          <a:xfrm xmlns:a="http://schemas.openxmlformats.org/drawingml/2006/main">
            <a:off x="6267450" y="2533650"/>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0B2545"/>
                </a:solidFill>
                <a:latin typeface="Aptos"/>
                <a:ea typeface="Aptos"/>
                <a:cs typeface="Aptos"/>
              </a:defRPr>
            </a:pPr>
            <a:r>
              <a:rPr sz="1875" b="1" i="0">
                <a:solidFill>
                  <a:srgbClr val="0B2545"/>
                </a:solidFill>
                <a:latin typeface="Aptos"/>
                <a:ea typeface="Aptos"/>
                <a:cs typeface="Aptos"/>
              </a:rPr>
              <a:t>Arbitrer</a:t>
            </a:r>
          </a:p>
        </p:txBody>
      </p:sp>
      <p:sp>
        <p:nvSpPr>
          <p:cNvPr id="19" name="">
            <a:extLst xmlns:a="http://schemas.openxmlformats.org/drawingml/2006/main">
              <a:ext uri="{FF2B5EF4-FFF2-40B4-BE49-F238E27FC236}">
                <a16:creationId xmlns:a16="http://schemas.microsoft.com/office/drawing/2014/main" id="{96A60C11-AB56-426E-9057-E4F99DE7CC61}"/>
              </a:ext>
            </a:extLst>
          </p:cNvPr>
          <p:cNvSpPr>
            <a:spLocks xmlns:a="http://schemas.openxmlformats.org/drawingml/2006/main" noGrp="1"/>
          </p:cNvSpPr>
          <p:nvPr/>
        </p:nvSpPr>
        <p:spPr>
          <a:xfrm xmlns:a="http://schemas.openxmlformats.org/drawingml/2006/main">
            <a:off x="6267450" y="3048000"/>
            <a:ext cx="2190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Le dossier mérite-t-il un effort commercial ?</a:t>
            </a:r>
          </a:p>
        </p:txBody>
      </p:sp>
      <p:sp>
        <p:nvSpPr>
          <p:cNvPr id="20" name="">
            <a:extLst xmlns:a="http://schemas.openxmlformats.org/drawingml/2006/main">
              <a:ext uri="{FF2B5EF4-FFF2-40B4-BE49-F238E27FC236}">
                <a16:creationId xmlns:a16="http://schemas.microsoft.com/office/drawing/2014/main" id="{EBF0AFAE-1179-4A61-9587-A812CD6561CC}"/>
              </a:ext>
            </a:extLst>
          </p:cNvPr>
          <p:cNvSpPr>
            <a:spLocks xmlns:a="http://schemas.openxmlformats.org/drawingml/2006/main" noGrp="1"/>
          </p:cNvSpPr>
          <p:nvPr/>
        </p:nvSpPr>
        <p:spPr>
          <a:xfrm xmlns:a="http://schemas.openxmlformats.org/drawingml/2006/main">
            <a:off x="8458200" y="2286000"/>
            <a:ext cx="52387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550" b="1" i="0">
                <a:solidFill>
                  <a:srgbClr val="2FB9DB"/>
                </a:solidFill>
                <a:latin typeface="Aptos"/>
                <a:ea typeface="Aptos"/>
                <a:cs typeface="Aptos"/>
              </a:defRPr>
            </a:pPr>
            <a:r>
              <a:rPr sz="2550" b="1" i="0">
                <a:solidFill>
                  <a:srgbClr val="2FB9DB"/>
                </a:solidFill>
                <a:latin typeface="Aptos"/>
                <a:ea typeface="Aptos"/>
                <a:cs typeface="Aptos"/>
              </a:rPr>
              <a:t>→</a:t>
            </a:r>
          </a:p>
        </p:txBody>
      </p:sp>
      <p:sp>
        <p:nvSpPr>
          <p:cNvPr id="21" name="">
            <a:extLst xmlns:a="http://schemas.openxmlformats.org/drawingml/2006/main">
              <a:ext uri="{FF2B5EF4-FFF2-40B4-BE49-F238E27FC236}">
                <a16:creationId xmlns:a16="http://schemas.microsoft.com/office/drawing/2014/main" id="{70EECBB3-94FE-4867-9E34-0B15C8325B2D}"/>
              </a:ext>
            </a:extLst>
          </p:cNvPr>
          <p:cNvSpPr>
            <a:spLocks xmlns:a="http://schemas.openxmlformats.org/drawingml/2006/main" noGrp="1"/>
          </p:cNvSpPr>
          <p:nvPr/>
        </p:nvSpPr>
        <p:spPr>
          <a:xfrm xmlns:a="http://schemas.openxmlformats.org/drawingml/2006/main">
            <a:off x="9144000" y="1952625"/>
            <a:ext cx="400050" cy="400050"/>
          </a:xfrm>
          <a:prstGeom xmlns:a="http://schemas.openxmlformats.org/drawingml/2006/main" prst="ellipse">
            <a:avLst/>
          </a:prstGeom>
          <a:solidFill xmlns:a="http://schemas.openxmlformats.org/drawingml/2006/main">
            <a:srgbClr val="2E9D69"/>
          </a:solidFill>
          <a:ln xmlns:a="http://schemas.openxmlformats.org/drawingml/2006/main" w="9525">
            <a:solidFill>
              <a:srgbClr val="2E9D69"/>
            </a:solidFill>
            <a:prstDash val="solid"/>
          </a:ln>
        </p:spPr>
      </p:sp>
      <p:sp>
        <p:nvSpPr>
          <p:cNvPr id="22" name="">
            <a:extLst xmlns:a="http://schemas.openxmlformats.org/drawingml/2006/main">
              <a:ext uri="{FF2B5EF4-FFF2-40B4-BE49-F238E27FC236}">
                <a16:creationId xmlns:a16="http://schemas.microsoft.com/office/drawing/2014/main" id="{A05A7B23-2A31-44D7-A104-EBE0D4654234}"/>
              </a:ext>
            </a:extLst>
          </p:cNvPr>
          <p:cNvSpPr>
            <a:spLocks xmlns:a="http://schemas.openxmlformats.org/drawingml/2006/main" noGrp="1"/>
          </p:cNvSpPr>
          <p:nvPr/>
        </p:nvSpPr>
        <p:spPr>
          <a:xfrm xmlns:a="http://schemas.openxmlformats.org/drawingml/2006/main">
            <a:off x="9144000" y="1962150"/>
            <a:ext cx="4000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4</a:t>
            </a:r>
          </a:p>
        </p:txBody>
      </p:sp>
      <p:sp>
        <p:nvSpPr>
          <p:cNvPr id="23" name="">
            <a:extLst xmlns:a="http://schemas.openxmlformats.org/drawingml/2006/main">
              <a:ext uri="{FF2B5EF4-FFF2-40B4-BE49-F238E27FC236}">
                <a16:creationId xmlns:a16="http://schemas.microsoft.com/office/drawing/2014/main" id="{AC22FF55-738A-43BE-91CE-AC3EB0B2CE88}"/>
              </a:ext>
            </a:extLst>
          </p:cNvPr>
          <p:cNvSpPr>
            <a:spLocks xmlns:a="http://schemas.openxmlformats.org/drawingml/2006/main" noGrp="1"/>
          </p:cNvSpPr>
          <p:nvPr/>
        </p:nvSpPr>
        <p:spPr>
          <a:xfrm xmlns:a="http://schemas.openxmlformats.org/drawingml/2006/main">
            <a:off x="9144000" y="2533650"/>
            <a:ext cx="2266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0B2545"/>
                </a:solidFill>
                <a:latin typeface="Aptos"/>
                <a:ea typeface="Aptos"/>
                <a:cs typeface="Aptos"/>
              </a:defRPr>
            </a:pPr>
            <a:r>
              <a:rPr sz="1875" b="1" i="0">
                <a:solidFill>
                  <a:srgbClr val="0B2545"/>
                </a:solidFill>
                <a:latin typeface="Aptos"/>
                <a:ea typeface="Aptos"/>
                <a:cs typeface="Aptos"/>
              </a:rPr>
              <a:t>Diffuser</a:t>
            </a:r>
          </a:p>
        </p:txBody>
      </p:sp>
      <p:sp>
        <p:nvSpPr>
          <p:cNvPr id="24" name="">
            <a:extLst xmlns:a="http://schemas.openxmlformats.org/drawingml/2006/main">
              <a:ext uri="{FF2B5EF4-FFF2-40B4-BE49-F238E27FC236}">
                <a16:creationId xmlns:a16="http://schemas.microsoft.com/office/drawing/2014/main" id="{F9910216-94BD-4550-89EE-B3C7A6C31D94}"/>
              </a:ext>
            </a:extLst>
          </p:cNvPr>
          <p:cNvSpPr>
            <a:spLocks xmlns:a="http://schemas.openxmlformats.org/drawingml/2006/main" noGrp="1"/>
          </p:cNvSpPr>
          <p:nvPr/>
        </p:nvSpPr>
        <p:spPr>
          <a:xfrm xmlns:a="http://schemas.openxmlformats.org/drawingml/2006/main">
            <a:off x="9144000" y="3048000"/>
            <a:ext cx="21907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Comment notifier sans doublon ni fuite ?</a:t>
            </a:r>
          </a:p>
        </p:txBody>
      </p:sp>
      <p:sp>
        <p:nvSpPr>
          <p:cNvPr id="25" name="">
            <a:extLst xmlns:a="http://schemas.openxmlformats.org/drawingml/2006/main">
              <a:ext uri="{FF2B5EF4-FFF2-40B4-BE49-F238E27FC236}">
                <a16:creationId xmlns:a16="http://schemas.microsoft.com/office/drawing/2014/main" id="{61087F76-5AAC-4B4E-BB3B-86C538193700}"/>
              </a:ext>
            </a:extLst>
          </p:cNvPr>
          <p:cNvSpPr>
            <a:spLocks xmlns:a="http://schemas.openxmlformats.org/drawingml/2006/main" noGrp="1"/>
          </p:cNvSpPr>
          <p:nvPr/>
        </p:nvSpPr>
        <p:spPr>
          <a:xfrm xmlns:a="http://schemas.openxmlformats.org/drawingml/2006/main">
            <a:off x="514350" y="4629150"/>
            <a:ext cx="10725150" cy="1000125"/>
          </a:xfrm>
          <a:prstGeom xmlns:a="http://schemas.openxmlformats.org/drawingml/2006/main" prst="roundRect">
            <a:avLst>
              <a:gd name="adj" fmla="val 15238"/>
            </a:avLst>
          </a:prstGeom>
          <a:solidFill xmlns:a="http://schemas.openxmlformats.org/drawingml/2006/main">
            <a:srgbClr val="0B2545"/>
          </a:solidFill>
          <a:ln xmlns:a="http://schemas.openxmlformats.org/drawingml/2006/main" w="0">
            <a:solidFill>
              <a:srgbClr val="0B2545"/>
            </a:solidFill>
            <a:prstDash val="solid"/>
          </a:ln>
        </p:spPr>
      </p:sp>
      <p:sp>
        <p:nvSpPr>
          <p:cNvPr id="26" name="">
            <a:extLst xmlns:a="http://schemas.openxmlformats.org/drawingml/2006/main">
              <a:ext uri="{FF2B5EF4-FFF2-40B4-BE49-F238E27FC236}">
                <a16:creationId xmlns:a16="http://schemas.microsoft.com/office/drawing/2014/main" id="{9A4FA3BE-BF3C-4405-B5A1-BA2CCA4A54C3}"/>
              </a:ext>
            </a:extLst>
          </p:cNvPr>
          <p:cNvSpPr>
            <a:spLocks xmlns:a="http://schemas.openxmlformats.org/drawingml/2006/main" noGrp="1"/>
          </p:cNvSpPr>
          <p:nvPr/>
        </p:nvSpPr>
        <p:spPr>
          <a:xfrm xmlns:a="http://schemas.openxmlformats.org/drawingml/2006/main">
            <a:off x="762000" y="481965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Question directrice</a:t>
            </a:r>
          </a:p>
        </p:txBody>
      </p:sp>
      <p:sp>
        <p:nvSpPr>
          <p:cNvPr id="27" name="">
            <a:extLst xmlns:a="http://schemas.openxmlformats.org/drawingml/2006/main">
              <a:ext uri="{FF2B5EF4-FFF2-40B4-BE49-F238E27FC236}">
                <a16:creationId xmlns:a16="http://schemas.microsoft.com/office/drawing/2014/main" id="{C1BF6D8D-D4C9-471C-9AF4-BF8EF57DBE66}"/>
              </a:ext>
            </a:extLst>
          </p:cNvPr>
          <p:cNvSpPr>
            <a:spLocks xmlns:a="http://schemas.openxmlformats.org/drawingml/2006/main" noGrp="1"/>
          </p:cNvSpPr>
          <p:nvPr/>
        </p:nvSpPr>
        <p:spPr>
          <a:xfrm xmlns:a="http://schemas.openxmlformats.org/drawingml/2006/main">
            <a:off x="762000" y="5124450"/>
            <a:ext cx="981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FFFFFF"/>
                </a:solidFill>
                <a:latin typeface="Aptos"/>
                <a:ea typeface="Aptos"/>
                <a:cs typeface="Aptos"/>
              </a:defRPr>
            </a:pPr>
            <a:r>
              <a:rPr sz="1875" b="1" i="0">
                <a:solidFill>
                  <a:srgbClr val="FFFFFF"/>
                </a:solidFill>
                <a:latin typeface="Aptos"/>
                <a:ea typeface="Aptos"/>
                <a:cs typeface="Aptos"/>
              </a:rPr>
              <a:t>Comment automatiser l’analyse sans confondre accélération et délégation de la décision ?</a:t>
            </a:r>
          </a:p>
        </p:txBody>
      </p:sp>
    </p:spTree>
    <p:extLst>
      <p:ext uri="{BB962C8B-B14F-4D97-AF65-F5344CB8AC3E}">
        <p14:creationId xmlns:p14="http://schemas.microsoft.com/office/powerpoint/2010/main" val="925670015"/>
      </p:ext>
    </p:extLst>
  </p:cSld>
</p:sld>
</file>

<file path=ppt/slides/slide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812BC80-F18F-4E97-A90D-936EADCD30B1}"/>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DÉMARCHE</a:t>
            </a:r>
          </a:p>
        </p:txBody>
      </p:sp>
      <p:sp>
        <p:nvSpPr>
          <p:cNvPr id="2" name="">
            <a:extLst xmlns:a="http://schemas.openxmlformats.org/drawingml/2006/main">
              <a:ext uri="{FF2B5EF4-FFF2-40B4-BE49-F238E27FC236}">
                <a16:creationId xmlns:a16="http://schemas.microsoft.com/office/drawing/2014/main" id="{D99B1ACA-F9F6-4728-B365-D330D6EE96F2}"/>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Deux mois de construction incrémentale, guidée par les risques</a:t>
            </a:r>
          </a:p>
        </p:txBody>
      </p:sp>
      <p:sp>
        <p:nvSpPr>
          <p:cNvPr id="3" name="">
            <a:extLst xmlns:a="http://schemas.openxmlformats.org/drawingml/2006/main">
              <a:ext uri="{FF2B5EF4-FFF2-40B4-BE49-F238E27FC236}">
                <a16:creationId xmlns:a16="http://schemas.microsoft.com/office/drawing/2014/main" id="{4DE5C3C8-6280-4CDE-A796-89B9C51A8A80}"/>
              </a:ext>
            </a:extLst>
          </p:cNvPr>
          <p:cNvSpPr>
            <a:spLocks xmlns:a="http://schemas.openxmlformats.org/drawingml/2006/main" noGrp="1"/>
          </p:cNvSpPr>
          <p:nvPr/>
        </p:nvSpPr>
        <p:spPr>
          <a:xfrm xmlns:a="http://schemas.openxmlformats.org/drawingml/2006/main">
            <a:off x="476250" y="12001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667085"/>
                </a:solidFill>
                <a:latin typeface="Aptos"/>
                <a:ea typeface="Aptos"/>
                <a:cs typeface="Aptos"/>
              </a:defRPr>
            </a:pPr>
            <a:r>
              <a:rPr sz="1350" b="0" i="0">
                <a:solidFill>
                  <a:srgbClr val="667085"/>
                </a:solidFill>
                <a:latin typeface="Aptos"/>
                <a:ea typeface="Aptos"/>
                <a:cs typeface="Aptos"/>
              </a:rPr>
              <a:t>Chaque jalon rend la chaîne plus observable et plus sûre.</a:t>
            </a:r>
          </a:p>
        </p:txBody>
      </p:sp>
      <p:sp>
        <p:nvSpPr>
          <p:cNvPr id="4" name="">
            <a:extLst xmlns:a="http://schemas.openxmlformats.org/drawingml/2006/main">
              <a:ext uri="{FF2B5EF4-FFF2-40B4-BE49-F238E27FC236}">
                <a16:creationId xmlns:a16="http://schemas.microsoft.com/office/drawing/2014/main" id="{32146A7C-D6F1-4099-8129-BCC02CFAA2E3}"/>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5" name="">
            <a:extLst xmlns:a="http://schemas.openxmlformats.org/drawingml/2006/main">
              <a:ext uri="{FF2B5EF4-FFF2-40B4-BE49-F238E27FC236}">
                <a16:creationId xmlns:a16="http://schemas.microsoft.com/office/drawing/2014/main" id="{76BCA18E-CED3-4ABD-9E18-A5E48CDE03B0}"/>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6" name="">
            <a:extLst xmlns:a="http://schemas.openxmlformats.org/drawingml/2006/main">
              <a:ext uri="{FF2B5EF4-FFF2-40B4-BE49-F238E27FC236}">
                <a16:creationId xmlns:a16="http://schemas.microsoft.com/office/drawing/2014/main" id="{0E37EFE4-9A4D-4267-8E27-5AA0D61F52A8}"/>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04</a:t>
            </a:r>
          </a:p>
        </p:txBody>
      </p:sp>
      <p:sp>
        <p:nvSpPr>
          <p:cNvPr id="7" name="">
            <a:extLst xmlns:a="http://schemas.openxmlformats.org/drawingml/2006/main">
              <a:ext uri="{FF2B5EF4-FFF2-40B4-BE49-F238E27FC236}">
                <a16:creationId xmlns:a16="http://schemas.microsoft.com/office/drawing/2014/main" id="{89827C56-7440-45B4-9E4E-83AD890DDD15}"/>
              </a:ext>
            </a:extLst>
          </p:cNvPr>
          <p:cNvSpPr>
            <a:spLocks xmlns:a="http://schemas.openxmlformats.org/drawingml/2006/main" noGrp="1"/>
          </p:cNvSpPr>
          <p:nvPr/>
        </p:nvSpPr>
        <p:spPr>
          <a:xfrm xmlns:a="http://schemas.openxmlformats.org/drawingml/2006/main">
            <a:off x="876300" y="3352800"/>
            <a:ext cx="10001250" cy="0"/>
          </a:xfrm>
          <a:prstGeom xmlns:a="http://schemas.openxmlformats.org/drawingml/2006/main" prst="line">
            <a:avLst/>
          </a:prstGeom>
          <a:noFill xmlns:a="http://schemas.openxmlformats.org/drawingml/2006/main"/>
          <a:ln xmlns:a="http://schemas.openxmlformats.org/drawingml/2006/main" w="28575">
            <a:solidFill>
              <a:srgbClr val="1D5AA6"/>
            </a:solidFill>
            <a:prstDash val="solid"/>
          </a:ln>
        </p:spPr>
      </p:sp>
      <p:sp>
        <p:nvSpPr>
          <p:cNvPr id="8" name="">
            <a:extLst xmlns:a="http://schemas.openxmlformats.org/drawingml/2006/main">
              <a:ext uri="{FF2B5EF4-FFF2-40B4-BE49-F238E27FC236}">
                <a16:creationId xmlns:a16="http://schemas.microsoft.com/office/drawing/2014/main" id="{F0A8E932-127F-4DCD-8E08-29F600B8A082}"/>
              </a:ext>
            </a:extLst>
          </p:cNvPr>
          <p:cNvSpPr>
            <a:spLocks xmlns:a="http://schemas.openxmlformats.org/drawingml/2006/main" noGrp="1"/>
          </p:cNvSpPr>
          <p:nvPr/>
        </p:nvSpPr>
        <p:spPr>
          <a:xfrm xmlns:a="http://schemas.openxmlformats.org/drawingml/2006/main">
            <a:off x="952500" y="3228975"/>
            <a:ext cx="247650" cy="247650"/>
          </a:xfrm>
          <a:prstGeom xmlns:a="http://schemas.openxmlformats.org/drawingml/2006/main" prst="ellipse">
            <a:avLst/>
          </a:prstGeom>
          <a:solidFill xmlns:a="http://schemas.openxmlformats.org/drawingml/2006/main">
            <a:srgbClr val="1D5AA6"/>
          </a:solidFill>
          <a:ln xmlns:a="http://schemas.openxmlformats.org/drawingml/2006/main" w="38100">
            <a:solidFill>
              <a:srgbClr val="FFFFFF"/>
            </a:solidFill>
            <a:prstDash val="solid"/>
          </a:ln>
        </p:spPr>
      </p:sp>
      <p:sp>
        <p:nvSpPr>
          <p:cNvPr id="9" name="">
            <a:extLst xmlns:a="http://schemas.openxmlformats.org/drawingml/2006/main">
              <a:ext uri="{FF2B5EF4-FFF2-40B4-BE49-F238E27FC236}">
                <a16:creationId xmlns:a16="http://schemas.microsoft.com/office/drawing/2014/main" id="{F0FC9B69-1ED6-4579-A580-5FC81011C6A2}"/>
              </a:ext>
            </a:extLst>
          </p:cNvPr>
          <p:cNvSpPr>
            <a:spLocks xmlns:a="http://schemas.openxmlformats.org/drawingml/2006/main" noGrp="1"/>
          </p:cNvSpPr>
          <p:nvPr/>
        </p:nvSpPr>
        <p:spPr>
          <a:xfrm xmlns:a="http://schemas.openxmlformats.org/drawingml/2006/main">
            <a:off x="838200" y="2724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D5AA6"/>
                </a:solidFill>
                <a:latin typeface="Aptos"/>
                <a:ea typeface="Aptos"/>
                <a:cs typeface="Aptos"/>
              </a:defRPr>
            </a:pPr>
            <a:r>
              <a:rPr sz="1200" b="1" i="0">
                <a:solidFill>
                  <a:srgbClr val="1D5AA6"/>
                </a:solidFill>
                <a:latin typeface="Aptos"/>
                <a:ea typeface="Aptos"/>
                <a:cs typeface="Aptos"/>
              </a:rPr>
              <a:t>26 juin</a:t>
            </a:r>
          </a:p>
        </p:txBody>
      </p:sp>
      <p:sp>
        <p:nvSpPr>
          <p:cNvPr id="10" name="">
            <a:extLst xmlns:a="http://schemas.openxmlformats.org/drawingml/2006/main">
              <a:ext uri="{FF2B5EF4-FFF2-40B4-BE49-F238E27FC236}">
                <a16:creationId xmlns:a16="http://schemas.microsoft.com/office/drawing/2014/main" id="{E7B8DA34-EBC6-4E6B-9A9A-82DF1C7ED27F}"/>
              </a:ext>
            </a:extLst>
          </p:cNvPr>
          <p:cNvSpPr>
            <a:spLocks xmlns:a="http://schemas.openxmlformats.org/drawingml/2006/main" noGrp="1"/>
          </p:cNvSpPr>
          <p:nvPr/>
        </p:nvSpPr>
        <p:spPr>
          <a:xfrm xmlns:a="http://schemas.openxmlformats.org/drawingml/2006/main">
            <a:off x="838200" y="37147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Cadrage</a:t>
            </a:r>
          </a:p>
        </p:txBody>
      </p:sp>
      <p:sp>
        <p:nvSpPr>
          <p:cNvPr id="11" name="">
            <a:extLst xmlns:a="http://schemas.openxmlformats.org/drawingml/2006/main">
              <a:ext uri="{FF2B5EF4-FFF2-40B4-BE49-F238E27FC236}">
                <a16:creationId xmlns:a16="http://schemas.microsoft.com/office/drawing/2014/main" id="{B010C1EE-2436-4A88-BD1C-14D844EB95C0}"/>
              </a:ext>
            </a:extLst>
          </p:cNvPr>
          <p:cNvSpPr>
            <a:spLocks xmlns:a="http://schemas.openxmlformats.org/drawingml/2006/main" noGrp="1"/>
          </p:cNvSpPr>
          <p:nvPr/>
        </p:nvSpPr>
        <p:spPr>
          <a:xfrm xmlns:a="http://schemas.openxmlformats.org/drawingml/2006/main">
            <a:off x="838200" y="4114800"/>
            <a:ext cx="167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Source publique</a:t>
            </a:r>
          </a:p>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 schéma initial</a:t>
            </a:r>
          </a:p>
        </p:txBody>
      </p:sp>
      <p:sp>
        <p:nvSpPr>
          <p:cNvPr id="12" name="">
            <a:extLst xmlns:a="http://schemas.openxmlformats.org/drawingml/2006/main">
              <a:ext uri="{FF2B5EF4-FFF2-40B4-BE49-F238E27FC236}">
                <a16:creationId xmlns:a16="http://schemas.microsoft.com/office/drawing/2014/main" id="{AA469D1E-ABE6-41AF-B51B-3DBF2C17FC7E}"/>
              </a:ext>
            </a:extLst>
          </p:cNvPr>
          <p:cNvSpPr>
            <a:spLocks xmlns:a="http://schemas.openxmlformats.org/drawingml/2006/main" noGrp="1"/>
          </p:cNvSpPr>
          <p:nvPr/>
        </p:nvSpPr>
        <p:spPr>
          <a:xfrm xmlns:a="http://schemas.openxmlformats.org/drawingml/2006/main">
            <a:off x="3238500" y="3228975"/>
            <a:ext cx="247650" cy="247650"/>
          </a:xfrm>
          <a:prstGeom xmlns:a="http://schemas.openxmlformats.org/drawingml/2006/main" prst="ellipse">
            <a:avLst/>
          </a:prstGeom>
          <a:solidFill xmlns:a="http://schemas.openxmlformats.org/drawingml/2006/main">
            <a:srgbClr val="1D5AA6"/>
          </a:solidFill>
          <a:ln xmlns:a="http://schemas.openxmlformats.org/drawingml/2006/main" w="38100">
            <a:solidFill>
              <a:srgbClr val="FFFFFF"/>
            </a:solidFill>
            <a:prstDash val="solid"/>
          </a:ln>
        </p:spPr>
      </p:sp>
      <p:sp>
        <p:nvSpPr>
          <p:cNvPr id="13" name="">
            <a:extLst xmlns:a="http://schemas.openxmlformats.org/drawingml/2006/main">
              <a:ext uri="{FF2B5EF4-FFF2-40B4-BE49-F238E27FC236}">
                <a16:creationId xmlns:a16="http://schemas.microsoft.com/office/drawing/2014/main" id="{A4ADB9F0-E1A6-474B-8B25-520069183FB7}"/>
              </a:ext>
            </a:extLst>
          </p:cNvPr>
          <p:cNvSpPr>
            <a:spLocks xmlns:a="http://schemas.openxmlformats.org/drawingml/2006/main" noGrp="1"/>
          </p:cNvSpPr>
          <p:nvPr/>
        </p:nvSpPr>
        <p:spPr>
          <a:xfrm xmlns:a="http://schemas.openxmlformats.org/drawingml/2006/main">
            <a:off x="3124200" y="2724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D5AA6"/>
                </a:solidFill>
                <a:latin typeface="Aptos"/>
                <a:ea typeface="Aptos"/>
                <a:cs typeface="Aptos"/>
              </a:defRPr>
            </a:pPr>
            <a:r>
              <a:rPr sz="1200" b="1" i="0">
                <a:solidFill>
                  <a:srgbClr val="1D5AA6"/>
                </a:solidFill>
                <a:latin typeface="Aptos"/>
                <a:ea typeface="Aptos"/>
                <a:cs typeface="Aptos"/>
              </a:rPr>
              <a:t>Juillet</a:t>
            </a:r>
          </a:p>
        </p:txBody>
      </p:sp>
      <p:sp>
        <p:nvSpPr>
          <p:cNvPr id="14" name="">
            <a:extLst xmlns:a="http://schemas.openxmlformats.org/drawingml/2006/main">
              <a:ext uri="{FF2B5EF4-FFF2-40B4-BE49-F238E27FC236}">
                <a16:creationId xmlns:a16="http://schemas.microsoft.com/office/drawing/2014/main" id="{33D66B3A-81E6-4CE6-B836-2BBA3533F739}"/>
              </a:ext>
            </a:extLst>
          </p:cNvPr>
          <p:cNvSpPr>
            <a:spLocks xmlns:a="http://schemas.openxmlformats.org/drawingml/2006/main" noGrp="1"/>
          </p:cNvSpPr>
          <p:nvPr/>
        </p:nvSpPr>
        <p:spPr>
          <a:xfrm xmlns:a="http://schemas.openxmlformats.org/drawingml/2006/main">
            <a:off x="3124200" y="37147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Acquisition</a:t>
            </a:r>
          </a:p>
        </p:txBody>
      </p:sp>
      <p:sp>
        <p:nvSpPr>
          <p:cNvPr id="15" name="">
            <a:extLst xmlns:a="http://schemas.openxmlformats.org/drawingml/2006/main">
              <a:ext uri="{FF2B5EF4-FFF2-40B4-BE49-F238E27FC236}">
                <a16:creationId xmlns:a16="http://schemas.microsoft.com/office/drawing/2014/main" id="{C4239FAB-2695-4B31-B72A-02B40CD2F083}"/>
              </a:ext>
            </a:extLst>
          </p:cNvPr>
          <p:cNvSpPr>
            <a:spLocks xmlns:a="http://schemas.openxmlformats.org/drawingml/2006/main" noGrp="1"/>
          </p:cNvSpPr>
          <p:nvPr/>
        </p:nvSpPr>
        <p:spPr>
          <a:xfrm xmlns:a="http://schemas.openxmlformats.org/drawingml/2006/main">
            <a:off x="3124200" y="4114800"/>
            <a:ext cx="167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Collecte, détails,</a:t>
            </a:r>
          </a:p>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pièces &amp; OCR</a:t>
            </a:r>
          </a:p>
        </p:txBody>
      </p:sp>
      <p:sp>
        <p:nvSpPr>
          <p:cNvPr id="16" name="">
            <a:extLst xmlns:a="http://schemas.openxmlformats.org/drawingml/2006/main">
              <a:ext uri="{FF2B5EF4-FFF2-40B4-BE49-F238E27FC236}">
                <a16:creationId xmlns:a16="http://schemas.microsoft.com/office/drawing/2014/main" id="{0215657B-9B96-4225-8DDD-52E1C5C16B5C}"/>
              </a:ext>
            </a:extLst>
          </p:cNvPr>
          <p:cNvSpPr>
            <a:spLocks xmlns:a="http://schemas.openxmlformats.org/drawingml/2006/main" noGrp="1"/>
          </p:cNvSpPr>
          <p:nvPr/>
        </p:nvSpPr>
        <p:spPr>
          <a:xfrm xmlns:a="http://schemas.openxmlformats.org/drawingml/2006/main">
            <a:off x="5524500" y="3228975"/>
            <a:ext cx="247650" cy="247650"/>
          </a:xfrm>
          <a:prstGeom xmlns:a="http://schemas.openxmlformats.org/drawingml/2006/main" prst="ellipse">
            <a:avLst/>
          </a:prstGeom>
          <a:solidFill xmlns:a="http://schemas.openxmlformats.org/drawingml/2006/main">
            <a:srgbClr val="1D5AA6"/>
          </a:solidFill>
          <a:ln xmlns:a="http://schemas.openxmlformats.org/drawingml/2006/main" w="38100">
            <a:solidFill>
              <a:srgbClr val="FFFFFF"/>
            </a:solidFill>
            <a:prstDash val="solid"/>
          </a:ln>
        </p:spPr>
      </p:sp>
      <p:sp>
        <p:nvSpPr>
          <p:cNvPr id="17" name="">
            <a:extLst xmlns:a="http://schemas.openxmlformats.org/drawingml/2006/main">
              <a:ext uri="{FF2B5EF4-FFF2-40B4-BE49-F238E27FC236}">
                <a16:creationId xmlns:a16="http://schemas.microsoft.com/office/drawing/2014/main" id="{8E0217D4-13E4-4004-8884-A4ECBFC851FC}"/>
              </a:ext>
            </a:extLst>
          </p:cNvPr>
          <p:cNvSpPr>
            <a:spLocks xmlns:a="http://schemas.openxmlformats.org/drawingml/2006/main" noGrp="1"/>
          </p:cNvSpPr>
          <p:nvPr/>
        </p:nvSpPr>
        <p:spPr>
          <a:xfrm xmlns:a="http://schemas.openxmlformats.org/drawingml/2006/main">
            <a:off x="5410200" y="2724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D5AA6"/>
                </a:solidFill>
                <a:latin typeface="Aptos"/>
                <a:ea typeface="Aptos"/>
                <a:cs typeface="Aptos"/>
              </a:defRPr>
            </a:pPr>
            <a:r>
              <a:rPr sz="1200" b="1" i="0">
                <a:solidFill>
                  <a:srgbClr val="1D5AA6"/>
                </a:solidFill>
                <a:latin typeface="Aptos"/>
                <a:ea typeface="Aptos"/>
                <a:cs typeface="Aptos"/>
              </a:rPr>
              <a:t>Début août</a:t>
            </a:r>
          </a:p>
        </p:txBody>
      </p:sp>
      <p:sp>
        <p:nvSpPr>
          <p:cNvPr id="18" name="">
            <a:extLst xmlns:a="http://schemas.openxmlformats.org/drawingml/2006/main">
              <a:ext uri="{FF2B5EF4-FFF2-40B4-BE49-F238E27FC236}">
                <a16:creationId xmlns:a16="http://schemas.microsoft.com/office/drawing/2014/main" id="{8D0C3486-12EA-4339-9383-31AD50467610}"/>
              </a:ext>
            </a:extLst>
          </p:cNvPr>
          <p:cNvSpPr>
            <a:spLocks xmlns:a="http://schemas.openxmlformats.org/drawingml/2006/main" noGrp="1"/>
          </p:cNvSpPr>
          <p:nvPr/>
        </p:nvSpPr>
        <p:spPr>
          <a:xfrm xmlns:a="http://schemas.openxmlformats.org/drawingml/2006/main">
            <a:off x="5410200" y="37147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Analyse</a:t>
            </a:r>
          </a:p>
        </p:txBody>
      </p:sp>
      <p:sp>
        <p:nvSpPr>
          <p:cNvPr id="19" name="">
            <a:extLst xmlns:a="http://schemas.openxmlformats.org/drawingml/2006/main">
              <a:ext uri="{FF2B5EF4-FFF2-40B4-BE49-F238E27FC236}">
                <a16:creationId xmlns:a16="http://schemas.microsoft.com/office/drawing/2014/main" id="{369B0BD1-3B1C-4E94-BD79-0E13D225AF0D}"/>
              </a:ext>
            </a:extLst>
          </p:cNvPr>
          <p:cNvSpPr>
            <a:spLocks xmlns:a="http://schemas.openxmlformats.org/drawingml/2006/main" noGrp="1"/>
          </p:cNvSpPr>
          <p:nvPr/>
        </p:nvSpPr>
        <p:spPr>
          <a:xfrm xmlns:a="http://schemas.openxmlformats.org/drawingml/2006/main">
            <a:off x="5410200" y="4114800"/>
            <a:ext cx="167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Contexte, score,</a:t>
            </a:r>
          </a:p>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preuves &amp; audit</a:t>
            </a:r>
          </a:p>
        </p:txBody>
      </p:sp>
      <p:sp>
        <p:nvSpPr>
          <p:cNvPr id="20" name="">
            <a:extLst xmlns:a="http://schemas.openxmlformats.org/drawingml/2006/main">
              <a:ext uri="{FF2B5EF4-FFF2-40B4-BE49-F238E27FC236}">
                <a16:creationId xmlns:a16="http://schemas.microsoft.com/office/drawing/2014/main" id="{04212039-6867-41D8-B68A-7E954935B8CD}"/>
              </a:ext>
            </a:extLst>
          </p:cNvPr>
          <p:cNvSpPr>
            <a:spLocks xmlns:a="http://schemas.openxmlformats.org/drawingml/2006/main" noGrp="1"/>
          </p:cNvSpPr>
          <p:nvPr/>
        </p:nvSpPr>
        <p:spPr>
          <a:xfrm xmlns:a="http://schemas.openxmlformats.org/drawingml/2006/main">
            <a:off x="7810500" y="3228975"/>
            <a:ext cx="247650" cy="247650"/>
          </a:xfrm>
          <a:prstGeom xmlns:a="http://schemas.openxmlformats.org/drawingml/2006/main" prst="ellipse">
            <a:avLst/>
          </a:prstGeom>
          <a:solidFill xmlns:a="http://schemas.openxmlformats.org/drawingml/2006/main">
            <a:srgbClr val="1D5AA6"/>
          </a:solidFill>
          <a:ln xmlns:a="http://schemas.openxmlformats.org/drawingml/2006/main" w="38100">
            <a:solidFill>
              <a:srgbClr val="FFFFFF"/>
            </a:solidFill>
            <a:prstDash val="solid"/>
          </a:ln>
        </p:spPr>
      </p:sp>
      <p:sp>
        <p:nvSpPr>
          <p:cNvPr id="21" name="">
            <a:extLst xmlns:a="http://schemas.openxmlformats.org/drawingml/2006/main">
              <a:ext uri="{FF2B5EF4-FFF2-40B4-BE49-F238E27FC236}">
                <a16:creationId xmlns:a16="http://schemas.microsoft.com/office/drawing/2014/main" id="{BAC700C7-38E3-4267-83A9-A18FE0560684}"/>
              </a:ext>
            </a:extLst>
          </p:cNvPr>
          <p:cNvSpPr>
            <a:spLocks xmlns:a="http://schemas.openxmlformats.org/drawingml/2006/main" noGrp="1"/>
          </p:cNvSpPr>
          <p:nvPr/>
        </p:nvSpPr>
        <p:spPr>
          <a:xfrm xmlns:a="http://schemas.openxmlformats.org/drawingml/2006/main">
            <a:off x="7696200" y="2724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D5AA6"/>
                </a:solidFill>
                <a:latin typeface="Aptos"/>
                <a:ea typeface="Aptos"/>
                <a:cs typeface="Aptos"/>
              </a:defRPr>
            </a:pPr>
            <a:r>
              <a:rPr sz="1200" b="1" i="0">
                <a:solidFill>
                  <a:srgbClr val="1D5AA6"/>
                </a:solidFill>
                <a:latin typeface="Aptos"/>
                <a:ea typeface="Aptos"/>
                <a:cs typeface="Aptos"/>
              </a:rPr>
              <a:t>Mi-août</a:t>
            </a:r>
          </a:p>
        </p:txBody>
      </p:sp>
      <p:sp>
        <p:nvSpPr>
          <p:cNvPr id="22" name="">
            <a:extLst xmlns:a="http://schemas.openxmlformats.org/drawingml/2006/main">
              <a:ext uri="{FF2B5EF4-FFF2-40B4-BE49-F238E27FC236}">
                <a16:creationId xmlns:a16="http://schemas.microsoft.com/office/drawing/2014/main" id="{8A6F6D51-6BF9-47A8-AE0C-5AC944D0C8C5}"/>
              </a:ext>
            </a:extLst>
          </p:cNvPr>
          <p:cNvSpPr>
            <a:spLocks xmlns:a="http://schemas.openxmlformats.org/drawingml/2006/main" noGrp="1"/>
          </p:cNvSpPr>
          <p:nvPr/>
        </p:nvSpPr>
        <p:spPr>
          <a:xfrm xmlns:a="http://schemas.openxmlformats.org/drawingml/2006/main">
            <a:off x="7696200" y="37147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Automatisation</a:t>
            </a:r>
          </a:p>
        </p:txBody>
      </p:sp>
      <p:sp>
        <p:nvSpPr>
          <p:cNvPr id="23" name="">
            <a:extLst xmlns:a="http://schemas.openxmlformats.org/drawingml/2006/main">
              <a:ext uri="{FF2B5EF4-FFF2-40B4-BE49-F238E27FC236}">
                <a16:creationId xmlns:a16="http://schemas.microsoft.com/office/drawing/2014/main" id="{A21E00FF-ABC6-4800-A1E2-F9431F13CB40}"/>
              </a:ext>
            </a:extLst>
          </p:cNvPr>
          <p:cNvSpPr>
            <a:spLocks xmlns:a="http://schemas.openxmlformats.org/drawingml/2006/main" noGrp="1"/>
          </p:cNvSpPr>
          <p:nvPr/>
        </p:nvSpPr>
        <p:spPr>
          <a:xfrm xmlns:a="http://schemas.openxmlformats.org/drawingml/2006/main">
            <a:off x="7696200" y="4114800"/>
            <a:ext cx="167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n8n, digest,</a:t>
            </a:r>
          </a:p>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ledger &amp; canaux</a:t>
            </a:r>
          </a:p>
        </p:txBody>
      </p:sp>
      <p:sp>
        <p:nvSpPr>
          <p:cNvPr id="24" name="">
            <a:extLst xmlns:a="http://schemas.openxmlformats.org/drawingml/2006/main">
              <a:ext uri="{FF2B5EF4-FFF2-40B4-BE49-F238E27FC236}">
                <a16:creationId xmlns:a16="http://schemas.microsoft.com/office/drawing/2014/main" id="{45BB8003-D9EC-4745-B385-84D6A126F70E}"/>
              </a:ext>
            </a:extLst>
          </p:cNvPr>
          <p:cNvSpPr>
            <a:spLocks xmlns:a="http://schemas.openxmlformats.org/drawingml/2006/main" noGrp="1"/>
          </p:cNvSpPr>
          <p:nvPr/>
        </p:nvSpPr>
        <p:spPr>
          <a:xfrm xmlns:a="http://schemas.openxmlformats.org/drawingml/2006/main">
            <a:off x="10096500" y="3228975"/>
            <a:ext cx="247650" cy="247650"/>
          </a:xfrm>
          <a:prstGeom xmlns:a="http://schemas.openxmlformats.org/drawingml/2006/main" prst="ellipse">
            <a:avLst/>
          </a:prstGeom>
          <a:solidFill xmlns:a="http://schemas.openxmlformats.org/drawingml/2006/main">
            <a:srgbClr val="2E9D69"/>
          </a:solidFill>
          <a:ln xmlns:a="http://schemas.openxmlformats.org/drawingml/2006/main" w="38100">
            <a:solidFill>
              <a:srgbClr val="FFFFFF"/>
            </a:solidFill>
            <a:prstDash val="solid"/>
          </a:ln>
        </p:spPr>
      </p:sp>
      <p:sp>
        <p:nvSpPr>
          <p:cNvPr id="25" name="">
            <a:extLst xmlns:a="http://schemas.openxmlformats.org/drawingml/2006/main">
              <a:ext uri="{FF2B5EF4-FFF2-40B4-BE49-F238E27FC236}">
                <a16:creationId xmlns:a16="http://schemas.microsoft.com/office/drawing/2014/main" id="{BB2DF398-313F-4355-A39C-4EFDDDDBC4BC}"/>
              </a:ext>
            </a:extLst>
          </p:cNvPr>
          <p:cNvSpPr>
            <a:spLocks xmlns:a="http://schemas.openxmlformats.org/drawingml/2006/main" noGrp="1"/>
          </p:cNvSpPr>
          <p:nvPr/>
        </p:nvSpPr>
        <p:spPr>
          <a:xfrm xmlns:a="http://schemas.openxmlformats.org/drawingml/2006/main">
            <a:off x="9982200" y="2724150"/>
            <a:ext cx="11239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1D5AA6"/>
                </a:solidFill>
                <a:latin typeface="Aptos"/>
                <a:ea typeface="Aptos"/>
                <a:cs typeface="Aptos"/>
              </a:defRPr>
            </a:pPr>
            <a:r>
              <a:rPr sz="1200" b="1" i="0">
                <a:solidFill>
                  <a:srgbClr val="1D5AA6"/>
                </a:solidFill>
                <a:latin typeface="Aptos"/>
                <a:ea typeface="Aptos"/>
                <a:cs typeface="Aptos"/>
              </a:rPr>
              <a:t>26 août</a:t>
            </a:r>
          </a:p>
        </p:txBody>
      </p:sp>
      <p:sp>
        <p:nvSpPr>
          <p:cNvPr id="26" name="">
            <a:extLst xmlns:a="http://schemas.openxmlformats.org/drawingml/2006/main">
              <a:ext uri="{FF2B5EF4-FFF2-40B4-BE49-F238E27FC236}">
                <a16:creationId xmlns:a16="http://schemas.microsoft.com/office/drawing/2014/main" id="{0274F251-D02C-4435-AA14-16F4F7150673}"/>
              </a:ext>
            </a:extLst>
          </p:cNvPr>
          <p:cNvSpPr>
            <a:spLocks xmlns:a="http://schemas.openxmlformats.org/drawingml/2006/main" noGrp="1"/>
          </p:cNvSpPr>
          <p:nvPr/>
        </p:nvSpPr>
        <p:spPr>
          <a:xfrm xmlns:a="http://schemas.openxmlformats.org/drawingml/2006/main">
            <a:off x="9982200" y="3714750"/>
            <a:ext cx="1676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Consolidation</a:t>
            </a:r>
          </a:p>
        </p:txBody>
      </p:sp>
      <p:sp>
        <p:nvSpPr>
          <p:cNvPr id="27" name="">
            <a:extLst xmlns:a="http://schemas.openxmlformats.org/drawingml/2006/main">
              <a:ext uri="{FF2B5EF4-FFF2-40B4-BE49-F238E27FC236}">
                <a16:creationId xmlns:a16="http://schemas.microsoft.com/office/drawing/2014/main" id="{DB1AE7A7-B04B-4BA1-85E9-7B33B9A6E7B0}"/>
              </a:ext>
            </a:extLst>
          </p:cNvPr>
          <p:cNvSpPr>
            <a:spLocks xmlns:a="http://schemas.openxmlformats.org/drawingml/2006/main" noGrp="1"/>
          </p:cNvSpPr>
          <p:nvPr/>
        </p:nvSpPr>
        <p:spPr>
          <a:xfrm xmlns:a="http://schemas.openxmlformats.org/drawingml/2006/main">
            <a:off x="9982200" y="4114800"/>
            <a:ext cx="16764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MCP, Telegram,</a:t>
            </a:r>
          </a:p>
          <a:p xmlns:a="http://schemas.openxmlformats.org/drawingml/2006/main">
            <a:pPr algn="l">
              <a:defRPr sz="1200" b="0" i="0">
                <a:solidFill>
                  <a:srgbClr val="667085"/>
                </a:solidFill>
                <a:latin typeface="Aptos"/>
                <a:ea typeface="Aptos"/>
                <a:cs typeface="Aptos"/>
              </a:defRPr>
            </a:pPr>
            <a:r>
              <a:rPr sz="1200" b="0" i="0">
                <a:solidFill>
                  <a:srgbClr val="667085"/>
                </a:solidFill>
                <a:latin typeface="Aptos"/>
                <a:ea typeface="Aptos"/>
                <a:cs typeface="Aptos"/>
              </a:rPr>
              <a:t>tests &amp; passation</a:t>
            </a:r>
          </a:p>
        </p:txBody>
      </p:sp>
      <p:sp>
        <p:nvSpPr>
          <p:cNvPr id="28" name="">
            <a:extLst xmlns:a="http://schemas.openxmlformats.org/drawingml/2006/main">
              <a:ext uri="{FF2B5EF4-FFF2-40B4-BE49-F238E27FC236}">
                <a16:creationId xmlns:a16="http://schemas.microsoft.com/office/drawing/2014/main" id="{6729AD1A-34CB-4E0F-8F3C-C35AD0610F9D}"/>
              </a:ext>
            </a:extLst>
          </p:cNvPr>
          <p:cNvSpPr>
            <a:spLocks xmlns:a="http://schemas.openxmlformats.org/drawingml/2006/main" noGrp="1"/>
          </p:cNvSpPr>
          <p:nvPr/>
        </p:nvSpPr>
        <p:spPr>
          <a:xfrm xmlns:a="http://schemas.openxmlformats.org/drawingml/2006/main">
            <a:off x="4286250" y="5314950"/>
            <a:ext cx="3619500" cy="361950"/>
          </a:xfrm>
          <a:prstGeom xmlns:a="http://schemas.openxmlformats.org/drawingml/2006/main" prst="roundRect">
            <a:avLst>
              <a:gd name="adj" fmla="val 50000"/>
            </a:avLst>
          </a:prstGeom>
          <a:solidFill xmlns:a="http://schemas.openxmlformats.org/drawingml/2006/main">
            <a:srgbClr val="DDF6FB"/>
          </a:solidFill>
          <a:ln xmlns:a="http://schemas.openxmlformats.org/drawingml/2006/main" w="9525">
            <a:solidFill>
              <a:srgbClr val="2FB9DB"/>
            </a:solidFill>
            <a:prstDash val="solid"/>
          </a:ln>
        </p:spPr>
      </p:sp>
      <p:sp>
        <p:nvSpPr>
          <p:cNvPr id="29" name="">
            <a:extLst xmlns:a="http://schemas.openxmlformats.org/drawingml/2006/main">
              <a:ext uri="{FF2B5EF4-FFF2-40B4-BE49-F238E27FC236}">
                <a16:creationId xmlns:a16="http://schemas.microsoft.com/office/drawing/2014/main" id="{07261587-BB5E-4D09-AA26-DA406C161362}"/>
              </a:ext>
            </a:extLst>
          </p:cNvPr>
          <p:cNvSpPr>
            <a:spLocks xmlns:a="http://schemas.openxmlformats.org/drawingml/2006/main" noGrp="1"/>
          </p:cNvSpPr>
          <p:nvPr/>
        </p:nvSpPr>
        <p:spPr>
          <a:xfrm xmlns:a="http://schemas.openxmlformats.org/drawingml/2006/main">
            <a:off x="4324350" y="5324475"/>
            <a:ext cx="3543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75" b="1" i="0">
                <a:solidFill>
                  <a:srgbClr val="0B2545"/>
                </a:solidFill>
                <a:latin typeface="Aptos"/>
                <a:ea typeface="Aptos"/>
                <a:cs typeface="Aptos"/>
              </a:defRPr>
            </a:pPr>
            <a:r>
              <a:rPr sz="1275" b="1" i="0">
                <a:solidFill>
                  <a:srgbClr val="0B2545"/>
                </a:solidFill>
                <a:latin typeface="Aptos"/>
                <a:ea typeface="Aptos"/>
                <a:cs typeface="Aptos"/>
              </a:rPr>
              <a:t>Données → fiabilité → agent → exploitation</a:t>
            </a:r>
          </a:p>
        </p:txBody>
      </p:sp>
    </p:spTree>
    <p:extLst>
      <p:ext uri="{BB962C8B-B14F-4D97-AF65-F5344CB8AC3E}">
        <p14:creationId xmlns:p14="http://schemas.microsoft.com/office/powerpoint/2010/main" val="2079835563"/>
      </p:ext>
    </p:extLst>
  </p:cSld>
</p:sld>
</file>

<file path=ppt/slides/slide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A38E25B0-DD6D-454E-8E30-865F1234D1DE}"/>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CONCEPTION</a:t>
            </a:r>
          </a:p>
        </p:txBody>
      </p:sp>
      <p:sp>
        <p:nvSpPr>
          <p:cNvPr id="2" name="">
            <a:extLst xmlns:a="http://schemas.openxmlformats.org/drawingml/2006/main">
              <a:ext uri="{FF2B5EF4-FFF2-40B4-BE49-F238E27FC236}">
                <a16:creationId xmlns:a16="http://schemas.microsoft.com/office/drawing/2014/main" id="{466114CF-073D-4F0F-BDFB-6BE8797981FB}"/>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Diagramme de cas d’utilisation : qui fait quoi ?</a:t>
            </a:r>
          </a:p>
        </p:txBody>
      </p:sp>
      <p:sp>
        <p:nvSpPr>
          <p:cNvPr id="3" name="">
            <a:extLst xmlns:a="http://schemas.openxmlformats.org/drawingml/2006/main">
              <a:ext uri="{FF2B5EF4-FFF2-40B4-BE49-F238E27FC236}">
                <a16:creationId xmlns:a16="http://schemas.microsoft.com/office/drawing/2014/main" id="{F1EF25BB-B6C3-49EF-8B3F-F748FC6083FC}"/>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A0645B94-F2F5-4115-A0CD-1F781E76DDC2}"/>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36782950-FC3D-45F5-8AE1-7EFFCC67D39B}"/>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05</a:t>
            </a:r>
          </a:p>
        </p:txBody>
      </p:sp>
      <p:sp>
        <p:nvSpPr>
          <p:cNvPr id="6" name="">
            <a:extLst xmlns:a="http://schemas.openxmlformats.org/drawingml/2006/main">
              <a:ext uri="{FF2B5EF4-FFF2-40B4-BE49-F238E27FC236}">
                <a16:creationId xmlns:a16="http://schemas.microsoft.com/office/drawing/2014/main" id="{EF23BD94-D02C-48C8-897D-628370D676D2}"/>
              </a:ext>
            </a:extLst>
          </p:cNvPr>
          <p:cNvSpPr>
            <a:spLocks xmlns:a="http://schemas.openxmlformats.org/drawingml/2006/main" noGrp="1"/>
          </p:cNvSpPr>
          <p:nvPr/>
        </p:nvSpPr>
        <p:spPr>
          <a:xfrm xmlns:a="http://schemas.openxmlformats.org/drawingml/2006/main">
            <a:off x="457200" y="2362200"/>
            <a:ext cx="1809750" cy="1238250"/>
          </a:xfrm>
          <a:prstGeom xmlns:a="http://schemas.openxmlformats.org/drawingml/2006/main" prst="roundRect">
            <a:avLst>
              <a:gd name="adj" fmla="val 12308"/>
            </a:avLst>
          </a:prstGeom>
          <a:solidFill xmlns:a="http://schemas.openxmlformats.org/drawingml/2006/main">
            <a:srgbClr val="EAF2FB"/>
          </a:solidFill>
          <a:ln xmlns:a="http://schemas.openxmlformats.org/drawingml/2006/main" w="19050">
            <a:solidFill>
              <a:srgbClr val="1D5AA6"/>
            </a:solidFill>
            <a:prstDash val="solid"/>
          </a:ln>
        </p:spPr>
      </p:sp>
      <p:sp>
        <p:nvSpPr>
          <p:cNvPr id="7" name="">
            <a:extLst xmlns:a="http://schemas.openxmlformats.org/drawingml/2006/main">
              <a:ext uri="{FF2B5EF4-FFF2-40B4-BE49-F238E27FC236}">
                <a16:creationId xmlns:a16="http://schemas.microsoft.com/office/drawing/2014/main" id="{CFD6F5CD-475D-44E7-AB71-93088906C785}"/>
              </a:ext>
            </a:extLst>
          </p:cNvPr>
          <p:cNvSpPr>
            <a:spLocks xmlns:a="http://schemas.openxmlformats.org/drawingml/2006/main" noGrp="1"/>
          </p:cNvSpPr>
          <p:nvPr/>
        </p:nvSpPr>
        <p:spPr>
          <a:xfrm xmlns:a="http://schemas.openxmlformats.org/drawingml/2006/main">
            <a:off x="609600" y="2552700"/>
            <a:ext cx="1504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0909"/>
          </a:bodyPr>
          <a:lstStyle xmlns:a="http://schemas.openxmlformats.org/drawingml/2006/main"/>
          <a:p xmlns:a="http://schemas.openxmlformats.org/drawingml/2006/main">
            <a:pPr algn="ctr">
              <a:defRPr sz="1650" b="1" i="0">
                <a:solidFill>
                  <a:srgbClr val="0B2545"/>
                </a:solidFill>
                <a:latin typeface="Aptos"/>
                <a:ea typeface="Aptos"/>
                <a:cs typeface="Aptos"/>
              </a:defRPr>
            </a:pPr>
            <a:r>
              <a:rPr sz="1650" b="1" i="0">
                <a:solidFill>
                  <a:srgbClr val="0B2545"/>
                </a:solidFill>
                <a:latin typeface="Aptos"/>
                <a:ea typeface="Aptos"/>
                <a:cs typeface="Aptos"/>
              </a:rPr>
              <a:t>Décideur AO</a:t>
            </a:r>
          </a:p>
        </p:txBody>
      </p:sp>
      <p:sp>
        <p:nvSpPr>
          <p:cNvPr id="8" name="">
            <a:extLst xmlns:a="http://schemas.openxmlformats.org/drawingml/2006/main">
              <a:ext uri="{FF2B5EF4-FFF2-40B4-BE49-F238E27FC236}">
                <a16:creationId xmlns:a16="http://schemas.microsoft.com/office/drawing/2014/main" id="{2C28EC44-0BB9-4C35-B507-A20FC0F82131}"/>
              </a:ext>
            </a:extLst>
          </p:cNvPr>
          <p:cNvSpPr>
            <a:spLocks xmlns:a="http://schemas.openxmlformats.org/drawingml/2006/main" noGrp="1"/>
          </p:cNvSpPr>
          <p:nvPr/>
        </p:nvSpPr>
        <p:spPr>
          <a:xfrm xmlns:a="http://schemas.openxmlformats.org/drawingml/2006/main">
            <a:off x="609600" y="2952750"/>
            <a:ext cx="15049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200" b="0" i="0">
                <a:solidFill>
                  <a:srgbClr val="667085"/>
                </a:solidFill>
                <a:latin typeface="Aptos"/>
                <a:ea typeface="Aptos"/>
                <a:cs typeface="Aptos"/>
              </a:defRPr>
            </a:pPr>
            <a:r>
              <a:rPr sz="1200" b="0" i="0">
                <a:solidFill>
                  <a:srgbClr val="667085"/>
                </a:solidFill>
                <a:latin typeface="Aptos"/>
                <a:ea typeface="Aptos"/>
                <a:cs typeface="Aptos"/>
              </a:rPr>
              <a:t>consulte · demande</a:t>
            </a:r>
          </a:p>
          <a:p xmlns:a="http://schemas.openxmlformats.org/drawingml/2006/main">
            <a:pPr algn="ctr">
              <a:defRPr sz="1200" b="0" i="0">
                <a:solidFill>
                  <a:srgbClr val="667085"/>
                </a:solidFill>
                <a:latin typeface="Aptos"/>
                <a:ea typeface="Aptos"/>
                <a:cs typeface="Aptos"/>
              </a:defRPr>
            </a:pPr>
            <a:r>
              <a:rPr sz="1200" b="0" i="0">
                <a:solidFill>
                  <a:srgbClr val="667085"/>
                </a:solidFill>
                <a:latin typeface="Aptos"/>
                <a:ea typeface="Aptos"/>
                <a:cs typeface="Aptos"/>
              </a:rPr>
              <a:t>valide · reçoit</a:t>
            </a:r>
          </a:p>
        </p:txBody>
      </p:sp>
      <p:sp>
        <p:nvSpPr>
          <p:cNvPr id="9" name="">
            <a:extLst xmlns:a="http://schemas.openxmlformats.org/drawingml/2006/main">
              <a:ext uri="{FF2B5EF4-FFF2-40B4-BE49-F238E27FC236}">
                <a16:creationId xmlns:a16="http://schemas.microsoft.com/office/drawing/2014/main" id="{CD12CD22-808F-4183-AAEB-AD018B71CAE7}"/>
              </a:ext>
            </a:extLst>
          </p:cNvPr>
          <p:cNvSpPr>
            <a:spLocks xmlns:a="http://schemas.openxmlformats.org/drawingml/2006/main" noGrp="1"/>
          </p:cNvSpPr>
          <p:nvPr/>
        </p:nvSpPr>
        <p:spPr>
          <a:xfrm xmlns:a="http://schemas.openxmlformats.org/drawingml/2006/main">
            <a:off x="457200" y="4238625"/>
            <a:ext cx="1809750" cy="1066800"/>
          </a:xfrm>
          <a:prstGeom xmlns:a="http://schemas.openxmlformats.org/drawingml/2006/main" prst="roundRect">
            <a:avLst>
              <a:gd name="adj" fmla="val 14286"/>
            </a:avLst>
          </a:prstGeom>
          <a:solidFill xmlns:a="http://schemas.openxmlformats.org/drawingml/2006/main">
            <a:srgbClr val="DDF6FB"/>
          </a:solidFill>
          <a:ln xmlns:a="http://schemas.openxmlformats.org/drawingml/2006/main" w="19050">
            <a:solidFill>
              <a:srgbClr val="2FB9DB"/>
            </a:solidFill>
            <a:prstDash val="solid"/>
          </a:ln>
        </p:spPr>
      </p:sp>
      <p:sp>
        <p:nvSpPr>
          <p:cNvPr id="10" name="">
            <a:extLst xmlns:a="http://schemas.openxmlformats.org/drawingml/2006/main">
              <a:ext uri="{FF2B5EF4-FFF2-40B4-BE49-F238E27FC236}">
                <a16:creationId xmlns:a16="http://schemas.microsoft.com/office/drawing/2014/main" id="{8DAEBABF-C110-4CFE-B2EA-CEF459D2CFCD}"/>
              </a:ext>
            </a:extLst>
          </p:cNvPr>
          <p:cNvSpPr>
            <a:spLocks xmlns:a="http://schemas.openxmlformats.org/drawingml/2006/main" noGrp="1"/>
          </p:cNvSpPr>
          <p:nvPr/>
        </p:nvSpPr>
        <p:spPr>
          <a:xfrm xmlns:a="http://schemas.openxmlformats.org/drawingml/2006/main">
            <a:off x="609600" y="4438650"/>
            <a:ext cx="1504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5238"/>
          </a:bodyPr>
          <a:lstStyle xmlns:a="http://schemas.openxmlformats.org/drawingml/2006/main"/>
          <a:p xmlns:a="http://schemas.openxmlformats.org/drawingml/2006/main">
            <a:pPr algn="ctr">
              <a:defRPr sz="1575" b="1" i="0">
                <a:solidFill>
                  <a:srgbClr val="0B2545"/>
                </a:solidFill>
                <a:latin typeface="Aptos"/>
                <a:ea typeface="Aptos"/>
                <a:cs typeface="Aptos"/>
              </a:defRPr>
            </a:pPr>
            <a:r>
              <a:rPr sz="1575" b="1" i="0">
                <a:solidFill>
                  <a:srgbClr val="0B2545"/>
                </a:solidFill>
                <a:latin typeface="Aptos"/>
                <a:ea typeface="Aptos"/>
                <a:cs typeface="Aptos"/>
              </a:rPr>
              <a:t>Automate n8n</a:t>
            </a:r>
          </a:p>
        </p:txBody>
      </p:sp>
      <p:sp>
        <p:nvSpPr>
          <p:cNvPr id="11" name="">
            <a:extLst xmlns:a="http://schemas.openxmlformats.org/drawingml/2006/main">
              <a:ext uri="{FF2B5EF4-FFF2-40B4-BE49-F238E27FC236}">
                <a16:creationId xmlns:a16="http://schemas.microsoft.com/office/drawing/2014/main" id="{9DC8D631-CF48-49C6-B9B2-C5657A1316FB}"/>
              </a:ext>
            </a:extLst>
          </p:cNvPr>
          <p:cNvSpPr>
            <a:spLocks xmlns:a="http://schemas.openxmlformats.org/drawingml/2006/main" noGrp="1"/>
          </p:cNvSpPr>
          <p:nvPr/>
        </p:nvSpPr>
        <p:spPr>
          <a:xfrm xmlns:a="http://schemas.openxmlformats.org/drawingml/2006/main">
            <a:off x="609600" y="4857750"/>
            <a:ext cx="1504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3750"/>
          </a:bodyPr>
          <a:lstStyle xmlns:a="http://schemas.openxmlformats.org/drawingml/2006/main"/>
          <a:p xmlns:a="http://schemas.openxmlformats.org/drawingml/2006/main">
            <a:pPr algn="ctr">
              <a:defRPr sz="1200" b="0" i="0">
                <a:solidFill>
                  <a:srgbClr val="667085"/>
                </a:solidFill>
                <a:latin typeface="Aptos"/>
                <a:ea typeface="Aptos"/>
                <a:cs typeface="Aptos"/>
              </a:defRPr>
            </a:pPr>
            <a:r>
              <a:rPr sz="1200" b="0" i="0">
                <a:solidFill>
                  <a:srgbClr val="667085"/>
                </a:solidFill>
                <a:latin typeface="Aptos"/>
                <a:ea typeface="Aptos"/>
                <a:cs typeface="Aptos"/>
              </a:rPr>
              <a:t>planifie · relance</a:t>
            </a:r>
          </a:p>
        </p:txBody>
      </p:sp>
      <p:sp>
        <p:nvSpPr>
          <p:cNvPr id="12" name="">
            <a:extLst xmlns:a="http://schemas.openxmlformats.org/drawingml/2006/main">
              <a:ext uri="{FF2B5EF4-FFF2-40B4-BE49-F238E27FC236}">
                <a16:creationId xmlns:a16="http://schemas.microsoft.com/office/drawing/2014/main" id="{DAF736AC-DAE4-4EE5-AC7A-CCB242D30AE5}"/>
              </a:ext>
            </a:extLst>
          </p:cNvPr>
          <p:cNvSpPr>
            <a:spLocks xmlns:a="http://schemas.openxmlformats.org/drawingml/2006/main" noGrp="1"/>
          </p:cNvSpPr>
          <p:nvPr/>
        </p:nvSpPr>
        <p:spPr>
          <a:xfrm xmlns:a="http://schemas.openxmlformats.org/drawingml/2006/main">
            <a:off x="9925050" y="2914650"/>
            <a:ext cx="18097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19050">
            <a:solidFill>
              <a:srgbClr val="D0D9E6"/>
            </a:solidFill>
            <a:prstDash val="solid"/>
          </a:ln>
        </p:spPr>
      </p:sp>
      <p:sp>
        <p:nvSpPr>
          <p:cNvPr id="13" name="">
            <a:extLst xmlns:a="http://schemas.openxmlformats.org/drawingml/2006/main">
              <a:ext uri="{FF2B5EF4-FFF2-40B4-BE49-F238E27FC236}">
                <a16:creationId xmlns:a16="http://schemas.microsoft.com/office/drawing/2014/main" id="{011E200A-9C6C-4DF4-87E7-AB865DBF629E}"/>
              </a:ext>
            </a:extLst>
          </p:cNvPr>
          <p:cNvSpPr>
            <a:spLocks xmlns:a="http://schemas.openxmlformats.org/drawingml/2006/main" noGrp="1"/>
          </p:cNvSpPr>
          <p:nvPr/>
        </p:nvSpPr>
        <p:spPr>
          <a:xfrm xmlns:a="http://schemas.openxmlformats.org/drawingml/2006/main">
            <a:off x="10077450" y="3124200"/>
            <a:ext cx="15049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0909"/>
          </a:bodyPr>
          <a:lstStyle xmlns:a="http://schemas.openxmlformats.org/drawingml/2006/main"/>
          <a:p xmlns:a="http://schemas.openxmlformats.org/drawingml/2006/main">
            <a:pPr algn="ctr">
              <a:defRPr sz="1650" b="1" i="0">
                <a:solidFill>
                  <a:srgbClr val="0B2545"/>
                </a:solidFill>
                <a:latin typeface="Aptos"/>
                <a:ea typeface="Aptos"/>
                <a:cs typeface="Aptos"/>
              </a:defRPr>
            </a:pPr>
            <a:r>
              <a:rPr sz="1650" b="1" i="0">
                <a:solidFill>
                  <a:srgbClr val="0B2545"/>
                </a:solidFill>
                <a:latin typeface="Aptos"/>
                <a:ea typeface="Aptos"/>
                <a:cs typeface="Aptos"/>
              </a:rPr>
              <a:t>HAICOP</a:t>
            </a:r>
          </a:p>
        </p:txBody>
      </p:sp>
      <p:sp>
        <p:nvSpPr>
          <p:cNvPr id="14" name="">
            <a:extLst xmlns:a="http://schemas.openxmlformats.org/drawingml/2006/main">
              <a:ext uri="{FF2B5EF4-FFF2-40B4-BE49-F238E27FC236}">
                <a16:creationId xmlns:a16="http://schemas.microsoft.com/office/drawing/2014/main" id="{F46D4DE6-16A5-402A-8D7C-5209A7936952}"/>
              </a:ext>
            </a:extLst>
          </p:cNvPr>
          <p:cNvSpPr>
            <a:spLocks xmlns:a="http://schemas.openxmlformats.org/drawingml/2006/main" noGrp="1"/>
          </p:cNvSpPr>
          <p:nvPr/>
        </p:nvSpPr>
        <p:spPr>
          <a:xfrm xmlns:a="http://schemas.openxmlformats.org/drawingml/2006/main">
            <a:off x="10077450" y="3543300"/>
            <a:ext cx="15049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3333"/>
          </a:bodyPr>
          <a:lstStyle xmlns:a="http://schemas.openxmlformats.org/drawingml/2006/main"/>
          <a:p xmlns:a="http://schemas.openxmlformats.org/drawingml/2006/main">
            <a:pPr algn="ctr">
              <a:defRPr sz="1200" b="0" i="0">
                <a:solidFill>
                  <a:srgbClr val="667085"/>
                </a:solidFill>
                <a:latin typeface="Aptos"/>
                <a:ea typeface="Aptos"/>
                <a:cs typeface="Aptos"/>
              </a:defRPr>
            </a:pPr>
            <a:r>
              <a:rPr sz="1200" b="0" i="0">
                <a:solidFill>
                  <a:srgbClr val="667085"/>
                </a:solidFill>
                <a:latin typeface="Aptos"/>
                <a:ea typeface="Aptos"/>
                <a:cs typeface="Aptos"/>
              </a:rPr>
              <a:t>source publique</a:t>
            </a:r>
          </a:p>
        </p:txBody>
      </p:sp>
      <p:sp>
        <p:nvSpPr>
          <p:cNvPr id="15" name="">
            <a:extLst xmlns:a="http://schemas.openxmlformats.org/drawingml/2006/main">
              <a:ext uri="{FF2B5EF4-FFF2-40B4-BE49-F238E27FC236}">
                <a16:creationId xmlns:a16="http://schemas.microsoft.com/office/drawing/2014/main" id="{869C5925-D946-4007-A9F1-E75C2B0E412F}"/>
              </a:ext>
            </a:extLst>
          </p:cNvPr>
          <p:cNvSpPr>
            <a:spLocks xmlns:a="http://schemas.openxmlformats.org/drawingml/2006/main" noGrp="1"/>
          </p:cNvSpPr>
          <p:nvPr/>
        </p:nvSpPr>
        <p:spPr>
          <a:xfrm xmlns:a="http://schemas.openxmlformats.org/drawingml/2006/main">
            <a:off x="2781300" y="1619250"/>
            <a:ext cx="6629400" cy="4095750"/>
          </a:xfrm>
          <a:prstGeom xmlns:a="http://schemas.openxmlformats.org/drawingml/2006/main" prst="roundRect">
            <a:avLst>
              <a:gd name="adj" fmla="val 3721"/>
            </a:avLst>
          </a:prstGeom>
          <a:solidFill xmlns:a="http://schemas.openxmlformats.org/drawingml/2006/main">
            <a:srgbClr val="FFFFFF"/>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FC089C3C-6A3E-4B28-81CF-ACCFE327513D}"/>
              </a:ext>
            </a:extLst>
          </p:cNvPr>
          <p:cNvSpPr>
            <a:spLocks xmlns:a="http://schemas.openxmlformats.org/drawingml/2006/main" noGrp="1"/>
          </p:cNvSpPr>
          <p:nvPr/>
        </p:nvSpPr>
        <p:spPr>
          <a:xfrm xmlns:a="http://schemas.openxmlformats.org/drawingml/2006/main">
            <a:off x="3048000" y="179070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350" b="1" i="0">
                <a:solidFill>
                  <a:srgbClr val="1D5AA6"/>
                </a:solidFill>
                <a:latin typeface="Aptos"/>
                <a:ea typeface="Aptos"/>
                <a:cs typeface="Aptos"/>
              </a:defRPr>
            </a:pPr>
            <a:r>
              <a:rPr sz="1350" b="1" i="0">
                <a:solidFill>
                  <a:srgbClr val="1D5AA6"/>
                </a:solidFill>
                <a:latin typeface="Aptos"/>
                <a:ea typeface="Aptos"/>
                <a:cs typeface="Aptos"/>
              </a:rPr>
              <a:t>OneTech Tender Agent</a:t>
            </a:r>
          </a:p>
        </p:txBody>
      </p:sp>
      <p:sp>
        <p:nvSpPr>
          <p:cNvPr id="17" name="">
            <a:extLst xmlns:a="http://schemas.openxmlformats.org/drawingml/2006/main">
              <a:ext uri="{FF2B5EF4-FFF2-40B4-BE49-F238E27FC236}">
                <a16:creationId xmlns:a16="http://schemas.microsoft.com/office/drawing/2014/main" id="{CCA729EA-F89D-4EE8-ADDE-F14EA64861E1}"/>
              </a:ext>
            </a:extLst>
          </p:cNvPr>
          <p:cNvSpPr>
            <a:spLocks xmlns:a="http://schemas.openxmlformats.org/drawingml/2006/main" noGrp="1"/>
          </p:cNvSpPr>
          <p:nvPr/>
        </p:nvSpPr>
        <p:spPr>
          <a:xfrm xmlns:a="http://schemas.openxmlformats.org/drawingml/2006/main">
            <a:off x="3219450" y="2343150"/>
            <a:ext cx="2381250" cy="876300"/>
          </a:xfrm>
          <a:prstGeom xmlns:a="http://schemas.openxmlformats.org/drawingml/2006/main" prst="ellipse">
            <a:avLst/>
          </a:prstGeom>
          <a:solidFill xmlns:a="http://schemas.openxmlformats.org/drawingml/2006/main">
            <a:srgbClr val="F6F8FB"/>
          </a:solidFill>
          <a:ln xmlns:a="http://schemas.openxmlformats.org/drawingml/2006/main" w="9525">
            <a:solidFill>
              <a:srgbClr val="D0D9E6"/>
            </a:solidFill>
            <a:prstDash val="solid"/>
          </a:ln>
        </p:spPr>
      </p:sp>
      <p:sp>
        <p:nvSpPr>
          <p:cNvPr id="18" name="">
            <a:extLst xmlns:a="http://schemas.openxmlformats.org/drawingml/2006/main">
              <a:ext uri="{FF2B5EF4-FFF2-40B4-BE49-F238E27FC236}">
                <a16:creationId xmlns:a16="http://schemas.microsoft.com/office/drawing/2014/main" id="{815A1442-C961-41C6-BD41-B1D8EAB79C9C}"/>
              </a:ext>
            </a:extLst>
          </p:cNvPr>
          <p:cNvSpPr>
            <a:spLocks xmlns:a="http://schemas.openxmlformats.org/drawingml/2006/main" noGrp="1"/>
          </p:cNvSpPr>
          <p:nvPr/>
        </p:nvSpPr>
        <p:spPr>
          <a:xfrm xmlns:a="http://schemas.openxmlformats.org/drawingml/2006/main">
            <a:off x="3409950" y="25146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Collecter</a:t>
            </a:r>
          </a:p>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les consultations</a:t>
            </a:r>
          </a:p>
        </p:txBody>
      </p:sp>
      <p:sp>
        <p:nvSpPr>
          <p:cNvPr id="19" name="">
            <a:extLst xmlns:a="http://schemas.openxmlformats.org/drawingml/2006/main">
              <a:ext uri="{FF2B5EF4-FFF2-40B4-BE49-F238E27FC236}">
                <a16:creationId xmlns:a16="http://schemas.microsoft.com/office/drawing/2014/main" id="{C7BE53E5-7D1A-4060-A908-00F92375E2C2}"/>
              </a:ext>
            </a:extLst>
          </p:cNvPr>
          <p:cNvSpPr>
            <a:spLocks xmlns:a="http://schemas.openxmlformats.org/drawingml/2006/main" noGrp="1"/>
          </p:cNvSpPr>
          <p:nvPr/>
        </p:nvSpPr>
        <p:spPr>
          <a:xfrm xmlns:a="http://schemas.openxmlformats.org/drawingml/2006/main">
            <a:off x="5981700" y="2343150"/>
            <a:ext cx="2381250" cy="876300"/>
          </a:xfrm>
          <a:prstGeom xmlns:a="http://schemas.openxmlformats.org/drawingml/2006/main" prst="ellipse">
            <a:avLst/>
          </a:prstGeom>
          <a:solidFill xmlns:a="http://schemas.openxmlformats.org/drawingml/2006/main">
            <a:srgbClr val="F6F8FB"/>
          </a:solidFill>
          <a:ln xmlns:a="http://schemas.openxmlformats.org/drawingml/2006/main" w="9525">
            <a:solidFill>
              <a:srgbClr val="D0D9E6"/>
            </a:solidFill>
            <a:prstDash val="solid"/>
          </a:ln>
        </p:spPr>
      </p:sp>
      <p:sp>
        <p:nvSpPr>
          <p:cNvPr id="20" name="">
            <a:extLst xmlns:a="http://schemas.openxmlformats.org/drawingml/2006/main">
              <a:ext uri="{FF2B5EF4-FFF2-40B4-BE49-F238E27FC236}">
                <a16:creationId xmlns:a16="http://schemas.microsoft.com/office/drawing/2014/main" id="{B6F683DA-F153-4923-836C-234B26BCA264}"/>
              </a:ext>
            </a:extLst>
          </p:cNvPr>
          <p:cNvSpPr>
            <a:spLocks xmlns:a="http://schemas.openxmlformats.org/drawingml/2006/main" noGrp="1"/>
          </p:cNvSpPr>
          <p:nvPr/>
        </p:nvSpPr>
        <p:spPr>
          <a:xfrm xmlns:a="http://schemas.openxmlformats.org/drawingml/2006/main">
            <a:off x="6172200" y="25146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Lire et tracer</a:t>
            </a:r>
          </a:p>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les pièces</a:t>
            </a:r>
          </a:p>
        </p:txBody>
      </p:sp>
      <p:sp>
        <p:nvSpPr>
          <p:cNvPr id="21" name="">
            <a:extLst xmlns:a="http://schemas.openxmlformats.org/drawingml/2006/main">
              <a:ext uri="{FF2B5EF4-FFF2-40B4-BE49-F238E27FC236}">
                <a16:creationId xmlns:a16="http://schemas.microsoft.com/office/drawing/2014/main" id="{60755083-22BE-4294-B1BA-E0AF65A97014}"/>
              </a:ext>
            </a:extLst>
          </p:cNvPr>
          <p:cNvSpPr>
            <a:spLocks xmlns:a="http://schemas.openxmlformats.org/drawingml/2006/main" noGrp="1"/>
          </p:cNvSpPr>
          <p:nvPr/>
        </p:nvSpPr>
        <p:spPr>
          <a:xfrm xmlns:a="http://schemas.openxmlformats.org/drawingml/2006/main">
            <a:off x="3219450" y="3714750"/>
            <a:ext cx="2381250" cy="876300"/>
          </a:xfrm>
          <a:prstGeom xmlns:a="http://schemas.openxmlformats.org/drawingml/2006/main" prst="ellipse">
            <a:avLst/>
          </a:prstGeom>
          <a:solidFill xmlns:a="http://schemas.openxmlformats.org/drawingml/2006/main">
            <a:srgbClr val="F6F8FB"/>
          </a:solidFill>
          <a:ln xmlns:a="http://schemas.openxmlformats.org/drawingml/2006/main" w="9525">
            <a:solidFill>
              <a:srgbClr val="D0D9E6"/>
            </a:solidFill>
            <a:prstDash val="solid"/>
          </a:ln>
        </p:spPr>
      </p:sp>
      <p:sp>
        <p:nvSpPr>
          <p:cNvPr id="22" name="">
            <a:extLst xmlns:a="http://schemas.openxmlformats.org/drawingml/2006/main">
              <a:ext uri="{FF2B5EF4-FFF2-40B4-BE49-F238E27FC236}">
                <a16:creationId xmlns:a16="http://schemas.microsoft.com/office/drawing/2014/main" id="{F4371334-C663-4BB5-AD20-A82BCEA62193}"/>
              </a:ext>
            </a:extLst>
          </p:cNvPr>
          <p:cNvSpPr>
            <a:spLocks xmlns:a="http://schemas.openxmlformats.org/drawingml/2006/main" noGrp="1"/>
          </p:cNvSpPr>
          <p:nvPr/>
        </p:nvSpPr>
        <p:spPr>
          <a:xfrm xmlns:a="http://schemas.openxmlformats.org/drawingml/2006/main">
            <a:off x="3409950" y="38862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Consulter les</a:t>
            </a:r>
          </a:p>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AO ouverts</a:t>
            </a:r>
          </a:p>
        </p:txBody>
      </p:sp>
      <p:sp>
        <p:nvSpPr>
          <p:cNvPr id="23" name="">
            <a:extLst xmlns:a="http://schemas.openxmlformats.org/drawingml/2006/main">
              <a:ext uri="{FF2B5EF4-FFF2-40B4-BE49-F238E27FC236}">
                <a16:creationId xmlns:a16="http://schemas.microsoft.com/office/drawing/2014/main" id="{30406037-334B-4687-AFE1-0A02B43FF6C6}"/>
              </a:ext>
            </a:extLst>
          </p:cNvPr>
          <p:cNvSpPr>
            <a:spLocks xmlns:a="http://schemas.openxmlformats.org/drawingml/2006/main" noGrp="1"/>
          </p:cNvSpPr>
          <p:nvPr/>
        </p:nvSpPr>
        <p:spPr>
          <a:xfrm xmlns:a="http://schemas.openxmlformats.org/drawingml/2006/main">
            <a:off x="5981700" y="3714750"/>
            <a:ext cx="2381250" cy="876300"/>
          </a:xfrm>
          <a:prstGeom xmlns:a="http://schemas.openxmlformats.org/drawingml/2006/main" prst="ellipse">
            <a:avLst/>
          </a:prstGeom>
          <a:solidFill xmlns:a="http://schemas.openxmlformats.org/drawingml/2006/main">
            <a:srgbClr val="F6F8FB"/>
          </a:solidFill>
          <a:ln xmlns:a="http://schemas.openxmlformats.org/drawingml/2006/main" w="9525">
            <a:solidFill>
              <a:srgbClr val="D0D9E6"/>
            </a:solidFill>
            <a:prstDash val="solid"/>
          </a:ln>
        </p:spPr>
      </p:sp>
      <p:sp>
        <p:nvSpPr>
          <p:cNvPr id="24" name="">
            <a:extLst xmlns:a="http://schemas.openxmlformats.org/drawingml/2006/main">
              <a:ext uri="{FF2B5EF4-FFF2-40B4-BE49-F238E27FC236}">
                <a16:creationId xmlns:a16="http://schemas.microsoft.com/office/drawing/2014/main" id="{D79F3596-D7C9-42EA-B975-CF1F34BE58E8}"/>
              </a:ext>
            </a:extLst>
          </p:cNvPr>
          <p:cNvSpPr>
            <a:spLocks xmlns:a="http://schemas.openxmlformats.org/drawingml/2006/main" noGrp="1"/>
          </p:cNvSpPr>
          <p:nvPr/>
        </p:nvSpPr>
        <p:spPr>
          <a:xfrm xmlns:a="http://schemas.openxmlformats.org/drawingml/2006/main">
            <a:off x="6172200" y="38862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Analyser et</a:t>
            </a:r>
          </a:p>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scorer</a:t>
            </a:r>
          </a:p>
        </p:txBody>
      </p:sp>
      <p:sp>
        <p:nvSpPr>
          <p:cNvPr id="25" name="">
            <a:extLst xmlns:a="http://schemas.openxmlformats.org/drawingml/2006/main">
              <a:ext uri="{FF2B5EF4-FFF2-40B4-BE49-F238E27FC236}">
                <a16:creationId xmlns:a16="http://schemas.microsoft.com/office/drawing/2014/main" id="{7271D943-C2BC-4907-843B-D897B57F8216}"/>
              </a:ext>
            </a:extLst>
          </p:cNvPr>
          <p:cNvSpPr>
            <a:spLocks xmlns:a="http://schemas.openxmlformats.org/drawingml/2006/main" noGrp="1"/>
          </p:cNvSpPr>
          <p:nvPr/>
        </p:nvSpPr>
        <p:spPr>
          <a:xfrm xmlns:a="http://schemas.openxmlformats.org/drawingml/2006/main">
            <a:off x="4610100" y="4933950"/>
            <a:ext cx="2381250" cy="876300"/>
          </a:xfrm>
          <a:prstGeom xmlns:a="http://schemas.openxmlformats.org/drawingml/2006/main" prst="ellipse">
            <a:avLst/>
          </a:prstGeom>
          <a:solidFill xmlns:a="http://schemas.openxmlformats.org/drawingml/2006/main">
            <a:srgbClr val="F6F8FB"/>
          </a:solidFill>
          <a:ln xmlns:a="http://schemas.openxmlformats.org/drawingml/2006/main" w="9525">
            <a:solidFill>
              <a:srgbClr val="D0D9E6"/>
            </a:solidFill>
            <a:prstDash val="solid"/>
          </a:ln>
        </p:spPr>
      </p:sp>
      <p:sp>
        <p:nvSpPr>
          <p:cNvPr id="26" name="">
            <a:extLst xmlns:a="http://schemas.openxmlformats.org/drawingml/2006/main">
              <a:ext uri="{FF2B5EF4-FFF2-40B4-BE49-F238E27FC236}">
                <a16:creationId xmlns:a16="http://schemas.microsoft.com/office/drawing/2014/main" id="{43421592-1330-469D-9316-1E7D6CE587AD}"/>
              </a:ext>
            </a:extLst>
          </p:cNvPr>
          <p:cNvSpPr>
            <a:spLocks xmlns:a="http://schemas.openxmlformats.org/drawingml/2006/main" noGrp="1"/>
          </p:cNvSpPr>
          <p:nvPr/>
        </p:nvSpPr>
        <p:spPr>
          <a:xfrm xmlns:a="http://schemas.openxmlformats.org/drawingml/2006/main">
            <a:off x="4800600" y="51054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Générer / diffuser</a:t>
            </a:r>
          </a:p>
          <a:p xmlns:a="http://schemas.openxmlformats.org/drawingml/2006/main">
            <a:pPr algn="ctr">
              <a:defRPr sz="1350" b="1" i="0">
                <a:solidFill>
                  <a:srgbClr val="0B2545"/>
                </a:solidFill>
                <a:latin typeface="Aptos"/>
                <a:ea typeface="Aptos"/>
                <a:cs typeface="Aptos"/>
              </a:defRPr>
            </a:pPr>
            <a:r>
              <a:rPr sz="1350" b="1" i="0">
                <a:solidFill>
                  <a:srgbClr val="0B2545"/>
                </a:solidFill>
                <a:latin typeface="Aptos"/>
                <a:ea typeface="Aptos"/>
                <a:cs typeface="Aptos"/>
              </a:rPr>
              <a:t>un digest</a:t>
            </a:r>
          </a:p>
        </p:txBody>
      </p:sp>
      <p:cxnSp>
        <p:nvCxnSpPr>
          <p:cNvPr id="59" name=""/>
          <p:cNvCxnSpPr>
            <a:stCxn xmlns:a="http://schemas.openxmlformats.org/drawingml/2006/main" id="6" idx="3"/>
            <a:endCxn xmlns:a="http://schemas.openxmlformats.org/drawingml/2006/main" id="21" idx="2"/>
          </p:cNvCxnSpPr>
          <p:nvPr/>
        </p:nvCxnSpPr>
        <p:spPr>
          <a:xfrm xmlns:a="http://schemas.openxmlformats.org/drawingml/2006/main">
            <a:off x="2266950" y="2981325"/>
            <a:ext cx="952500" cy="1171575"/>
          </a:xfrm>
          <a:prstGeom xmlns:a="http://schemas.openxmlformats.org/drawingml/2006/main" prst="bentConnector3">
            <a:avLst>
              <a:gd name="adj1" fmla="val 50000"/>
            </a:avLst>
          </a:prstGeom>
          <a:ln xmlns:a="http://schemas.openxmlformats.org/drawingml/2006/main" w="19050">
            <a:solidFill>
              <a:srgbClr val="1D5AA6"/>
            </a:solidFill>
            <a:prstDash val="solid"/>
            <a:tailEnd type="triangle" w="sm" len="sm"/>
          </a:ln>
        </p:spPr>
      </p:cxnSp>
      <p:cxnSp>
        <p:nvCxnSpPr>
          <p:cNvPr id="60" name=""/>
          <p:cNvCxnSpPr>
            <a:stCxn xmlns:a="http://schemas.openxmlformats.org/drawingml/2006/main" id="6" idx="3"/>
            <a:endCxn xmlns:a="http://schemas.openxmlformats.org/drawingml/2006/main" id="23" idx="2"/>
          </p:cNvCxnSpPr>
          <p:nvPr/>
        </p:nvCxnSpPr>
        <p:spPr>
          <a:xfrm xmlns:a="http://schemas.openxmlformats.org/drawingml/2006/main">
            <a:off x="2266950" y="2981325"/>
            <a:ext cx="3714750" cy="1171575"/>
          </a:xfrm>
          <a:prstGeom xmlns:a="http://schemas.openxmlformats.org/drawingml/2006/main" prst="bentConnector3">
            <a:avLst>
              <a:gd name="adj1" fmla="val 50000"/>
            </a:avLst>
          </a:prstGeom>
          <a:ln xmlns:a="http://schemas.openxmlformats.org/drawingml/2006/main" w="19050">
            <a:solidFill>
              <a:srgbClr val="1D5AA6"/>
            </a:solidFill>
            <a:prstDash val="solid"/>
            <a:tailEnd type="triangle" w="sm" len="sm"/>
          </a:ln>
        </p:spPr>
      </p:cxnSp>
      <p:cxnSp>
        <p:nvCxnSpPr>
          <p:cNvPr id="61" name=""/>
          <p:cNvCxnSpPr>
            <a:stCxn xmlns:a="http://schemas.openxmlformats.org/drawingml/2006/main" id="6" idx="3"/>
            <a:endCxn xmlns:a="http://schemas.openxmlformats.org/drawingml/2006/main" id="25" idx="2"/>
          </p:cNvCxnSpPr>
          <p:nvPr/>
        </p:nvCxnSpPr>
        <p:spPr>
          <a:xfrm xmlns:a="http://schemas.openxmlformats.org/drawingml/2006/main">
            <a:off x="2266950" y="2981325"/>
            <a:ext cx="2343150" cy="2390775"/>
          </a:xfrm>
          <a:prstGeom xmlns:a="http://schemas.openxmlformats.org/drawingml/2006/main" prst="bentConnector3">
            <a:avLst>
              <a:gd name="adj1" fmla="val 50000"/>
            </a:avLst>
          </a:prstGeom>
          <a:ln xmlns:a="http://schemas.openxmlformats.org/drawingml/2006/main" w="19050">
            <a:solidFill>
              <a:srgbClr val="1D5AA6"/>
            </a:solidFill>
            <a:prstDash val="solid"/>
            <a:tailEnd type="triangle" w="sm" len="sm"/>
          </a:ln>
        </p:spPr>
      </p:cxnSp>
      <p:cxnSp>
        <p:nvCxnSpPr>
          <p:cNvPr id="62" name=""/>
          <p:cNvCxnSpPr>
            <a:stCxn xmlns:a="http://schemas.openxmlformats.org/drawingml/2006/main" id="9" idx="3"/>
            <a:endCxn xmlns:a="http://schemas.openxmlformats.org/drawingml/2006/main" id="17" idx="2"/>
          </p:cNvCxnSpPr>
          <p:nvPr/>
        </p:nvCxnSpPr>
        <p:spPr>
          <a:xfrm xmlns:a="http://schemas.openxmlformats.org/drawingml/2006/main" flipV="1">
            <a:off x="2266950" y="2781300"/>
            <a:ext cx="952500" cy="1990725"/>
          </a:xfrm>
          <a:prstGeom xmlns:a="http://schemas.openxmlformats.org/drawingml/2006/main" prst="bentConnector3">
            <a:avLst>
              <a:gd name="adj1" fmla="val 50000"/>
            </a:avLst>
          </a:prstGeom>
          <a:ln xmlns:a="http://schemas.openxmlformats.org/drawingml/2006/main" w="19050">
            <a:solidFill>
              <a:srgbClr val="2FB9DB"/>
            </a:solidFill>
            <a:prstDash val="solid"/>
            <a:tailEnd type="triangle" w="sm" len="sm"/>
          </a:ln>
        </p:spPr>
      </p:cxnSp>
      <p:cxnSp>
        <p:nvCxnSpPr>
          <p:cNvPr id="63" name=""/>
          <p:cNvCxnSpPr>
            <a:stCxn xmlns:a="http://schemas.openxmlformats.org/drawingml/2006/main" id="9" idx="3"/>
            <a:endCxn xmlns:a="http://schemas.openxmlformats.org/drawingml/2006/main" id="25" idx="2"/>
          </p:cNvCxnSpPr>
          <p:nvPr/>
        </p:nvCxnSpPr>
        <p:spPr>
          <a:xfrm xmlns:a="http://schemas.openxmlformats.org/drawingml/2006/main">
            <a:off x="2266950" y="4772025"/>
            <a:ext cx="2343150" cy="600075"/>
          </a:xfrm>
          <a:prstGeom xmlns:a="http://schemas.openxmlformats.org/drawingml/2006/main" prst="bentConnector3">
            <a:avLst>
              <a:gd name="adj1" fmla="val 50000"/>
            </a:avLst>
          </a:prstGeom>
          <a:ln xmlns:a="http://schemas.openxmlformats.org/drawingml/2006/main" w="19050">
            <a:solidFill>
              <a:srgbClr val="2FB9DB"/>
            </a:solidFill>
            <a:prstDash val="solid"/>
            <a:tailEnd type="triangle" w="sm" len="sm"/>
          </a:ln>
        </p:spPr>
      </p:cxnSp>
      <p:cxnSp>
        <p:nvCxnSpPr>
          <p:cNvPr id="64" name=""/>
          <p:cNvCxnSpPr>
            <a:stCxn xmlns:a="http://schemas.openxmlformats.org/drawingml/2006/main" id="17" idx="6"/>
            <a:endCxn xmlns:a="http://schemas.openxmlformats.org/drawingml/2006/main" id="12" idx="1"/>
          </p:cNvCxnSpPr>
          <p:nvPr/>
        </p:nvCxnSpPr>
        <p:spPr>
          <a:xfrm xmlns:a="http://schemas.openxmlformats.org/drawingml/2006/main">
            <a:off x="5600700" y="2781300"/>
            <a:ext cx="4324350" cy="666750"/>
          </a:xfrm>
          <a:prstGeom xmlns:a="http://schemas.openxmlformats.org/drawingml/2006/main" prst="bentConnector3">
            <a:avLst>
              <a:gd name="adj1" fmla="val 50000"/>
            </a:avLst>
          </a:prstGeom>
          <a:ln xmlns:a="http://schemas.openxmlformats.org/drawingml/2006/main" w="19050">
            <a:solidFill>
              <a:srgbClr val="667085"/>
            </a:solidFill>
            <a:prstDash val="solid"/>
            <a:tailEnd type="triangle" w="sm" len="sm"/>
          </a:ln>
        </p:spPr>
      </p:cxnSp>
    </p:spTree>
    <p:extLst>
      <p:ext uri="{BB962C8B-B14F-4D97-AF65-F5344CB8AC3E}">
        <p14:creationId xmlns:p14="http://schemas.microsoft.com/office/powerpoint/2010/main" val="641437909"/>
      </p:ext>
    </p:extLst>
  </p:cSld>
</p:sld>
</file>

<file path=ppt/slides/slide6.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F5124D6A-0E62-4715-9963-85291FF87967}"/>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ARCHITECTURE</a:t>
            </a:r>
          </a:p>
        </p:txBody>
      </p:sp>
      <p:sp>
        <p:nvSpPr>
          <p:cNvPr id="2" name="">
            <a:extLst xmlns:a="http://schemas.openxmlformats.org/drawingml/2006/main">
              <a:ext uri="{FF2B5EF4-FFF2-40B4-BE49-F238E27FC236}">
                <a16:creationId xmlns:a16="http://schemas.microsoft.com/office/drawing/2014/main" id="{FB97ABDC-449C-42CA-9AEA-63D2C9E3E140}"/>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Une chaîne bout en bout, avec la base comme source de vérité</a:t>
            </a:r>
          </a:p>
        </p:txBody>
      </p:sp>
      <p:sp>
        <p:nvSpPr>
          <p:cNvPr id="3" name="">
            <a:extLst xmlns:a="http://schemas.openxmlformats.org/drawingml/2006/main">
              <a:ext uri="{FF2B5EF4-FFF2-40B4-BE49-F238E27FC236}">
                <a16:creationId xmlns:a16="http://schemas.microsoft.com/office/drawing/2014/main" id="{24CAF6C6-BBD7-47B2-BF50-9EACFAB61409}"/>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395B2720-E212-41AE-B34B-77922691D384}"/>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198721F8-BCD7-40E8-9D06-9B886C132A61}"/>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06</a:t>
            </a:r>
          </a:p>
        </p:txBody>
      </p:sp>
      <p:sp>
        <p:nvSpPr>
          <p:cNvPr id="6" name="">
            <a:extLst xmlns:a="http://schemas.openxmlformats.org/drawingml/2006/main">
              <a:ext uri="{FF2B5EF4-FFF2-40B4-BE49-F238E27FC236}">
                <a16:creationId xmlns:a16="http://schemas.microsoft.com/office/drawing/2014/main" id="{39F31BC3-9BC6-4817-A151-5D4247749B23}"/>
              </a:ext>
            </a:extLst>
          </p:cNvPr>
          <p:cNvSpPr>
            <a:spLocks xmlns:a="http://schemas.openxmlformats.org/drawingml/2006/main" noGrp="1"/>
          </p:cNvSpPr>
          <p:nvPr/>
        </p:nvSpPr>
        <p:spPr>
          <a:xfrm xmlns:a="http://schemas.openxmlformats.org/drawingml/2006/main">
            <a:off x="457200" y="2343150"/>
            <a:ext cx="1600200" cy="1562100"/>
          </a:xfrm>
          <a:prstGeom xmlns:a="http://schemas.openxmlformats.org/drawingml/2006/main" prst="roundRect">
            <a:avLst>
              <a:gd name="adj" fmla="val 9756"/>
            </a:avLst>
          </a:prstGeom>
          <a:solidFill xmlns:a="http://schemas.openxmlformats.org/drawingml/2006/main">
            <a:srgbClr val="EAF2FB"/>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C301E226-38C2-402E-A44C-2B0ACE82C37E}"/>
              </a:ext>
            </a:extLst>
          </p:cNvPr>
          <p:cNvSpPr>
            <a:spLocks xmlns:a="http://schemas.openxmlformats.org/drawingml/2006/main" noGrp="1"/>
          </p:cNvSpPr>
          <p:nvPr/>
        </p:nvSpPr>
        <p:spPr>
          <a:xfrm xmlns:a="http://schemas.openxmlformats.org/drawingml/2006/main">
            <a:off x="609600" y="249555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D5AA6"/>
                </a:solidFill>
                <a:latin typeface="Aptos"/>
                <a:ea typeface="Aptos"/>
                <a:cs typeface="Aptos"/>
              </a:defRPr>
            </a:pPr>
            <a:r>
              <a:rPr sz="1050" b="1" i="0">
                <a:solidFill>
                  <a:srgbClr val="1D5AA6"/>
                </a:solidFill>
                <a:latin typeface="Aptos"/>
                <a:ea typeface="Aptos"/>
                <a:cs typeface="Aptos"/>
              </a:rPr>
              <a:t>01</a:t>
            </a:r>
          </a:p>
        </p:txBody>
      </p:sp>
      <p:sp>
        <p:nvSpPr>
          <p:cNvPr id="8" name="">
            <a:extLst xmlns:a="http://schemas.openxmlformats.org/drawingml/2006/main">
              <a:ext uri="{FF2B5EF4-FFF2-40B4-BE49-F238E27FC236}">
                <a16:creationId xmlns:a16="http://schemas.microsoft.com/office/drawing/2014/main" id="{A11EF49D-B5BA-4D3A-A43F-C021AA81D6C8}"/>
              </a:ext>
            </a:extLst>
          </p:cNvPr>
          <p:cNvSpPr>
            <a:spLocks xmlns:a="http://schemas.openxmlformats.org/drawingml/2006/main" noGrp="1"/>
          </p:cNvSpPr>
          <p:nvPr/>
        </p:nvSpPr>
        <p:spPr>
          <a:xfrm xmlns:a="http://schemas.openxmlformats.org/drawingml/2006/main">
            <a:off x="609600" y="2857500"/>
            <a:ext cx="1295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92392"/>
          </a:bodyPr>
          <a:lstStyle xmlns:a="http://schemas.openxmlformats.org/drawingml/2006/main"/>
          <a:p xmlns:a="http://schemas.openxmlformats.org/drawingml/2006/main">
            <a:pPr algn="ctr">
              <a:defRPr sz="1500" b="1" i="0">
                <a:solidFill>
                  <a:srgbClr val="0B2545"/>
                </a:solidFill>
                <a:latin typeface="Aptos"/>
                <a:ea typeface="Aptos"/>
                <a:cs typeface="Aptos"/>
              </a:defRPr>
            </a:pPr>
            <a:r>
              <a:rPr sz="1500" b="1" i="0">
                <a:solidFill>
                  <a:srgbClr val="0B2545"/>
                </a:solidFill>
                <a:latin typeface="Aptos"/>
                <a:ea typeface="Aptos"/>
                <a:cs typeface="Aptos"/>
              </a:rPr>
              <a:t>Source publique</a:t>
            </a:r>
          </a:p>
        </p:txBody>
      </p:sp>
      <p:sp>
        <p:nvSpPr>
          <p:cNvPr id="9" name="">
            <a:extLst xmlns:a="http://schemas.openxmlformats.org/drawingml/2006/main">
              <a:ext uri="{FF2B5EF4-FFF2-40B4-BE49-F238E27FC236}">
                <a16:creationId xmlns:a16="http://schemas.microsoft.com/office/drawing/2014/main" id="{238415DC-0B94-4468-A181-D9B62FB3C625}"/>
              </a:ext>
            </a:extLst>
          </p:cNvPr>
          <p:cNvSpPr>
            <a:spLocks xmlns:a="http://schemas.openxmlformats.org/drawingml/2006/main" noGrp="1"/>
          </p:cNvSpPr>
          <p:nvPr/>
        </p:nvSpPr>
        <p:spPr>
          <a:xfrm xmlns:a="http://schemas.openxmlformats.org/drawingml/2006/main">
            <a:off x="590550" y="34290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HAICOP</a:t>
            </a:r>
          </a:p>
        </p:txBody>
      </p:sp>
      <p:sp>
        <p:nvSpPr>
          <p:cNvPr id="10" name="">
            <a:extLst xmlns:a="http://schemas.openxmlformats.org/drawingml/2006/main">
              <a:ext uri="{FF2B5EF4-FFF2-40B4-BE49-F238E27FC236}">
                <a16:creationId xmlns:a16="http://schemas.microsoft.com/office/drawing/2014/main" id="{DA82199E-16AF-44E2-8FC1-05BC494AB8DE}"/>
              </a:ext>
            </a:extLst>
          </p:cNvPr>
          <p:cNvSpPr>
            <a:spLocks xmlns:a="http://schemas.openxmlformats.org/drawingml/2006/main" noGrp="1"/>
          </p:cNvSpPr>
          <p:nvPr/>
        </p:nvSpPr>
        <p:spPr>
          <a:xfrm xmlns:a="http://schemas.openxmlformats.org/drawingml/2006/main">
            <a:off x="2400300" y="2343150"/>
            <a:ext cx="1600200" cy="156210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23E7E7D8-29EA-4E55-A2E9-36BEC4C4FB05}"/>
              </a:ext>
            </a:extLst>
          </p:cNvPr>
          <p:cNvSpPr>
            <a:spLocks xmlns:a="http://schemas.openxmlformats.org/drawingml/2006/main" noGrp="1"/>
          </p:cNvSpPr>
          <p:nvPr/>
        </p:nvSpPr>
        <p:spPr>
          <a:xfrm xmlns:a="http://schemas.openxmlformats.org/drawingml/2006/main">
            <a:off x="2552700" y="249555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D5AA6"/>
                </a:solidFill>
                <a:latin typeface="Aptos"/>
                <a:ea typeface="Aptos"/>
                <a:cs typeface="Aptos"/>
              </a:defRPr>
            </a:pPr>
            <a:r>
              <a:rPr sz="1050" b="1" i="0">
                <a:solidFill>
                  <a:srgbClr val="1D5AA6"/>
                </a:solidFill>
                <a:latin typeface="Aptos"/>
                <a:ea typeface="Aptos"/>
                <a:cs typeface="Aptos"/>
              </a:rPr>
              <a:t>02</a:t>
            </a:r>
          </a:p>
        </p:txBody>
      </p:sp>
      <p:sp>
        <p:nvSpPr>
          <p:cNvPr id="12" name="">
            <a:extLst xmlns:a="http://schemas.openxmlformats.org/drawingml/2006/main">
              <a:ext uri="{FF2B5EF4-FFF2-40B4-BE49-F238E27FC236}">
                <a16:creationId xmlns:a16="http://schemas.microsoft.com/office/drawing/2014/main" id="{688D805E-B2C0-41DC-8203-BD961CC332B9}"/>
              </a:ext>
            </a:extLst>
          </p:cNvPr>
          <p:cNvSpPr>
            <a:spLocks xmlns:a="http://schemas.openxmlformats.org/drawingml/2006/main" noGrp="1"/>
          </p:cNvSpPr>
          <p:nvPr/>
        </p:nvSpPr>
        <p:spPr>
          <a:xfrm xmlns:a="http://schemas.openxmlformats.org/drawingml/2006/main">
            <a:off x="2552700" y="2857500"/>
            <a:ext cx="1295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500" b="1" i="0">
                <a:solidFill>
                  <a:srgbClr val="0B2545"/>
                </a:solidFill>
                <a:latin typeface="Aptos"/>
                <a:ea typeface="Aptos"/>
                <a:cs typeface="Aptos"/>
              </a:defRPr>
            </a:pPr>
            <a:r>
              <a:rPr sz="1500" b="1" i="0">
                <a:solidFill>
                  <a:srgbClr val="0B2545"/>
                </a:solidFill>
                <a:latin typeface="Aptos"/>
                <a:ea typeface="Aptos"/>
                <a:cs typeface="Aptos"/>
              </a:rPr>
              <a:t>Acquisition</a:t>
            </a:r>
          </a:p>
        </p:txBody>
      </p:sp>
      <p:sp>
        <p:nvSpPr>
          <p:cNvPr id="13" name="">
            <a:extLst xmlns:a="http://schemas.openxmlformats.org/drawingml/2006/main">
              <a:ext uri="{FF2B5EF4-FFF2-40B4-BE49-F238E27FC236}">
                <a16:creationId xmlns:a16="http://schemas.microsoft.com/office/drawing/2014/main" id="{8E2CF5A7-017A-45BE-9792-C34CBF7E2D8C}"/>
              </a:ext>
            </a:extLst>
          </p:cNvPr>
          <p:cNvSpPr>
            <a:spLocks xmlns:a="http://schemas.openxmlformats.org/drawingml/2006/main" noGrp="1"/>
          </p:cNvSpPr>
          <p:nvPr/>
        </p:nvSpPr>
        <p:spPr>
          <a:xfrm xmlns:a="http://schemas.openxmlformats.org/drawingml/2006/main">
            <a:off x="2533650" y="34290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Collecteur Python</a:t>
            </a:r>
          </a:p>
        </p:txBody>
      </p:sp>
      <p:cxnSp>
        <p:nvCxnSpPr>
          <p:cNvPr id="57" name=""/>
          <p:cNvCxnSpPr>
            <a:stCxn xmlns:a="http://schemas.openxmlformats.org/drawingml/2006/main" id="6" idx="3"/>
            <a:endCxn xmlns:a="http://schemas.openxmlformats.org/drawingml/2006/main" id="10" idx="1"/>
          </p:cNvCxnSpPr>
          <p:nvPr/>
        </p:nvCxnSpPr>
        <p:spPr>
          <a:xfrm xmlns:a="http://schemas.openxmlformats.org/drawingml/2006/main">
            <a:off x="2057400" y="3124200"/>
            <a:ext cx="34290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15" name="">
            <a:extLst xmlns:a="http://schemas.openxmlformats.org/drawingml/2006/main">
              <a:ext uri="{FF2B5EF4-FFF2-40B4-BE49-F238E27FC236}">
                <a16:creationId xmlns:a16="http://schemas.microsoft.com/office/drawing/2014/main" id="{47619866-2730-4CB6-8ED0-747FE992A43F}"/>
              </a:ext>
            </a:extLst>
          </p:cNvPr>
          <p:cNvSpPr>
            <a:spLocks xmlns:a="http://schemas.openxmlformats.org/drawingml/2006/main" noGrp="1"/>
          </p:cNvSpPr>
          <p:nvPr/>
        </p:nvSpPr>
        <p:spPr>
          <a:xfrm xmlns:a="http://schemas.openxmlformats.org/drawingml/2006/main">
            <a:off x="4343400" y="2343150"/>
            <a:ext cx="1600200" cy="156210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2FB9D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DA47B7A7-3BFC-4D84-8343-C9DFCBFCA316}"/>
              </a:ext>
            </a:extLst>
          </p:cNvPr>
          <p:cNvSpPr>
            <a:spLocks xmlns:a="http://schemas.openxmlformats.org/drawingml/2006/main" noGrp="1"/>
          </p:cNvSpPr>
          <p:nvPr/>
        </p:nvSpPr>
        <p:spPr>
          <a:xfrm xmlns:a="http://schemas.openxmlformats.org/drawingml/2006/main">
            <a:off x="4495800" y="249555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2FB9DB"/>
                </a:solidFill>
                <a:latin typeface="Aptos"/>
                <a:ea typeface="Aptos"/>
                <a:cs typeface="Aptos"/>
              </a:defRPr>
            </a:pPr>
            <a:r>
              <a:rPr sz="1050" b="1" i="0">
                <a:solidFill>
                  <a:srgbClr val="2FB9DB"/>
                </a:solidFill>
                <a:latin typeface="Aptos"/>
                <a:ea typeface="Aptos"/>
                <a:cs typeface="Aptos"/>
              </a:rPr>
              <a:t>03</a:t>
            </a:r>
          </a:p>
        </p:txBody>
      </p:sp>
      <p:sp>
        <p:nvSpPr>
          <p:cNvPr id="17" name="">
            <a:extLst xmlns:a="http://schemas.openxmlformats.org/drawingml/2006/main">
              <a:ext uri="{FF2B5EF4-FFF2-40B4-BE49-F238E27FC236}">
                <a16:creationId xmlns:a16="http://schemas.microsoft.com/office/drawing/2014/main" id="{DE5F204E-5FAC-4146-AC7F-37F0C4D81137}"/>
              </a:ext>
            </a:extLst>
          </p:cNvPr>
          <p:cNvSpPr>
            <a:spLocks xmlns:a="http://schemas.openxmlformats.org/drawingml/2006/main" noGrp="1"/>
          </p:cNvSpPr>
          <p:nvPr/>
        </p:nvSpPr>
        <p:spPr>
          <a:xfrm xmlns:a="http://schemas.openxmlformats.org/drawingml/2006/main">
            <a:off x="4495800" y="2857500"/>
            <a:ext cx="1295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500" b="1" i="0">
                <a:solidFill>
                  <a:srgbClr val="0B2545"/>
                </a:solidFill>
                <a:latin typeface="Aptos"/>
                <a:ea typeface="Aptos"/>
                <a:cs typeface="Aptos"/>
              </a:defRPr>
            </a:pPr>
            <a:r>
              <a:rPr sz="1500" b="1" i="0">
                <a:solidFill>
                  <a:srgbClr val="0B2545"/>
                </a:solidFill>
                <a:latin typeface="Aptos"/>
                <a:ea typeface="Aptos"/>
                <a:cs typeface="Aptos"/>
              </a:rPr>
              <a:t>Documents</a:t>
            </a:r>
          </a:p>
        </p:txBody>
      </p:sp>
      <p:sp>
        <p:nvSpPr>
          <p:cNvPr id="18" name="">
            <a:extLst xmlns:a="http://schemas.openxmlformats.org/drawingml/2006/main">
              <a:ext uri="{FF2B5EF4-FFF2-40B4-BE49-F238E27FC236}">
                <a16:creationId xmlns:a16="http://schemas.microsoft.com/office/drawing/2014/main" id="{3249A582-3D53-45AF-9984-AEF306182A46}"/>
              </a:ext>
            </a:extLst>
          </p:cNvPr>
          <p:cNvSpPr>
            <a:spLocks xmlns:a="http://schemas.openxmlformats.org/drawingml/2006/main" noGrp="1"/>
          </p:cNvSpPr>
          <p:nvPr/>
        </p:nvSpPr>
        <p:spPr>
          <a:xfrm xmlns:a="http://schemas.openxmlformats.org/drawingml/2006/main">
            <a:off x="4476750" y="34290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9509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Téléchargement · OCR</a:t>
            </a:r>
          </a:p>
        </p:txBody>
      </p:sp>
      <p:cxnSp>
        <p:nvCxnSpPr>
          <p:cNvPr id="62" name=""/>
          <p:cNvCxnSpPr>
            <a:stCxn xmlns:a="http://schemas.openxmlformats.org/drawingml/2006/main" id="10" idx="3"/>
            <a:endCxn xmlns:a="http://schemas.openxmlformats.org/drawingml/2006/main" id="15" idx="1"/>
          </p:cNvCxnSpPr>
          <p:nvPr/>
        </p:nvCxnSpPr>
        <p:spPr>
          <a:xfrm xmlns:a="http://schemas.openxmlformats.org/drawingml/2006/main">
            <a:off x="4000500" y="3124200"/>
            <a:ext cx="34290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20" name="">
            <a:extLst xmlns:a="http://schemas.openxmlformats.org/drawingml/2006/main">
              <a:ext uri="{FF2B5EF4-FFF2-40B4-BE49-F238E27FC236}">
                <a16:creationId xmlns:a16="http://schemas.microsoft.com/office/drawing/2014/main" id="{F5F47ADF-60D2-4111-B652-8282F9D48ACF}"/>
              </a:ext>
            </a:extLst>
          </p:cNvPr>
          <p:cNvSpPr>
            <a:spLocks xmlns:a="http://schemas.openxmlformats.org/drawingml/2006/main" noGrp="1"/>
          </p:cNvSpPr>
          <p:nvPr/>
        </p:nvSpPr>
        <p:spPr>
          <a:xfrm xmlns:a="http://schemas.openxmlformats.org/drawingml/2006/main">
            <a:off x="6286500" y="2343150"/>
            <a:ext cx="1600200" cy="1562100"/>
          </a:xfrm>
          <a:prstGeom xmlns:a="http://schemas.openxmlformats.org/drawingml/2006/main" prst="roundRect">
            <a:avLst>
              <a:gd name="adj" fmla="val 9756"/>
            </a:avLst>
          </a:prstGeom>
          <a:solidFill xmlns:a="http://schemas.openxmlformats.org/drawingml/2006/main">
            <a:srgbClr val="DDF6FB"/>
          </a:solidFill>
          <a:ln xmlns:a="http://schemas.openxmlformats.org/drawingml/2006/main" w="19050">
            <a:solidFill>
              <a:srgbClr val="2FB9D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1" name="">
            <a:extLst xmlns:a="http://schemas.openxmlformats.org/drawingml/2006/main">
              <a:ext uri="{FF2B5EF4-FFF2-40B4-BE49-F238E27FC236}">
                <a16:creationId xmlns:a16="http://schemas.microsoft.com/office/drawing/2014/main" id="{1B8DFED8-3F2A-40B2-A29B-3D83E98ED7CF}"/>
              </a:ext>
            </a:extLst>
          </p:cNvPr>
          <p:cNvSpPr>
            <a:spLocks xmlns:a="http://schemas.openxmlformats.org/drawingml/2006/main" noGrp="1"/>
          </p:cNvSpPr>
          <p:nvPr/>
        </p:nvSpPr>
        <p:spPr>
          <a:xfrm xmlns:a="http://schemas.openxmlformats.org/drawingml/2006/main">
            <a:off x="6438900" y="249555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2FB9DB"/>
                </a:solidFill>
                <a:latin typeface="Aptos"/>
                <a:ea typeface="Aptos"/>
                <a:cs typeface="Aptos"/>
              </a:defRPr>
            </a:pPr>
            <a:r>
              <a:rPr sz="1050" b="1" i="0">
                <a:solidFill>
                  <a:srgbClr val="2FB9DB"/>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014223E8-3758-4551-A295-BAB79D510A5A}"/>
              </a:ext>
            </a:extLst>
          </p:cNvPr>
          <p:cNvSpPr>
            <a:spLocks xmlns:a="http://schemas.openxmlformats.org/drawingml/2006/main" noGrp="1"/>
          </p:cNvSpPr>
          <p:nvPr/>
        </p:nvSpPr>
        <p:spPr>
          <a:xfrm xmlns:a="http://schemas.openxmlformats.org/drawingml/2006/main">
            <a:off x="6438900" y="2857500"/>
            <a:ext cx="1295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500" b="1" i="0">
                <a:solidFill>
                  <a:srgbClr val="0B2545"/>
                </a:solidFill>
                <a:latin typeface="Aptos"/>
                <a:ea typeface="Aptos"/>
                <a:cs typeface="Aptos"/>
              </a:defRPr>
            </a:pPr>
            <a:r>
              <a:rPr sz="1500" b="1" i="0">
                <a:solidFill>
                  <a:srgbClr val="0B2545"/>
                </a:solidFill>
                <a:latin typeface="Aptos"/>
                <a:ea typeface="Aptos"/>
                <a:cs typeface="Aptos"/>
              </a:rPr>
              <a:t>Mémoire</a:t>
            </a:r>
          </a:p>
        </p:txBody>
      </p:sp>
      <p:sp>
        <p:nvSpPr>
          <p:cNvPr id="23" name="">
            <a:extLst xmlns:a="http://schemas.openxmlformats.org/drawingml/2006/main">
              <a:ext uri="{FF2B5EF4-FFF2-40B4-BE49-F238E27FC236}">
                <a16:creationId xmlns:a16="http://schemas.microsoft.com/office/drawing/2014/main" id="{E84F2564-6D41-4A49-B091-AEAE1728C4F6}"/>
              </a:ext>
            </a:extLst>
          </p:cNvPr>
          <p:cNvSpPr>
            <a:spLocks xmlns:a="http://schemas.openxmlformats.org/drawingml/2006/main" noGrp="1"/>
          </p:cNvSpPr>
          <p:nvPr/>
        </p:nvSpPr>
        <p:spPr>
          <a:xfrm xmlns:a="http://schemas.openxmlformats.org/drawingml/2006/main">
            <a:off x="6419850" y="34290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PostgreSQL 16</a:t>
            </a:r>
          </a:p>
        </p:txBody>
      </p:sp>
      <p:cxnSp>
        <p:nvCxnSpPr>
          <p:cNvPr id="67" name=""/>
          <p:cNvCxnSpPr>
            <a:stCxn xmlns:a="http://schemas.openxmlformats.org/drawingml/2006/main" id="15" idx="3"/>
            <a:endCxn xmlns:a="http://schemas.openxmlformats.org/drawingml/2006/main" id="20" idx="1"/>
          </p:cNvCxnSpPr>
          <p:nvPr/>
        </p:nvCxnSpPr>
        <p:spPr>
          <a:xfrm xmlns:a="http://schemas.openxmlformats.org/drawingml/2006/main">
            <a:off x="5943600" y="3124200"/>
            <a:ext cx="34290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25" name="">
            <a:extLst xmlns:a="http://schemas.openxmlformats.org/drawingml/2006/main">
              <a:ext uri="{FF2B5EF4-FFF2-40B4-BE49-F238E27FC236}">
                <a16:creationId xmlns:a16="http://schemas.microsoft.com/office/drawing/2014/main" id="{2F26C80F-35A6-4C4F-9021-47E5E3CDD0AF}"/>
              </a:ext>
            </a:extLst>
          </p:cNvPr>
          <p:cNvSpPr>
            <a:spLocks xmlns:a="http://schemas.openxmlformats.org/drawingml/2006/main" noGrp="1"/>
          </p:cNvSpPr>
          <p:nvPr/>
        </p:nvSpPr>
        <p:spPr>
          <a:xfrm xmlns:a="http://schemas.openxmlformats.org/drawingml/2006/main">
            <a:off x="8229600" y="2343150"/>
            <a:ext cx="1600200" cy="1562100"/>
          </a:xfrm>
          <a:prstGeom xmlns:a="http://schemas.openxmlformats.org/drawingml/2006/main" prst="roundRect">
            <a:avLst>
              <a:gd name="adj" fmla="val 9756"/>
            </a:avLst>
          </a:prstGeom>
          <a:solidFill xmlns:a="http://schemas.openxmlformats.org/drawingml/2006/main">
            <a:srgbClr val="FFFFFF"/>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E5C86879-A151-47A6-9609-BFAD82C8EA74}"/>
              </a:ext>
            </a:extLst>
          </p:cNvPr>
          <p:cNvSpPr>
            <a:spLocks xmlns:a="http://schemas.openxmlformats.org/drawingml/2006/main" noGrp="1"/>
          </p:cNvSpPr>
          <p:nvPr/>
        </p:nvSpPr>
        <p:spPr>
          <a:xfrm xmlns:a="http://schemas.openxmlformats.org/drawingml/2006/main">
            <a:off x="8382000" y="249555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1D5AA6"/>
                </a:solidFill>
                <a:latin typeface="Aptos"/>
                <a:ea typeface="Aptos"/>
                <a:cs typeface="Aptos"/>
              </a:defRPr>
            </a:pPr>
            <a:r>
              <a:rPr sz="1050" b="1" i="0">
                <a:solidFill>
                  <a:srgbClr val="1D5AA6"/>
                </a:solidFill>
                <a:latin typeface="Aptos"/>
                <a:ea typeface="Aptos"/>
                <a:cs typeface="Aptos"/>
              </a:rPr>
              <a:t>05</a:t>
            </a:r>
          </a:p>
        </p:txBody>
      </p:sp>
      <p:sp>
        <p:nvSpPr>
          <p:cNvPr id="27" name="">
            <a:extLst xmlns:a="http://schemas.openxmlformats.org/drawingml/2006/main">
              <a:ext uri="{FF2B5EF4-FFF2-40B4-BE49-F238E27FC236}">
                <a16:creationId xmlns:a16="http://schemas.microsoft.com/office/drawing/2014/main" id="{6A5AAAD4-9B0C-4530-9633-E497E0058F19}"/>
              </a:ext>
            </a:extLst>
          </p:cNvPr>
          <p:cNvSpPr>
            <a:spLocks xmlns:a="http://schemas.openxmlformats.org/drawingml/2006/main" noGrp="1"/>
          </p:cNvSpPr>
          <p:nvPr/>
        </p:nvSpPr>
        <p:spPr>
          <a:xfrm xmlns:a="http://schemas.openxmlformats.org/drawingml/2006/main">
            <a:off x="8382000" y="2857500"/>
            <a:ext cx="1295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500" b="1" i="0">
                <a:solidFill>
                  <a:srgbClr val="0B2545"/>
                </a:solidFill>
                <a:latin typeface="Aptos"/>
                <a:ea typeface="Aptos"/>
                <a:cs typeface="Aptos"/>
              </a:defRPr>
            </a:pPr>
            <a:r>
              <a:rPr sz="1500" b="1" i="0">
                <a:solidFill>
                  <a:srgbClr val="0B2545"/>
                </a:solidFill>
                <a:latin typeface="Aptos"/>
                <a:ea typeface="Aptos"/>
                <a:cs typeface="Aptos"/>
              </a:rPr>
              <a:t>Raisonnement</a:t>
            </a:r>
          </a:p>
        </p:txBody>
      </p:sp>
      <p:sp>
        <p:nvSpPr>
          <p:cNvPr id="28" name="">
            <a:extLst xmlns:a="http://schemas.openxmlformats.org/drawingml/2006/main">
              <a:ext uri="{FF2B5EF4-FFF2-40B4-BE49-F238E27FC236}">
                <a16:creationId xmlns:a16="http://schemas.microsoft.com/office/drawing/2014/main" id="{329BE9EA-0C67-4EF6-A8B6-7130640193E6}"/>
              </a:ext>
            </a:extLst>
          </p:cNvPr>
          <p:cNvSpPr>
            <a:spLocks xmlns:a="http://schemas.openxmlformats.org/drawingml/2006/main" noGrp="1"/>
          </p:cNvSpPr>
          <p:nvPr/>
        </p:nvSpPr>
        <p:spPr>
          <a:xfrm xmlns:a="http://schemas.openxmlformats.org/drawingml/2006/main">
            <a:off x="8362950" y="34290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OpenClaw · skills</a:t>
            </a:r>
          </a:p>
        </p:txBody>
      </p:sp>
      <p:cxnSp>
        <p:nvCxnSpPr>
          <p:cNvPr id="72" name=""/>
          <p:cNvCxnSpPr>
            <a:stCxn xmlns:a="http://schemas.openxmlformats.org/drawingml/2006/main" id="20" idx="3"/>
            <a:endCxn xmlns:a="http://schemas.openxmlformats.org/drawingml/2006/main" id="25" idx="1"/>
          </p:cNvCxnSpPr>
          <p:nvPr/>
        </p:nvCxnSpPr>
        <p:spPr>
          <a:xfrm xmlns:a="http://schemas.openxmlformats.org/drawingml/2006/main">
            <a:off x="7886700" y="3124200"/>
            <a:ext cx="34290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30" name="">
            <a:extLst xmlns:a="http://schemas.openxmlformats.org/drawingml/2006/main">
              <a:ext uri="{FF2B5EF4-FFF2-40B4-BE49-F238E27FC236}">
                <a16:creationId xmlns:a16="http://schemas.microsoft.com/office/drawing/2014/main" id="{509E0C97-E1FB-4AB9-BDFA-A65DB4445664}"/>
              </a:ext>
            </a:extLst>
          </p:cNvPr>
          <p:cNvSpPr>
            <a:spLocks xmlns:a="http://schemas.openxmlformats.org/drawingml/2006/main" noGrp="1"/>
          </p:cNvSpPr>
          <p:nvPr/>
        </p:nvSpPr>
        <p:spPr>
          <a:xfrm xmlns:a="http://schemas.openxmlformats.org/drawingml/2006/main">
            <a:off x="10172700" y="2343150"/>
            <a:ext cx="1600200" cy="1562100"/>
          </a:xfrm>
          <a:prstGeom xmlns:a="http://schemas.openxmlformats.org/drawingml/2006/main" prst="roundRect">
            <a:avLst>
              <a:gd name="adj" fmla="val 9756"/>
            </a:avLst>
          </a:prstGeom>
          <a:solidFill xmlns:a="http://schemas.openxmlformats.org/drawingml/2006/main">
            <a:srgbClr val="E6F5EE"/>
          </a:solidFill>
          <a:ln xmlns:a="http://schemas.openxmlformats.org/drawingml/2006/main" w="19050">
            <a:solidFill>
              <a:srgbClr val="2E9D69"/>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1" name="">
            <a:extLst xmlns:a="http://schemas.openxmlformats.org/drawingml/2006/main">
              <a:ext uri="{FF2B5EF4-FFF2-40B4-BE49-F238E27FC236}">
                <a16:creationId xmlns:a16="http://schemas.microsoft.com/office/drawing/2014/main" id="{CC4F4FDD-4897-4765-952E-06529E6CB33F}"/>
              </a:ext>
            </a:extLst>
          </p:cNvPr>
          <p:cNvSpPr>
            <a:spLocks xmlns:a="http://schemas.openxmlformats.org/drawingml/2006/main" noGrp="1"/>
          </p:cNvSpPr>
          <p:nvPr/>
        </p:nvSpPr>
        <p:spPr>
          <a:xfrm xmlns:a="http://schemas.openxmlformats.org/drawingml/2006/main">
            <a:off x="10325100" y="249555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050" b="1" i="0">
                <a:solidFill>
                  <a:srgbClr val="2E9D69"/>
                </a:solidFill>
                <a:latin typeface="Aptos"/>
                <a:ea typeface="Aptos"/>
                <a:cs typeface="Aptos"/>
              </a:defRPr>
            </a:pPr>
            <a:r>
              <a:rPr sz="1050" b="1" i="0">
                <a:solidFill>
                  <a:srgbClr val="2E9D69"/>
                </a:solidFill>
                <a:latin typeface="Aptos"/>
                <a:ea typeface="Aptos"/>
                <a:cs typeface="Aptos"/>
              </a:rPr>
              <a:t>06</a:t>
            </a:r>
          </a:p>
        </p:txBody>
      </p:sp>
      <p:sp>
        <p:nvSpPr>
          <p:cNvPr id="32" name="">
            <a:extLst xmlns:a="http://schemas.openxmlformats.org/drawingml/2006/main">
              <a:ext uri="{FF2B5EF4-FFF2-40B4-BE49-F238E27FC236}">
                <a16:creationId xmlns:a16="http://schemas.microsoft.com/office/drawing/2014/main" id="{0352EF76-7EBE-4570-B945-CD40CF8DCB21}"/>
              </a:ext>
            </a:extLst>
          </p:cNvPr>
          <p:cNvSpPr>
            <a:spLocks xmlns:a="http://schemas.openxmlformats.org/drawingml/2006/main" noGrp="1"/>
          </p:cNvSpPr>
          <p:nvPr/>
        </p:nvSpPr>
        <p:spPr>
          <a:xfrm xmlns:a="http://schemas.openxmlformats.org/drawingml/2006/main">
            <a:off x="10325100" y="2857500"/>
            <a:ext cx="1295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500" b="1" i="0">
                <a:solidFill>
                  <a:srgbClr val="0B2545"/>
                </a:solidFill>
                <a:latin typeface="Aptos"/>
                <a:ea typeface="Aptos"/>
                <a:cs typeface="Aptos"/>
              </a:defRPr>
            </a:pPr>
            <a:r>
              <a:rPr sz="1500" b="1" i="0">
                <a:solidFill>
                  <a:srgbClr val="0B2545"/>
                </a:solidFill>
                <a:latin typeface="Aptos"/>
                <a:ea typeface="Aptos"/>
                <a:cs typeface="Aptos"/>
              </a:rPr>
              <a:t>Actions</a:t>
            </a:r>
          </a:p>
        </p:txBody>
      </p:sp>
      <p:sp>
        <p:nvSpPr>
          <p:cNvPr id="33" name="">
            <a:extLst xmlns:a="http://schemas.openxmlformats.org/drawingml/2006/main">
              <a:ext uri="{FF2B5EF4-FFF2-40B4-BE49-F238E27FC236}">
                <a16:creationId xmlns:a16="http://schemas.microsoft.com/office/drawing/2014/main" id="{A3E95FC6-7F04-4E70-BCB0-6777B2DD3176}"/>
              </a:ext>
            </a:extLst>
          </p:cNvPr>
          <p:cNvSpPr>
            <a:spLocks xmlns:a="http://schemas.openxmlformats.org/drawingml/2006/main" noGrp="1"/>
          </p:cNvSpPr>
          <p:nvPr/>
        </p:nvSpPr>
        <p:spPr>
          <a:xfrm xmlns:a="http://schemas.openxmlformats.org/drawingml/2006/main">
            <a:off x="10306050" y="3429000"/>
            <a:ext cx="133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n8n · canaux</a:t>
            </a:r>
          </a:p>
        </p:txBody>
      </p:sp>
      <p:cxnSp>
        <p:nvCxnSpPr>
          <p:cNvPr id="77" name=""/>
          <p:cNvCxnSpPr>
            <a:stCxn xmlns:a="http://schemas.openxmlformats.org/drawingml/2006/main" id="25" idx="3"/>
            <a:endCxn xmlns:a="http://schemas.openxmlformats.org/drawingml/2006/main" id="30" idx="1"/>
          </p:cNvCxnSpPr>
          <p:nvPr/>
        </p:nvCxnSpPr>
        <p:spPr>
          <a:xfrm xmlns:a="http://schemas.openxmlformats.org/drawingml/2006/main">
            <a:off x="9829800" y="3124200"/>
            <a:ext cx="34290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35" name="">
            <a:extLst xmlns:a="http://schemas.openxmlformats.org/drawingml/2006/main">
              <a:ext uri="{FF2B5EF4-FFF2-40B4-BE49-F238E27FC236}">
                <a16:creationId xmlns:a16="http://schemas.microsoft.com/office/drawing/2014/main" id="{B4784F42-D6C7-4637-A2FC-1B728858121E}"/>
              </a:ext>
            </a:extLst>
          </p:cNvPr>
          <p:cNvSpPr>
            <a:spLocks xmlns:a="http://schemas.openxmlformats.org/drawingml/2006/main" noGrp="1"/>
          </p:cNvSpPr>
          <p:nvPr/>
        </p:nvSpPr>
        <p:spPr>
          <a:xfrm xmlns:a="http://schemas.openxmlformats.org/drawingml/2006/main">
            <a:off x="2914650" y="4324350"/>
            <a:ext cx="1257300" cy="304800"/>
          </a:xfrm>
          <a:prstGeom xmlns:a="http://schemas.openxmlformats.org/drawingml/2006/main" prst="roundRect">
            <a:avLst>
              <a:gd name="adj" fmla="val 50000"/>
            </a:avLst>
          </a:prstGeom>
          <a:solidFill xmlns:a="http://schemas.openxmlformats.org/drawingml/2006/main">
            <a:srgbClr val="EAF2FB"/>
          </a:solidFill>
          <a:ln xmlns:a="http://schemas.openxmlformats.org/drawingml/2006/main" w="9525">
            <a:solidFill>
              <a:srgbClr val="1D5AA6"/>
            </a:solidFill>
            <a:prstDash val="solid"/>
          </a:ln>
        </p:spPr>
      </p:sp>
      <p:sp>
        <p:nvSpPr>
          <p:cNvPr id="36" name="">
            <a:extLst xmlns:a="http://schemas.openxmlformats.org/drawingml/2006/main">
              <a:ext uri="{FF2B5EF4-FFF2-40B4-BE49-F238E27FC236}">
                <a16:creationId xmlns:a16="http://schemas.microsoft.com/office/drawing/2014/main" id="{00759BA4-5034-4817-AFF8-5D6CEAF9EC68}"/>
              </a:ext>
            </a:extLst>
          </p:cNvPr>
          <p:cNvSpPr>
            <a:spLocks xmlns:a="http://schemas.openxmlformats.org/drawingml/2006/main" noGrp="1"/>
          </p:cNvSpPr>
          <p:nvPr/>
        </p:nvSpPr>
        <p:spPr>
          <a:xfrm xmlns:a="http://schemas.openxmlformats.org/drawingml/2006/main">
            <a:off x="2952750" y="4333875"/>
            <a:ext cx="1181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125" b="1" i="0">
                <a:solidFill>
                  <a:srgbClr val="1D5AA6"/>
                </a:solidFill>
                <a:latin typeface="Aptos"/>
                <a:ea typeface="Aptos"/>
                <a:cs typeface="Aptos"/>
              </a:defRPr>
            </a:pPr>
            <a:r>
              <a:rPr sz="1125" b="1" i="0">
                <a:solidFill>
                  <a:srgbClr val="1D5AA6"/>
                </a:solidFill>
                <a:latin typeface="Aptos"/>
                <a:ea typeface="Aptos"/>
                <a:cs typeface="Aptos"/>
              </a:rPr>
              <a:t>faits bruts</a:t>
            </a:r>
          </a:p>
        </p:txBody>
      </p:sp>
      <p:sp>
        <p:nvSpPr>
          <p:cNvPr id="37" name="">
            <a:extLst xmlns:a="http://schemas.openxmlformats.org/drawingml/2006/main">
              <a:ext uri="{FF2B5EF4-FFF2-40B4-BE49-F238E27FC236}">
                <a16:creationId xmlns:a16="http://schemas.microsoft.com/office/drawing/2014/main" id="{A7B0B220-741C-44BA-B011-E80CCAAE4F12}"/>
              </a:ext>
            </a:extLst>
          </p:cNvPr>
          <p:cNvSpPr>
            <a:spLocks xmlns:a="http://schemas.openxmlformats.org/drawingml/2006/main" noGrp="1"/>
          </p:cNvSpPr>
          <p:nvPr/>
        </p:nvSpPr>
        <p:spPr>
          <a:xfrm xmlns:a="http://schemas.openxmlformats.org/drawingml/2006/main">
            <a:off x="5695950" y="4324350"/>
            <a:ext cx="1809750" cy="304800"/>
          </a:xfrm>
          <a:prstGeom xmlns:a="http://schemas.openxmlformats.org/drawingml/2006/main" prst="roundRect">
            <a:avLst>
              <a:gd name="adj" fmla="val 50000"/>
            </a:avLst>
          </a:prstGeom>
          <a:solidFill xmlns:a="http://schemas.openxmlformats.org/drawingml/2006/main">
            <a:srgbClr val="DDF6FB"/>
          </a:solidFill>
          <a:ln xmlns:a="http://schemas.openxmlformats.org/drawingml/2006/main" w="9525">
            <a:solidFill>
              <a:srgbClr val="2FB9DB"/>
            </a:solidFill>
            <a:prstDash val="solid"/>
          </a:ln>
        </p:spPr>
      </p:sp>
      <p:sp>
        <p:nvSpPr>
          <p:cNvPr id="38" name="">
            <a:extLst xmlns:a="http://schemas.openxmlformats.org/drawingml/2006/main">
              <a:ext uri="{FF2B5EF4-FFF2-40B4-BE49-F238E27FC236}">
                <a16:creationId xmlns:a16="http://schemas.microsoft.com/office/drawing/2014/main" id="{F2F8AF40-C65F-45BC-943F-BA1BA98DEA52}"/>
              </a:ext>
            </a:extLst>
          </p:cNvPr>
          <p:cNvSpPr>
            <a:spLocks xmlns:a="http://schemas.openxmlformats.org/drawingml/2006/main" noGrp="1"/>
          </p:cNvSpPr>
          <p:nvPr/>
        </p:nvSpPr>
        <p:spPr>
          <a:xfrm xmlns:a="http://schemas.openxmlformats.org/drawingml/2006/main">
            <a:off x="5734050" y="4333875"/>
            <a:ext cx="1733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125" b="1" i="0">
                <a:solidFill>
                  <a:srgbClr val="0B2545"/>
                </a:solidFill>
                <a:latin typeface="Aptos"/>
                <a:ea typeface="Aptos"/>
                <a:cs typeface="Aptos"/>
              </a:defRPr>
            </a:pPr>
            <a:r>
              <a:rPr sz="1125" b="1" i="0">
                <a:solidFill>
                  <a:srgbClr val="0B2545"/>
                </a:solidFill>
                <a:latin typeface="Aptos"/>
                <a:ea typeface="Aptos"/>
                <a:cs typeface="Aptos"/>
              </a:rPr>
              <a:t>empreintes SHA-256</a:t>
            </a:r>
          </a:p>
        </p:txBody>
      </p:sp>
      <p:sp>
        <p:nvSpPr>
          <p:cNvPr id="39" name="">
            <a:extLst xmlns:a="http://schemas.openxmlformats.org/drawingml/2006/main">
              <a:ext uri="{FF2B5EF4-FFF2-40B4-BE49-F238E27FC236}">
                <a16:creationId xmlns:a16="http://schemas.microsoft.com/office/drawing/2014/main" id="{C2E5CBFB-1919-4DB2-BA45-1A4A5AC4EC22}"/>
              </a:ext>
            </a:extLst>
          </p:cNvPr>
          <p:cNvSpPr>
            <a:spLocks xmlns:a="http://schemas.openxmlformats.org/drawingml/2006/main" noGrp="1"/>
          </p:cNvSpPr>
          <p:nvPr/>
        </p:nvSpPr>
        <p:spPr>
          <a:xfrm xmlns:a="http://schemas.openxmlformats.org/drawingml/2006/main">
            <a:off x="8362950" y="4324350"/>
            <a:ext cx="1600200" cy="304800"/>
          </a:xfrm>
          <a:prstGeom xmlns:a="http://schemas.openxmlformats.org/drawingml/2006/main" prst="roundRect">
            <a:avLst>
              <a:gd name="adj" fmla="val 50000"/>
            </a:avLst>
          </a:prstGeom>
          <a:solidFill xmlns:a="http://schemas.openxmlformats.org/drawingml/2006/main">
            <a:srgbClr val="EAF2FB"/>
          </a:solidFill>
          <a:ln xmlns:a="http://schemas.openxmlformats.org/drawingml/2006/main" w="9525">
            <a:solidFill>
              <a:srgbClr val="1D5AA6"/>
            </a:solidFill>
            <a:prstDash val="solid"/>
          </a:ln>
        </p:spPr>
      </p:sp>
      <p:sp>
        <p:nvSpPr>
          <p:cNvPr id="40" name="">
            <a:extLst xmlns:a="http://schemas.openxmlformats.org/drawingml/2006/main">
              <a:ext uri="{FF2B5EF4-FFF2-40B4-BE49-F238E27FC236}">
                <a16:creationId xmlns:a16="http://schemas.microsoft.com/office/drawing/2014/main" id="{5004031B-3448-4AFE-9E9D-FFD413943724}"/>
              </a:ext>
            </a:extLst>
          </p:cNvPr>
          <p:cNvSpPr>
            <a:spLocks xmlns:a="http://schemas.openxmlformats.org/drawingml/2006/main" noGrp="1"/>
          </p:cNvSpPr>
          <p:nvPr/>
        </p:nvSpPr>
        <p:spPr>
          <a:xfrm xmlns:a="http://schemas.openxmlformats.org/drawingml/2006/main">
            <a:off x="8401050" y="433387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125" b="1" i="0">
                <a:solidFill>
                  <a:srgbClr val="1D5AA6"/>
                </a:solidFill>
                <a:latin typeface="Aptos"/>
                <a:ea typeface="Aptos"/>
                <a:cs typeface="Aptos"/>
              </a:defRPr>
            </a:pPr>
            <a:r>
              <a:rPr sz="1125" b="1" i="0">
                <a:solidFill>
                  <a:srgbClr val="1D5AA6"/>
                </a:solidFill>
                <a:latin typeface="Aptos"/>
                <a:ea typeface="Aptos"/>
                <a:cs typeface="Aptos"/>
              </a:rPr>
              <a:t>preuves + score</a:t>
            </a:r>
          </a:p>
        </p:txBody>
      </p:sp>
      <p:sp>
        <p:nvSpPr>
          <p:cNvPr id="41" name="">
            <a:extLst xmlns:a="http://schemas.openxmlformats.org/drawingml/2006/main">
              <a:ext uri="{FF2B5EF4-FFF2-40B4-BE49-F238E27FC236}">
                <a16:creationId xmlns:a16="http://schemas.microsoft.com/office/drawing/2014/main" id="{A23A6D18-EC93-4E6C-9687-35832756418B}"/>
              </a:ext>
            </a:extLst>
          </p:cNvPr>
          <p:cNvSpPr>
            <a:spLocks xmlns:a="http://schemas.openxmlformats.org/drawingml/2006/main" noGrp="1"/>
          </p:cNvSpPr>
          <p:nvPr/>
        </p:nvSpPr>
        <p:spPr>
          <a:xfrm xmlns:a="http://schemas.openxmlformats.org/drawingml/2006/main">
            <a:off x="1524000" y="5067300"/>
            <a:ext cx="9144000" cy="762000"/>
          </a:xfrm>
          <a:prstGeom xmlns:a="http://schemas.openxmlformats.org/drawingml/2006/main" prst="roundRect">
            <a:avLst>
              <a:gd name="adj" fmla="val 20000"/>
            </a:avLst>
          </a:prstGeom>
          <a:solidFill xmlns:a="http://schemas.openxmlformats.org/drawingml/2006/main">
            <a:srgbClr val="0B2545"/>
          </a:solidFill>
          <a:ln xmlns:a="http://schemas.openxmlformats.org/drawingml/2006/main" w="0">
            <a:solidFill>
              <a:srgbClr val="0B2545"/>
            </a:solidFill>
            <a:prstDash val="solid"/>
          </a:ln>
        </p:spPr>
      </p:sp>
      <p:sp>
        <p:nvSpPr>
          <p:cNvPr id="42" name="">
            <a:extLst xmlns:a="http://schemas.openxmlformats.org/drawingml/2006/main">
              <a:ext uri="{FF2B5EF4-FFF2-40B4-BE49-F238E27FC236}">
                <a16:creationId xmlns:a16="http://schemas.microsoft.com/office/drawing/2014/main" id="{95091118-5B1C-4758-8E5B-5CD71AD60089}"/>
              </a:ext>
            </a:extLst>
          </p:cNvPr>
          <p:cNvSpPr>
            <a:spLocks xmlns:a="http://schemas.openxmlformats.org/drawingml/2006/main" noGrp="1"/>
          </p:cNvSpPr>
          <p:nvPr/>
        </p:nvSpPr>
        <p:spPr>
          <a:xfrm xmlns:a="http://schemas.openxmlformats.org/drawingml/2006/main">
            <a:off x="1809750" y="5219700"/>
            <a:ext cx="209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Frontières de confiance</a:t>
            </a:r>
          </a:p>
        </p:txBody>
      </p:sp>
      <p:sp>
        <p:nvSpPr>
          <p:cNvPr id="43" name="">
            <a:extLst xmlns:a="http://schemas.openxmlformats.org/drawingml/2006/main">
              <a:ext uri="{FF2B5EF4-FFF2-40B4-BE49-F238E27FC236}">
                <a16:creationId xmlns:a16="http://schemas.microsoft.com/office/drawing/2014/main" id="{E0CCD1AC-25A8-4C1E-8FFC-33ACC90CFA67}"/>
              </a:ext>
            </a:extLst>
          </p:cNvPr>
          <p:cNvSpPr>
            <a:spLocks xmlns:a="http://schemas.openxmlformats.org/drawingml/2006/main" noGrp="1"/>
          </p:cNvSpPr>
          <p:nvPr/>
        </p:nvSpPr>
        <p:spPr>
          <a:xfrm xmlns:a="http://schemas.openxmlformats.org/drawingml/2006/main">
            <a:off x="4000500" y="5200650"/>
            <a:ext cx="619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93503"/>
          </a:bodyPr>
          <a:lstStyle xmlns:a="http://schemas.openxmlformats.org/drawingml/2006/main"/>
          <a:p xmlns:a="http://schemas.openxmlformats.org/drawingml/2006/main">
            <a:pPr algn="ctr">
              <a:defRPr sz="1425" b="0" i="0">
                <a:solidFill>
                  <a:srgbClr val="FFFFFF"/>
                </a:solidFill>
                <a:latin typeface="Aptos"/>
                <a:ea typeface="Aptos"/>
                <a:cs typeface="Aptos"/>
              </a:defRPr>
            </a:pPr>
            <a:r>
              <a:rPr sz="1425" b="0" i="0">
                <a:solidFill>
                  <a:srgbClr val="FFFFFF"/>
                </a:solidFill>
                <a:latin typeface="Aptos"/>
                <a:ea typeface="Aptos"/>
                <a:cs typeface="Aptos"/>
              </a:rPr>
              <a:t>réseau public borné  ·  services locaux  ·  secrets en environnement  ·  validation humaine</a:t>
            </a:r>
          </a:p>
        </p:txBody>
      </p:sp>
    </p:spTree>
    <p:extLst>
      <p:ext uri="{BB962C8B-B14F-4D97-AF65-F5344CB8AC3E}">
        <p14:creationId xmlns:p14="http://schemas.microsoft.com/office/powerpoint/2010/main" val="730858476"/>
      </p:ext>
    </p:extLst>
  </p:cSld>
</p:sld>
</file>

<file path=ppt/slides/slide7.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6FD7B756-E031-4AD4-A45D-0E47C0AA48E9}"/>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TRAÇABILITÉ</a:t>
            </a:r>
          </a:p>
        </p:txBody>
      </p:sp>
      <p:sp>
        <p:nvSpPr>
          <p:cNvPr id="2" name="">
            <a:extLst xmlns:a="http://schemas.openxmlformats.org/drawingml/2006/main">
              <a:ext uri="{FF2B5EF4-FFF2-40B4-BE49-F238E27FC236}">
                <a16:creationId xmlns:a16="http://schemas.microsoft.com/office/drawing/2014/main" id="{ACF45B31-E9E8-40F4-83CD-E19AF1E0FA26}"/>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Des faits à la diffusion : chaque transition laisse une preuve</a:t>
            </a:r>
          </a:p>
        </p:txBody>
      </p:sp>
      <p:sp>
        <p:nvSpPr>
          <p:cNvPr id="3" name="">
            <a:extLst xmlns:a="http://schemas.openxmlformats.org/drawingml/2006/main">
              <a:ext uri="{FF2B5EF4-FFF2-40B4-BE49-F238E27FC236}">
                <a16:creationId xmlns:a16="http://schemas.microsoft.com/office/drawing/2014/main" id="{5F9FEB0B-34C7-4045-85E1-156BCA91AADC}"/>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2651FC6C-969C-46EA-B430-8162B6ABCE17}"/>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ED251D61-D0D5-46CD-AEF3-A01A5FA278A9}"/>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07</a:t>
            </a:r>
          </a:p>
        </p:txBody>
      </p:sp>
      <p:sp>
        <p:nvSpPr>
          <p:cNvPr id="6" name="">
            <a:extLst xmlns:a="http://schemas.openxmlformats.org/drawingml/2006/main">
              <a:ext uri="{FF2B5EF4-FFF2-40B4-BE49-F238E27FC236}">
                <a16:creationId xmlns:a16="http://schemas.microsoft.com/office/drawing/2014/main" id="{E17CA680-9300-45F8-A16C-BBB73109ECFE}"/>
              </a:ext>
            </a:extLst>
          </p:cNvPr>
          <p:cNvSpPr>
            <a:spLocks xmlns:a="http://schemas.openxmlformats.org/drawingml/2006/main" noGrp="1"/>
          </p:cNvSpPr>
          <p:nvPr/>
        </p:nvSpPr>
        <p:spPr>
          <a:xfrm xmlns:a="http://schemas.openxmlformats.org/drawingml/2006/main">
            <a:off x="571500" y="2190750"/>
            <a:ext cx="1809750" cy="1809750"/>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F6DDCB75-7690-42D7-A0AE-8ABCDD986375}"/>
              </a:ext>
            </a:extLst>
          </p:cNvPr>
          <p:cNvSpPr>
            <a:spLocks xmlns:a="http://schemas.openxmlformats.org/drawingml/2006/main" noGrp="1"/>
          </p:cNvSpPr>
          <p:nvPr/>
        </p:nvSpPr>
        <p:spPr>
          <a:xfrm xmlns:a="http://schemas.openxmlformats.org/drawingml/2006/main">
            <a:off x="742950" y="240030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485"/>
          </a:bodyPr>
          <a:lstStyle xmlns:a="http://schemas.openxmlformats.org/drawingml/2006/main"/>
          <a:p xmlns:a="http://schemas.openxmlformats.org/drawingml/2006/main">
            <a:pPr algn="ctr">
              <a:defRPr sz="1650" b="1" i="0">
                <a:solidFill>
                  <a:srgbClr val="1D5AA6"/>
                </a:solidFill>
                <a:latin typeface="Aptos"/>
                <a:ea typeface="Aptos"/>
                <a:cs typeface="Aptos"/>
              </a:defRPr>
            </a:pPr>
            <a:r>
              <a:rPr sz="1650" b="1" i="0">
                <a:solidFill>
                  <a:srgbClr val="1D5AA6"/>
                </a:solidFill>
                <a:latin typeface="Aptos"/>
                <a:ea typeface="Aptos"/>
                <a:cs typeface="Aptos"/>
              </a:rPr>
              <a:t>AO</a:t>
            </a:r>
          </a:p>
        </p:txBody>
      </p:sp>
      <p:sp>
        <p:nvSpPr>
          <p:cNvPr id="8" name="">
            <a:extLst xmlns:a="http://schemas.openxmlformats.org/drawingml/2006/main">
              <a:ext uri="{FF2B5EF4-FFF2-40B4-BE49-F238E27FC236}">
                <a16:creationId xmlns:a16="http://schemas.microsoft.com/office/drawing/2014/main" id="{ECA0E557-3A10-4DEA-8363-0A9F834972E2}"/>
              </a:ext>
            </a:extLst>
          </p:cNvPr>
          <p:cNvSpPr>
            <a:spLocks xmlns:a="http://schemas.openxmlformats.org/drawingml/2006/main" noGrp="1"/>
          </p:cNvSpPr>
          <p:nvPr/>
        </p:nvSpPr>
        <p:spPr>
          <a:xfrm xmlns:a="http://schemas.openxmlformats.org/drawingml/2006/main">
            <a:off x="762000" y="2838450"/>
            <a:ext cx="14287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9" name="">
            <a:extLst xmlns:a="http://schemas.openxmlformats.org/drawingml/2006/main">
              <a:ext uri="{FF2B5EF4-FFF2-40B4-BE49-F238E27FC236}">
                <a16:creationId xmlns:a16="http://schemas.microsoft.com/office/drawing/2014/main" id="{B06215E6-6920-4748-A8B4-050D6B08E089}"/>
              </a:ext>
            </a:extLst>
          </p:cNvPr>
          <p:cNvSpPr>
            <a:spLocks xmlns:a="http://schemas.openxmlformats.org/drawingml/2006/main" noGrp="1"/>
          </p:cNvSpPr>
          <p:nvPr/>
        </p:nvSpPr>
        <p:spPr>
          <a:xfrm xmlns:a="http://schemas.openxmlformats.org/drawingml/2006/main">
            <a:off x="742950" y="3028950"/>
            <a:ext cx="1466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faits source</a:t>
            </a:r>
          </a:p>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état · dates · acheteur</a:t>
            </a:r>
          </a:p>
        </p:txBody>
      </p:sp>
      <p:sp>
        <p:nvSpPr>
          <p:cNvPr id="10" name="">
            <a:extLst xmlns:a="http://schemas.openxmlformats.org/drawingml/2006/main">
              <a:ext uri="{FF2B5EF4-FFF2-40B4-BE49-F238E27FC236}">
                <a16:creationId xmlns:a16="http://schemas.microsoft.com/office/drawing/2014/main" id="{DE91CD39-05A8-436C-88ED-EA6E28EF4950}"/>
              </a:ext>
            </a:extLst>
          </p:cNvPr>
          <p:cNvSpPr>
            <a:spLocks xmlns:a="http://schemas.openxmlformats.org/drawingml/2006/main" noGrp="1"/>
          </p:cNvSpPr>
          <p:nvPr/>
        </p:nvSpPr>
        <p:spPr>
          <a:xfrm xmlns:a="http://schemas.openxmlformats.org/drawingml/2006/main">
            <a:off x="2038350" y="3695700"/>
            <a:ext cx="209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6923"/>
          </a:bodyPr>
          <a:lstStyle xmlns:a="http://schemas.openxmlformats.org/drawingml/2006/main"/>
          <a:p xmlns:a="http://schemas.openxmlformats.org/drawingml/2006/main">
            <a:pPr algn="ctr">
              <a:defRPr sz="975" b="1" i="0">
                <a:solidFill>
                  <a:srgbClr val="667085"/>
                </a:solidFill>
                <a:latin typeface="Aptos"/>
                <a:ea typeface="Aptos"/>
                <a:cs typeface="Aptos"/>
              </a:defRPr>
            </a:pPr>
            <a:r>
              <a:rPr sz="975" b="1" i="0">
                <a:solidFill>
                  <a:srgbClr val="667085"/>
                </a:solidFill>
                <a:latin typeface="Aptos"/>
                <a:ea typeface="Aptos"/>
                <a:cs typeface="Aptos"/>
              </a:rPr>
              <a:t>1</a:t>
            </a:r>
          </a:p>
        </p:txBody>
      </p:sp>
      <p:sp>
        <p:nvSpPr>
          <p:cNvPr id="11" name="">
            <a:extLst xmlns:a="http://schemas.openxmlformats.org/drawingml/2006/main">
              <a:ext uri="{FF2B5EF4-FFF2-40B4-BE49-F238E27FC236}">
                <a16:creationId xmlns:a16="http://schemas.microsoft.com/office/drawing/2014/main" id="{C2A73E6B-59F7-4BDE-895F-E4EFCF82C700}"/>
              </a:ext>
            </a:extLst>
          </p:cNvPr>
          <p:cNvSpPr>
            <a:spLocks xmlns:a="http://schemas.openxmlformats.org/drawingml/2006/main" noGrp="1"/>
          </p:cNvSpPr>
          <p:nvPr/>
        </p:nvSpPr>
        <p:spPr>
          <a:xfrm xmlns:a="http://schemas.openxmlformats.org/drawingml/2006/main">
            <a:off x="2857500" y="2190750"/>
            <a:ext cx="1809750" cy="1809750"/>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9050">
            <a:solidFill>
              <a:srgbClr val="2FB9D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53671E1F-3474-4C00-B655-DA7CCDB06F0E}"/>
              </a:ext>
            </a:extLst>
          </p:cNvPr>
          <p:cNvSpPr>
            <a:spLocks xmlns:a="http://schemas.openxmlformats.org/drawingml/2006/main" noGrp="1"/>
          </p:cNvSpPr>
          <p:nvPr/>
        </p:nvSpPr>
        <p:spPr>
          <a:xfrm xmlns:a="http://schemas.openxmlformats.org/drawingml/2006/main">
            <a:off x="3028950" y="240030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485"/>
          </a:bodyPr>
          <a:lstStyle xmlns:a="http://schemas.openxmlformats.org/drawingml/2006/main"/>
          <a:p xmlns:a="http://schemas.openxmlformats.org/drawingml/2006/main">
            <a:pPr algn="ctr">
              <a:defRPr sz="1650" b="1" i="0">
                <a:solidFill>
                  <a:srgbClr val="2FB9DB"/>
                </a:solidFill>
                <a:latin typeface="Aptos"/>
                <a:ea typeface="Aptos"/>
                <a:cs typeface="Aptos"/>
              </a:defRPr>
            </a:pPr>
            <a:r>
              <a:rPr sz="1650" b="1" i="0">
                <a:solidFill>
                  <a:srgbClr val="2FB9DB"/>
                </a:solidFill>
                <a:latin typeface="Aptos"/>
                <a:ea typeface="Aptos"/>
                <a:cs typeface="Aptos"/>
              </a:rPr>
              <a:t>Documents</a:t>
            </a:r>
          </a:p>
        </p:txBody>
      </p:sp>
      <p:sp>
        <p:nvSpPr>
          <p:cNvPr id="13" name="">
            <a:extLst xmlns:a="http://schemas.openxmlformats.org/drawingml/2006/main">
              <a:ext uri="{FF2B5EF4-FFF2-40B4-BE49-F238E27FC236}">
                <a16:creationId xmlns:a16="http://schemas.microsoft.com/office/drawing/2014/main" id="{6A1FE28B-5C5A-4D2B-A1E8-F83BC7210EF5}"/>
              </a:ext>
            </a:extLst>
          </p:cNvPr>
          <p:cNvSpPr>
            <a:spLocks xmlns:a="http://schemas.openxmlformats.org/drawingml/2006/main" noGrp="1"/>
          </p:cNvSpPr>
          <p:nvPr/>
        </p:nvSpPr>
        <p:spPr>
          <a:xfrm xmlns:a="http://schemas.openxmlformats.org/drawingml/2006/main">
            <a:off x="3048000" y="2838450"/>
            <a:ext cx="14287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14" name="">
            <a:extLst xmlns:a="http://schemas.openxmlformats.org/drawingml/2006/main">
              <a:ext uri="{FF2B5EF4-FFF2-40B4-BE49-F238E27FC236}">
                <a16:creationId xmlns:a16="http://schemas.microsoft.com/office/drawing/2014/main" id="{60CC214A-A7C1-4D3A-B195-8211D49BA606}"/>
              </a:ext>
            </a:extLst>
          </p:cNvPr>
          <p:cNvSpPr>
            <a:spLocks xmlns:a="http://schemas.openxmlformats.org/drawingml/2006/main" noGrp="1"/>
          </p:cNvSpPr>
          <p:nvPr/>
        </p:nvSpPr>
        <p:spPr>
          <a:xfrm xmlns:a="http://schemas.openxmlformats.org/drawingml/2006/main">
            <a:off x="3028950" y="3028950"/>
            <a:ext cx="1466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URL · format · hash</a:t>
            </a:r>
          </a:p>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texte · statut</a:t>
            </a:r>
          </a:p>
        </p:txBody>
      </p:sp>
      <p:sp>
        <p:nvSpPr>
          <p:cNvPr id="15" name="">
            <a:extLst xmlns:a="http://schemas.openxmlformats.org/drawingml/2006/main">
              <a:ext uri="{FF2B5EF4-FFF2-40B4-BE49-F238E27FC236}">
                <a16:creationId xmlns:a16="http://schemas.microsoft.com/office/drawing/2014/main" id="{EEFF8D8A-A342-468B-9F9F-689D842AE835}"/>
              </a:ext>
            </a:extLst>
          </p:cNvPr>
          <p:cNvSpPr>
            <a:spLocks xmlns:a="http://schemas.openxmlformats.org/drawingml/2006/main" noGrp="1"/>
          </p:cNvSpPr>
          <p:nvPr/>
        </p:nvSpPr>
        <p:spPr>
          <a:xfrm xmlns:a="http://schemas.openxmlformats.org/drawingml/2006/main">
            <a:off x="4324350" y="3695700"/>
            <a:ext cx="209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6923"/>
          </a:bodyPr>
          <a:lstStyle xmlns:a="http://schemas.openxmlformats.org/drawingml/2006/main"/>
          <a:p xmlns:a="http://schemas.openxmlformats.org/drawingml/2006/main">
            <a:pPr algn="ctr">
              <a:defRPr sz="975" b="1" i="0">
                <a:solidFill>
                  <a:srgbClr val="667085"/>
                </a:solidFill>
                <a:latin typeface="Aptos"/>
                <a:ea typeface="Aptos"/>
                <a:cs typeface="Aptos"/>
              </a:defRPr>
            </a:pPr>
            <a:r>
              <a:rPr sz="975" b="1" i="0">
                <a:solidFill>
                  <a:srgbClr val="667085"/>
                </a:solidFill>
                <a:latin typeface="Aptos"/>
                <a:ea typeface="Aptos"/>
                <a:cs typeface="Aptos"/>
              </a:rPr>
              <a:t>n</a:t>
            </a:r>
          </a:p>
        </p:txBody>
      </p:sp>
      <p:cxnSp>
        <p:nvCxnSpPr>
          <p:cNvPr id="53" name=""/>
          <p:cNvCxnSpPr>
            <a:stCxn xmlns:a="http://schemas.openxmlformats.org/drawingml/2006/main" id="6" idx="3"/>
            <a:endCxn xmlns:a="http://schemas.openxmlformats.org/drawingml/2006/main" id="11" idx="1"/>
          </p:cNvCxnSpPr>
          <p:nvPr/>
        </p:nvCxnSpPr>
        <p:spPr>
          <a:xfrm xmlns:a="http://schemas.openxmlformats.org/drawingml/2006/main">
            <a:off x="2381250" y="3095625"/>
            <a:ext cx="476250" cy="0"/>
          </a:xfrm>
          <a:prstGeom xmlns:a="http://schemas.openxmlformats.org/drawingml/2006/main" prst="straightConnector1">
            <a:avLst/>
          </a:prstGeom>
          <a:ln xmlns:a="http://schemas.openxmlformats.org/drawingml/2006/main" w="19050">
            <a:solidFill>
              <a:srgbClr val="667085"/>
            </a:solidFill>
            <a:prstDash val="solid"/>
            <a:tailEnd type="triangle" w="sm" len="sm"/>
          </a:ln>
        </p:spPr>
      </p:cxnSp>
      <p:sp>
        <p:nvSpPr>
          <p:cNvPr id="17" name="">
            <a:extLst xmlns:a="http://schemas.openxmlformats.org/drawingml/2006/main">
              <a:ext uri="{FF2B5EF4-FFF2-40B4-BE49-F238E27FC236}">
                <a16:creationId xmlns:a16="http://schemas.microsoft.com/office/drawing/2014/main" id="{2A4D32F6-9153-44F6-8768-F585C1C3932D}"/>
              </a:ext>
            </a:extLst>
          </p:cNvPr>
          <p:cNvSpPr>
            <a:spLocks xmlns:a="http://schemas.openxmlformats.org/drawingml/2006/main" noGrp="1"/>
          </p:cNvSpPr>
          <p:nvPr/>
        </p:nvSpPr>
        <p:spPr>
          <a:xfrm xmlns:a="http://schemas.openxmlformats.org/drawingml/2006/main">
            <a:off x="5143500" y="2190750"/>
            <a:ext cx="1809750" cy="1809750"/>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BE2A0D55-D2E8-4CAD-B24D-907E2C42D257}"/>
              </a:ext>
            </a:extLst>
          </p:cNvPr>
          <p:cNvSpPr>
            <a:spLocks xmlns:a="http://schemas.openxmlformats.org/drawingml/2006/main" noGrp="1"/>
          </p:cNvSpPr>
          <p:nvPr/>
        </p:nvSpPr>
        <p:spPr>
          <a:xfrm xmlns:a="http://schemas.openxmlformats.org/drawingml/2006/main">
            <a:off x="5314950" y="240030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485"/>
          </a:bodyPr>
          <a:lstStyle xmlns:a="http://schemas.openxmlformats.org/drawingml/2006/main"/>
          <a:p xmlns:a="http://schemas.openxmlformats.org/drawingml/2006/main">
            <a:pPr algn="ctr">
              <a:defRPr sz="1650" b="1" i="0">
                <a:solidFill>
                  <a:srgbClr val="1D5AA6"/>
                </a:solidFill>
                <a:latin typeface="Aptos"/>
                <a:ea typeface="Aptos"/>
                <a:cs typeface="Aptos"/>
              </a:defRPr>
            </a:pPr>
            <a:r>
              <a:rPr sz="1650" b="1" i="0">
                <a:solidFill>
                  <a:srgbClr val="1D5AA6"/>
                </a:solidFill>
                <a:latin typeface="Aptos"/>
                <a:ea typeface="Aptos"/>
                <a:cs typeface="Aptos"/>
              </a:rPr>
              <a:t>Contexte</a:t>
            </a:r>
          </a:p>
        </p:txBody>
      </p:sp>
      <p:sp>
        <p:nvSpPr>
          <p:cNvPr id="19" name="">
            <a:extLst xmlns:a="http://schemas.openxmlformats.org/drawingml/2006/main">
              <a:ext uri="{FF2B5EF4-FFF2-40B4-BE49-F238E27FC236}">
                <a16:creationId xmlns:a16="http://schemas.microsoft.com/office/drawing/2014/main" id="{DA65EA6A-10B9-465D-B8D1-19F7ED1B77AA}"/>
              </a:ext>
            </a:extLst>
          </p:cNvPr>
          <p:cNvSpPr>
            <a:spLocks xmlns:a="http://schemas.openxmlformats.org/drawingml/2006/main" noGrp="1"/>
          </p:cNvSpPr>
          <p:nvPr/>
        </p:nvSpPr>
        <p:spPr>
          <a:xfrm xmlns:a="http://schemas.openxmlformats.org/drawingml/2006/main">
            <a:off x="5334000" y="2838450"/>
            <a:ext cx="14287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20" name="">
            <a:extLst xmlns:a="http://schemas.openxmlformats.org/drawingml/2006/main">
              <a:ext uri="{FF2B5EF4-FFF2-40B4-BE49-F238E27FC236}">
                <a16:creationId xmlns:a16="http://schemas.microsoft.com/office/drawing/2014/main" id="{5D45E35D-8C90-4A40-AD08-DADD309109B9}"/>
              </a:ext>
            </a:extLst>
          </p:cNvPr>
          <p:cNvSpPr>
            <a:spLocks xmlns:a="http://schemas.openxmlformats.org/drawingml/2006/main" noGrp="1"/>
          </p:cNvSpPr>
          <p:nvPr/>
        </p:nvSpPr>
        <p:spPr>
          <a:xfrm xmlns:a="http://schemas.openxmlformats.org/drawingml/2006/main">
            <a:off x="5314950" y="3028950"/>
            <a:ext cx="1466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profil · rubrique</a:t>
            </a:r>
          </a:p>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empreinte stable</a:t>
            </a:r>
          </a:p>
        </p:txBody>
      </p:sp>
      <p:sp>
        <p:nvSpPr>
          <p:cNvPr id="21" name="">
            <a:extLst xmlns:a="http://schemas.openxmlformats.org/drawingml/2006/main">
              <a:ext uri="{FF2B5EF4-FFF2-40B4-BE49-F238E27FC236}">
                <a16:creationId xmlns:a16="http://schemas.microsoft.com/office/drawing/2014/main" id="{4C58405C-06CE-4570-9E40-5FDA2FEF1131}"/>
              </a:ext>
            </a:extLst>
          </p:cNvPr>
          <p:cNvSpPr>
            <a:spLocks xmlns:a="http://schemas.openxmlformats.org/drawingml/2006/main" noGrp="1"/>
          </p:cNvSpPr>
          <p:nvPr/>
        </p:nvSpPr>
        <p:spPr>
          <a:xfrm xmlns:a="http://schemas.openxmlformats.org/drawingml/2006/main">
            <a:off x="6610350" y="3695700"/>
            <a:ext cx="209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6923"/>
          </a:bodyPr>
          <a:lstStyle xmlns:a="http://schemas.openxmlformats.org/drawingml/2006/main"/>
          <a:p xmlns:a="http://schemas.openxmlformats.org/drawingml/2006/main">
            <a:pPr algn="ctr">
              <a:defRPr sz="975" b="1" i="0">
                <a:solidFill>
                  <a:srgbClr val="667085"/>
                </a:solidFill>
                <a:latin typeface="Aptos"/>
                <a:ea typeface="Aptos"/>
                <a:cs typeface="Aptos"/>
              </a:defRPr>
            </a:pPr>
            <a:r>
              <a:rPr sz="975" b="1" i="0">
                <a:solidFill>
                  <a:srgbClr val="667085"/>
                </a:solidFill>
                <a:latin typeface="Aptos"/>
                <a:ea typeface="Aptos"/>
                <a:cs typeface="Aptos"/>
              </a:rPr>
              <a:t>n</a:t>
            </a:r>
          </a:p>
        </p:txBody>
      </p:sp>
      <p:cxnSp>
        <p:nvCxnSpPr>
          <p:cNvPr id="59" name=""/>
          <p:cNvCxnSpPr>
            <a:stCxn xmlns:a="http://schemas.openxmlformats.org/drawingml/2006/main" id="11" idx="3"/>
            <a:endCxn xmlns:a="http://schemas.openxmlformats.org/drawingml/2006/main" id="17" idx="1"/>
          </p:cNvCxnSpPr>
          <p:nvPr/>
        </p:nvCxnSpPr>
        <p:spPr>
          <a:xfrm xmlns:a="http://schemas.openxmlformats.org/drawingml/2006/main">
            <a:off x="4667250" y="3095625"/>
            <a:ext cx="476250" cy="0"/>
          </a:xfrm>
          <a:prstGeom xmlns:a="http://schemas.openxmlformats.org/drawingml/2006/main" prst="straightConnector1">
            <a:avLst/>
          </a:prstGeom>
          <a:ln xmlns:a="http://schemas.openxmlformats.org/drawingml/2006/main" w="19050">
            <a:solidFill>
              <a:srgbClr val="667085"/>
            </a:solidFill>
            <a:prstDash val="solid"/>
            <a:tailEnd type="triangle" w="sm" len="sm"/>
          </a:ln>
        </p:spPr>
      </p:cxnSp>
      <p:sp>
        <p:nvSpPr>
          <p:cNvPr id="23" name="">
            <a:extLst xmlns:a="http://schemas.openxmlformats.org/drawingml/2006/main">
              <a:ext uri="{FF2B5EF4-FFF2-40B4-BE49-F238E27FC236}">
                <a16:creationId xmlns:a16="http://schemas.microsoft.com/office/drawing/2014/main" id="{ED1827C1-FD03-47B9-A20D-C4152C7C4924}"/>
              </a:ext>
            </a:extLst>
          </p:cNvPr>
          <p:cNvSpPr>
            <a:spLocks xmlns:a="http://schemas.openxmlformats.org/drawingml/2006/main" noGrp="1"/>
          </p:cNvSpPr>
          <p:nvPr/>
        </p:nvSpPr>
        <p:spPr>
          <a:xfrm xmlns:a="http://schemas.openxmlformats.org/drawingml/2006/main">
            <a:off x="7429500" y="2190750"/>
            <a:ext cx="1809750" cy="1809750"/>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9050">
            <a:solidFill>
              <a:srgbClr val="D9952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4" name="">
            <a:extLst xmlns:a="http://schemas.openxmlformats.org/drawingml/2006/main">
              <a:ext uri="{FF2B5EF4-FFF2-40B4-BE49-F238E27FC236}">
                <a16:creationId xmlns:a16="http://schemas.microsoft.com/office/drawing/2014/main" id="{CDD5DF7F-6A97-4244-BBC4-84C2DDE663C2}"/>
              </a:ext>
            </a:extLst>
          </p:cNvPr>
          <p:cNvSpPr>
            <a:spLocks xmlns:a="http://schemas.openxmlformats.org/drawingml/2006/main" noGrp="1"/>
          </p:cNvSpPr>
          <p:nvPr/>
        </p:nvSpPr>
        <p:spPr>
          <a:xfrm xmlns:a="http://schemas.openxmlformats.org/drawingml/2006/main">
            <a:off x="7600950" y="240030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485"/>
          </a:bodyPr>
          <a:lstStyle xmlns:a="http://schemas.openxmlformats.org/drawingml/2006/main"/>
          <a:p xmlns:a="http://schemas.openxmlformats.org/drawingml/2006/main">
            <a:pPr algn="ctr">
              <a:defRPr sz="1650" b="1" i="0">
                <a:solidFill>
                  <a:srgbClr val="D99520"/>
                </a:solidFill>
                <a:latin typeface="Aptos"/>
                <a:ea typeface="Aptos"/>
                <a:cs typeface="Aptos"/>
              </a:defRPr>
            </a:pPr>
            <a:r>
              <a:rPr sz="1650" b="1" i="0">
                <a:solidFill>
                  <a:srgbClr val="D99520"/>
                </a:solidFill>
                <a:latin typeface="Aptos"/>
                <a:ea typeface="Aptos"/>
                <a:cs typeface="Aptos"/>
              </a:rPr>
              <a:t>Analyse</a:t>
            </a:r>
          </a:p>
        </p:txBody>
      </p:sp>
      <p:sp>
        <p:nvSpPr>
          <p:cNvPr id="25" name="">
            <a:extLst xmlns:a="http://schemas.openxmlformats.org/drawingml/2006/main">
              <a:ext uri="{FF2B5EF4-FFF2-40B4-BE49-F238E27FC236}">
                <a16:creationId xmlns:a16="http://schemas.microsoft.com/office/drawing/2014/main" id="{7174F2BB-A1E2-4C3A-AFAA-3F4E01D43163}"/>
              </a:ext>
            </a:extLst>
          </p:cNvPr>
          <p:cNvSpPr>
            <a:spLocks xmlns:a="http://schemas.openxmlformats.org/drawingml/2006/main" noGrp="1"/>
          </p:cNvSpPr>
          <p:nvPr/>
        </p:nvSpPr>
        <p:spPr>
          <a:xfrm xmlns:a="http://schemas.openxmlformats.org/drawingml/2006/main">
            <a:off x="7620000" y="2838450"/>
            <a:ext cx="14287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26" name="">
            <a:extLst xmlns:a="http://schemas.openxmlformats.org/drawingml/2006/main">
              <a:ext uri="{FF2B5EF4-FFF2-40B4-BE49-F238E27FC236}">
                <a16:creationId xmlns:a16="http://schemas.microsoft.com/office/drawing/2014/main" id="{390DD4F1-ECDC-47D7-930B-7AFD306BEB60}"/>
              </a:ext>
            </a:extLst>
          </p:cNvPr>
          <p:cNvSpPr>
            <a:spLocks xmlns:a="http://schemas.openxmlformats.org/drawingml/2006/main" noGrp="1"/>
          </p:cNvSpPr>
          <p:nvPr/>
        </p:nvSpPr>
        <p:spPr>
          <a:xfrm xmlns:a="http://schemas.openxmlformats.org/drawingml/2006/main">
            <a:off x="7600950" y="3028950"/>
            <a:ext cx="1466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9 sections · 4 scores</a:t>
            </a:r>
          </a:p>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décision · preuves</a:t>
            </a:r>
          </a:p>
        </p:txBody>
      </p:sp>
      <p:sp>
        <p:nvSpPr>
          <p:cNvPr id="27" name="">
            <a:extLst xmlns:a="http://schemas.openxmlformats.org/drawingml/2006/main">
              <a:ext uri="{FF2B5EF4-FFF2-40B4-BE49-F238E27FC236}">
                <a16:creationId xmlns:a16="http://schemas.microsoft.com/office/drawing/2014/main" id="{C682B267-6BF0-4C21-B197-4CE10A0CE5A0}"/>
              </a:ext>
            </a:extLst>
          </p:cNvPr>
          <p:cNvSpPr>
            <a:spLocks xmlns:a="http://schemas.openxmlformats.org/drawingml/2006/main" noGrp="1"/>
          </p:cNvSpPr>
          <p:nvPr/>
        </p:nvSpPr>
        <p:spPr>
          <a:xfrm xmlns:a="http://schemas.openxmlformats.org/drawingml/2006/main">
            <a:off x="8896350" y="3695700"/>
            <a:ext cx="209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6923"/>
          </a:bodyPr>
          <a:lstStyle xmlns:a="http://schemas.openxmlformats.org/drawingml/2006/main"/>
          <a:p xmlns:a="http://schemas.openxmlformats.org/drawingml/2006/main">
            <a:pPr algn="ctr">
              <a:defRPr sz="975" b="1" i="0">
                <a:solidFill>
                  <a:srgbClr val="667085"/>
                </a:solidFill>
                <a:latin typeface="Aptos"/>
                <a:ea typeface="Aptos"/>
                <a:cs typeface="Aptos"/>
              </a:defRPr>
            </a:pPr>
            <a:r>
              <a:rPr sz="975" b="1" i="0">
                <a:solidFill>
                  <a:srgbClr val="667085"/>
                </a:solidFill>
                <a:latin typeface="Aptos"/>
                <a:ea typeface="Aptos"/>
                <a:cs typeface="Aptos"/>
              </a:rPr>
              <a:t>n</a:t>
            </a:r>
          </a:p>
        </p:txBody>
      </p:sp>
      <p:cxnSp>
        <p:nvCxnSpPr>
          <p:cNvPr id="65" name=""/>
          <p:cNvCxnSpPr>
            <a:stCxn xmlns:a="http://schemas.openxmlformats.org/drawingml/2006/main" id="17" idx="3"/>
            <a:endCxn xmlns:a="http://schemas.openxmlformats.org/drawingml/2006/main" id="23" idx="1"/>
          </p:cNvCxnSpPr>
          <p:nvPr/>
        </p:nvCxnSpPr>
        <p:spPr>
          <a:xfrm xmlns:a="http://schemas.openxmlformats.org/drawingml/2006/main">
            <a:off x="6953250" y="3095625"/>
            <a:ext cx="476250" cy="0"/>
          </a:xfrm>
          <a:prstGeom xmlns:a="http://schemas.openxmlformats.org/drawingml/2006/main" prst="straightConnector1">
            <a:avLst/>
          </a:prstGeom>
          <a:ln xmlns:a="http://schemas.openxmlformats.org/drawingml/2006/main" w="19050">
            <a:solidFill>
              <a:srgbClr val="667085"/>
            </a:solidFill>
            <a:prstDash val="solid"/>
            <a:tailEnd type="triangle" w="sm" len="sm"/>
          </a:ln>
        </p:spPr>
      </p:cxnSp>
      <p:sp>
        <p:nvSpPr>
          <p:cNvPr id="29" name="">
            <a:extLst xmlns:a="http://schemas.openxmlformats.org/drawingml/2006/main">
              <a:ext uri="{FF2B5EF4-FFF2-40B4-BE49-F238E27FC236}">
                <a16:creationId xmlns:a16="http://schemas.microsoft.com/office/drawing/2014/main" id="{7C19BA5C-1871-4116-B951-1EED19840145}"/>
              </a:ext>
            </a:extLst>
          </p:cNvPr>
          <p:cNvSpPr>
            <a:spLocks xmlns:a="http://schemas.openxmlformats.org/drawingml/2006/main" noGrp="1"/>
          </p:cNvSpPr>
          <p:nvPr/>
        </p:nvSpPr>
        <p:spPr>
          <a:xfrm xmlns:a="http://schemas.openxmlformats.org/drawingml/2006/main">
            <a:off x="9715500" y="2190750"/>
            <a:ext cx="1809750" cy="1809750"/>
          </a:xfrm>
          <a:prstGeom xmlns:a="http://schemas.openxmlformats.org/drawingml/2006/main" prst="roundRect">
            <a:avLst>
              <a:gd name="adj" fmla="val 8421"/>
            </a:avLst>
          </a:prstGeom>
          <a:solidFill xmlns:a="http://schemas.openxmlformats.org/drawingml/2006/main">
            <a:srgbClr val="FFFFFF"/>
          </a:solidFill>
          <a:ln xmlns:a="http://schemas.openxmlformats.org/drawingml/2006/main" w="19050">
            <a:solidFill>
              <a:srgbClr val="2E9D69"/>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46DD7D32-8CA2-4FFD-949F-568F63377F75}"/>
              </a:ext>
            </a:extLst>
          </p:cNvPr>
          <p:cNvSpPr>
            <a:spLocks xmlns:a="http://schemas.openxmlformats.org/drawingml/2006/main" noGrp="1"/>
          </p:cNvSpPr>
          <p:nvPr/>
        </p:nvSpPr>
        <p:spPr>
          <a:xfrm xmlns:a="http://schemas.openxmlformats.org/drawingml/2006/main">
            <a:off x="9886950" y="2400300"/>
            <a:ext cx="1466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485"/>
          </a:bodyPr>
          <a:lstStyle xmlns:a="http://schemas.openxmlformats.org/drawingml/2006/main"/>
          <a:p xmlns:a="http://schemas.openxmlformats.org/drawingml/2006/main">
            <a:pPr algn="ctr">
              <a:defRPr sz="1650" b="1" i="0">
                <a:solidFill>
                  <a:srgbClr val="2E9D69"/>
                </a:solidFill>
                <a:latin typeface="Aptos"/>
                <a:ea typeface="Aptos"/>
                <a:cs typeface="Aptos"/>
              </a:defRPr>
            </a:pPr>
            <a:r>
              <a:rPr sz="1650" b="1" i="0">
                <a:solidFill>
                  <a:srgbClr val="2E9D69"/>
                </a:solidFill>
                <a:latin typeface="Aptos"/>
                <a:ea typeface="Aptos"/>
                <a:cs typeface="Aptos"/>
              </a:rPr>
              <a:t>Diffusion</a:t>
            </a:r>
          </a:p>
        </p:txBody>
      </p:sp>
      <p:sp>
        <p:nvSpPr>
          <p:cNvPr id="31" name="">
            <a:extLst xmlns:a="http://schemas.openxmlformats.org/drawingml/2006/main">
              <a:ext uri="{FF2B5EF4-FFF2-40B4-BE49-F238E27FC236}">
                <a16:creationId xmlns:a16="http://schemas.microsoft.com/office/drawing/2014/main" id="{38AC41A4-4F98-43A1-BAB2-35617E29E164}"/>
              </a:ext>
            </a:extLst>
          </p:cNvPr>
          <p:cNvSpPr>
            <a:spLocks xmlns:a="http://schemas.openxmlformats.org/drawingml/2006/main" noGrp="1"/>
          </p:cNvSpPr>
          <p:nvPr/>
        </p:nvSpPr>
        <p:spPr>
          <a:xfrm xmlns:a="http://schemas.openxmlformats.org/drawingml/2006/main">
            <a:off x="9906000" y="2838450"/>
            <a:ext cx="14287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32" name="">
            <a:extLst xmlns:a="http://schemas.openxmlformats.org/drawingml/2006/main">
              <a:ext uri="{FF2B5EF4-FFF2-40B4-BE49-F238E27FC236}">
                <a16:creationId xmlns:a16="http://schemas.microsoft.com/office/drawing/2014/main" id="{1EFD7F5F-D25E-45C0-A20A-2BDADFB2AEC8}"/>
              </a:ext>
            </a:extLst>
          </p:cNvPr>
          <p:cNvSpPr>
            <a:spLocks xmlns:a="http://schemas.openxmlformats.org/drawingml/2006/main" noGrp="1"/>
          </p:cNvSpPr>
          <p:nvPr/>
        </p:nvSpPr>
        <p:spPr>
          <a:xfrm xmlns:a="http://schemas.openxmlformats.org/drawingml/2006/main">
            <a:off x="9886950" y="3028950"/>
            <a:ext cx="14668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canal · destinataire</a:t>
            </a:r>
          </a:p>
          <a:p xmlns:a="http://schemas.openxmlformats.org/drawingml/2006/main">
            <a:pPr algn="ctr">
              <a:defRPr sz="1200" b="0" i="0">
                <a:solidFill>
                  <a:srgbClr val="101828"/>
                </a:solidFill>
                <a:latin typeface="Aptos"/>
                <a:ea typeface="Aptos"/>
                <a:cs typeface="Aptos"/>
              </a:defRPr>
            </a:pPr>
            <a:r>
              <a:rPr sz="1200" b="0" i="0">
                <a:solidFill>
                  <a:srgbClr val="101828"/>
                </a:solidFill>
                <a:latin typeface="Aptos"/>
                <a:ea typeface="Aptos"/>
                <a:cs typeface="Aptos"/>
              </a:rPr>
              <a:t>hash · statut</a:t>
            </a:r>
          </a:p>
        </p:txBody>
      </p:sp>
      <p:sp>
        <p:nvSpPr>
          <p:cNvPr id="33" name="">
            <a:extLst xmlns:a="http://schemas.openxmlformats.org/drawingml/2006/main">
              <a:ext uri="{FF2B5EF4-FFF2-40B4-BE49-F238E27FC236}">
                <a16:creationId xmlns:a16="http://schemas.microsoft.com/office/drawing/2014/main" id="{C317FE9C-5699-4F78-9641-8A516EDC12B0}"/>
              </a:ext>
            </a:extLst>
          </p:cNvPr>
          <p:cNvSpPr>
            <a:spLocks xmlns:a="http://schemas.openxmlformats.org/drawingml/2006/main" noGrp="1"/>
          </p:cNvSpPr>
          <p:nvPr/>
        </p:nvSpPr>
        <p:spPr>
          <a:xfrm xmlns:a="http://schemas.openxmlformats.org/drawingml/2006/main">
            <a:off x="11182350" y="3695700"/>
            <a:ext cx="2095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6923"/>
          </a:bodyPr>
          <a:lstStyle xmlns:a="http://schemas.openxmlformats.org/drawingml/2006/main"/>
          <a:p xmlns:a="http://schemas.openxmlformats.org/drawingml/2006/main">
            <a:pPr algn="ctr">
              <a:defRPr sz="975" b="1" i="0">
                <a:solidFill>
                  <a:srgbClr val="667085"/>
                </a:solidFill>
                <a:latin typeface="Aptos"/>
                <a:ea typeface="Aptos"/>
                <a:cs typeface="Aptos"/>
              </a:defRPr>
            </a:pPr>
            <a:r>
              <a:rPr sz="975" b="1" i="0">
                <a:solidFill>
                  <a:srgbClr val="667085"/>
                </a:solidFill>
                <a:latin typeface="Aptos"/>
                <a:ea typeface="Aptos"/>
                <a:cs typeface="Aptos"/>
              </a:rPr>
              <a:t>n</a:t>
            </a:r>
          </a:p>
        </p:txBody>
      </p:sp>
      <p:cxnSp>
        <p:nvCxnSpPr>
          <p:cNvPr id="71" name=""/>
          <p:cNvCxnSpPr>
            <a:stCxn xmlns:a="http://schemas.openxmlformats.org/drawingml/2006/main" id="23" idx="3"/>
            <a:endCxn xmlns:a="http://schemas.openxmlformats.org/drawingml/2006/main" id="29" idx="1"/>
          </p:cNvCxnSpPr>
          <p:nvPr/>
        </p:nvCxnSpPr>
        <p:spPr>
          <a:xfrm xmlns:a="http://schemas.openxmlformats.org/drawingml/2006/main">
            <a:off x="9239250" y="3095625"/>
            <a:ext cx="476250" cy="0"/>
          </a:xfrm>
          <a:prstGeom xmlns:a="http://schemas.openxmlformats.org/drawingml/2006/main" prst="straightConnector1">
            <a:avLst/>
          </a:prstGeom>
          <a:ln xmlns:a="http://schemas.openxmlformats.org/drawingml/2006/main" w="19050">
            <a:solidFill>
              <a:srgbClr val="667085"/>
            </a:solidFill>
            <a:prstDash val="solid"/>
            <a:tailEnd type="triangle" w="sm" len="sm"/>
          </a:ln>
        </p:spPr>
      </p:cxnSp>
      <p:sp>
        <p:nvSpPr>
          <p:cNvPr id="35" name="">
            <a:extLst xmlns:a="http://schemas.openxmlformats.org/drawingml/2006/main">
              <a:ext uri="{FF2B5EF4-FFF2-40B4-BE49-F238E27FC236}">
                <a16:creationId xmlns:a16="http://schemas.microsoft.com/office/drawing/2014/main" id="{EB344AC2-00E5-4BDA-BFB3-FF9D8B8B162E}"/>
              </a:ext>
            </a:extLst>
          </p:cNvPr>
          <p:cNvSpPr>
            <a:spLocks xmlns:a="http://schemas.openxmlformats.org/drawingml/2006/main" noGrp="1"/>
          </p:cNvSpPr>
          <p:nvPr/>
        </p:nvSpPr>
        <p:spPr>
          <a:xfrm xmlns:a="http://schemas.openxmlformats.org/drawingml/2006/main">
            <a:off x="1238250" y="4572000"/>
            <a:ext cx="9715500" cy="952500"/>
          </a:xfrm>
          <a:prstGeom xmlns:a="http://schemas.openxmlformats.org/drawingml/2006/main" prst="roundRect">
            <a:avLst>
              <a:gd name="adj" fmla="val 16000"/>
            </a:avLst>
          </a:prstGeom>
          <a:solidFill xmlns:a="http://schemas.openxmlformats.org/drawingml/2006/main">
            <a:srgbClr val="EAF2FB"/>
          </a:solidFill>
          <a:ln xmlns:a="http://schemas.openxmlformats.org/drawingml/2006/main" w="9525">
            <a:solidFill>
              <a:srgbClr val="1D5AA6"/>
            </a:solidFill>
            <a:prstDash val="solid"/>
          </a:ln>
        </p:spPr>
      </p:sp>
      <p:sp>
        <p:nvSpPr>
          <p:cNvPr id="36" name="">
            <a:extLst xmlns:a="http://schemas.openxmlformats.org/drawingml/2006/main">
              <a:ext uri="{FF2B5EF4-FFF2-40B4-BE49-F238E27FC236}">
                <a16:creationId xmlns:a16="http://schemas.microsoft.com/office/drawing/2014/main" id="{916C4761-D22C-476B-B7EA-74F7283A7EDA}"/>
              </a:ext>
            </a:extLst>
          </p:cNvPr>
          <p:cNvSpPr>
            <a:spLocks xmlns:a="http://schemas.openxmlformats.org/drawingml/2006/main" noGrp="1"/>
          </p:cNvSpPr>
          <p:nvPr/>
        </p:nvSpPr>
        <p:spPr>
          <a:xfrm xmlns:a="http://schemas.openxmlformats.org/drawingml/2006/main">
            <a:off x="1504950" y="47434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1" i="0">
                <a:solidFill>
                  <a:srgbClr val="1D5AA6"/>
                </a:solidFill>
                <a:latin typeface="Aptos"/>
                <a:ea typeface="Aptos"/>
                <a:cs typeface="Aptos"/>
              </a:defRPr>
            </a:pPr>
            <a:r>
              <a:rPr sz="1350" b="1" i="0">
                <a:solidFill>
                  <a:srgbClr val="1D5AA6"/>
                </a:solidFill>
                <a:latin typeface="Aptos"/>
                <a:ea typeface="Aptos"/>
                <a:cs typeface="Aptos"/>
              </a:rPr>
              <a:t>Principe d’idempotence</a:t>
            </a:r>
          </a:p>
        </p:txBody>
      </p:sp>
      <p:sp>
        <p:nvSpPr>
          <p:cNvPr id="37" name="">
            <a:extLst xmlns:a="http://schemas.openxmlformats.org/drawingml/2006/main">
              <a:ext uri="{FF2B5EF4-FFF2-40B4-BE49-F238E27FC236}">
                <a16:creationId xmlns:a16="http://schemas.microsoft.com/office/drawing/2014/main" id="{A7D17E9D-C6AC-4FBA-919C-3D9630E922C2}"/>
              </a:ext>
            </a:extLst>
          </p:cNvPr>
          <p:cNvSpPr>
            <a:spLocks xmlns:a="http://schemas.openxmlformats.org/drawingml/2006/main" noGrp="1"/>
          </p:cNvSpPr>
          <p:nvPr/>
        </p:nvSpPr>
        <p:spPr>
          <a:xfrm xmlns:a="http://schemas.openxmlformats.org/drawingml/2006/main">
            <a:off x="1504950" y="5124450"/>
            <a:ext cx="8896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75" b="1" i="0">
                <a:solidFill>
                  <a:srgbClr val="0B2545"/>
                </a:solidFill>
                <a:latin typeface="Aptos"/>
                <a:ea typeface="Aptos"/>
                <a:cs typeface="Aptos"/>
              </a:defRPr>
            </a:pPr>
            <a:r>
              <a:rPr sz="1575" b="1" i="0">
                <a:solidFill>
                  <a:srgbClr val="0B2545"/>
                </a:solidFill>
                <a:latin typeface="Aptos"/>
                <a:ea typeface="Aptos"/>
                <a:cs typeface="Aptos"/>
              </a:rPr>
              <a:t>Même source + même contexte + même canal  →  pas de duplication, pas de réanalyse inutile.</a:t>
            </a:r>
          </a:p>
        </p:txBody>
      </p:sp>
    </p:spTree>
    <p:extLst>
      <p:ext uri="{BB962C8B-B14F-4D97-AF65-F5344CB8AC3E}">
        <p14:creationId xmlns:p14="http://schemas.microsoft.com/office/powerpoint/2010/main" val="1925144061"/>
      </p:ext>
    </p:extLst>
  </p:cSld>
</p:sld>
</file>

<file path=ppt/slides/slide8.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AF2C2181-FF49-479F-82D8-870ADB5794FD}"/>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INGESTION DOCUMENTAIRE</a:t>
            </a:r>
          </a:p>
        </p:txBody>
      </p:sp>
      <p:sp>
        <p:nvSpPr>
          <p:cNvPr id="2" name="">
            <a:extLst xmlns:a="http://schemas.openxmlformats.org/drawingml/2006/main">
              <a:ext uri="{FF2B5EF4-FFF2-40B4-BE49-F238E27FC236}">
                <a16:creationId xmlns:a16="http://schemas.microsoft.com/office/drawing/2014/main" id="{912B3D23-3254-4939-B1B4-8AEE21A9F66F}"/>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Lire 152 pièces hétérogènes sans relâcher les contrôles</a:t>
            </a:r>
          </a:p>
        </p:txBody>
      </p:sp>
      <p:sp>
        <p:nvSpPr>
          <p:cNvPr id="3" name="">
            <a:extLst xmlns:a="http://schemas.openxmlformats.org/drawingml/2006/main">
              <a:ext uri="{FF2B5EF4-FFF2-40B4-BE49-F238E27FC236}">
                <a16:creationId xmlns:a16="http://schemas.microsoft.com/office/drawing/2014/main" id="{778B5FB5-2421-47AF-9807-8E9F44211AF9}"/>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0A371B30-BE4A-444D-B76C-B08436B5A685}"/>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3FE1F2AE-D348-49C1-A5B0-D46A03CA635E}"/>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08</a:t>
            </a:r>
          </a:p>
        </p:txBody>
      </p:sp>
      <p:sp>
        <p:nvSpPr>
          <p:cNvPr id="6" name="">
            <a:extLst xmlns:a="http://schemas.openxmlformats.org/drawingml/2006/main">
              <a:ext uri="{FF2B5EF4-FFF2-40B4-BE49-F238E27FC236}">
                <a16:creationId xmlns:a16="http://schemas.microsoft.com/office/drawing/2014/main" id="{98761DE3-48AA-4727-B7C5-0521AE2A2A9A}"/>
              </a:ext>
            </a:extLst>
          </p:cNvPr>
          <p:cNvSpPr>
            <a:spLocks xmlns:a="http://schemas.openxmlformats.org/drawingml/2006/main" noGrp="1"/>
          </p:cNvSpPr>
          <p:nvPr/>
        </p:nvSpPr>
        <p:spPr>
          <a:xfrm xmlns:a="http://schemas.openxmlformats.org/drawingml/2006/main">
            <a:off x="514350" y="2152650"/>
            <a:ext cx="1409700" cy="15430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8A4052AA-6C4F-4B43-B2DF-B6E1808E13C7}"/>
              </a:ext>
            </a:extLst>
          </p:cNvPr>
          <p:cNvSpPr>
            <a:spLocks xmlns:a="http://schemas.openxmlformats.org/drawingml/2006/main" noGrp="1"/>
          </p:cNvSpPr>
          <p:nvPr/>
        </p:nvSpPr>
        <p:spPr>
          <a:xfrm xmlns:a="http://schemas.openxmlformats.org/drawingml/2006/main">
            <a:off x="628650" y="2343150"/>
            <a:ext cx="1181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URL</a:t>
            </a:r>
          </a:p>
        </p:txBody>
      </p:sp>
      <p:sp>
        <p:nvSpPr>
          <p:cNvPr id="8" name="">
            <a:extLst xmlns:a="http://schemas.openxmlformats.org/drawingml/2006/main">
              <a:ext uri="{FF2B5EF4-FFF2-40B4-BE49-F238E27FC236}">
                <a16:creationId xmlns:a16="http://schemas.microsoft.com/office/drawing/2014/main" id="{CB7BC010-2206-4E54-8CE4-E7BD5EAF6865}"/>
              </a:ext>
            </a:extLst>
          </p:cNvPr>
          <p:cNvSpPr>
            <a:spLocks xmlns:a="http://schemas.openxmlformats.org/drawingml/2006/main" noGrp="1"/>
          </p:cNvSpPr>
          <p:nvPr/>
        </p:nvSpPr>
        <p:spPr>
          <a:xfrm xmlns:a="http://schemas.openxmlformats.org/drawingml/2006/main">
            <a:off x="628650" y="2838450"/>
            <a:ext cx="1181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Hôte + chemin</a:t>
            </a:r>
          </a:p>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autorisés</a:t>
            </a:r>
          </a:p>
        </p:txBody>
      </p:sp>
      <p:sp>
        <p:nvSpPr>
          <p:cNvPr id="9" name="">
            <a:extLst xmlns:a="http://schemas.openxmlformats.org/drawingml/2006/main">
              <a:ext uri="{FF2B5EF4-FFF2-40B4-BE49-F238E27FC236}">
                <a16:creationId xmlns:a16="http://schemas.microsoft.com/office/drawing/2014/main" id="{279DE393-9BFF-4347-A1A2-A28F46C756AB}"/>
              </a:ext>
            </a:extLst>
          </p:cNvPr>
          <p:cNvSpPr>
            <a:spLocks xmlns:a="http://schemas.openxmlformats.org/drawingml/2006/main" noGrp="1"/>
          </p:cNvSpPr>
          <p:nvPr/>
        </p:nvSpPr>
        <p:spPr>
          <a:xfrm xmlns:a="http://schemas.openxmlformats.org/drawingml/2006/main">
            <a:off x="2476500" y="2152650"/>
            <a:ext cx="1409700" cy="15430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0" name="">
            <a:extLst xmlns:a="http://schemas.openxmlformats.org/drawingml/2006/main">
              <a:ext uri="{FF2B5EF4-FFF2-40B4-BE49-F238E27FC236}">
                <a16:creationId xmlns:a16="http://schemas.microsoft.com/office/drawing/2014/main" id="{FF285FDD-F9F5-4FB9-9AA7-DEA98F519773}"/>
              </a:ext>
            </a:extLst>
          </p:cNvPr>
          <p:cNvSpPr>
            <a:spLocks xmlns:a="http://schemas.openxmlformats.org/drawingml/2006/main" noGrp="1"/>
          </p:cNvSpPr>
          <p:nvPr/>
        </p:nvSpPr>
        <p:spPr>
          <a:xfrm xmlns:a="http://schemas.openxmlformats.org/drawingml/2006/main">
            <a:off x="2590800" y="2343150"/>
            <a:ext cx="1181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9139"/>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Téléchargement</a:t>
            </a:r>
          </a:p>
        </p:txBody>
      </p:sp>
      <p:sp>
        <p:nvSpPr>
          <p:cNvPr id="11" name="">
            <a:extLst xmlns:a="http://schemas.openxmlformats.org/drawingml/2006/main">
              <a:ext uri="{FF2B5EF4-FFF2-40B4-BE49-F238E27FC236}">
                <a16:creationId xmlns:a16="http://schemas.microsoft.com/office/drawing/2014/main" id="{5D56052A-C531-4772-B381-D78EEF6D436D}"/>
              </a:ext>
            </a:extLst>
          </p:cNvPr>
          <p:cNvSpPr>
            <a:spLocks xmlns:a="http://schemas.openxmlformats.org/drawingml/2006/main" noGrp="1"/>
          </p:cNvSpPr>
          <p:nvPr/>
        </p:nvSpPr>
        <p:spPr>
          <a:xfrm xmlns:a="http://schemas.openxmlformats.org/drawingml/2006/main">
            <a:off x="2590800" y="2838450"/>
            <a:ext cx="1181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taille + délai</a:t>
            </a:r>
          </a:p>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bornés</a:t>
            </a:r>
          </a:p>
        </p:txBody>
      </p:sp>
      <p:cxnSp>
        <p:nvCxnSpPr>
          <p:cNvPr id="46" name=""/>
          <p:cNvCxnSpPr>
            <a:stCxn xmlns:a="http://schemas.openxmlformats.org/drawingml/2006/main" id="6" idx="3"/>
            <a:endCxn xmlns:a="http://schemas.openxmlformats.org/drawingml/2006/main" id="9" idx="1"/>
          </p:cNvCxnSpPr>
          <p:nvPr/>
        </p:nvCxnSpPr>
        <p:spPr>
          <a:xfrm xmlns:a="http://schemas.openxmlformats.org/drawingml/2006/main">
            <a:off x="1924050" y="2924175"/>
            <a:ext cx="55245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13" name="">
            <a:extLst xmlns:a="http://schemas.openxmlformats.org/drawingml/2006/main">
              <a:ext uri="{FF2B5EF4-FFF2-40B4-BE49-F238E27FC236}">
                <a16:creationId xmlns:a16="http://schemas.microsoft.com/office/drawing/2014/main" id="{FDA5954B-3BCD-4D82-AA22-323142EA7589}"/>
              </a:ext>
            </a:extLst>
          </p:cNvPr>
          <p:cNvSpPr>
            <a:spLocks xmlns:a="http://schemas.openxmlformats.org/drawingml/2006/main" noGrp="1"/>
          </p:cNvSpPr>
          <p:nvPr/>
        </p:nvSpPr>
        <p:spPr>
          <a:xfrm xmlns:a="http://schemas.openxmlformats.org/drawingml/2006/main">
            <a:off x="4438650" y="2152650"/>
            <a:ext cx="1409700" cy="15430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C289E4D1-CB19-424B-9981-7A1DC1510709}"/>
              </a:ext>
            </a:extLst>
          </p:cNvPr>
          <p:cNvSpPr>
            <a:spLocks xmlns:a="http://schemas.openxmlformats.org/drawingml/2006/main" noGrp="1"/>
          </p:cNvSpPr>
          <p:nvPr/>
        </p:nvSpPr>
        <p:spPr>
          <a:xfrm xmlns:a="http://schemas.openxmlformats.org/drawingml/2006/main">
            <a:off x="4552950" y="2343150"/>
            <a:ext cx="1181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Détection</a:t>
            </a:r>
          </a:p>
        </p:txBody>
      </p:sp>
      <p:sp>
        <p:nvSpPr>
          <p:cNvPr id="15" name="">
            <a:extLst xmlns:a="http://schemas.openxmlformats.org/drawingml/2006/main">
              <a:ext uri="{FF2B5EF4-FFF2-40B4-BE49-F238E27FC236}">
                <a16:creationId xmlns:a16="http://schemas.microsoft.com/office/drawing/2014/main" id="{84D123A1-B0DD-4227-B8DD-09D8811F5531}"/>
              </a:ext>
            </a:extLst>
          </p:cNvPr>
          <p:cNvSpPr>
            <a:spLocks xmlns:a="http://schemas.openxmlformats.org/drawingml/2006/main" noGrp="1"/>
          </p:cNvSpPr>
          <p:nvPr/>
        </p:nvSpPr>
        <p:spPr>
          <a:xfrm xmlns:a="http://schemas.openxmlformats.org/drawingml/2006/main">
            <a:off x="4552950" y="2838450"/>
            <a:ext cx="1181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signature réelle</a:t>
            </a:r>
          </a:p>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 extension</a:t>
            </a:r>
          </a:p>
        </p:txBody>
      </p:sp>
      <p:cxnSp>
        <p:nvCxnSpPr>
          <p:cNvPr id="50" name=""/>
          <p:cNvCxnSpPr>
            <a:stCxn xmlns:a="http://schemas.openxmlformats.org/drawingml/2006/main" id="9" idx="3"/>
            <a:endCxn xmlns:a="http://schemas.openxmlformats.org/drawingml/2006/main" id="13" idx="1"/>
          </p:cNvCxnSpPr>
          <p:nvPr/>
        </p:nvCxnSpPr>
        <p:spPr>
          <a:xfrm xmlns:a="http://schemas.openxmlformats.org/drawingml/2006/main">
            <a:off x="3886200" y="2924175"/>
            <a:ext cx="55245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17" name="">
            <a:extLst xmlns:a="http://schemas.openxmlformats.org/drawingml/2006/main">
              <a:ext uri="{FF2B5EF4-FFF2-40B4-BE49-F238E27FC236}">
                <a16:creationId xmlns:a16="http://schemas.microsoft.com/office/drawing/2014/main" id="{7EAD9156-8D7F-484B-A793-4D85E7A24A16}"/>
              </a:ext>
            </a:extLst>
          </p:cNvPr>
          <p:cNvSpPr>
            <a:spLocks xmlns:a="http://schemas.openxmlformats.org/drawingml/2006/main" noGrp="1"/>
          </p:cNvSpPr>
          <p:nvPr/>
        </p:nvSpPr>
        <p:spPr>
          <a:xfrm xmlns:a="http://schemas.openxmlformats.org/drawingml/2006/main">
            <a:off x="6400800" y="2152650"/>
            <a:ext cx="1409700" cy="15430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ACEF7CAF-32FC-461F-88F5-7429A558AA07}"/>
              </a:ext>
            </a:extLst>
          </p:cNvPr>
          <p:cNvSpPr>
            <a:spLocks xmlns:a="http://schemas.openxmlformats.org/drawingml/2006/main" noGrp="1"/>
          </p:cNvSpPr>
          <p:nvPr/>
        </p:nvSpPr>
        <p:spPr>
          <a:xfrm xmlns:a="http://schemas.openxmlformats.org/drawingml/2006/main">
            <a:off x="6515100" y="2343150"/>
            <a:ext cx="1181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Extraction</a:t>
            </a:r>
          </a:p>
        </p:txBody>
      </p:sp>
      <p:sp>
        <p:nvSpPr>
          <p:cNvPr id="19" name="">
            <a:extLst xmlns:a="http://schemas.openxmlformats.org/drawingml/2006/main">
              <a:ext uri="{FF2B5EF4-FFF2-40B4-BE49-F238E27FC236}">
                <a16:creationId xmlns:a16="http://schemas.microsoft.com/office/drawing/2014/main" id="{C4CBA33F-388F-4CD2-8BE3-6AF7E93345F8}"/>
              </a:ext>
            </a:extLst>
          </p:cNvPr>
          <p:cNvSpPr>
            <a:spLocks xmlns:a="http://schemas.openxmlformats.org/drawingml/2006/main" noGrp="1"/>
          </p:cNvSpPr>
          <p:nvPr/>
        </p:nvSpPr>
        <p:spPr>
          <a:xfrm xmlns:a="http://schemas.openxmlformats.org/drawingml/2006/main">
            <a:off x="6515100" y="2838450"/>
            <a:ext cx="1181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PDF · DOCX · DOC</a:t>
            </a:r>
          </a:p>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image</a:t>
            </a:r>
          </a:p>
        </p:txBody>
      </p:sp>
      <p:cxnSp>
        <p:nvCxnSpPr>
          <p:cNvPr id="54" name=""/>
          <p:cNvCxnSpPr>
            <a:stCxn xmlns:a="http://schemas.openxmlformats.org/drawingml/2006/main" id="13" idx="3"/>
            <a:endCxn xmlns:a="http://schemas.openxmlformats.org/drawingml/2006/main" id="17" idx="1"/>
          </p:cNvCxnSpPr>
          <p:nvPr/>
        </p:nvCxnSpPr>
        <p:spPr>
          <a:xfrm xmlns:a="http://schemas.openxmlformats.org/drawingml/2006/main">
            <a:off x="5848350" y="2924175"/>
            <a:ext cx="55245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21" name="">
            <a:extLst xmlns:a="http://schemas.openxmlformats.org/drawingml/2006/main">
              <a:ext uri="{FF2B5EF4-FFF2-40B4-BE49-F238E27FC236}">
                <a16:creationId xmlns:a16="http://schemas.microsoft.com/office/drawing/2014/main" id="{F0F167C8-95AB-4C10-891B-669DE63BEE01}"/>
              </a:ext>
            </a:extLst>
          </p:cNvPr>
          <p:cNvSpPr>
            <a:spLocks xmlns:a="http://schemas.openxmlformats.org/drawingml/2006/main" noGrp="1"/>
          </p:cNvSpPr>
          <p:nvPr/>
        </p:nvSpPr>
        <p:spPr>
          <a:xfrm xmlns:a="http://schemas.openxmlformats.org/drawingml/2006/main">
            <a:off x="8362950" y="2152650"/>
            <a:ext cx="1409700" cy="1543050"/>
          </a:xfrm>
          <a:prstGeom xmlns:a="http://schemas.openxmlformats.org/drawingml/2006/main" prst="roundRect">
            <a:avLst>
              <a:gd name="adj" fmla="val 10811"/>
            </a:avLst>
          </a:prstGeom>
          <a:solidFill xmlns:a="http://schemas.openxmlformats.org/drawingml/2006/main">
            <a:srgbClr val="DDF6FB"/>
          </a:solidFill>
          <a:ln xmlns:a="http://schemas.openxmlformats.org/drawingml/2006/main" w="19050">
            <a:solidFill>
              <a:srgbClr val="2FB9D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F51105C1-153D-4548-9261-D06047564343}"/>
              </a:ext>
            </a:extLst>
          </p:cNvPr>
          <p:cNvSpPr>
            <a:spLocks xmlns:a="http://schemas.openxmlformats.org/drawingml/2006/main" noGrp="1"/>
          </p:cNvSpPr>
          <p:nvPr/>
        </p:nvSpPr>
        <p:spPr>
          <a:xfrm xmlns:a="http://schemas.openxmlformats.org/drawingml/2006/main">
            <a:off x="8477250" y="2343150"/>
            <a:ext cx="1181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OCR</a:t>
            </a:r>
          </a:p>
        </p:txBody>
      </p:sp>
      <p:sp>
        <p:nvSpPr>
          <p:cNvPr id="23" name="">
            <a:extLst xmlns:a="http://schemas.openxmlformats.org/drawingml/2006/main">
              <a:ext uri="{FF2B5EF4-FFF2-40B4-BE49-F238E27FC236}">
                <a16:creationId xmlns:a16="http://schemas.microsoft.com/office/drawing/2014/main" id="{EC61E106-7E64-4C38-B8C7-2BBAFAF4DB5F}"/>
              </a:ext>
            </a:extLst>
          </p:cNvPr>
          <p:cNvSpPr>
            <a:spLocks xmlns:a="http://schemas.openxmlformats.org/drawingml/2006/main" noGrp="1"/>
          </p:cNvSpPr>
          <p:nvPr/>
        </p:nvSpPr>
        <p:spPr>
          <a:xfrm xmlns:a="http://schemas.openxmlformats.org/drawingml/2006/main">
            <a:off x="8477250" y="2838450"/>
            <a:ext cx="1181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9793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fra · ara · eng</a:t>
            </a:r>
          </a:p>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pages manquantes</a:t>
            </a:r>
          </a:p>
        </p:txBody>
      </p:sp>
      <p:cxnSp>
        <p:nvCxnSpPr>
          <p:cNvPr id="58" name=""/>
          <p:cNvCxnSpPr>
            <a:stCxn xmlns:a="http://schemas.openxmlformats.org/drawingml/2006/main" id="17" idx="3"/>
            <a:endCxn xmlns:a="http://schemas.openxmlformats.org/drawingml/2006/main" id="21" idx="1"/>
          </p:cNvCxnSpPr>
          <p:nvPr/>
        </p:nvCxnSpPr>
        <p:spPr>
          <a:xfrm xmlns:a="http://schemas.openxmlformats.org/drawingml/2006/main">
            <a:off x="7810500" y="2924175"/>
            <a:ext cx="55245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25" name="">
            <a:extLst xmlns:a="http://schemas.openxmlformats.org/drawingml/2006/main">
              <a:ext uri="{FF2B5EF4-FFF2-40B4-BE49-F238E27FC236}">
                <a16:creationId xmlns:a16="http://schemas.microsoft.com/office/drawing/2014/main" id="{1DD7B94B-829A-4B89-AE99-90FF481C060C}"/>
              </a:ext>
            </a:extLst>
          </p:cNvPr>
          <p:cNvSpPr>
            <a:spLocks xmlns:a="http://schemas.openxmlformats.org/drawingml/2006/main" noGrp="1"/>
          </p:cNvSpPr>
          <p:nvPr/>
        </p:nvSpPr>
        <p:spPr>
          <a:xfrm xmlns:a="http://schemas.openxmlformats.org/drawingml/2006/main">
            <a:off x="10325100" y="2152650"/>
            <a:ext cx="1409700" cy="1543050"/>
          </a:xfrm>
          <a:prstGeom xmlns:a="http://schemas.openxmlformats.org/drawingml/2006/main" prst="roundRect">
            <a:avLst>
              <a:gd name="adj" fmla="val 10811"/>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402D8CAC-5800-4055-BD8E-C858ABDC55EC}"/>
              </a:ext>
            </a:extLst>
          </p:cNvPr>
          <p:cNvSpPr>
            <a:spLocks xmlns:a="http://schemas.openxmlformats.org/drawingml/2006/main" noGrp="1"/>
          </p:cNvSpPr>
          <p:nvPr/>
        </p:nvSpPr>
        <p:spPr>
          <a:xfrm xmlns:a="http://schemas.openxmlformats.org/drawingml/2006/main">
            <a:off x="10439400" y="2343150"/>
            <a:ext cx="11811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Trace</a:t>
            </a:r>
          </a:p>
        </p:txBody>
      </p:sp>
      <p:sp>
        <p:nvSpPr>
          <p:cNvPr id="27" name="">
            <a:extLst xmlns:a="http://schemas.openxmlformats.org/drawingml/2006/main">
              <a:ext uri="{FF2B5EF4-FFF2-40B4-BE49-F238E27FC236}">
                <a16:creationId xmlns:a16="http://schemas.microsoft.com/office/drawing/2014/main" id="{8E74ECE4-09A0-42CF-B6A9-EA997D283D19}"/>
              </a:ext>
            </a:extLst>
          </p:cNvPr>
          <p:cNvSpPr>
            <a:spLocks xmlns:a="http://schemas.openxmlformats.org/drawingml/2006/main" noGrp="1"/>
          </p:cNvSpPr>
          <p:nvPr/>
        </p:nvSpPr>
        <p:spPr>
          <a:xfrm xmlns:a="http://schemas.openxmlformats.org/drawingml/2006/main">
            <a:off x="10439400" y="2838450"/>
            <a:ext cx="11811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SHA-256 +</a:t>
            </a:r>
          </a:p>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statut</a:t>
            </a:r>
          </a:p>
        </p:txBody>
      </p:sp>
      <p:cxnSp>
        <p:nvCxnSpPr>
          <p:cNvPr id="62" name=""/>
          <p:cNvCxnSpPr>
            <a:stCxn xmlns:a="http://schemas.openxmlformats.org/drawingml/2006/main" id="21" idx="3"/>
            <a:endCxn xmlns:a="http://schemas.openxmlformats.org/drawingml/2006/main" id="25" idx="1"/>
          </p:cNvCxnSpPr>
          <p:nvPr/>
        </p:nvCxnSpPr>
        <p:spPr>
          <a:xfrm xmlns:a="http://schemas.openxmlformats.org/drawingml/2006/main">
            <a:off x="9772650" y="2924175"/>
            <a:ext cx="552450" cy="0"/>
          </a:xfrm>
          <a:prstGeom xmlns:a="http://schemas.openxmlformats.org/drawingml/2006/main" prst="straightConnector1">
            <a:avLst/>
          </a:prstGeom>
          <a:ln xmlns:a="http://schemas.openxmlformats.org/drawingml/2006/main" w="19050">
            <a:solidFill>
              <a:srgbClr val="1D5AA6"/>
            </a:solidFill>
            <a:prstDash val="solid"/>
            <a:tailEnd type="triangle" w="sm" len="sm"/>
          </a:ln>
        </p:spPr>
      </p:cxnSp>
      <p:sp>
        <p:nvSpPr>
          <p:cNvPr id="29" name="">
            <a:extLst xmlns:a="http://schemas.openxmlformats.org/drawingml/2006/main">
              <a:ext uri="{FF2B5EF4-FFF2-40B4-BE49-F238E27FC236}">
                <a16:creationId xmlns:a16="http://schemas.microsoft.com/office/drawing/2014/main" id="{DABCEE5E-C4F8-4322-BF2E-7130C7F9A295}"/>
              </a:ext>
            </a:extLst>
          </p:cNvPr>
          <p:cNvSpPr>
            <a:spLocks xmlns:a="http://schemas.openxmlformats.org/drawingml/2006/main" noGrp="1"/>
          </p:cNvSpPr>
          <p:nvPr/>
        </p:nvSpPr>
        <p:spPr>
          <a:xfrm xmlns:a="http://schemas.openxmlformats.org/drawingml/2006/main">
            <a:off x="514350" y="4191000"/>
            <a:ext cx="6896100" cy="1143000"/>
          </a:xfrm>
          <a:prstGeom xmlns:a="http://schemas.openxmlformats.org/drawingml/2006/main" prst="roundRect">
            <a:avLst>
              <a:gd name="adj" fmla="val 13333"/>
            </a:avLst>
          </a:prstGeom>
          <a:solidFill xmlns:a="http://schemas.openxmlformats.org/drawingml/2006/main">
            <a:srgbClr val="0B2545"/>
          </a:solidFill>
          <a:ln xmlns:a="http://schemas.openxmlformats.org/drawingml/2006/main" w="0">
            <a:solidFill>
              <a:srgbClr val="0B2545"/>
            </a:solidFill>
            <a:prstDash val="solid"/>
          </a:ln>
        </p:spPr>
      </p:sp>
      <p:sp>
        <p:nvSpPr>
          <p:cNvPr id="30" name="">
            <a:extLst xmlns:a="http://schemas.openxmlformats.org/drawingml/2006/main">
              <a:ext uri="{FF2B5EF4-FFF2-40B4-BE49-F238E27FC236}">
                <a16:creationId xmlns:a16="http://schemas.microsoft.com/office/drawing/2014/main" id="{BE238994-C0E4-49F1-B680-F23697FE1EEB}"/>
              </a:ext>
            </a:extLst>
          </p:cNvPr>
          <p:cNvSpPr>
            <a:spLocks xmlns:a="http://schemas.openxmlformats.org/drawingml/2006/main" noGrp="1"/>
          </p:cNvSpPr>
          <p:nvPr/>
        </p:nvSpPr>
        <p:spPr>
          <a:xfrm xmlns:a="http://schemas.openxmlformats.org/drawingml/2006/main">
            <a:off x="742950" y="438150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2FB9DB"/>
                </a:solidFill>
                <a:latin typeface="Aptos"/>
                <a:ea typeface="Aptos"/>
                <a:cs typeface="Aptos"/>
              </a:defRPr>
            </a:pPr>
            <a:r>
              <a:rPr sz="1275" b="1" i="0">
                <a:solidFill>
                  <a:srgbClr val="2FB9DB"/>
                </a:solidFill>
                <a:latin typeface="Aptos"/>
                <a:ea typeface="Aptos"/>
                <a:cs typeface="Aptos"/>
              </a:rPr>
              <a:t>Corpus vérifié</a:t>
            </a:r>
          </a:p>
        </p:txBody>
      </p:sp>
      <p:sp>
        <p:nvSpPr>
          <p:cNvPr id="31" name="">
            <a:extLst xmlns:a="http://schemas.openxmlformats.org/drawingml/2006/main">
              <a:ext uri="{FF2B5EF4-FFF2-40B4-BE49-F238E27FC236}">
                <a16:creationId xmlns:a16="http://schemas.microsoft.com/office/drawing/2014/main" id="{B3CA16A7-2F73-4667-9E2F-A0809AA4CBA4}"/>
              </a:ext>
            </a:extLst>
          </p:cNvPr>
          <p:cNvSpPr>
            <a:spLocks xmlns:a="http://schemas.openxmlformats.org/drawingml/2006/main" noGrp="1"/>
          </p:cNvSpPr>
          <p:nvPr/>
        </p:nvSpPr>
        <p:spPr>
          <a:xfrm xmlns:a="http://schemas.openxmlformats.org/drawingml/2006/main">
            <a:off x="742950" y="4762500"/>
            <a:ext cx="619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i="0">
                <a:solidFill>
                  <a:srgbClr val="FFFFFF"/>
                </a:solidFill>
                <a:latin typeface="Aptos"/>
                <a:ea typeface="Aptos"/>
                <a:cs typeface="Aptos"/>
              </a:defRPr>
            </a:pPr>
            <a:r>
              <a:rPr sz="2025" b="1" i="0">
                <a:solidFill>
                  <a:srgbClr val="FFFFFF"/>
                </a:solidFill>
                <a:latin typeface="Aptos"/>
                <a:ea typeface="Aptos"/>
                <a:cs typeface="Aptos"/>
              </a:rPr>
              <a:t>41 PDF  ·  74 DOCX  ·  35 DOC  ·  2 images</a:t>
            </a:r>
          </a:p>
        </p:txBody>
      </p:sp>
      <p:sp>
        <p:nvSpPr>
          <p:cNvPr id="32" name="">
            <a:extLst xmlns:a="http://schemas.openxmlformats.org/drawingml/2006/main">
              <a:ext uri="{FF2B5EF4-FFF2-40B4-BE49-F238E27FC236}">
                <a16:creationId xmlns:a16="http://schemas.microsoft.com/office/drawing/2014/main" id="{6407A4F4-603A-4DCE-B3EC-6C526B388C11}"/>
              </a:ext>
            </a:extLst>
          </p:cNvPr>
          <p:cNvSpPr>
            <a:spLocks xmlns:a="http://schemas.openxmlformats.org/drawingml/2006/main" noGrp="1"/>
          </p:cNvSpPr>
          <p:nvPr/>
        </p:nvSpPr>
        <p:spPr>
          <a:xfrm xmlns:a="http://schemas.openxmlformats.org/drawingml/2006/main">
            <a:off x="7715250" y="4191000"/>
            <a:ext cx="3962400" cy="1143000"/>
          </a:xfrm>
          <a:prstGeom xmlns:a="http://schemas.openxmlformats.org/drawingml/2006/main" prst="roundRect">
            <a:avLst>
              <a:gd name="adj" fmla="val 13333"/>
            </a:avLst>
          </a:prstGeom>
          <a:solidFill xmlns:a="http://schemas.openxmlformats.org/drawingml/2006/main">
            <a:srgbClr val="E6F5EE"/>
          </a:solidFill>
          <a:ln xmlns:a="http://schemas.openxmlformats.org/drawingml/2006/main" w="9525">
            <a:solidFill>
              <a:srgbClr val="2E9D69"/>
            </a:solidFill>
            <a:prstDash val="solid"/>
          </a:ln>
        </p:spPr>
      </p:sp>
      <p:sp>
        <p:nvSpPr>
          <p:cNvPr id="33" name="">
            <a:extLst xmlns:a="http://schemas.openxmlformats.org/drawingml/2006/main">
              <a:ext uri="{FF2B5EF4-FFF2-40B4-BE49-F238E27FC236}">
                <a16:creationId xmlns:a16="http://schemas.microsoft.com/office/drawing/2014/main" id="{E66EC5AB-1C28-4FA2-ABC2-F012764D45CF}"/>
              </a:ext>
            </a:extLst>
          </p:cNvPr>
          <p:cNvSpPr>
            <a:spLocks xmlns:a="http://schemas.openxmlformats.org/drawingml/2006/main" noGrp="1"/>
          </p:cNvSpPr>
          <p:nvPr/>
        </p:nvSpPr>
        <p:spPr>
          <a:xfrm xmlns:a="http://schemas.openxmlformats.org/drawingml/2006/main">
            <a:off x="7943850" y="4362450"/>
            <a:ext cx="1714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550" b="1" i="0">
                <a:solidFill>
                  <a:srgbClr val="2E9D69"/>
                </a:solidFill>
                <a:latin typeface="Aptos"/>
                <a:ea typeface="Aptos"/>
                <a:cs typeface="Aptos"/>
              </a:defRPr>
            </a:pPr>
            <a:r>
              <a:rPr sz="2550" b="1" i="0">
                <a:solidFill>
                  <a:srgbClr val="2E9D69"/>
                </a:solidFill>
                <a:latin typeface="Aptos"/>
                <a:ea typeface="Aptos"/>
                <a:cs typeface="Aptos"/>
              </a:rPr>
              <a:t>152 / 152</a:t>
            </a:r>
          </a:p>
        </p:txBody>
      </p:sp>
      <p:sp>
        <p:nvSpPr>
          <p:cNvPr id="34" name="">
            <a:extLst xmlns:a="http://schemas.openxmlformats.org/drawingml/2006/main">
              <a:ext uri="{FF2B5EF4-FFF2-40B4-BE49-F238E27FC236}">
                <a16:creationId xmlns:a16="http://schemas.microsoft.com/office/drawing/2014/main" id="{CFBA1F26-0697-49F0-A905-A17DF68719CA}"/>
              </a:ext>
            </a:extLst>
          </p:cNvPr>
          <p:cNvSpPr>
            <a:spLocks xmlns:a="http://schemas.openxmlformats.org/drawingml/2006/main" noGrp="1"/>
          </p:cNvSpPr>
          <p:nvPr/>
        </p:nvSpPr>
        <p:spPr>
          <a:xfrm xmlns:a="http://schemas.openxmlformats.org/drawingml/2006/main">
            <a:off x="7943850" y="4838700"/>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0B2545"/>
                </a:solidFill>
                <a:latin typeface="Aptos"/>
                <a:ea typeface="Aptos"/>
                <a:cs typeface="Aptos"/>
              </a:defRPr>
            </a:pPr>
            <a:r>
              <a:rPr sz="1350" b="0" i="0">
                <a:solidFill>
                  <a:srgbClr val="0B2545"/>
                </a:solidFill>
                <a:latin typeface="Aptos"/>
                <a:ea typeface="Aptos"/>
                <a:cs typeface="Aptos"/>
              </a:rPr>
              <a:t>présentes, hachées et extraites</a:t>
            </a:r>
          </a:p>
        </p:txBody>
      </p:sp>
    </p:spTree>
    <p:extLst>
      <p:ext uri="{BB962C8B-B14F-4D97-AF65-F5344CB8AC3E}">
        <p14:creationId xmlns:p14="http://schemas.microsoft.com/office/powerpoint/2010/main" val="1271836453"/>
      </p:ext>
    </p:extLst>
  </p:cSld>
</p:sld>
</file>

<file path=ppt/slides/slide9.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B1123ACA-BD5B-4062-94A2-C13478930066}"/>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ANALYSE GO / NO-GO</a:t>
            </a:r>
          </a:p>
        </p:txBody>
      </p:sp>
      <p:sp>
        <p:nvSpPr>
          <p:cNvPr id="2" name="">
            <a:extLst xmlns:a="http://schemas.openxmlformats.org/drawingml/2006/main">
              <a:ext uri="{FF2B5EF4-FFF2-40B4-BE49-F238E27FC236}">
                <a16:creationId xmlns:a16="http://schemas.microsoft.com/office/drawing/2014/main" id="{80449110-7BBF-4DB1-805E-85007CAD93CB}"/>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523"/>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L’IA structure une recommandation ; les règles ferment les sorties incohérentes</a:t>
            </a:r>
          </a:p>
        </p:txBody>
      </p:sp>
      <p:sp>
        <p:nvSpPr>
          <p:cNvPr id="3" name="">
            <a:extLst xmlns:a="http://schemas.openxmlformats.org/drawingml/2006/main">
              <a:ext uri="{FF2B5EF4-FFF2-40B4-BE49-F238E27FC236}">
                <a16:creationId xmlns:a16="http://schemas.microsoft.com/office/drawing/2014/main" id="{ED117B1F-CFD9-4840-94EB-E806D4925C53}"/>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3C30B7FE-4F72-44FC-9986-912F8B2159E1}"/>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DA671796-424A-4CD9-9FA4-F7DF3FA92C48}"/>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09</a:t>
            </a:r>
          </a:p>
        </p:txBody>
      </p:sp>
      <p:sp>
        <p:nvSpPr>
          <p:cNvPr id="6" name="">
            <a:extLst xmlns:a="http://schemas.openxmlformats.org/drawingml/2006/main">
              <a:ext uri="{FF2B5EF4-FFF2-40B4-BE49-F238E27FC236}">
                <a16:creationId xmlns:a16="http://schemas.microsoft.com/office/drawing/2014/main" id="{7C86F7F3-D4EF-40B0-A678-D5DF33EAA3A8}"/>
              </a:ext>
            </a:extLst>
          </p:cNvPr>
          <p:cNvSpPr>
            <a:spLocks xmlns:a="http://schemas.openxmlformats.org/drawingml/2006/main" noGrp="1"/>
          </p:cNvSpPr>
          <p:nvPr/>
        </p:nvSpPr>
        <p:spPr>
          <a:xfrm xmlns:a="http://schemas.openxmlformats.org/drawingml/2006/main">
            <a:off x="495300" y="1771650"/>
            <a:ext cx="4667250" cy="4000500"/>
          </a:xfrm>
          <a:prstGeom xmlns:a="http://schemas.openxmlformats.org/drawingml/2006/main" prst="roundRect">
            <a:avLst>
              <a:gd name="adj" fmla="val 3810"/>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82CCA71D-2D28-42AC-BC4C-5F334C948E41}"/>
              </a:ext>
            </a:extLst>
          </p:cNvPr>
          <p:cNvSpPr>
            <a:spLocks xmlns:a="http://schemas.openxmlformats.org/drawingml/2006/main" noGrp="1"/>
          </p:cNvSpPr>
          <p:nvPr/>
        </p:nvSpPr>
        <p:spPr>
          <a:xfrm xmlns:a="http://schemas.openxmlformats.org/drawingml/2006/main">
            <a:off x="742950" y="20002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725" b="1" i="0">
                <a:solidFill>
                  <a:srgbClr val="0B2545"/>
                </a:solidFill>
                <a:latin typeface="Aptos"/>
                <a:ea typeface="Aptos"/>
                <a:cs typeface="Aptos"/>
              </a:defRPr>
            </a:pPr>
            <a:r>
              <a:rPr sz="1725" b="1" i="0">
                <a:solidFill>
                  <a:srgbClr val="0B2545"/>
                </a:solidFill>
                <a:latin typeface="Aptos"/>
                <a:ea typeface="Aptos"/>
                <a:cs typeface="Aptos"/>
              </a:rPr>
              <a:t>Grille explicite — 4 × 25 points</a:t>
            </a:r>
          </a:p>
        </p:txBody>
      </p:sp>
      <p:sp>
        <p:nvSpPr>
          <p:cNvPr id="8" name="">
            <a:extLst xmlns:a="http://schemas.openxmlformats.org/drawingml/2006/main">
              <a:ext uri="{FF2B5EF4-FFF2-40B4-BE49-F238E27FC236}">
                <a16:creationId xmlns:a16="http://schemas.microsoft.com/office/drawing/2014/main" id="{C15DC0A9-FA49-4D90-BE49-A896926DEB77}"/>
              </a:ext>
            </a:extLst>
          </p:cNvPr>
          <p:cNvSpPr>
            <a:spLocks xmlns:a="http://schemas.openxmlformats.org/drawingml/2006/main" noGrp="1"/>
          </p:cNvSpPr>
          <p:nvPr/>
        </p:nvSpPr>
        <p:spPr>
          <a:xfrm xmlns:a="http://schemas.openxmlformats.org/drawingml/2006/main">
            <a:off x="742950" y="2628900"/>
            <a:ext cx="495300" cy="400050"/>
          </a:xfrm>
          <a:prstGeom xmlns:a="http://schemas.openxmlformats.org/drawingml/2006/main" prst="roundRect">
            <a:avLst>
              <a:gd name="adj" fmla="val 23810"/>
            </a:avLst>
          </a:prstGeom>
          <a:solidFill xmlns:a="http://schemas.openxmlformats.org/drawingml/2006/main">
            <a:srgbClr val="1D5AA6"/>
          </a:solidFill>
          <a:ln xmlns:a="http://schemas.openxmlformats.org/drawingml/2006/main" w="0">
            <a:solidFill>
              <a:srgbClr val="1D5AA6"/>
            </a:solidFill>
            <a:prstDash val="solid"/>
          </a:ln>
        </p:spPr>
      </p:sp>
      <p:sp>
        <p:nvSpPr>
          <p:cNvPr id="9" name="">
            <a:extLst xmlns:a="http://schemas.openxmlformats.org/drawingml/2006/main">
              <a:ext uri="{FF2B5EF4-FFF2-40B4-BE49-F238E27FC236}">
                <a16:creationId xmlns:a16="http://schemas.microsoft.com/office/drawing/2014/main" id="{7A77EE69-DADD-460B-81F0-72D089BDD4F1}"/>
              </a:ext>
            </a:extLst>
          </p:cNvPr>
          <p:cNvSpPr>
            <a:spLocks xmlns:a="http://schemas.openxmlformats.org/drawingml/2006/main" noGrp="1"/>
          </p:cNvSpPr>
          <p:nvPr/>
        </p:nvSpPr>
        <p:spPr>
          <a:xfrm xmlns:a="http://schemas.openxmlformats.org/drawingml/2006/main">
            <a:off x="742950" y="26479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75" b="1" i="0">
                <a:solidFill>
                  <a:srgbClr val="FFFFFF"/>
                </a:solidFill>
                <a:latin typeface="Aptos"/>
                <a:ea typeface="Aptos"/>
                <a:cs typeface="Aptos"/>
              </a:defRPr>
            </a:pPr>
            <a:r>
              <a:rPr sz="1275" b="1" i="0">
                <a:solidFill>
                  <a:srgbClr val="FFFFFF"/>
                </a:solidFill>
                <a:latin typeface="Aptos"/>
                <a:ea typeface="Aptos"/>
                <a:cs typeface="Aptos"/>
              </a:rPr>
              <a:t>25</a:t>
            </a:r>
          </a:p>
        </p:txBody>
      </p:sp>
      <p:sp>
        <p:nvSpPr>
          <p:cNvPr id="10" name="">
            <a:extLst xmlns:a="http://schemas.openxmlformats.org/drawingml/2006/main">
              <a:ext uri="{FF2B5EF4-FFF2-40B4-BE49-F238E27FC236}">
                <a16:creationId xmlns:a16="http://schemas.microsoft.com/office/drawing/2014/main" id="{FD0B6F52-CD28-49CC-AE66-F559AA606AC3}"/>
              </a:ext>
            </a:extLst>
          </p:cNvPr>
          <p:cNvSpPr>
            <a:spLocks xmlns:a="http://schemas.openxmlformats.org/drawingml/2006/main" noGrp="1"/>
          </p:cNvSpPr>
          <p:nvPr/>
        </p:nvSpPr>
        <p:spPr>
          <a:xfrm xmlns:a="http://schemas.openxmlformats.org/drawingml/2006/main">
            <a:off x="1409700" y="26289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l">
              <a:defRPr sz="1425" b="1" i="0">
                <a:solidFill>
                  <a:srgbClr val="0B2545"/>
                </a:solidFill>
                <a:latin typeface="Aptos"/>
                <a:ea typeface="Aptos"/>
                <a:cs typeface="Aptos"/>
              </a:defRPr>
            </a:pPr>
            <a:r>
              <a:rPr sz="1425" b="1" i="0">
                <a:solidFill>
                  <a:srgbClr val="0B2545"/>
                </a:solidFill>
                <a:latin typeface="Aptos"/>
                <a:ea typeface="Aptos"/>
                <a:cs typeface="Aptos"/>
              </a:rPr>
              <a:t>Adéquation</a:t>
            </a:r>
          </a:p>
        </p:txBody>
      </p:sp>
      <p:sp>
        <p:nvSpPr>
          <p:cNvPr id="11" name="">
            <a:extLst xmlns:a="http://schemas.openxmlformats.org/drawingml/2006/main">
              <a:ext uri="{FF2B5EF4-FFF2-40B4-BE49-F238E27FC236}">
                <a16:creationId xmlns:a16="http://schemas.microsoft.com/office/drawing/2014/main" id="{59129F14-8AB9-4C52-A6B6-12E8F0F46321}"/>
              </a:ext>
            </a:extLst>
          </p:cNvPr>
          <p:cNvSpPr>
            <a:spLocks xmlns:a="http://schemas.openxmlformats.org/drawingml/2006/main" noGrp="1"/>
          </p:cNvSpPr>
          <p:nvPr/>
        </p:nvSpPr>
        <p:spPr>
          <a:xfrm xmlns:a="http://schemas.openxmlformats.org/drawingml/2006/main">
            <a:off x="3028950" y="26479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200" b="0" i="0">
                <a:solidFill>
                  <a:srgbClr val="667085"/>
                </a:solidFill>
                <a:latin typeface="Aptos"/>
                <a:ea typeface="Aptos"/>
                <a:cs typeface="Aptos"/>
              </a:defRPr>
            </a:pPr>
            <a:r>
              <a:rPr sz="1200" b="0" i="0">
                <a:solidFill>
                  <a:srgbClr val="667085"/>
                </a:solidFill>
                <a:latin typeface="Aptos"/>
                <a:ea typeface="Aptos"/>
                <a:cs typeface="Aptos"/>
              </a:rPr>
              <a:t>capacité / domaine</a:t>
            </a:r>
          </a:p>
        </p:txBody>
      </p:sp>
      <p:sp>
        <p:nvSpPr>
          <p:cNvPr id="12" name="">
            <a:extLst xmlns:a="http://schemas.openxmlformats.org/drawingml/2006/main">
              <a:ext uri="{FF2B5EF4-FFF2-40B4-BE49-F238E27FC236}">
                <a16:creationId xmlns:a16="http://schemas.microsoft.com/office/drawing/2014/main" id="{952FD2CF-7C35-4977-AA4C-4CBF48113430}"/>
              </a:ext>
            </a:extLst>
          </p:cNvPr>
          <p:cNvSpPr>
            <a:spLocks xmlns:a="http://schemas.openxmlformats.org/drawingml/2006/main" noGrp="1"/>
          </p:cNvSpPr>
          <p:nvPr/>
        </p:nvSpPr>
        <p:spPr>
          <a:xfrm xmlns:a="http://schemas.openxmlformats.org/drawingml/2006/main">
            <a:off x="742950" y="3276600"/>
            <a:ext cx="495300" cy="400050"/>
          </a:xfrm>
          <a:prstGeom xmlns:a="http://schemas.openxmlformats.org/drawingml/2006/main" prst="roundRect">
            <a:avLst>
              <a:gd name="adj" fmla="val 23810"/>
            </a:avLst>
          </a:prstGeom>
          <a:solidFill xmlns:a="http://schemas.openxmlformats.org/drawingml/2006/main">
            <a:srgbClr val="2FB9DB"/>
          </a:solidFill>
          <a:ln xmlns:a="http://schemas.openxmlformats.org/drawingml/2006/main" w="0">
            <a:solidFill>
              <a:srgbClr val="2FB9DB"/>
            </a:solidFill>
            <a:prstDash val="solid"/>
          </a:ln>
        </p:spPr>
      </p:sp>
      <p:sp>
        <p:nvSpPr>
          <p:cNvPr id="13" name="">
            <a:extLst xmlns:a="http://schemas.openxmlformats.org/drawingml/2006/main">
              <a:ext uri="{FF2B5EF4-FFF2-40B4-BE49-F238E27FC236}">
                <a16:creationId xmlns:a16="http://schemas.microsoft.com/office/drawing/2014/main" id="{A9A27085-EE52-4204-AE58-D4FF07B0547B}"/>
              </a:ext>
            </a:extLst>
          </p:cNvPr>
          <p:cNvSpPr>
            <a:spLocks xmlns:a="http://schemas.openxmlformats.org/drawingml/2006/main" noGrp="1"/>
          </p:cNvSpPr>
          <p:nvPr/>
        </p:nvSpPr>
        <p:spPr>
          <a:xfrm xmlns:a="http://schemas.openxmlformats.org/drawingml/2006/main">
            <a:off x="742950" y="32956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75" b="1" i="0">
                <a:solidFill>
                  <a:srgbClr val="FFFFFF"/>
                </a:solidFill>
                <a:latin typeface="Aptos"/>
                <a:ea typeface="Aptos"/>
                <a:cs typeface="Aptos"/>
              </a:defRPr>
            </a:pPr>
            <a:r>
              <a:rPr sz="1275" b="1" i="0">
                <a:solidFill>
                  <a:srgbClr val="FFFFFF"/>
                </a:solidFill>
                <a:latin typeface="Aptos"/>
                <a:ea typeface="Aptos"/>
                <a:cs typeface="Aptos"/>
              </a:rPr>
              <a:t>25</a:t>
            </a:r>
          </a:p>
        </p:txBody>
      </p:sp>
      <p:sp>
        <p:nvSpPr>
          <p:cNvPr id="14" name="">
            <a:extLst xmlns:a="http://schemas.openxmlformats.org/drawingml/2006/main">
              <a:ext uri="{FF2B5EF4-FFF2-40B4-BE49-F238E27FC236}">
                <a16:creationId xmlns:a16="http://schemas.microsoft.com/office/drawing/2014/main" id="{D26EE47D-EA9B-4F63-871F-0C7472D3C935}"/>
              </a:ext>
            </a:extLst>
          </p:cNvPr>
          <p:cNvSpPr>
            <a:spLocks xmlns:a="http://schemas.openxmlformats.org/drawingml/2006/main" noGrp="1"/>
          </p:cNvSpPr>
          <p:nvPr/>
        </p:nvSpPr>
        <p:spPr>
          <a:xfrm xmlns:a="http://schemas.openxmlformats.org/drawingml/2006/main">
            <a:off x="1409700" y="32766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l">
              <a:defRPr sz="1425" b="1" i="0">
                <a:solidFill>
                  <a:srgbClr val="0B2545"/>
                </a:solidFill>
                <a:latin typeface="Aptos"/>
                <a:ea typeface="Aptos"/>
                <a:cs typeface="Aptos"/>
              </a:defRPr>
            </a:pPr>
            <a:r>
              <a:rPr sz="1425" b="1" i="0">
                <a:solidFill>
                  <a:srgbClr val="0B2545"/>
                </a:solidFill>
                <a:latin typeface="Aptos"/>
                <a:ea typeface="Aptos"/>
                <a:cs typeface="Aptos"/>
              </a:rPr>
              <a:t>Délai</a:t>
            </a:r>
          </a:p>
        </p:txBody>
      </p:sp>
      <p:sp>
        <p:nvSpPr>
          <p:cNvPr id="15" name="">
            <a:extLst xmlns:a="http://schemas.openxmlformats.org/drawingml/2006/main">
              <a:ext uri="{FF2B5EF4-FFF2-40B4-BE49-F238E27FC236}">
                <a16:creationId xmlns:a16="http://schemas.microsoft.com/office/drawing/2014/main" id="{74032B9F-76C9-4666-8182-287AA7CC3C73}"/>
              </a:ext>
            </a:extLst>
          </p:cNvPr>
          <p:cNvSpPr>
            <a:spLocks xmlns:a="http://schemas.openxmlformats.org/drawingml/2006/main" noGrp="1"/>
          </p:cNvSpPr>
          <p:nvPr/>
        </p:nvSpPr>
        <p:spPr>
          <a:xfrm xmlns:a="http://schemas.openxmlformats.org/drawingml/2006/main">
            <a:off x="3028950" y="32956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200" b="0" i="0">
                <a:solidFill>
                  <a:srgbClr val="667085"/>
                </a:solidFill>
                <a:latin typeface="Aptos"/>
                <a:ea typeface="Aptos"/>
                <a:cs typeface="Aptos"/>
              </a:defRPr>
            </a:pPr>
            <a:r>
              <a:rPr sz="1200" b="0" i="0">
                <a:solidFill>
                  <a:srgbClr val="667085"/>
                </a:solidFill>
                <a:latin typeface="Aptos"/>
                <a:ea typeface="Aptos"/>
                <a:cs typeface="Aptos"/>
              </a:rPr>
              <a:t>temps restant</a:t>
            </a:r>
          </a:p>
        </p:txBody>
      </p:sp>
      <p:sp>
        <p:nvSpPr>
          <p:cNvPr id="16" name="">
            <a:extLst xmlns:a="http://schemas.openxmlformats.org/drawingml/2006/main">
              <a:ext uri="{FF2B5EF4-FFF2-40B4-BE49-F238E27FC236}">
                <a16:creationId xmlns:a16="http://schemas.microsoft.com/office/drawing/2014/main" id="{BA11366E-0108-4523-8F9C-5DB2BCF90309}"/>
              </a:ext>
            </a:extLst>
          </p:cNvPr>
          <p:cNvSpPr>
            <a:spLocks xmlns:a="http://schemas.openxmlformats.org/drawingml/2006/main" noGrp="1"/>
          </p:cNvSpPr>
          <p:nvPr/>
        </p:nvSpPr>
        <p:spPr>
          <a:xfrm xmlns:a="http://schemas.openxmlformats.org/drawingml/2006/main">
            <a:off x="742950" y="3924300"/>
            <a:ext cx="495300" cy="400050"/>
          </a:xfrm>
          <a:prstGeom xmlns:a="http://schemas.openxmlformats.org/drawingml/2006/main" prst="roundRect">
            <a:avLst>
              <a:gd name="adj" fmla="val 23810"/>
            </a:avLst>
          </a:prstGeom>
          <a:solidFill xmlns:a="http://schemas.openxmlformats.org/drawingml/2006/main">
            <a:srgbClr val="D99520"/>
          </a:solidFill>
          <a:ln xmlns:a="http://schemas.openxmlformats.org/drawingml/2006/main" w="0">
            <a:solidFill>
              <a:srgbClr val="D99520"/>
            </a:solidFill>
            <a:prstDash val="solid"/>
          </a:ln>
        </p:spPr>
      </p:sp>
      <p:sp>
        <p:nvSpPr>
          <p:cNvPr id="17" name="">
            <a:extLst xmlns:a="http://schemas.openxmlformats.org/drawingml/2006/main">
              <a:ext uri="{FF2B5EF4-FFF2-40B4-BE49-F238E27FC236}">
                <a16:creationId xmlns:a16="http://schemas.microsoft.com/office/drawing/2014/main" id="{AD14980D-A3C2-4B42-B93D-D8B0DF5D293A}"/>
              </a:ext>
            </a:extLst>
          </p:cNvPr>
          <p:cNvSpPr>
            <a:spLocks xmlns:a="http://schemas.openxmlformats.org/drawingml/2006/main" noGrp="1"/>
          </p:cNvSpPr>
          <p:nvPr/>
        </p:nvSpPr>
        <p:spPr>
          <a:xfrm xmlns:a="http://schemas.openxmlformats.org/drawingml/2006/main">
            <a:off x="742950" y="39433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75" b="1" i="0">
                <a:solidFill>
                  <a:srgbClr val="FFFFFF"/>
                </a:solidFill>
                <a:latin typeface="Aptos"/>
                <a:ea typeface="Aptos"/>
                <a:cs typeface="Aptos"/>
              </a:defRPr>
            </a:pPr>
            <a:r>
              <a:rPr sz="1275" b="1" i="0">
                <a:solidFill>
                  <a:srgbClr val="FFFFFF"/>
                </a:solidFill>
                <a:latin typeface="Aptos"/>
                <a:ea typeface="Aptos"/>
                <a:cs typeface="Aptos"/>
              </a:rPr>
              <a:t>25</a:t>
            </a:r>
          </a:p>
        </p:txBody>
      </p:sp>
      <p:sp>
        <p:nvSpPr>
          <p:cNvPr id="18" name="">
            <a:extLst xmlns:a="http://schemas.openxmlformats.org/drawingml/2006/main">
              <a:ext uri="{FF2B5EF4-FFF2-40B4-BE49-F238E27FC236}">
                <a16:creationId xmlns:a16="http://schemas.microsoft.com/office/drawing/2014/main" id="{12413CD8-7AAA-4C0C-AE10-23BCA9E7D779}"/>
              </a:ext>
            </a:extLst>
          </p:cNvPr>
          <p:cNvSpPr>
            <a:spLocks xmlns:a="http://schemas.openxmlformats.org/drawingml/2006/main" noGrp="1"/>
          </p:cNvSpPr>
          <p:nvPr/>
        </p:nvSpPr>
        <p:spPr>
          <a:xfrm xmlns:a="http://schemas.openxmlformats.org/drawingml/2006/main">
            <a:off x="1409700" y="39243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l">
              <a:defRPr sz="1425" b="1" i="0">
                <a:solidFill>
                  <a:srgbClr val="0B2545"/>
                </a:solidFill>
                <a:latin typeface="Aptos"/>
                <a:ea typeface="Aptos"/>
                <a:cs typeface="Aptos"/>
              </a:defRPr>
            </a:pPr>
            <a:r>
              <a:rPr sz="1425" b="1" i="0">
                <a:solidFill>
                  <a:srgbClr val="0B2545"/>
                </a:solidFill>
                <a:latin typeface="Aptos"/>
                <a:ea typeface="Aptos"/>
                <a:cs typeface="Aptos"/>
              </a:rPr>
              <a:t>Administratif</a:t>
            </a:r>
          </a:p>
        </p:txBody>
      </p:sp>
      <p:sp>
        <p:nvSpPr>
          <p:cNvPr id="19" name="">
            <a:extLst xmlns:a="http://schemas.openxmlformats.org/drawingml/2006/main">
              <a:ext uri="{FF2B5EF4-FFF2-40B4-BE49-F238E27FC236}">
                <a16:creationId xmlns:a16="http://schemas.microsoft.com/office/drawing/2014/main" id="{522E594C-94FB-434C-9CBF-36D6BB4960F5}"/>
              </a:ext>
            </a:extLst>
          </p:cNvPr>
          <p:cNvSpPr>
            <a:spLocks xmlns:a="http://schemas.openxmlformats.org/drawingml/2006/main" noGrp="1"/>
          </p:cNvSpPr>
          <p:nvPr/>
        </p:nvSpPr>
        <p:spPr>
          <a:xfrm xmlns:a="http://schemas.openxmlformats.org/drawingml/2006/main">
            <a:off x="3028950" y="39433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200" b="0" i="0">
                <a:solidFill>
                  <a:srgbClr val="667085"/>
                </a:solidFill>
                <a:latin typeface="Aptos"/>
                <a:ea typeface="Aptos"/>
                <a:cs typeface="Aptos"/>
              </a:defRPr>
            </a:pPr>
            <a:r>
              <a:rPr sz="1200" b="0" i="0">
                <a:solidFill>
                  <a:srgbClr val="667085"/>
                </a:solidFill>
                <a:latin typeface="Aptos"/>
                <a:ea typeface="Aptos"/>
                <a:cs typeface="Aptos"/>
              </a:rPr>
              <a:t>pièces / conformité</a:t>
            </a:r>
          </a:p>
        </p:txBody>
      </p:sp>
      <p:sp>
        <p:nvSpPr>
          <p:cNvPr id="20" name="">
            <a:extLst xmlns:a="http://schemas.openxmlformats.org/drawingml/2006/main">
              <a:ext uri="{FF2B5EF4-FFF2-40B4-BE49-F238E27FC236}">
                <a16:creationId xmlns:a16="http://schemas.microsoft.com/office/drawing/2014/main" id="{76A0FE8D-9F93-4F15-84AA-56A944F91303}"/>
              </a:ext>
            </a:extLst>
          </p:cNvPr>
          <p:cNvSpPr>
            <a:spLocks xmlns:a="http://schemas.openxmlformats.org/drawingml/2006/main" noGrp="1"/>
          </p:cNvSpPr>
          <p:nvPr/>
        </p:nvSpPr>
        <p:spPr>
          <a:xfrm xmlns:a="http://schemas.openxmlformats.org/drawingml/2006/main">
            <a:off x="742950" y="4572000"/>
            <a:ext cx="495300" cy="400050"/>
          </a:xfrm>
          <a:prstGeom xmlns:a="http://schemas.openxmlformats.org/drawingml/2006/main" prst="roundRect">
            <a:avLst>
              <a:gd name="adj" fmla="val 23810"/>
            </a:avLst>
          </a:prstGeom>
          <a:solidFill xmlns:a="http://schemas.openxmlformats.org/drawingml/2006/main">
            <a:srgbClr val="C84B55"/>
          </a:solidFill>
          <a:ln xmlns:a="http://schemas.openxmlformats.org/drawingml/2006/main" w="0">
            <a:solidFill>
              <a:srgbClr val="C84B55"/>
            </a:solidFill>
            <a:prstDash val="solid"/>
          </a:ln>
        </p:spPr>
      </p:sp>
      <p:sp>
        <p:nvSpPr>
          <p:cNvPr id="21" name="">
            <a:extLst xmlns:a="http://schemas.openxmlformats.org/drawingml/2006/main">
              <a:ext uri="{FF2B5EF4-FFF2-40B4-BE49-F238E27FC236}">
                <a16:creationId xmlns:a16="http://schemas.microsoft.com/office/drawing/2014/main" id="{DAEEBE53-A3A7-40C1-9A51-1DFE17AE8D0E}"/>
              </a:ext>
            </a:extLst>
          </p:cNvPr>
          <p:cNvSpPr>
            <a:spLocks xmlns:a="http://schemas.openxmlformats.org/drawingml/2006/main" noGrp="1"/>
          </p:cNvSpPr>
          <p:nvPr/>
        </p:nvSpPr>
        <p:spPr>
          <a:xfrm xmlns:a="http://schemas.openxmlformats.org/drawingml/2006/main">
            <a:off x="742950" y="4591050"/>
            <a:ext cx="495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275" b="1" i="0">
                <a:solidFill>
                  <a:srgbClr val="FFFFFF"/>
                </a:solidFill>
                <a:latin typeface="Aptos"/>
                <a:ea typeface="Aptos"/>
                <a:cs typeface="Aptos"/>
              </a:defRPr>
            </a:pPr>
            <a:r>
              <a:rPr sz="1275" b="1" i="0">
                <a:solidFill>
                  <a:srgbClr val="FFFFFF"/>
                </a:solidFill>
                <a:latin typeface="Aptos"/>
                <a:ea typeface="Aptos"/>
                <a:cs typeface="Aptos"/>
              </a:rPr>
              <a:t>25</a:t>
            </a:r>
          </a:p>
        </p:txBody>
      </p:sp>
      <p:sp>
        <p:nvSpPr>
          <p:cNvPr id="22" name="">
            <a:extLst xmlns:a="http://schemas.openxmlformats.org/drawingml/2006/main">
              <a:ext uri="{FF2B5EF4-FFF2-40B4-BE49-F238E27FC236}">
                <a16:creationId xmlns:a16="http://schemas.microsoft.com/office/drawing/2014/main" id="{7239B92A-F5F2-4E76-ACAF-32405558E4E1}"/>
              </a:ext>
            </a:extLst>
          </p:cNvPr>
          <p:cNvSpPr>
            <a:spLocks xmlns:a="http://schemas.openxmlformats.org/drawingml/2006/main" noGrp="1"/>
          </p:cNvSpPr>
          <p:nvPr/>
        </p:nvSpPr>
        <p:spPr>
          <a:xfrm xmlns:a="http://schemas.openxmlformats.org/drawingml/2006/main">
            <a:off x="1409700" y="4572000"/>
            <a:ext cx="1619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l">
              <a:defRPr sz="1425" b="1" i="0">
                <a:solidFill>
                  <a:srgbClr val="0B2545"/>
                </a:solidFill>
                <a:latin typeface="Aptos"/>
                <a:ea typeface="Aptos"/>
                <a:cs typeface="Aptos"/>
              </a:defRPr>
            </a:pPr>
            <a:r>
              <a:rPr sz="1425" b="1" i="0">
                <a:solidFill>
                  <a:srgbClr val="0B2545"/>
                </a:solidFill>
                <a:latin typeface="Aptos"/>
                <a:ea typeface="Aptos"/>
                <a:cs typeface="Aptos"/>
              </a:rPr>
              <a:t>Risque</a:t>
            </a:r>
          </a:p>
        </p:txBody>
      </p:sp>
      <p:sp>
        <p:nvSpPr>
          <p:cNvPr id="23" name="">
            <a:extLst xmlns:a="http://schemas.openxmlformats.org/drawingml/2006/main">
              <a:ext uri="{FF2B5EF4-FFF2-40B4-BE49-F238E27FC236}">
                <a16:creationId xmlns:a16="http://schemas.microsoft.com/office/drawing/2014/main" id="{0D9CA68D-C843-4A63-B18B-BAE5FA4FB474}"/>
              </a:ext>
            </a:extLst>
          </p:cNvPr>
          <p:cNvSpPr>
            <a:spLocks xmlns:a="http://schemas.openxmlformats.org/drawingml/2006/main" noGrp="1"/>
          </p:cNvSpPr>
          <p:nvPr/>
        </p:nvSpPr>
        <p:spPr>
          <a:xfrm xmlns:a="http://schemas.openxmlformats.org/drawingml/2006/main">
            <a:off x="3028950" y="4591050"/>
            <a:ext cx="1809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200" b="0" i="0">
                <a:solidFill>
                  <a:srgbClr val="667085"/>
                </a:solidFill>
                <a:latin typeface="Aptos"/>
                <a:ea typeface="Aptos"/>
                <a:cs typeface="Aptos"/>
              </a:defRPr>
            </a:pPr>
            <a:r>
              <a:rPr sz="1200" b="0" i="0">
                <a:solidFill>
                  <a:srgbClr val="667085"/>
                </a:solidFill>
                <a:latin typeface="Aptos"/>
                <a:ea typeface="Aptos"/>
                <a:cs typeface="Aptos"/>
              </a:rPr>
              <a:t>ambiguïtés / exposition</a:t>
            </a:r>
          </a:p>
        </p:txBody>
      </p:sp>
      <p:sp>
        <p:nvSpPr>
          <p:cNvPr id="24" name="">
            <a:extLst xmlns:a="http://schemas.openxmlformats.org/drawingml/2006/main">
              <a:ext uri="{FF2B5EF4-FFF2-40B4-BE49-F238E27FC236}">
                <a16:creationId xmlns:a16="http://schemas.microsoft.com/office/drawing/2014/main" id="{34D9D67C-E670-4FE3-B78E-3BD3C8473261}"/>
              </a:ext>
            </a:extLst>
          </p:cNvPr>
          <p:cNvSpPr>
            <a:spLocks xmlns:a="http://schemas.openxmlformats.org/drawingml/2006/main" noGrp="1"/>
          </p:cNvSpPr>
          <p:nvPr/>
        </p:nvSpPr>
        <p:spPr>
          <a:xfrm xmlns:a="http://schemas.openxmlformats.org/drawingml/2006/main">
            <a:off x="5524500" y="1771650"/>
            <a:ext cx="6153150" cy="1885950"/>
          </a:xfrm>
          <a:prstGeom xmlns:a="http://schemas.openxmlformats.org/drawingml/2006/main" prst="roundRect">
            <a:avLst>
              <a:gd name="adj" fmla="val 8081"/>
            </a:avLst>
          </a:prstGeom>
          <a:solidFill xmlns:a="http://schemas.openxmlformats.org/drawingml/2006/main">
            <a:srgbClr val="0B2545"/>
          </a:solidFill>
          <a:ln xmlns:a="http://schemas.openxmlformats.org/drawingml/2006/main" w="0">
            <a:solidFill>
              <a:srgbClr val="0B2545"/>
            </a:solidFill>
            <a:prstDash val="solid"/>
          </a:ln>
        </p:spPr>
      </p:sp>
      <p:sp>
        <p:nvSpPr>
          <p:cNvPr id="25" name="">
            <a:extLst xmlns:a="http://schemas.openxmlformats.org/drawingml/2006/main">
              <a:ext uri="{FF2B5EF4-FFF2-40B4-BE49-F238E27FC236}">
                <a16:creationId xmlns:a16="http://schemas.microsoft.com/office/drawing/2014/main" id="{97BBD6A3-8D8A-4452-819D-171AD78D1AA1}"/>
              </a:ext>
            </a:extLst>
          </p:cNvPr>
          <p:cNvSpPr>
            <a:spLocks xmlns:a="http://schemas.openxmlformats.org/drawingml/2006/main" noGrp="1"/>
          </p:cNvSpPr>
          <p:nvPr/>
        </p:nvSpPr>
        <p:spPr>
          <a:xfrm xmlns:a="http://schemas.openxmlformats.org/drawingml/2006/main">
            <a:off x="5772150" y="1981200"/>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350" b="1" i="0">
                <a:solidFill>
                  <a:srgbClr val="2FB9DB"/>
                </a:solidFill>
                <a:latin typeface="Aptos"/>
                <a:ea typeface="Aptos"/>
                <a:cs typeface="Aptos"/>
              </a:defRPr>
            </a:pPr>
            <a:r>
              <a:rPr sz="1350" b="1" i="0">
                <a:solidFill>
                  <a:srgbClr val="2FB9DB"/>
                </a:solidFill>
                <a:latin typeface="Aptos"/>
                <a:ea typeface="Aptos"/>
                <a:cs typeface="Aptos"/>
              </a:rPr>
              <a:t>Sortie structurée</a:t>
            </a:r>
          </a:p>
        </p:txBody>
      </p:sp>
      <p:sp>
        <p:nvSpPr>
          <p:cNvPr id="26" name="">
            <a:extLst xmlns:a="http://schemas.openxmlformats.org/drawingml/2006/main">
              <a:ext uri="{FF2B5EF4-FFF2-40B4-BE49-F238E27FC236}">
                <a16:creationId xmlns:a16="http://schemas.microsoft.com/office/drawing/2014/main" id="{D682B1D4-6AE0-4C41-87E9-A028BA5956AD}"/>
              </a:ext>
            </a:extLst>
          </p:cNvPr>
          <p:cNvSpPr>
            <a:spLocks xmlns:a="http://schemas.openxmlformats.org/drawingml/2006/main" noGrp="1"/>
          </p:cNvSpPr>
          <p:nvPr/>
        </p:nvSpPr>
        <p:spPr>
          <a:xfrm xmlns:a="http://schemas.openxmlformats.org/drawingml/2006/main">
            <a:off x="5772150" y="2400300"/>
            <a:ext cx="53911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2100" b="1" i="0">
                <a:solidFill>
                  <a:srgbClr val="FFFFFF"/>
                </a:solidFill>
                <a:latin typeface="Aptos"/>
                <a:ea typeface="Aptos"/>
                <a:cs typeface="Aptos"/>
              </a:defRPr>
            </a:pPr>
            <a:r>
              <a:rPr sz="2100" b="1" i="0">
                <a:solidFill>
                  <a:srgbClr val="FFFFFF"/>
                </a:solidFill>
                <a:latin typeface="Aptos"/>
                <a:ea typeface="Aptos"/>
                <a:cs typeface="Aptos"/>
              </a:rPr>
              <a:t>9 sections · scores · décision · preuves · réserves</a:t>
            </a:r>
          </a:p>
        </p:txBody>
      </p:sp>
      <p:sp>
        <p:nvSpPr>
          <p:cNvPr id="27" name="">
            <a:extLst xmlns:a="http://schemas.openxmlformats.org/drawingml/2006/main">
              <a:ext uri="{FF2B5EF4-FFF2-40B4-BE49-F238E27FC236}">
                <a16:creationId xmlns:a16="http://schemas.microsoft.com/office/drawing/2014/main" id="{1BA1CB57-59E0-4910-8D05-36063FC28822}"/>
              </a:ext>
            </a:extLst>
          </p:cNvPr>
          <p:cNvSpPr>
            <a:spLocks xmlns:a="http://schemas.openxmlformats.org/drawingml/2006/main" noGrp="1"/>
          </p:cNvSpPr>
          <p:nvPr/>
        </p:nvSpPr>
        <p:spPr>
          <a:xfrm xmlns:a="http://schemas.openxmlformats.org/drawingml/2006/main">
            <a:off x="5772150" y="3143250"/>
            <a:ext cx="5391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039"/>
          </a:bodyPr>
          <a:lstStyle xmlns:a="http://schemas.openxmlformats.org/drawingml/2006/main"/>
          <a:p xmlns:a="http://schemas.openxmlformats.org/drawingml/2006/main">
            <a:pPr algn="l">
              <a:defRPr sz="1275" b="0" i="0">
                <a:solidFill>
                  <a:srgbClr val="D6E7F6"/>
                </a:solidFill>
                <a:latin typeface="Aptos"/>
                <a:ea typeface="Aptos"/>
                <a:cs typeface="Aptos"/>
              </a:defRPr>
            </a:pPr>
            <a:r>
              <a:rPr sz="1275" b="0" i="0">
                <a:solidFill>
                  <a:srgbClr val="D6E7F6"/>
                </a:solidFill>
                <a:latin typeface="Aptos"/>
                <a:ea typeface="Aptos"/>
                <a:cs typeface="Aptos"/>
              </a:rPr>
              <a:t>L’instantané et son empreinte sont persistés avec l’analyse.</a:t>
            </a:r>
          </a:p>
        </p:txBody>
      </p:sp>
      <p:sp>
        <p:nvSpPr>
          <p:cNvPr id="28" name="">
            <a:extLst xmlns:a="http://schemas.openxmlformats.org/drawingml/2006/main">
              <a:ext uri="{FF2B5EF4-FFF2-40B4-BE49-F238E27FC236}">
                <a16:creationId xmlns:a16="http://schemas.microsoft.com/office/drawing/2014/main" id="{9B49C1CB-4973-4D3C-B865-C8B3B06F8CEF}"/>
              </a:ext>
            </a:extLst>
          </p:cNvPr>
          <p:cNvSpPr>
            <a:spLocks xmlns:a="http://schemas.openxmlformats.org/drawingml/2006/main" noGrp="1"/>
          </p:cNvSpPr>
          <p:nvPr/>
        </p:nvSpPr>
        <p:spPr>
          <a:xfrm xmlns:a="http://schemas.openxmlformats.org/drawingml/2006/main">
            <a:off x="5524500" y="4000500"/>
            <a:ext cx="1866900" cy="876300"/>
          </a:xfrm>
          <a:prstGeom xmlns:a="http://schemas.openxmlformats.org/drawingml/2006/main" prst="roundRect">
            <a:avLst>
              <a:gd name="adj" fmla="val 17391"/>
            </a:avLst>
          </a:prstGeom>
          <a:solidFill xmlns:a="http://schemas.openxmlformats.org/drawingml/2006/main">
            <a:srgbClr val="FBEAEC"/>
          </a:solidFill>
          <a:ln xmlns:a="http://schemas.openxmlformats.org/drawingml/2006/main" w="9525">
            <a:solidFill>
              <a:srgbClr val="C84B55"/>
            </a:solidFill>
            <a:prstDash val="solid"/>
          </a:ln>
        </p:spPr>
      </p:sp>
      <p:sp>
        <p:nvSpPr>
          <p:cNvPr id="29" name="">
            <a:extLst xmlns:a="http://schemas.openxmlformats.org/drawingml/2006/main">
              <a:ext uri="{FF2B5EF4-FFF2-40B4-BE49-F238E27FC236}">
                <a16:creationId xmlns:a16="http://schemas.microsoft.com/office/drawing/2014/main" id="{A2610248-A363-4474-91FA-C318B53B0BEC}"/>
              </a:ext>
            </a:extLst>
          </p:cNvPr>
          <p:cNvSpPr>
            <a:spLocks xmlns:a="http://schemas.openxmlformats.org/drawingml/2006/main" noGrp="1"/>
          </p:cNvSpPr>
          <p:nvPr/>
        </p:nvSpPr>
        <p:spPr>
          <a:xfrm xmlns:a="http://schemas.openxmlformats.org/drawingml/2006/main">
            <a:off x="5638800" y="4171950"/>
            <a:ext cx="1638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3333"/>
          </a:bodyPr>
          <a:lstStyle xmlns:a="http://schemas.openxmlformats.org/drawingml/2006/main"/>
          <a:p xmlns:a="http://schemas.openxmlformats.org/drawingml/2006/main">
            <a:pPr algn="ctr">
              <a:defRPr sz="1350" b="1" i="0">
                <a:solidFill>
                  <a:srgbClr val="C84B55"/>
                </a:solidFill>
                <a:latin typeface="Aptos"/>
                <a:ea typeface="Aptos"/>
                <a:cs typeface="Aptos"/>
              </a:defRPr>
            </a:pPr>
            <a:r>
              <a:rPr sz="1350" b="1" i="0">
                <a:solidFill>
                  <a:srgbClr val="C84B55"/>
                </a:solidFill>
                <a:latin typeface="Aptos"/>
                <a:ea typeface="Aptos"/>
                <a:cs typeface="Aptos"/>
              </a:rPr>
              <a:t>NO_GO</a:t>
            </a:r>
          </a:p>
        </p:txBody>
      </p:sp>
      <p:sp>
        <p:nvSpPr>
          <p:cNvPr id="30" name="">
            <a:extLst xmlns:a="http://schemas.openxmlformats.org/drawingml/2006/main">
              <a:ext uri="{FF2B5EF4-FFF2-40B4-BE49-F238E27FC236}">
                <a16:creationId xmlns:a16="http://schemas.microsoft.com/office/drawing/2014/main" id="{9A619D49-89F4-4632-BE92-EC720C050B3A}"/>
              </a:ext>
            </a:extLst>
          </p:cNvPr>
          <p:cNvSpPr>
            <a:spLocks xmlns:a="http://schemas.openxmlformats.org/drawingml/2006/main" noGrp="1"/>
          </p:cNvSpPr>
          <p:nvPr/>
        </p:nvSpPr>
        <p:spPr>
          <a:xfrm xmlns:a="http://schemas.openxmlformats.org/drawingml/2006/main">
            <a:off x="5638800" y="4495800"/>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2917"/>
          </a:bodyPr>
          <a:lstStyle xmlns:a="http://schemas.openxmlformats.org/drawingml/2006/main"/>
          <a:p xmlns:a="http://schemas.openxmlformats.org/drawingml/2006/main">
            <a:pPr algn="ctr">
              <a:defRPr sz="1200" b="0" i="0">
                <a:solidFill>
                  <a:srgbClr val="0B2545"/>
                </a:solidFill>
                <a:latin typeface="Aptos"/>
                <a:ea typeface="Aptos"/>
                <a:cs typeface="Aptos"/>
              </a:defRPr>
            </a:pPr>
            <a:r>
              <a:rPr sz="1200" b="0" i="0">
                <a:solidFill>
                  <a:srgbClr val="0B2545"/>
                </a:solidFill>
                <a:latin typeface="Aptos"/>
                <a:ea typeface="Aptos"/>
                <a:cs typeface="Aptos"/>
              </a:rPr>
              <a:t>&lt; 45</a:t>
            </a:r>
          </a:p>
        </p:txBody>
      </p:sp>
      <p:sp>
        <p:nvSpPr>
          <p:cNvPr id="31" name="">
            <a:extLst xmlns:a="http://schemas.openxmlformats.org/drawingml/2006/main">
              <a:ext uri="{FF2B5EF4-FFF2-40B4-BE49-F238E27FC236}">
                <a16:creationId xmlns:a16="http://schemas.microsoft.com/office/drawing/2014/main" id="{B8B2DDBD-B3E3-4E49-B339-3845BA9EE49C}"/>
              </a:ext>
            </a:extLst>
          </p:cNvPr>
          <p:cNvSpPr>
            <a:spLocks xmlns:a="http://schemas.openxmlformats.org/drawingml/2006/main" noGrp="1"/>
          </p:cNvSpPr>
          <p:nvPr/>
        </p:nvSpPr>
        <p:spPr>
          <a:xfrm xmlns:a="http://schemas.openxmlformats.org/drawingml/2006/main">
            <a:off x="7524750" y="4000500"/>
            <a:ext cx="1866900" cy="876300"/>
          </a:xfrm>
          <a:prstGeom xmlns:a="http://schemas.openxmlformats.org/drawingml/2006/main" prst="roundRect">
            <a:avLst>
              <a:gd name="adj" fmla="val 17391"/>
            </a:avLst>
          </a:prstGeom>
          <a:solidFill xmlns:a="http://schemas.openxmlformats.org/drawingml/2006/main">
            <a:srgbClr val="FFF4D8"/>
          </a:solidFill>
          <a:ln xmlns:a="http://schemas.openxmlformats.org/drawingml/2006/main" w="9525">
            <a:solidFill>
              <a:srgbClr val="D99520"/>
            </a:solidFill>
            <a:prstDash val="solid"/>
          </a:ln>
        </p:spPr>
      </p:sp>
      <p:sp>
        <p:nvSpPr>
          <p:cNvPr id="32" name="">
            <a:extLst xmlns:a="http://schemas.openxmlformats.org/drawingml/2006/main">
              <a:ext uri="{FF2B5EF4-FFF2-40B4-BE49-F238E27FC236}">
                <a16:creationId xmlns:a16="http://schemas.microsoft.com/office/drawing/2014/main" id="{779D1F49-52C3-4EA8-8348-C8C228118047}"/>
              </a:ext>
            </a:extLst>
          </p:cNvPr>
          <p:cNvSpPr>
            <a:spLocks xmlns:a="http://schemas.openxmlformats.org/drawingml/2006/main" noGrp="1"/>
          </p:cNvSpPr>
          <p:nvPr/>
        </p:nvSpPr>
        <p:spPr>
          <a:xfrm xmlns:a="http://schemas.openxmlformats.org/drawingml/2006/main">
            <a:off x="7639050" y="4171950"/>
            <a:ext cx="1638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3333"/>
          </a:bodyPr>
          <a:lstStyle xmlns:a="http://schemas.openxmlformats.org/drawingml/2006/main"/>
          <a:p xmlns:a="http://schemas.openxmlformats.org/drawingml/2006/main">
            <a:pPr algn="ctr">
              <a:defRPr sz="1350" b="1" i="0">
                <a:solidFill>
                  <a:srgbClr val="D99520"/>
                </a:solidFill>
                <a:latin typeface="Aptos"/>
                <a:ea typeface="Aptos"/>
                <a:cs typeface="Aptos"/>
              </a:defRPr>
            </a:pPr>
            <a:r>
              <a:rPr sz="1350" b="1" i="0">
                <a:solidFill>
                  <a:srgbClr val="D99520"/>
                </a:solidFill>
                <a:latin typeface="Aptos"/>
                <a:ea typeface="Aptos"/>
                <a:cs typeface="Aptos"/>
              </a:rPr>
              <a:t>À DISCUTER</a:t>
            </a:r>
          </a:p>
        </p:txBody>
      </p:sp>
      <p:sp>
        <p:nvSpPr>
          <p:cNvPr id="33" name="">
            <a:extLst xmlns:a="http://schemas.openxmlformats.org/drawingml/2006/main">
              <a:ext uri="{FF2B5EF4-FFF2-40B4-BE49-F238E27FC236}">
                <a16:creationId xmlns:a16="http://schemas.microsoft.com/office/drawing/2014/main" id="{F6890C10-8BBE-43F0-895D-7115006664E0}"/>
              </a:ext>
            </a:extLst>
          </p:cNvPr>
          <p:cNvSpPr>
            <a:spLocks xmlns:a="http://schemas.openxmlformats.org/drawingml/2006/main" noGrp="1"/>
          </p:cNvSpPr>
          <p:nvPr/>
        </p:nvSpPr>
        <p:spPr>
          <a:xfrm xmlns:a="http://schemas.openxmlformats.org/drawingml/2006/main">
            <a:off x="7639050" y="4495800"/>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2917"/>
          </a:bodyPr>
          <a:lstStyle xmlns:a="http://schemas.openxmlformats.org/drawingml/2006/main"/>
          <a:p xmlns:a="http://schemas.openxmlformats.org/drawingml/2006/main">
            <a:pPr algn="ctr">
              <a:defRPr sz="1200" b="0" i="0">
                <a:solidFill>
                  <a:srgbClr val="0B2545"/>
                </a:solidFill>
                <a:latin typeface="Aptos"/>
                <a:ea typeface="Aptos"/>
                <a:cs typeface="Aptos"/>
              </a:defRPr>
            </a:pPr>
            <a:r>
              <a:rPr sz="1200" b="0" i="0">
                <a:solidFill>
                  <a:srgbClr val="0B2545"/>
                </a:solidFill>
                <a:latin typeface="Aptos"/>
                <a:ea typeface="Aptos"/>
                <a:cs typeface="Aptos"/>
              </a:rPr>
              <a:t>45–69</a:t>
            </a:r>
          </a:p>
        </p:txBody>
      </p:sp>
      <p:sp>
        <p:nvSpPr>
          <p:cNvPr id="34" name="">
            <a:extLst xmlns:a="http://schemas.openxmlformats.org/drawingml/2006/main">
              <a:ext uri="{FF2B5EF4-FFF2-40B4-BE49-F238E27FC236}">
                <a16:creationId xmlns:a16="http://schemas.microsoft.com/office/drawing/2014/main" id="{CDCBFDDA-3D6C-467F-B689-4FCA373C1112}"/>
              </a:ext>
            </a:extLst>
          </p:cNvPr>
          <p:cNvSpPr>
            <a:spLocks xmlns:a="http://schemas.openxmlformats.org/drawingml/2006/main" noGrp="1"/>
          </p:cNvSpPr>
          <p:nvPr/>
        </p:nvSpPr>
        <p:spPr>
          <a:xfrm xmlns:a="http://schemas.openxmlformats.org/drawingml/2006/main">
            <a:off x="9525000" y="4000500"/>
            <a:ext cx="1866900" cy="876300"/>
          </a:xfrm>
          <a:prstGeom xmlns:a="http://schemas.openxmlformats.org/drawingml/2006/main" prst="roundRect">
            <a:avLst>
              <a:gd name="adj" fmla="val 17391"/>
            </a:avLst>
          </a:prstGeom>
          <a:solidFill xmlns:a="http://schemas.openxmlformats.org/drawingml/2006/main">
            <a:srgbClr val="E6F5EE"/>
          </a:solidFill>
          <a:ln xmlns:a="http://schemas.openxmlformats.org/drawingml/2006/main" w="9525">
            <a:solidFill>
              <a:srgbClr val="2E9D69"/>
            </a:solidFill>
            <a:prstDash val="solid"/>
          </a:ln>
        </p:spPr>
      </p:sp>
      <p:sp>
        <p:nvSpPr>
          <p:cNvPr id="35" name="">
            <a:extLst xmlns:a="http://schemas.openxmlformats.org/drawingml/2006/main">
              <a:ext uri="{FF2B5EF4-FFF2-40B4-BE49-F238E27FC236}">
                <a16:creationId xmlns:a16="http://schemas.microsoft.com/office/drawing/2014/main" id="{C3333665-EDE5-4016-9E84-1A8F9859DD23}"/>
              </a:ext>
            </a:extLst>
          </p:cNvPr>
          <p:cNvSpPr>
            <a:spLocks xmlns:a="http://schemas.openxmlformats.org/drawingml/2006/main" noGrp="1"/>
          </p:cNvSpPr>
          <p:nvPr/>
        </p:nvSpPr>
        <p:spPr>
          <a:xfrm xmlns:a="http://schemas.openxmlformats.org/drawingml/2006/main">
            <a:off x="9639300" y="4171950"/>
            <a:ext cx="16383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3333"/>
          </a:bodyPr>
          <a:lstStyle xmlns:a="http://schemas.openxmlformats.org/drawingml/2006/main"/>
          <a:p xmlns:a="http://schemas.openxmlformats.org/drawingml/2006/main">
            <a:pPr algn="ctr">
              <a:defRPr sz="1350" b="1" i="0">
                <a:solidFill>
                  <a:srgbClr val="2E9D69"/>
                </a:solidFill>
                <a:latin typeface="Aptos"/>
                <a:ea typeface="Aptos"/>
                <a:cs typeface="Aptos"/>
              </a:defRPr>
            </a:pPr>
            <a:r>
              <a:rPr sz="1350" b="1" i="0">
                <a:solidFill>
                  <a:srgbClr val="2E9D69"/>
                </a:solidFill>
                <a:latin typeface="Aptos"/>
                <a:ea typeface="Aptos"/>
                <a:cs typeface="Aptos"/>
              </a:rPr>
              <a:t>GO</a:t>
            </a:r>
          </a:p>
        </p:txBody>
      </p:sp>
      <p:sp>
        <p:nvSpPr>
          <p:cNvPr id="36" name="">
            <a:extLst xmlns:a="http://schemas.openxmlformats.org/drawingml/2006/main">
              <a:ext uri="{FF2B5EF4-FFF2-40B4-BE49-F238E27FC236}">
                <a16:creationId xmlns:a16="http://schemas.microsoft.com/office/drawing/2014/main" id="{59B3E4DA-A7AE-46F3-A73D-928105038D8F}"/>
              </a:ext>
            </a:extLst>
          </p:cNvPr>
          <p:cNvSpPr>
            <a:spLocks xmlns:a="http://schemas.openxmlformats.org/drawingml/2006/main" noGrp="1"/>
          </p:cNvSpPr>
          <p:nvPr/>
        </p:nvSpPr>
        <p:spPr>
          <a:xfrm xmlns:a="http://schemas.openxmlformats.org/drawingml/2006/main">
            <a:off x="9639300" y="4495800"/>
            <a:ext cx="1638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72917"/>
          </a:bodyPr>
          <a:lstStyle xmlns:a="http://schemas.openxmlformats.org/drawingml/2006/main"/>
          <a:p xmlns:a="http://schemas.openxmlformats.org/drawingml/2006/main">
            <a:pPr algn="ctr">
              <a:defRPr sz="1200" b="0" i="0">
                <a:solidFill>
                  <a:srgbClr val="0B2545"/>
                </a:solidFill>
                <a:latin typeface="Aptos"/>
                <a:ea typeface="Aptos"/>
                <a:cs typeface="Aptos"/>
              </a:defRPr>
            </a:pPr>
            <a:r>
              <a:rPr sz="1200" b="0" i="0">
                <a:solidFill>
                  <a:srgbClr val="0B2545"/>
                </a:solidFill>
                <a:latin typeface="Aptos"/>
                <a:ea typeface="Aptos"/>
                <a:cs typeface="Aptos"/>
              </a:rPr>
              <a:t>≥ 70</a:t>
            </a:r>
          </a:p>
        </p:txBody>
      </p:sp>
      <p:sp>
        <p:nvSpPr>
          <p:cNvPr id="37" name="">
            <a:extLst xmlns:a="http://schemas.openxmlformats.org/drawingml/2006/main">
              <a:ext uri="{FF2B5EF4-FFF2-40B4-BE49-F238E27FC236}">
                <a16:creationId xmlns:a16="http://schemas.microsoft.com/office/drawing/2014/main" id="{C0985F09-8607-460A-92F4-D4D643F614F1}"/>
              </a:ext>
            </a:extLst>
          </p:cNvPr>
          <p:cNvSpPr>
            <a:spLocks xmlns:a="http://schemas.openxmlformats.org/drawingml/2006/main" noGrp="1"/>
          </p:cNvSpPr>
          <p:nvPr/>
        </p:nvSpPr>
        <p:spPr>
          <a:xfrm xmlns:a="http://schemas.openxmlformats.org/drawingml/2006/main">
            <a:off x="6667500" y="5219700"/>
            <a:ext cx="3848100" cy="361950"/>
          </a:xfrm>
          <a:prstGeom xmlns:a="http://schemas.openxmlformats.org/drawingml/2006/main" prst="roundRect">
            <a:avLst>
              <a:gd name="adj" fmla="val 50000"/>
            </a:avLst>
          </a:prstGeom>
          <a:solidFill xmlns:a="http://schemas.openxmlformats.org/drawingml/2006/main">
            <a:srgbClr val="FBEAEC"/>
          </a:solidFill>
          <a:ln xmlns:a="http://schemas.openxmlformats.org/drawingml/2006/main" w="9525">
            <a:solidFill>
              <a:srgbClr val="C84B55"/>
            </a:solidFill>
            <a:prstDash val="solid"/>
          </a:ln>
        </p:spPr>
      </p:sp>
      <p:sp>
        <p:nvSpPr>
          <p:cNvPr id="38" name="">
            <a:extLst xmlns:a="http://schemas.openxmlformats.org/drawingml/2006/main">
              <a:ext uri="{FF2B5EF4-FFF2-40B4-BE49-F238E27FC236}">
                <a16:creationId xmlns:a16="http://schemas.microsoft.com/office/drawing/2014/main" id="{8624BC8A-EA5B-41FD-ABF0-E07C150DE475}"/>
              </a:ext>
            </a:extLst>
          </p:cNvPr>
          <p:cNvSpPr>
            <a:spLocks xmlns:a="http://schemas.openxmlformats.org/drawingml/2006/main" noGrp="1"/>
          </p:cNvSpPr>
          <p:nvPr/>
        </p:nvSpPr>
        <p:spPr>
          <a:xfrm xmlns:a="http://schemas.openxmlformats.org/drawingml/2006/main">
            <a:off x="6705600" y="5229225"/>
            <a:ext cx="3771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75" b="1" i="0">
                <a:solidFill>
                  <a:srgbClr val="C84B55"/>
                </a:solidFill>
                <a:latin typeface="Aptos"/>
                <a:ea typeface="Aptos"/>
                <a:cs typeface="Aptos"/>
              </a:defRPr>
            </a:pPr>
            <a:r>
              <a:rPr sz="1275" b="1" i="0">
                <a:solidFill>
                  <a:srgbClr val="C84B55"/>
                </a:solidFill>
                <a:latin typeface="Aptos"/>
                <a:ea typeface="Aptos"/>
                <a:cs typeface="Aptos"/>
              </a:rPr>
              <a:t>Contexte incomplet  ⇒  aucun GO définitif</a:t>
            </a:r>
          </a:p>
        </p:txBody>
      </p:sp>
    </p:spTree>
    <p:extLst>
      <p:ext uri="{BB962C8B-B14F-4D97-AF65-F5344CB8AC3E}">
        <p14:creationId xmlns:p14="http://schemas.microsoft.com/office/powerpoint/2010/main" val="470848074"/>
      </p:ext>
    </p:extLst>
  </p:cSld>
</p:sld>
</file>

<file path=ppt/slides/slide10.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D1C0EB92-F0DA-43DF-A294-127C27DC67D9}"/>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SÉQUENCE 1</a:t>
            </a:r>
          </a:p>
        </p:txBody>
      </p:sp>
      <p:sp>
        <p:nvSpPr>
          <p:cNvPr id="2" name="">
            <a:extLst xmlns:a="http://schemas.openxmlformats.org/drawingml/2006/main">
              <a:ext uri="{FF2B5EF4-FFF2-40B4-BE49-F238E27FC236}">
                <a16:creationId xmlns:a16="http://schemas.microsoft.com/office/drawing/2014/main" id="{ADE6212F-4CA4-4BA1-8AD8-EC41069B7E2D}"/>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15"/>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Exécution quotidienne : collecter, analyser, diffuser — une seule fois</a:t>
            </a:r>
          </a:p>
        </p:txBody>
      </p:sp>
      <p:sp>
        <p:nvSpPr>
          <p:cNvPr id="3" name="">
            <a:extLst xmlns:a="http://schemas.openxmlformats.org/drawingml/2006/main">
              <a:ext uri="{FF2B5EF4-FFF2-40B4-BE49-F238E27FC236}">
                <a16:creationId xmlns:a16="http://schemas.microsoft.com/office/drawing/2014/main" id="{1F461ADD-8B96-47CF-93A2-191726572B07}"/>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6188C61D-1C59-4A62-A6E1-385577C7D5AA}"/>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DD3FF99D-F5A2-48D5-B94A-F1853AFD6552}"/>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10</a:t>
            </a:r>
          </a:p>
        </p:txBody>
      </p:sp>
      <p:sp>
        <p:nvSpPr>
          <p:cNvPr id="6" name="">
            <a:extLst xmlns:a="http://schemas.openxmlformats.org/drawingml/2006/main">
              <a:ext uri="{FF2B5EF4-FFF2-40B4-BE49-F238E27FC236}">
                <a16:creationId xmlns:a16="http://schemas.microsoft.com/office/drawing/2014/main" id="{E47B7FD6-67DC-4C53-A056-FDF5C53E5AE6}"/>
              </a:ext>
            </a:extLst>
          </p:cNvPr>
          <p:cNvSpPr>
            <a:spLocks xmlns:a="http://schemas.openxmlformats.org/drawingml/2006/main" noGrp="1"/>
          </p:cNvSpPr>
          <p:nvPr/>
        </p:nvSpPr>
        <p:spPr>
          <a:xfrm xmlns:a="http://schemas.openxmlformats.org/drawingml/2006/main">
            <a:off x="723900" y="1714500"/>
            <a:ext cx="131445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7" name="">
            <a:extLst xmlns:a="http://schemas.openxmlformats.org/drawingml/2006/main">
              <a:ext uri="{FF2B5EF4-FFF2-40B4-BE49-F238E27FC236}">
                <a16:creationId xmlns:a16="http://schemas.microsoft.com/office/drawing/2014/main" id="{567F1934-01CE-40AD-8CD0-AFC3F16FA77B}"/>
              </a:ext>
            </a:extLst>
          </p:cNvPr>
          <p:cNvSpPr>
            <a:spLocks xmlns:a="http://schemas.openxmlformats.org/drawingml/2006/main" noGrp="1"/>
          </p:cNvSpPr>
          <p:nvPr/>
        </p:nvSpPr>
        <p:spPr>
          <a:xfrm xmlns:a="http://schemas.openxmlformats.org/drawingml/2006/main">
            <a:off x="800100" y="1809750"/>
            <a:ext cx="1162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n8n</a:t>
            </a:r>
          </a:p>
        </p:txBody>
      </p:sp>
      <p:sp>
        <p:nvSpPr>
          <p:cNvPr id="8" name="">
            <a:extLst xmlns:a="http://schemas.openxmlformats.org/drawingml/2006/main">
              <a:ext uri="{FF2B5EF4-FFF2-40B4-BE49-F238E27FC236}">
                <a16:creationId xmlns:a16="http://schemas.microsoft.com/office/drawing/2014/main" id="{24FB0390-257A-461D-A38F-9C245B1B14FB}"/>
              </a:ext>
            </a:extLst>
          </p:cNvPr>
          <p:cNvSpPr>
            <a:spLocks xmlns:a="http://schemas.openxmlformats.org/drawingml/2006/main" noGrp="1"/>
          </p:cNvSpPr>
          <p:nvPr/>
        </p:nvSpPr>
        <p:spPr>
          <a:xfrm xmlns:a="http://schemas.openxmlformats.org/drawingml/2006/main">
            <a:off x="1381125" y="2171700"/>
            <a:ext cx="0" cy="361950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9" name="">
            <a:extLst xmlns:a="http://schemas.openxmlformats.org/drawingml/2006/main">
              <a:ext uri="{FF2B5EF4-FFF2-40B4-BE49-F238E27FC236}">
                <a16:creationId xmlns:a16="http://schemas.microsoft.com/office/drawing/2014/main" id="{6D79C730-C9B8-4925-B79C-5C1879457E17}"/>
              </a:ext>
            </a:extLst>
          </p:cNvPr>
          <p:cNvSpPr>
            <a:spLocks xmlns:a="http://schemas.openxmlformats.org/drawingml/2006/main" noGrp="1"/>
          </p:cNvSpPr>
          <p:nvPr/>
        </p:nvSpPr>
        <p:spPr>
          <a:xfrm xmlns:a="http://schemas.openxmlformats.org/drawingml/2006/main">
            <a:off x="2609850" y="1714500"/>
            <a:ext cx="131445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0" name="">
            <a:extLst xmlns:a="http://schemas.openxmlformats.org/drawingml/2006/main">
              <a:ext uri="{FF2B5EF4-FFF2-40B4-BE49-F238E27FC236}">
                <a16:creationId xmlns:a16="http://schemas.microsoft.com/office/drawing/2014/main" id="{09CF6688-ECB5-423C-960B-43C7C26CCA33}"/>
              </a:ext>
            </a:extLst>
          </p:cNvPr>
          <p:cNvSpPr>
            <a:spLocks xmlns:a="http://schemas.openxmlformats.org/drawingml/2006/main" noGrp="1"/>
          </p:cNvSpPr>
          <p:nvPr/>
        </p:nvSpPr>
        <p:spPr>
          <a:xfrm xmlns:a="http://schemas.openxmlformats.org/drawingml/2006/main">
            <a:off x="2686050" y="1809750"/>
            <a:ext cx="1162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Worker</a:t>
            </a:r>
          </a:p>
        </p:txBody>
      </p:sp>
      <p:sp>
        <p:nvSpPr>
          <p:cNvPr id="11" name="">
            <a:extLst xmlns:a="http://schemas.openxmlformats.org/drawingml/2006/main">
              <a:ext uri="{FF2B5EF4-FFF2-40B4-BE49-F238E27FC236}">
                <a16:creationId xmlns:a16="http://schemas.microsoft.com/office/drawing/2014/main" id="{4729E2F6-5A01-4893-8490-8DBB9C61579C}"/>
              </a:ext>
            </a:extLst>
          </p:cNvPr>
          <p:cNvSpPr>
            <a:spLocks xmlns:a="http://schemas.openxmlformats.org/drawingml/2006/main" noGrp="1"/>
          </p:cNvSpPr>
          <p:nvPr/>
        </p:nvSpPr>
        <p:spPr>
          <a:xfrm xmlns:a="http://schemas.openxmlformats.org/drawingml/2006/main">
            <a:off x="3267075" y="2171700"/>
            <a:ext cx="0" cy="361950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12" name="">
            <a:extLst xmlns:a="http://schemas.openxmlformats.org/drawingml/2006/main">
              <a:ext uri="{FF2B5EF4-FFF2-40B4-BE49-F238E27FC236}">
                <a16:creationId xmlns:a16="http://schemas.microsoft.com/office/drawing/2014/main" id="{263DAE39-42BA-4AB4-940E-D36C1989EE5C}"/>
              </a:ext>
            </a:extLst>
          </p:cNvPr>
          <p:cNvSpPr>
            <a:spLocks xmlns:a="http://schemas.openxmlformats.org/drawingml/2006/main" noGrp="1"/>
          </p:cNvSpPr>
          <p:nvPr/>
        </p:nvSpPr>
        <p:spPr>
          <a:xfrm xmlns:a="http://schemas.openxmlformats.org/drawingml/2006/main">
            <a:off x="4495800" y="1714500"/>
            <a:ext cx="131445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3" name="">
            <a:extLst xmlns:a="http://schemas.openxmlformats.org/drawingml/2006/main">
              <a:ext uri="{FF2B5EF4-FFF2-40B4-BE49-F238E27FC236}">
                <a16:creationId xmlns:a16="http://schemas.microsoft.com/office/drawing/2014/main" id="{365FD2BD-CDEC-4380-BB96-4556133DDD7E}"/>
              </a:ext>
            </a:extLst>
          </p:cNvPr>
          <p:cNvSpPr>
            <a:spLocks xmlns:a="http://schemas.openxmlformats.org/drawingml/2006/main" noGrp="1"/>
          </p:cNvSpPr>
          <p:nvPr/>
        </p:nvSpPr>
        <p:spPr>
          <a:xfrm xmlns:a="http://schemas.openxmlformats.org/drawingml/2006/main">
            <a:off x="4572000" y="1809750"/>
            <a:ext cx="1162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HAICOP</a:t>
            </a:r>
          </a:p>
        </p:txBody>
      </p:sp>
      <p:sp>
        <p:nvSpPr>
          <p:cNvPr id="14" name="">
            <a:extLst xmlns:a="http://schemas.openxmlformats.org/drawingml/2006/main">
              <a:ext uri="{FF2B5EF4-FFF2-40B4-BE49-F238E27FC236}">
                <a16:creationId xmlns:a16="http://schemas.microsoft.com/office/drawing/2014/main" id="{5FA30422-AC8A-41CA-9300-9B63AF9DD66A}"/>
              </a:ext>
            </a:extLst>
          </p:cNvPr>
          <p:cNvSpPr>
            <a:spLocks xmlns:a="http://schemas.openxmlformats.org/drawingml/2006/main" noGrp="1"/>
          </p:cNvSpPr>
          <p:nvPr/>
        </p:nvSpPr>
        <p:spPr>
          <a:xfrm xmlns:a="http://schemas.openxmlformats.org/drawingml/2006/main">
            <a:off x="5153025" y="2171700"/>
            <a:ext cx="0" cy="361950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15" name="">
            <a:extLst xmlns:a="http://schemas.openxmlformats.org/drawingml/2006/main">
              <a:ext uri="{FF2B5EF4-FFF2-40B4-BE49-F238E27FC236}">
                <a16:creationId xmlns:a16="http://schemas.microsoft.com/office/drawing/2014/main" id="{A8DE9F80-9FF2-4726-B986-EF0C07688E37}"/>
              </a:ext>
            </a:extLst>
          </p:cNvPr>
          <p:cNvSpPr>
            <a:spLocks xmlns:a="http://schemas.openxmlformats.org/drawingml/2006/main" noGrp="1"/>
          </p:cNvSpPr>
          <p:nvPr/>
        </p:nvSpPr>
        <p:spPr>
          <a:xfrm xmlns:a="http://schemas.openxmlformats.org/drawingml/2006/main">
            <a:off x="6381750" y="1714500"/>
            <a:ext cx="131445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6" name="">
            <a:extLst xmlns:a="http://schemas.openxmlformats.org/drawingml/2006/main">
              <a:ext uri="{FF2B5EF4-FFF2-40B4-BE49-F238E27FC236}">
                <a16:creationId xmlns:a16="http://schemas.microsoft.com/office/drawing/2014/main" id="{CDF26501-5139-45F2-9485-489297C9CFBD}"/>
              </a:ext>
            </a:extLst>
          </p:cNvPr>
          <p:cNvSpPr>
            <a:spLocks xmlns:a="http://schemas.openxmlformats.org/drawingml/2006/main" noGrp="1"/>
          </p:cNvSpPr>
          <p:nvPr/>
        </p:nvSpPr>
        <p:spPr>
          <a:xfrm xmlns:a="http://schemas.openxmlformats.org/drawingml/2006/main">
            <a:off x="6457950" y="1809750"/>
            <a:ext cx="1162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PostgreSQL</a:t>
            </a:r>
          </a:p>
        </p:txBody>
      </p:sp>
      <p:sp>
        <p:nvSpPr>
          <p:cNvPr id="17" name="">
            <a:extLst xmlns:a="http://schemas.openxmlformats.org/drawingml/2006/main">
              <a:ext uri="{FF2B5EF4-FFF2-40B4-BE49-F238E27FC236}">
                <a16:creationId xmlns:a16="http://schemas.microsoft.com/office/drawing/2014/main" id="{9D1762BD-6DFF-4ACC-88DF-15EDB72CEC3E}"/>
              </a:ext>
            </a:extLst>
          </p:cNvPr>
          <p:cNvSpPr>
            <a:spLocks xmlns:a="http://schemas.openxmlformats.org/drawingml/2006/main" noGrp="1"/>
          </p:cNvSpPr>
          <p:nvPr/>
        </p:nvSpPr>
        <p:spPr>
          <a:xfrm xmlns:a="http://schemas.openxmlformats.org/drawingml/2006/main">
            <a:off x="7038975" y="2171700"/>
            <a:ext cx="0" cy="361950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18" name="">
            <a:extLst xmlns:a="http://schemas.openxmlformats.org/drawingml/2006/main">
              <a:ext uri="{FF2B5EF4-FFF2-40B4-BE49-F238E27FC236}">
                <a16:creationId xmlns:a16="http://schemas.microsoft.com/office/drawing/2014/main" id="{27BB58ED-4C74-488A-B2F8-7C2A545BF302}"/>
              </a:ext>
            </a:extLst>
          </p:cNvPr>
          <p:cNvSpPr>
            <a:spLocks xmlns:a="http://schemas.openxmlformats.org/drawingml/2006/main" noGrp="1"/>
          </p:cNvSpPr>
          <p:nvPr/>
        </p:nvSpPr>
        <p:spPr>
          <a:xfrm xmlns:a="http://schemas.openxmlformats.org/drawingml/2006/main">
            <a:off x="8267700" y="1714500"/>
            <a:ext cx="131445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9" name="">
            <a:extLst xmlns:a="http://schemas.openxmlformats.org/drawingml/2006/main">
              <a:ext uri="{FF2B5EF4-FFF2-40B4-BE49-F238E27FC236}">
                <a16:creationId xmlns:a16="http://schemas.microsoft.com/office/drawing/2014/main" id="{F8323902-3FF2-40A4-BA8B-079ED327176F}"/>
              </a:ext>
            </a:extLst>
          </p:cNvPr>
          <p:cNvSpPr>
            <a:spLocks xmlns:a="http://schemas.openxmlformats.org/drawingml/2006/main" noGrp="1"/>
          </p:cNvSpPr>
          <p:nvPr/>
        </p:nvSpPr>
        <p:spPr>
          <a:xfrm xmlns:a="http://schemas.openxmlformats.org/drawingml/2006/main">
            <a:off x="8343900" y="1809750"/>
            <a:ext cx="1162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Agent IA</a:t>
            </a:r>
          </a:p>
        </p:txBody>
      </p:sp>
      <p:sp>
        <p:nvSpPr>
          <p:cNvPr id="20" name="">
            <a:extLst xmlns:a="http://schemas.openxmlformats.org/drawingml/2006/main">
              <a:ext uri="{FF2B5EF4-FFF2-40B4-BE49-F238E27FC236}">
                <a16:creationId xmlns:a16="http://schemas.microsoft.com/office/drawing/2014/main" id="{16A1B979-7BE2-4180-A3E7-17E706493964}"/>
              </a:ext>
            </a:extLst>
          </p:cNvPr>
          <p:cNvSpPr>
            <a:spLocks xmlns:a="http://schemas.openxmlformats.org/drawingml/2006/main" noGrp="1"/>
          </p:cNvSpPr>
          <p:nvPr/>
        </p:nvSpPr>
        <p:spPr>
          <a:xfrm xmlns:a="http://schemas.openxmlformats.org/drawingml/2006/main">
            <a:off x="8924925" y="2171700"/>
            <a:ext cx="0" cy="361950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21" name="">
            <a:extLst xmlns:a="http://schemas.openxmlformats.org/drawingml/2006/main">
              <a:ext uri="{FF2B5EF4-FFF2-40B4-BE49-F238E27FC236}">
                <a16:creationId xmlns:a16="http://schemas.microsoft.com/office/drawing/2014/main" id="{B0442027-94F2-4A19-91F8-40A104C967A0}"/>
              </a:ext>
            </a:extLst>
          </p:cNvPr>
          <p:cNvSpPr>
            <a:spLocks xmlns:a="http://schemas.openxmlformats.org/drawingml/2006/main" noGrp="1"/>
          </p:cNvSpPr>
          <p:nvPr/>
        </p:nvSpPr>
        <p:spPr>
          <a:xfrm xmlns:a="http://schemas.openxmlformats.org/drawingml/2006/main">
            <a:off x="10153650" y="1714500"/>
            <a:ext cx="131445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22" name="">
            <a:extLst xmlns:a="http://schemas.openxmlformats.org/drawingml/2006/main">
              <a:ext uri="{FF2B5EF4-FFF2-40B4-BE49-F238E27FC236}">
                <a16:creationId xmlns:a16="http://schemas.microsoft.com/office/drawing/2014/main" id="{39917D48-FBFA-4445-9537-91D584B68267}"/>
              </a:ext>
            </a:extLst>
          </p:cNvPr>
          <p:cNvSpPr>
            <a:spLocks xmlns:a="http://schemas.openxmlformats.org/drawingml/2006/main" noGrp="1"/>
          </p:cNvSpPr>
          <p:nvPr/>
        </p:nvSpPr>
        <p:spPr>
          <a:xfrm xmlns:a="http://schemas.openxmlformats.org/drawingml/2006/main">
            <a:off x="10229850" y="1809750"/>
            <a:ext cx="11620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Canaux</a:t>
            </a:r>
          </a:p>
        </p:txBody>
      </p:sp>
      <p:sp>
        <p:nvSpPr>
          <p:cNvPr id="23" name="">
            <a:extLst xmlns:a="http://schemas.openxmlformats.org/drawingml/2006/main">
              <a:ext uri="{FF2B5EF4-FFF2-40B4-BE49-F238E27FC236}">
                <a16:creationId xmlns:a16="http://schemas.microsoft.com/office/drawing/2014/main" id="{B1E2267D-D23B-49B9-AA59-F1AF77D2B13A}"/>
              </a:ext>
            </a:extLst>
          </p:cNvPr>
          <p:cNvSpPr>
            <a:spLocks xmlns:a="http://schemas.openxmlformats.org/drawingml/2006/main" noGrp="1"/>
          </p:cNvSpPr>
          <p:nvPr/>
        </p:nvSpPr>
        <p:spPr>
          <a:xfrm xmlns:a="http://schemas.openxmlformats.org/drawingml/2006/main">
            <a:off x="10810875" y="2171700"/>
            <a:ext cx="0" cy="361950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24" name="">
            <a:extLst xmlns:a="http://schemas.openxmlformats.org/drawingml/2006/main">
              <a:ext uri="{FF2B5EF4-FFF2-40B4-BE49-F238E27FC236}">
                <a16:creationId xmlns:a16="http://schemas.microsoft.com/office/drawing/2014/main" id="{3C88DAC2-806B-4158-85B2-16B6804ECE98}"/>
              </a:ext>
            </a:extLst>
          </p:cNvPr>
          <p:cNvSpPr>
            <a:spLocks xmlns:a="http://schemas.openxmlformats.org/drawingml/2006/main" noGrp="1"/>
          </p:cNvSpPr>
          <p:nvPr/>
        </p:nvSpPr>
        <p:spPr>
          <a:xfrm xmlns:a="http://schemas.openxmlformats.org/drawingml/2006/main">
            <a:off x="1381125" y="2457450"/>
            <a:ext cx="1885950" cy="0"/>
          </a:xfrm>
          <a:prstGeom xmlns:a="http://schemas.openxmlformats.org/drawingml/2006/main" prst="line">
            <a:avLst/>
          </a:prstGeom>
          <a:noFill xmlns:a="http://schemas.openxmlformats.org/drawingml/2006/main"/>
          <a:ln xmlns:a="http://schemas.openxmlformats.org/drawingml/2006/main" w="19050">
            <a:solidFill>
              <a:srgbClr val="1D5AA6"/>
            </a:solidFill>
            <a:prstDash val="solid"/>
          </a:ln>
        </p:spPr>
      </p:sp>
      <p:sp>
        <p:nvSpPr>
          <p:cNvPr id="25" name="">
            <a:extLst xmlns:a="http://schemas.openxmlformats.org/drawingml/2006/main">
              <a:ext uri="{FF2B5EF4-FFF2-40B4-BE49-F238E27FC236}">
                <a16:creationId xmlns:a16="http://schemas.microsoft.com/office/drawing/2014/main" id="{4054AFE0-3AAA-4890-AC93-C82B0DD28359}"/>
              </a:ext>
            </a:extLst>
          </p:cNvPr>
          <p:cNvSpPr>
            <a:spLocks xmlns:a="http://schemas.openxmlformats.org/drawingml/2006/main" noGrp="1"/>
          </p:cNvSpPr>
          <p:nvPr/>
        </p:nvSpPr>
        <p:spPr>
          <a:xfrm xmlns:a="http://schemas.openxmlformats.org/drawingml/2006/main">
            <a:off x="3114675" y="23431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1D5AA6"/>
                </a:solidFill>
                <a:latin typeface="Aptos"/>
                <a:ea typeface="Aptos"/>
                <a:cs typeface="Aptos"/>
              </a:defRPr>
            </a:pPr>
            <a:r>
              <a:rPr sz="1050" b="1" i="0">
                <a:solidFill>
                  <a:srgbClr val="1D5AA6"/>
                </a:solidFill>
                <a:latin typeface="Aptos"/>
                <a:ea typeface="Aptos"/>
                <a:cs typeface="Aptos"/>
              </a:rPr>
              <a:t>▶</a:t>
            </a:r>
          </a:p>
        </p:txBody>
      </p:sp>
      <p:sp>
        <p:nvSpPr>
          <p:cNvPr id="26" name="">
            <a:extLst xmlns:a="http://schemas.openxmlformats.org/drawingml/2006/main">
              <a:ext uri="{FF2B5EF4-FFF2-40B4-BE49-F238E27FC236}">
                <a16:creationId xmlns:a16="http://schemas.microsoft.com/office/drawing/2014/main" id="{41E2666D-65B1-4DCD-869C-EA4E6CC75047}"/>
              </a:ext>
            </a:extLst>
          </p:cNvPr>
          <p:cNvSpPr>
            <a:spLocks xmlns:a="http://schemas.openxmlformats.org/drawingml/2006/main" noGrp="1"/>
          </p:cNvSpPr>
          <p:nvPr/>
        </p:nvSpPr>
        <p:spPr>
          <a:xfrm xmlns:a="http://schemas.openxmlformats.org/drawingml/2006/main">
            <a:off x="1457325" y="21907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08:00 — lancer /runs/daily</a:t>
            </a:r>
          </a:p>
        </p:txBody>
      </p:sp>
      <p:sp>
        <p:nvSpPr>
          <p:cNvPr id="27" name="">
            <a:extLst xmlns:a="http://schemas.openxmlformats.org/drawingml/2006/main">
              <a:ext uri="{FF2B5EF4-FFF2-40B4-BE49-F238E27FC236}">
                <a16:creationId xmlns:a16="http://schemas.microsoft.com/office/drawing/2014/main" id="{4A60A4A9-0140-4F3A-AE2C-AC8ADC666D4F}"/>
              </a:ext>
            </a:extLst>
          </p:cNvPr>
          <p:cNvSpPr>
            <a:spLocks xmlns:a="http://schemas.openxmlformats.org/drawingml/2006/main" noGrp="1"/>
          </p:cNvSpPr>
          <p:nvPr/>
        </p:nvSpPr>
        <p:spPr>
          <a:xfrm xmlns:a="http://schemas.openxmlformats.org/drawingml/2006/main">
            <a:off x="3267075" y="2914650"/>
            <a:ext cx="1885950" cy="0"/>
          </a:xfrm>
          <a:prstGeom xmlns:a="http://schemas.openxmlformats.org/drawingml/2006/main" prst="line">
            <a:avLst/>
          </a:prstGeom>
          <a:noFill xmlns:a="http://schemas.openxmlformats.org/drawingml/2006/main"/>
          <a:ln xmlns:a="http://schemas.openxmlformats.org/drawingml/2006/main" w="19050">
            <a:solidFill>
              <a:srgbClr val="1D5AA6"/>
            </a:solidFill>
            <a:prstDash val="solid"/>
          </a:ln>
        </p:spPr>
      </p:sp>
      <p:sp>
        <p:nvSpPr>
          <p:cNvPr id="28" name="">
            <a:extLst xmlns:a="http://schemas.openxmlformats.org/drawingml/2006/main">
              <a:ext uri="{FF2B5EF4-FFF2-40B4-BE49-F238E27FC236}">
                <a16:creationId xmlns:a16="http://schemas.microsoft.com/office/drawing/2014/main" id="{A51A7B68-FC1B-43D8-A9A2-8354F35C63FD}"/>
              </a:ext>
            </a:extLst>
          </p:cNvPr>
          <p:cNvSpPr>
            <a:spLocks xmlns:a="http://schemas.openxmlformats.org/drawingml/2006/main" noGrp="1"/>
          </p:cNvSpPr>
          <p:nvPr/>
        </p:nvSpPr>
        <p:spPr>
          <a:xfrm xmlns:a="http://schemas.openxmlformats.org/drawingml/2006/main">
            <a:off x="5000625" y="28003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1D5AA6"/>
                </a:solidFill>
                <a:latin typeface="Aptos"/>
                <a:ea typeface="Aptos"/>
                <a:cs typeface="Aptos"/>
              </a:defRPr>
            </a:pPr>
            <a:r>
              <a:rPr sz="1050" b="1" i="0">
                <a:solidFill>
                  <a:srgbClr val="1D5AA6"/>
                </a:solidFill>
                <a:latin typeface="Aptos"/>
                <a:ea typeface="Aptos"/>
                <a:cs typeface="Aptos"/>
              </a:rPr>
              <a:t>▶</a:t>
            </a:r>
          </a:p>
        </p:txBody>
      </p:sp>
      <p:sp>
        <p:nvSpPr>
          <p:cNvPr id="29" name="">
            <a:extLst xmlns:a="http://schemas.openxmlformats.org/drawingml/2006/main">
              <a:ext uri="{FF2B5EF4-FFF2-40B4-BE49-F238E27FC236}">
                <a16:creationId xmlns:a16="http://schemas.microsoft.com/office/drawing/2014/main" id="{87E77425-A2B6-4FC4-97B4-86B5DC013FF0}"/>
              </a:ext>
            </a:extLst>
          </p:cNvPr>
          <p:cNvSpPr>
            <a:spLocks xmlns:a="http://schemas.openxmlformats.org/drawingml/2006/main" noGrp="1"/>
          </p:cNvSpPr>
          <p:nvPr/>
        </p:nvSpPr>
        <p:spPr>
          <a:xfrm xmlns:a="http://schemas.openxmlformats.org/drawingml/2006/main">
            <a:off x="3343275" y="26479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collecter (≤ 50)</a:t>
            </a:r>
          </a:p>
        </p:txBody>
      </p:sp>
      <p:sp>
        <p:nvSpPr>
          <p:cNvPr id="30" name="">
            <a:extLst xmlns:a="http://schemas.openxmlformats.org/drawingml/2006/main">
              <a:ext uri="{FF2B5EF4-FFF2-40B4-BE49-F238E27FC236}">
                <a16:creationId xmlns:a16="http://schemas.microsoft.com/office/drawing/2014/main" id="{5871A1AB-FAFD-4141-9E4E-8037308C9FB1}"/>
              </a:ext>
            </a:extLst>
          </p:cNvPr>
          <p:cNvSpPr>
            <a:spLocks xmlns:a="http://schemas.openxmlformats.org/drawingml/2006/main" noGrp="1"/>
          </p:cNvSpPr>
          <p:nvPr/>
        </p:nvSpPr>
        <p:spPr>
          <a:xfrm xmlns:a="http://schemas.openxmlformats.org/drawingml/2006/main">
            <a:off x="5153025" y="3371850"/>
            <a:ext cx="1885950" cy="0"/>
          </a:xfrm>
          <a:prstGeom xmlns:a="http://schemas.openxmlformats.org/drawingml/2006/main" prst="line">
            <a:avLst/>
          </a:prstGeom>
          <a:noFill xmlns:a="http://schemas.openxmlformats.org/drawingml/2006/main"/>
          <a:ln xmlns:a="http://schemas.openxmlformats.org/drawingml/2006/main" w="19050">
            <a:solidFill>
              <a:srgbClr val="2FB9DB"/>
            </a:solidFill>
            <a:prstDash val="solid"/>
          </a:ln>
        </p:spPr>
      </p:sp>
      <p:sp>
        <p:nvSpPr>
          <p:cNvPr id="31" name="">
            <a:extLst xmlns:a="http://schemas.openxmlformats.org/drawingml/2006/main">
              <a:ext uri="{FF2B5EF4-FFF2-40B4-BE49-F238E27FC236}">
                <a16:creationId xmlns:a16="http://schemas.microsoft.com/office/drawing/2014/main" id="{1E603BB0-E0E8-40B4-8B74-01C769EB50AB}"/>
              </a:ext>
            </a:extLst>
          </p:cNvPr>
          <p:cNvSpPr>
            <a:spLocks xmlns:a="http://schemas.openxmlformats.org/drawingml/2006/main" noGrp="1"/>
          </p:cNvSpPr>
          <p:nvPr/>
        </p:nvSpPr>
        <p:spPr>
          <a:xfrm xmlns:a="http://schemas.openxmlformats.org/drawingml/2006/main">
            <a:off x="6886575" y="32575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2FB9DB"/>
                </a:solidFill>
                <a:latin typeface="Aptos"/>
                <a:ea typeface="Aptos"/>
                <a:cs typeface="Aptos"/>
              </a:defRPr>
            </a:pPr>
            <a:r>
              <a:rPr sz="1050" b="1" i="0">
                <a:solidFill>
                  <a:srgbClr val="2FB9DB"/>
                </a:solidFill>
                <a:latin typeface="Aptos"/>
                <a:ea typeface="Aptos"/>
                <a:cs typeface="Aptos"/>
              </a:rPr>
              <a:t>▶</a:t>
            </a:r>
          </a:p>
        </p:txBody>
      </p:sp>
      <p:sp>
        <p:nvSpPr>
          <p:cNvPr id="32" name="">
            <a:extLst xmlns:a="http://schemas.openxmlformats.org/drawingml/2006/main">
              <a:ext uri="{FF2B5EF4-FFF2-40B4-BE49-F238E27FC236}">
                <a16:creationId xmlns:a16="http://schemas.microsoft.com/office/drawing/2014/main" id="{B0716ECD-1EFB-4539-B480-FE7172B177C0}"/>
              </a:ext>
            </a:extLst>
          </p:cNvPr>
          <p:cNvSpPr>
            <a:spLocks xmlns:a="http://schemas.openxmlformats.org/drawingml/2006/main" noGrp="1"/>
          </p:cNvSpPr>
          <p:nvPr/>
        </p:nvSpPr>
        <p:spPr>
          <a:xfrm xmlns:a="http://schemas.openxmlformats.org/drawingml/2006/main">
            <a:off x="5229225" y="31051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upserts + journal</a:t>
            </a:r>
          </a:p>
        </p:txBody>
      </p:sp>
      <p:sp>
        <p:nvSpPr>
          <p:cNvPr id="33" name="">
            <a:extLst xmlns:a="http://schemas.openxmlformats.org/drawingml/2006/main">
              <a:ext uri="{FF2B5EF4-FFF2-40B4-BE49-F238E27FC236}">
                <a16:creationId xmlns:a16="http://schemas.microsoft.com/office/drawing/2014/main" id="{69FA0118-2BFE-46D8-8B5A-F898AAD3051D}"/>
              </a:ext>
            </a:extLst>
          </p:cNvPr>
          <p:cNvSpPr>
            <a:spLocks xmlns:a="http://schemas.openxmlformats.org/drawingml/2006/main" noGrp="1"/>
          </p:cNvSpPr>
          <p:nvPr/>
        </p:nvSpPr>
        <p:spPr>
          <a:xfrm xmlns:a="http://schemas.openxmlformats.org/drawingml/2006/main">
            <a:off x="3267075" y="3829050"/>
            <a:ext cx="3771900" cy="0"/>
          </a:xfrm>
          <a:prstGeom xmlns:a="http://schemas.openxmlformats.org/drawingml/2006/main" prst="line">
            <a:avLst/>
          </a:prstGeom>
          <a:noFill xmlns:a="http://schemas.openxmlformats.org/drawingml/2006/main"/>
          <a:ln xmlns:a="http://schemas.openxmlformats.org/drawingml/2006/main" w="19050">
            <a:solidFill>
              <a:srgbClr val="2FB9DB"/>
            </a:solidFill>
            <a:prstDash val="solid"/>
          </a:ln>
        </p:spPr>
      </p:sp>
      <p:sp>
        <p:nvSpPr>
          <p:cNvPr id="34" name="">
            <a:extLst xmlns:a="http://schemas.openxmlformats.org/drawingml/2006/main">
              <a:ext uri="{FF2B5EF4-FFF2-40B4-BE49-F238E27FC236}">
                <a16:creationId xmlns:a16="http://schemas.microsoft.com/office/drawing/2014/main" id="{FD510EEA-7B9F-452C-B30F-52C0E78794F7}"/>
              </a:ext>
            </a:extLst>
          </p:cNvPr>
          <p:cNvSpPr>
            <a:spLocks xmlns:a="http://schemas.openxmlformats.org/drawingml/2006/main" noGrp="1"/>
          </p:cNvSpPr>
          <p:nvPr/>
        </p:nvSpPr>
        <p:spPr>
          <a:xfrm xmlns:a="http://schemas.openxmlformats.org/drawingml/2006/main">
            <a:off x="6886575" y="37147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2FB9DB"/>
                </a:solidFill>
                <a:latin typeface="Aptos"/>
                <a:ea typeface="Aptos"/>
                <a:cs typeface="Aptos"/>
              </a:defRPr>
            </a:pPr>
            <a:r>
              <a:rPr sz="1050" b="1" i="0">
                <a:solidFill>
                  <a:srgbClr val="2FB9DB"/>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5CDBCA9F-BCEF-45F1-9AC2-42334A4F137D}"/>
              </a:ext>
            </a:extLst>
          </p:cNvPr>
          <p:cNvSpPr>
            <a:spLocks xmlns:a="http://schemas.openxmlformats.org/drawingml/2006/main" noGrp="1"/>
          </p:cNvSpPr>
          <p:nvPr/>
        </p:nvSpPr>
        <p:spPr>
          <a:xfrm xmlns:a="http://schemas.openxmlformats.org/drawingml/2006/main">
            <a:off x="3343275" y="356235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traiter les pièces (≤ 200)</a:t>
            </a:r>
          </a:p>
        </p:txBody>
      </p:sp>
      <p:sp>
        <p:nvSpPr>
          <p:cNvPr id="36" name="">
            <a:extLst xmlns:a="http://schemas.openxmlformats.org/drawingml/2006/main">
              <a:ext uri="{FF2B5EF4-FFF2-40B4-BE49-F238E27FC236}">
                <a16:creationId xmlns:a16="http://schemas.microsoft.com/office/drawing/2014/main" id="{360D66D7-B3D5-4231-889C-76FA48E3B3EC}"/>
              </a:ext>
            </a:extLst>
          </p:cNvPr>
          <p:cNvSpPr>
            <a:spLocks xmlns:a="http://schemas.openxmlformats.org/drawingml/2006/main" noGrp="1"/>
          </p:cNvSpPr>
          <p:nvPr/>
        </p:nvSpPr>
        <p:spPr>
          <a:xfrm xmlns:a="http://schemas.openxmlformats.org/drawingml/2006/main">
            <a:off x="7038975" y="4286250"/>
            <a:ext cx="1885950" cy="0"/>
          </a:xfrm>
          <a:prstGeom xmlns:a="http://schemas.openxmlformats.org/drawingml/2006/main" prst="line">
            <a:avLst/>
          </a:prstGeom>
          <a:noFill xmlns:a="http://schemas.openxmlformats.org/drawingml/2006/main"/>
          <a:ln xmlns:a="http://schemas.openxmlformats.org/drawingml/2006/main" w="19050">
            <a:solidFill>
              <a:srgbClr val="1D5AA6"/>
            </a:solidFill>
            <a:prstDash val="solid"/>
          </a:ln>
        </p:spPr>
      </p:sp>
      <p:sp>
        <p:nvSpPr>
          <p:cNvPr id="37" name="">
            <a:extLst xmlns:a="http://schemas.openxmlformats.org/drawingml/2006/main">
              <a:ext uri="{FF2B5EF4-FFF2-40B4-BE49-F238E27FC236}">
                <a16:creationId xmlns:a16="http://schemas.microsoft.com/office/drawing/2014/main" id="{CB9C8632-A23A-4184-AE8C-62D42832199C}"/>
              </a:ext>
            </a:extLst>
          </p:cNvPr>
          <p:cNvSpPr>
            <a:spLocks xmlns:a="http://schemas.openxmlformats.org/drawingml/2006/main" noGrp="1"/>
          </p:cNvSpPr>
          <p:nvPr/>
        </p:nvSpPr>
        <p:spPr>
          <a:xfrm xmlns:a="http://schemas.openxmlformats.org/drawingml/2006/main">
            <a:off x="8772525" y="41719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1D5AA6"/>
                </a:solidFill>
                <a:latin typeface="Aptos"/>
                <a:ea typeface="Aptos"/>
                <a:cs typeface="Aptos"/>
              </a:defRPr>
            </a:pPr>
            <a:r>
              <a:rPr sz="1050" b="1" i="0">
                <a:solidFill>
                  <a:srgbClr val="1D5AA6"/>
                </a:solidFill>
                <a:latin typeface="Aptos"/>
                <a:ea typeface="Aptos"/>
                <a:cs typeface="Aptos"/>
              </a:rPr>
              <a:t>▶</a:t>
            </a:r>
          </a:p>
        </p:txBody>
      </p:sp>
      <p:sp>
        <p:nvSpPr>
          <p:cNvPr id="38" name="">
            <a:extLst xmlns:a="http://schemas.openxmlformats.org/drawingml/2006/main">
              <a:ext uri="{FF2B5EF4-FFF2-40B4-BE49-F238E27FC236}">
                <a16:creationId xmlns:a16="http://schemas.microsoft.com/office/drawing/2014/main" id="{EC09AF05-B633-4ACE-9B86-8AA5E4949840}"/>
              </a:ext>
            </a:extLst>
          </p:cNvPr>
          <p:cNvSpPr>
            <a:spLocks xmlns:a="http://schemas.openxmlformats.org/drawingml/2006/main" noGrp="1"/>
          </p:cNvSpPr>
          <p:nvPr/>
        </p:nvSpPr>
        <p:spPr>
          <a:xfrm xmlns:a="http://schemas.openxmlformats.org/drawingml/2006/main">
            <a:off x="7115175" y="40195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contexte borné + empreinte</a:t>
            </a:r>
          </a:p>
        </p:txBody>
      </p:sp>
      <p:sp>
        <p:nvSpPr>
          <p:cNvPr id="39" name="">
            <a:extLst xmlns:a="http://schemas.openxmlformats.org/drawingml/2006/main">
              <a:ext uri="{FF2B5EF4-FFF2-40B4-BE49-F238E27FC236}">
                <a16:creationId xmlns:a16="http://schemas.microsoft.com/office/drawing/2014/main" id="{DF302E7D-72DC-4AAF-97A8-CF9A768ECA1B}"/>
              </a:ext>
            </a:extLst>
          </p:cNvPr>
          <p:cNvSpPr>
            <a:spLocks xmlns:a="http://schemas.openxmlformats.org/drawingml/2006/main" noGrp="1"/>
          </p:cNvSpPr>
          <p:nvPr/>
        </p:nvSpPr>
        <p:spPr>
          <a:xfrm xmlns:a="http://schemas.openxmlformats.org/drawingml/2006/main">
            <a:off x="7038975" y="4743450"/>
            <a:ext cx="1885950" cy="0"/>
          </a:xfrm>
          <a:prstGeom xmlns:a="http://schemas.openxmlformats.org/drawingml/2006/main" prst="line">
            <a:avLst/>
          </a:prstGeom>
          <a:noFill xmlns:a="http://schemas.openxmlformats.org/drawingml/2006/main"/>
          <a:ln xmlns:a="http://schemas.openxmlformats.org/drawingml/2006/main" w="19050">
            <a:solidFill>
              <a:srgbClr val="D99520"/>
            </a:solidFill>
            <a:prstDash val="solid"/>
          </a:ln>
        </p:spPr>
      </p:sp>
      <p:sp>
        <p:nvSpPr>
          <p:cNvPr id="40" name="">
            <a:extLst xmlns:a="http://schemas.openxmlformats.org/drawingml/2006/main">
              <a:ext uri="{FF2B5EF4-FFF2-40B4-BE49-F238E27FC236}">
                <a16:creationId xmlns:a16="http://schemas.microsoft.com/office/drawing/2014/main" id="{72655C2B-D3E4-48C4-A7E3-8E54FB3E622C}"/>
              </a:ext>
            </a:extLst>
          </p:cNvPr>
          <p:cNvSpPr>
            <a:spLocks xmlns:a="http://schemas.openxmlformats.org/drawingml/2006/main" noGrp="1"/>
          </p:cNvSpPr>
          <p:nvPr/>
        </p:nvSpPr>
        <p:spPr>
          <a:xfrm xmlns:a="http://schemas.openxmlformats.org/drawingml/2006/main">
            <a:off x="6886575" y="46291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D99520"/>
                </a:solidFill>
                <a:latin typeface="Aptos"/>
                <a:ea typeface="Aptos"/>
                <a:cs typeface="Aptos"/>
              </a:defRPr>
            </a:pPr>
            <a:r>
              <a:rPr sz="1050" b="1" i="0">
                <a:solidFill>
                  <a:srgbClr val="D99520"/>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BB95DABF-2DF9-4D04-A1FD-4CB2411E5810}"/>
              </a:ext>
            </a:extLst>
          </p:cNvPr>
          <p:cNvSpPr>
            <a:spLocks xmlns:a="http://schemas.openxmlformats.org/drawingml/2006/main" noGrp="1"/>
          </p:cNvSpPr>
          <p:nvPr/>
        </p:nvSpPr>
        <p:spPr>
          <a:xfrm xmlns:a="http://schemas.openxmlformats.org/drawingml/2006/main">
            <a:off x="7115175" y="44767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analyse structurée</a:t>
            </a:r>
          </a:p>
        </p:txBody>
      </p:sp>
      <p:sp>
        <p:nvSpPr>
          <p:cNvPr id="42" name="">
            <a:extLst xmlns:a="http://schemas.openxmlformats.org/drawingml/2006/main">
              <a:ext uri="{FF2B5EF4-FFF2-40B4-BE49-F238E27FC236}">
                <a16:creationId xmlns:a16="http://schemas.microsoft.com/office/drawing/2014/main" id="{02F04613-66CC-48CB-A0DA-8A7E85054023}"/>
              </a:ext>
            </a:extLst>
          </p:cNvPr>
          <p:cNvSpPr>
            <a:spLocks xmlns:a="http://schemas.openxmlformats.org/drawingml/2006/main" noGrp="1"/>
          </p:cNvSpPr>
          <p:nvPr/>
        </p:nvSpPr>
        <p:spPr>
          <a:xfrm xmlns:a="http://schemas.openxmlformats.org/drawingml/2006/main">
            <a:off x="7038975" y="5200650"/>
            <a:ext cx="3771900" cy="0"/>
          </a:xfrm>
          <a:prstGeom xmlns:a="http://schemas.openxmlformats.org/drawingml/2006/main" prst="line">
            <a:avLst/>
          </a:prstGeom>
          <a:noFill xmlns:a="http://schemas.openxmlformats.org/drawingml/2006/main"/>
          <a:ln xmlns:a="http://schemas.openxmlformats.org/drawingml/2006/main" w="19050">
            <a:solidFill>
              <a:srgbClr val="2E9D69"/>
            </a:solidFill>
            <a:prstDash val="solid"/>
          </a:ln>
        </p:spPr>
      </p:sp>
      <p:sp>
        <p:nvSpPr>
          <p:cNvPr id="43" name="">
            <a:extLst xmlns:a="http://schemas.openxmlformats.org/drawingml/2006/main">
              <a:ext uri="{FF2B5EF4-FFF2-40B4-BE49-F238E27FC236}">
                <a16:creationId xmlns:a16="http://schemas.microsoft.com/office/drawing/2014/main" id="{44BFED12-B897-4983-A7EE-580F5F7BA28F}"/>
              </a:ext>
            </a:extLst>
          </p:cNvPr>
          <p:cNvSpPr>
            <a:spLocks xmlns:a="http://schemas.openxmlformats.org/drawingml/2006/main" noGrp="1"/>
          </p:cNvSpPr>
          <p:nvPr/>
        </p:nvSpPr>
        <p:spPr>
          <a:xfrm xmlns:a="http://schemas.openxmlformats.org/drawingml/2006/main">
            <a:off x="10658475" y="50863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2E9D69"/>
                </a:solidFill>
                <a:latin typeface="Aptos"/>
                <a:ea typeface="Aptos"/>
                <a:cs typeface="Aptos"/>
              </a:defRPr>
            </a:pPr>
            <a:r>
              <a:rPr sz="1050" b="1" i="0">
                <a:solidFill>
                  <a:srgbClr val="2E9D69"/>
                </a:solidFill>
                <a:latin typeface="Aptos"/>
                <a:ea typeface="Aptos"/>
                <a:cs typeface="Aptos"/>
              </a:rPr>
              <a:t>▶</a:t>
            </a:r>
          </a:p>
        </p:txBody>
      </p:sp>
      <p:sp>
        <p:nvSpPr>
          <p:cNvPr id="44" name="">
            <a:extLst xmlns:a="http://schemas.openxmlformats.org/drawingml/2006/main">
              <a:ext uri="{FF2B5EF4-FFF2-40B4-BE49-F238E27FC236}">
                <a16:creationId xmlns:a16="http://schemas.microsoft.com/office/drawing/2014/main" id="{3EC5E9F9-DCAE-45C0-B1F0-5F45B05919B2}"/>
              </a:ext>
            </a:extLst>
          </p:cNvPr>
          <p:cNvSpPr>
            <a:spLocks xmlns:a="http://schemas.openxmlformats.org/drawingml/2006/main" noGrp="1"/>
          </p:cNvSpPr>
          <p:nvPr/>
        </p:nvSpPr>
        <p:spPr>
          <a:xfrm xmlns:a="http://schemas.openxmlformats.org/drawingml/2006/main">
            <a:off x="7115175" y="4933950"/>
            <a:ext cx="3619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réserver puis envoyer</a:t>
            </a:r>
          </a:p>
        </p:txBody>
      </p:sp>
      <p:sp>
        <p:nvSpPr>
          <p:cNvPr id="45" name="">
            <a:extLst xmlns:a="http://schemas.openxmlformats.org/drawingml/2006/main">
              <a:ext uri="{FF2B5EF4-FFF2-40B4-BE49-F238E27FC236}">
                <a16:creationId xmlns:a16="http://schemas.microsoft.com/office/drawing/2014/main" id="{160D50BD-5D33-4788-84B1-D8B129CDFE70}"/>
              </a:ext>
            </a:extLst>
          </p:cNvPr>
          <p:cNvSpPr>
            <a:spLocks xmlns:a="http://schemas.openxmlformats.org/drawingml/2006/main" noGrp="1"/>
          </p:cNvSpPr>
          <p:nvPr/>
        </p:nvSpPr>
        <p:spPr>
          <a:xfrm xmlns:a="http://schemas.openxmlformats.org/drawingml/2006/main">
            <a:off x="6991350" y="5572125"/>
            <a:ext cx="2952750" cy="304800"/>
          </a:xfrm>
          <a:prstGeom xmlns:a="http://schemas.openxmlformats.org/drawingml/2006/main" prst="roundRect">
            <a:avLst>
              <a:gd name="adj" fmla="val 50000"/>
            </a:avLst>
          </a:prstGeom>
          <a:solidFill xmlns:a="http://schemas.openxmlformats.org/drawingml/2006/main">
            <a:srgbClr val="EAF2FB"/>
          </a:solidFill>
          <a:ln xmlns:a="http://schemas.openxmlformats.org/drawingml/2006/main" w="9525">
            <a:solidFill>
              <a:srgbClr val="1D5AA6"/>
            </a:solidFill>
            <a:prstDash val="solid"/>
          </a:ln>
        </p:spPr>
      </p:sp>
      <p:sp>
        <p:nvSpPr>
          <p:cNvPr id="46" name="">
            <a:extLst xmlns:a="http://schemas.openxmlformats.org/drawingml/2006/main">
              <a:ext uri="{FF2B5EF4-FFF2-40B4-BE49-F238E27FC236}">
                <a16:creationId xmlns:a16="http://schemas.microsoft.com/office/drawing/2014/main" id="{BA2C3C65-9A9B-4BCD-B8FD-9A567BF9FE17}"/>
              </a:ext>
            </a:extLst>
          </p:cNvPr>
          <p:cNvSpPr>
            <a:spLocks xmlns:a="http://schemas.openxmlformats.org/drawingml/2006/main" noGrp="1"/>
          </p:cNvSpPr>
          <p:nvPr/>
        </p:nvSpPr>
        <p:spPr>
          <a:xfrm xmlns:a="http://schemas.openxmlformats.org/drawingml/2006/main">
            <a:off x="7029450" y="5581650"/>
            <a:ext cx="2876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050" b="1" i="0">
                <a:solidFill>
                  <a:srgbClr val="1D5AA6"/>
                </a:solidFill>
                <a:latin typeface="Aptos"/>
                <a:ea typeface="Aptos"/>
                <a:cs typeface="Aptos"/>
              </a:defRPr>
            </a:pPr>
            <a:r>
              <a:rPr sz="1050" b="1" i="0">
                <a:solidFill>
                  <a:srgbClr val="1D5AA6"/>
                </a:solidFill>
                <a:latin typeface="Aptos"/>
                <a:ea typeface="Aptos"/>
                <a:cs typeface="Aptos"/>
              </a:rPr>
              <a:t>empreinte inchangée → analyse ignorée</a:t>
            </a:r>
          </a:p>
        </p:txBody>
      </p:sp>
    </p:spTree>
    <p:extLst>
      <p:ext uri="{BB962C8B-B14F-4D97-AF65-F5344CB8AC3E}">
        <p14:creationId xmlns:p14="http://schemas.microsoft.com/office/powerpoint/2010/main" val="310748298"/>
      </p:ext>
    </p:extLst>
  </p:cSld>
</p:sld>
</file>

<file path=ppt/slides/slide11.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45" name="">
            <a:extLst xmlns:a="http://schemas.openxmlformats.org/drawingml/2006/main">
              <a:ext uri="{FF2B5EF4-FFF2-40B4-BE49-F238E27FC236}">
                <a16:creationId xmlns:a16="http://schemas.microsoft.com/office/drawing/2014/main" id="{19D17873-CA54-4459-8049-FF8C95A01BBB}"/>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SÉQUENCE 2</a:t>
            </a:r>
          </a:p>
        </p:txBody>
      </p:sp>
      <p:sp>
        <p:nvSpPr>
          <p:cNvPr id="2" name="">
            <a:extLst xmlns:a="http://schemas.openxmlformats.org/drawingml/2006/main">
              <a:ext uri="{FF2B5EF4-FFF2-40B4-BE49-F238E27FC236}">
                <a16:creationId xmlns:a16="http://schemas.microsoft.com/office/drawing/2014/main" id="{98878C82-C302-4F84-B412-3AD56FE0DC6A}"/>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Interaction Telegram : périmètre fermé, reprise contrôlée</a:t>
            </a:r>
          </a:p>
        </p:txBody>
      </p:sp>
      <p:sp>
        <p:nvSpPr>
          <p:cNvPr id="3" name="">
            <a:extLst xmlns:a="http://schemas.openxmlformats.org/drawingml/2006/main">
              <a:ext uri="{FF2B5EF4-FFF2-40B4-BE49-F238E27FC236}">
                <a16:creationId xmlns:a16="http://schemas.microsoft.com/office/drawing/2014/main" id="{1E7F0E42-1437-41B4-88C4-E64CBB9421C3}"/>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601DDFAF-E356-42FB-AE0C-60E1F515FA82}"/>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928AC41C-3018-4A28-9D7C-48203B4AB45A}"/>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11</a:t>
            </a:r>
          </a:p>
        </p:txBody>
      </p:sp>
      <p:sp>
        <p:nvSpPr>
          <p:cNvPr id="6" name="">
            <a:extLst xmlns:a="http://schemas.openxmlformats.org/drawingml/2006/main">
              <a:ext uri="{FF2B5EF4-FFF2-40B4-BE49-F238E27FC236}">
                <a16:creationId xmlns:a16="http://schemas.microsoft.com/office/drawing/2014/main" id="{BA916D23-F1EE-4728-98F3-BC56F58F46ED}"/>
              </a:ext>
            </a:extLst>
          </p:cNvPr>
          <p:cNvSpPr>
            <a:spLocks xmlns:a="http://schemas.openxmlformats.org/drawingml/2006/main" noGrp="1"/>
          </p:cNvSpPr>
          <p:nvPr/>
        </p:nvSpPr>
        <p:spPr>
          <a:xfrm xmlns:a="http://schemas.openxmlformats.org/drawingml/2006/main">
            <a:off x="952500" y="1714500"/>
            <a:ext cx="1524000" cy="457200"/>
          </a:xfrm>
          <a:prstGeom xmlns:a="http://schemas.openxmlformats.org/drawingml/2006/main" prst="roundRect">
            <a:avLst>
              <a:gd name="adj" fmla="val 16667"/>
            </a:avLst>
          </a:prstGeom>
          <a:solidFill xmlns:a="http://schemas.openxmlformats.org/drawingml/2006/main">
            <a:srgbClr val="1D5AA6"/>
          </a:solidFill>
          <a:ln xmlns:a="http://schemas.openxmlformats.org/drawingml/2006/main" w="0">
            <a:solidFill>
              <a:srgbClr val="0B2545"/>
            </a:solidFill>
            <a:prstDash val="solid"/>
          </a:ln>
        </p:spPr>
      </p:sp>
      <p:sp>
        <p:nvSpPr>
          <p:cNvPr id="7" name="">
            <a:extLst xmlns:a="http://schemas.openxmlformats.org/drawingml/2006/main">
              <a:ext uri="{FF2B5EF4-FFF2-40B4-BE49-F238E27FC236}">
                <a16:creationId xmlns:a16="http://schemas.microsoft.com/office/drawing/2014/main" id="{6EFF9F2C-8364-4A9A-B798-C7CB9B695C44}"/>
              </a:ext>
            </a:extLst>
          </p:cNvPr>
          <p:cNvSpPr>
            <a:spLocks xmlns:a="http://schemas.openxmlformats.org/drawingml/2006/main" noGrp="1"/>
          </p:cNvSpPr>
          <p:nvPr/>
        </p:nvSpPr>
        <p:spPr>
          <a:xfrm xmlns:a="http://schemas.openxmlformats.org/drawingml/2006/main">
            <a:off x="1028700" y="1809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Utilisateur</a:t>
            </a:r>
          </a:p>
        </p:txBody>
      </p:sp>
      <p:sp>
        <p:nvSpPr>
          <p:cNvPr id="8" name="">
            <a:extLst xmlns:a="http://schemas.openxmlformats.org/drawingml/2006/main">
              <a:ext uri="{FF2B5EF4-FFF2-40B4-BE49-F238E27FC236}">
                <a16:creationId xmlns:a16="http://schemas.microsoft.com/office/drawing/2014/main" id="{15E30AFE-2DCA-4C31-AFF0-F54915DF0A35}"/>
              </a:ext>
            </a:extLst>
          </p:cNvPr>
          <p:cNvSpPr>
            <a:spLocks xmlns:a="http://schemas.openxmlformats.org/drawingml/2006/main" noGrp="1"/>
          </p:cNvSpPr>
          <p:nvPr/>
        </p:nvSpPr>
        <p:spPr>
          <a:xfrm xmlns:a="http://schemas.openxmlformats.org/drawingml/2006/main">
            <a:off x="1714500" y="2171700"/>
            <a:ext cx="0" cy="340995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9" name="">
            <a:extLst xmlns:a="http://schemas.openxmlformats.org/drawingml/2006/main">
              <a:ext uri="{FF2B5EF4-FFF2-40B4-BE49-F238E27FC236}">
                <a16:creationId xmlns:a16="http://schemas.microsoft.com/office/drawing/2014/main" id="{7B22D3F4-1672-40DC-9452-28251C6D9BA0}"/>
              </a:ext>
            </a:extLst>
          </p:cNvPr>
          <p:cNvSpPr>
            <a:spLocks xmlns:a="http://schemas.openxmlformats.org/drawingml/2006/main" noGrp="1"/>
          </p:cNvSpPr>
          <p:nvPr/>
        </p:nvSpPr>
        <p:spPr>
          <a:xfrm xmlns:a="http://schemas.openxmlformats.org/drawingml/2006/main">
            <a:off x="3143250" y="1714500"/>
            <a:ext cx="152400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0" name="">
            <a:extLst xmlns:a="http://schemas.openxmlformats.org/drawingml/2006/main">
              <a:ext uri="{FF2B5EF4-FFF2-40B4-BE49-F238E27FC236}">
                <a16:creationId xmlns:a16="http://schemas.microsoft.com/office/drawing/2014/main" id="{3D48541E-D92B-498E-9F69-986522076BDD}"/>
              </a:ext>
            </a:extLst>
          </p:cNvPr>
          <p:cNvSpPr>
            <a:spLocks xmlns:a="http://schemas.openxmlformats.org/drawingml/2006/main" noGrp="1"/>
          </p:cNvSpPr>
          <p:nvPr/>
        </p:nvSpPr>
        <p:spPr>
          <a:xfrm xmlns:a="http://schemas.openxmlformats.org/drawingml/2006/main">
            <a:off x="3219450" y="1809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Telegram</a:t>
            </a:r>
          </a:p>
        </p:txBody>
      </p:sp>
      <p:sp>
        <p:nvSpPr>
          <p:cNvPr id="11" name="">
            <a:extLst xmlns:a="http://schemas.openxmlformats.org/drawingml/2006/main">
              <a:ext uri="{FF2B5EF4-FFF2-40B4-BE49-F238E27FC236}">
                <a16:creationId xmlns:a16="http://schemas.microsoft.com/office/drawing/2014/main" id="{7DB030E2-D6BB-49D2-887A-D83B69B0724C}"/>
              </a:ext>
            </a:extLst>
          </p:cNvPr>
          <p:cNvSpPr>
            <a:spLocks xmlns:a="http://schemas.openxmlformats.org/drawingml/2006/main" noGrp="1"/>
          </p:cNvSpPr>
          <p:nvPr/>
        </p:nvSpPr>
        <p:spPr>
          <a:xfrm xmlns:a="http://schemas.openxmlformats.org/drawingml/2006/main">
            <a:off x="3905250" y="2171700"/>
            <a:ext cx="0" cy="340995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12" name="">
            <a:extLst xmlns:a="http://schemas.openxmlformats.org/drawingml/2006/main">
              <a:ext uri="{FF2B5EF4-FFF2-40B4-BE49-F238E27FC236}">
                <a16:creationId xmlns:a16="http://schemas.microsoft.com/office/drawing/2014/main" id="{E72D202E-2BEC-45B7-88D0-90ABB77BFAB2}"/>
              </a:ext>
            </a:extLst>
          </p:cNvPr>
          <p:cNvSpPr>
            <a:spLocks xmlns:a="http://schemas.openxmlformats.org/drawingml/2006/main" noGrp="1"/>
          </p:cNvSpPr>
          <p:nvPr/>
        </p:nvSpPr>
        <p:spPr>
          <a:xfrm xmlns:a="http://schemas.openxmlformats.org/drawingml/2006/main">
            <a:off x="5334000" y="1714500"/>
            <a:ext cx="152400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3" name="">
            <a:extLst xmlns:a="http://schemas.openxmlformats.org/drawingml/2006/main">
              <a:ext uri="{FF2B5EF4-FFF2-40B4-BE49-F238E27FC236}">
                <a16:creationId xmlns:a16="http://schemas.microsoft.com/office/drawing/2014/main" id="{B6C88C32-EFE9-4058-B27D-83AFE0618FBA}"/>
              </a:ext>
            </a:extLst>
          </p:cNvPr>
          <p:cNvSpPr>
            <a:spLocks xmlns:a="http://schemas.openxmlformats.org/drawingml/2006/main" noGrp="1"/>
          </p:cNvSpPr>
          <p:nvPr/>
        </p:nvSpPr>
        <p:spPr>
          <a:xfrm xmlns:a="http://schemas.openxmlformats.org/drawingml/2006/main">
            <a:off x="5410200" y="1809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Poller</a:t>
            </a:r>
          </a:p>
        </p:txBody>
      </p:sp>
      <p:sp>
        <p:nvSpPr>
          <p:cNvPr id="14" name="">
            <a:extLst xmlns:a="http://schemas.openxmlformats.org/drawingml/2006/main">
              <a:ext uri="{FF2B5EF4-FFF2-40B4-BE49-F238E27FC236}">
                <a16:creationId xmlns:a16="http://schemas.microsoft.com/office/drawing/2014/main" id="{B58B6EA0-9CD2-4EEF-9A4B-236D8B790C51}"/>
              </a:ext>
            </a:extLst>
          </p:cNvPr>
          <p:cNvSpPr>
            <a:spLocks xmlns:a="http://schemas.openxmlformats.org/drawingml/2006/main" noGrp="1"/>
          </p:cNvSpPr>
          <p:nvPr/>
        </p:nvSpPr>
        <p:spPr>
          <a:xfrm xmlns:a="http://schemas.openxmlformats.org/drawingml/2006/main">
            <a:off x="6096000" y="2171700"/>
            <a:ext cx="0" cy="340995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15" name="">
            <a:extLst xmlns:a="http://schemas.openxmlformats.org/drawingml/2006/main">
              <a:ext uri="{FF2B5EF4-FFF2-40B4-BE49-F238E27FC236}">
                <a16:creationId xmlns:a16="http://schemas.microsoft.com/office/drawing/2014/main" id="{9F37A993-EBF4-43A4-8D42-483E886B10C3}"/>
              </a:ext>
            </a:extLst>
          </p:cNvPr>
          <p:cNvSpPr>
            <a:spLocks xmlns:a="http://schemas.openxmlformats.org/drawingml/2006/main" noGrp="1"/>
          </p:cNvSpPr>
          <p:nvPr/>
        </p:nvSpPr>
        <p:spPr>
          <a:xfrm xmlns:a="http://schemas.openxmlformats.org/drawingml/2006/main">
            <a:off x="7524750" y="1714500"/>
            <a:ext cx="152400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6" name="">
            <a:extLst xmlns:a="http://schemas.openxmlformats.org/drawingml/2006/main">
              <a:ext uri="{FF2B5EF4-FFF2-40B4-BE49-F238E27FC236}">
                <a16:creationId xmlns:a16="http://schemas.microsoft.com/office/drawing/2014/main" id="{F71F16E6-A74A-4DBB-B6E5-88FA7F33FAEE}"/>
              </a:ext>
            </a:extLst>
          </p:cNvPr>
          <p:cNvSpPr>
            <a:spLocks xmlns:a="http://schemas.openxmlformats.org/drawingml/2006/main" noGrp="1"/>
          </p:cNvSpPr>
          <p:nvPr/>
        </p:nvSpPr>
        <p:spPr>
          <a:xfrm xmlns:a="http://schemas.openxmlformats.org/drawingml/2006/main">
            <a:off x="7600950" y="1809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PostgreSQL</a:t>
            </a:r>
          </a:p>
        </p:txBody>
      </p:sp>
      <p:sp>
        <p:nvSpPr>
          <p:cNvPr id="17" name="">
            <a:extLst xmlns:a="http://schemas.openxmlformats.org/drawingml/2006/main">
              <a:ext uri="{FF2B5EF4-FFF2-40B4-BE49-F238E27FC236}">
                <a16:creationId xmlns:a16="http://schemas.microsoft.com/office/drawing/2014/main" id="{11AC2480-F0FD-4A87-AA18-0C2FA5AAA9FE}"/>
              </a:ext>
            </a:extLst>
          </p:cNvPr>
          <p:cNvSpPr>
            <a:spLocks xmlns:a="http://schemas.openxmlformats.org/drawingml/2006/main" noGrp="1"/>
          </p:cNvSpPr>
          <p:nvPr/>
        </p:nvSpPr>
        <p:spPr>
          <a:xfrm xmlns:a="http://schemas.openxmlformats.org/drawingml/2006/main">
            <a:off x="8286750" y="2171700"/>
            <a:ext cx="0" cy="340995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18" name="">
            <a:extLst xmlns:a="http://schemas.openxmlformats.org/drawingml/2006/main">
              <a:ext uri="{FF2B5EF4-FFF2-40B4-BE49-F238E27FC236}">
                <a16:creationId xmlns:a16="http://schemas.microsoft.com/office/drawing/2014/main" id="{63BB992C-6968-40ED-90D9-4804D37973DB}"/>
              </a:ext>
            </a:extLst>
          </p:cNvPr>
          <p:cNvSpPr>
            <a:spLocks xmlns:a="http://schemas.openxmlformats.org/drawingml/2006/main" noGrp="1"/>
          </p:cNvSpPr>
          <p:nvPr/>
        </p:nvSpPr>
        <p:spPr>
          <a:xfrm xmlns:a="http://schemas.openxmlformats.org/drawingml/2006/main">
            <a:off x="9715500" y="1714500"/>
            <a:ext cx="1524000" cy="457200"/>
          </a:xfrm>
          <a:prstGeom xmlns:a="http://schemas.openxmlformats.org/drawingml/2006/main" prst="roundRect">
            <a:avLst>
              <a:gd name="adj" fmla="val 16667"/>
            </a:avLst>
          </a:prstGeom>
          <a:solidFill xmlns:a="http://schemas.openxmlformats.org/drawingml/2006/main">
            <a:srgbClr val="0B2545"/>
          </a:solidFill>
          <a:ln xmlns:a="http://schemas.openxmlformats.org/drawingml/2006/main" w="0">
            <a:solidFill>
              <a:srgbClr val="0B2545"/>
            </a:solidFill>
            <a:prstDash val="solid"/>
          </a:ln>
        </p:spPr>
      </p:sp>
      <p:sp>
        <p:nvSpPr>
          <p:cNvPr id="19" name="">
            <a:extLst xmlns:a="http://schemas.openxmlformats.org/drawingml/2006/main">
              <a:ext uri="{FF2B5EF4-FFF2-40B4-BE49-F238E27FC236}">
                <a16:creationId xmlns:a16="http://schemas.microsoft.com/office/drawing/2014/main" id="{DE726C11-C9C2-4658-B451-723E734930E3}"/>
              </a:ext>
            </a:extLst>
          </p:cNvPr>
          <p:cNvSpPr>
            <a:spLocks xmlns:a="http://schemas.openxmlformats.org/drawingml/2006/main" noGrp="1"/>
          </p:cNvSpPr>
          <p:nvPr/>
        </p:nvSpPr>
        <p:spPr>
          <a:xfrm xmlns:a="http://schemas.openxmlformats.org/drawingml/2006/main">
            <a:off x="9791700" y="1809750"/>
            <a:ext cx="1371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OpenClaw</a:t>
            </a:r>
          </a:p>
        </p:txBody>
      </p:sp>
      <p:sp>
        <p:nvSpPr>
          <p:cNvPr id="20" name="">
            <a:extLst xmlns:a="http://schemas.openxmlformats.org/drawingml/2006/main">
              <a:ext uri="{FF2B5EF4-FFF2-40B4-BE49-F238E27FC236}">
                <a16:creationId xmlns:a16="http://schemas.microsoft.com/office/drawing/2014/main" id="{42F10EE5-E2DC-4351-B7DE-92A3B5CAC187}"/>
              </a:ext>
            </a:extLst>
          </p:cNvPr>
          <p:cNvSpPr>
            <a:spLocks xmlns:a="http://schemas.openxmlformats.org/drawingml/2006/main" noGrp="1"/>
          </p:cNvSpPr>
          <p:nvPr/>
        </p:nvSpPr>
        <p:spPr>
          <a:xfrm xmlns:a="http://schemas.openxmlformats.org/drawingml/2006/main">
            <a:off x="10477500" y="2171700"/>
            <a:ext cx="0" cy="3409950"/>
          </a:xfrm>
          <a:prstGeom xmlns:a="http://schemas.openxmlformats.org/drawingml/2006/main" prst="line">
            <a:avLst/>
          </a:prstGeom>
          <a:noFill xmlns:a="http://schemas.openxmlformats.org/drawingml/2006/main"/>
          <a:ln xmlns:a="http://schemas.openxmlformats.org/drawingml/2006/main" w="9525">
            <a:solidFill>
              <a:srgbClr val="D0D9E6"/>
            </a:solidFill>
            <a:prstDash val="dash"/>
          </a:ln>
        </p:spPr>
      </p:sp>
      <p:sp>
        <p:nvSpPr>
          <p:cNvPr id="21" name="">
            <a:extLst xmlns:a="http://schemas.openxmlformats.org/drawingml/2006/main">
              <a:ext uri="{FF2B5EF4-FFF2-40B4-BE49-F238E27FC236}">
                <a16:creationId xmlns:a16="http://schemas.microsoft.com/office/drawing/2014/main" id="{DE422DFE-E340-47E6-A161-F040B763B049}"/>
              </a:ext>
            </a:extLst>
          </p:cNvPr>
          <p:cNvSpPr>
            <a:spLocks xmlns:a="http://schemas.openxmlformats.org/drawingml/2006/main" noGrp="1"/>
          </p:cNvSpPr>
          <p:nvPr/>
        </p:nvSpPr>
        <p:spPr>
          <a:xfrm xmlns:a="http://schemas.openxmlformats.org/drawingml/2006/main">
            <a:off x="1714500" y="2571750"/>
            <a:ext cx="2190750" cy="0"/>
          </a:xfrm>
          <a:prstGeom xmlns:a="http://schemas.openxmlformats.org/drawingml/2006/main" prst="line">
            <a:avLst/>
          </a:prstGeom>
          <a:noFill xmlns:a="http://schemas.openxmlformats.org/drawingml/2006/main"/>
          <a:ln xmlns:a="http://schemas.openxmlformats.org/drawingml/2006/main" w="19050">
            <a:solidFill>
              <a:srgbClr val="1D5AA6"/>
            </a:solidFill>
            <a:prstDash val="solid"/>
          </a:ln>
        </p:spPr>
      </p:sp>
      <p:sp>
        <p:nvSpPr>
          <p:cNvPr id="22" name="">
            <a:extLst xmlns:a="http://schemas.openxmlformats.org/drawingml/2006/main">
              <a:ext uri="{FF2B5EF4-FFF2-40B4-BE49-F238E27FC236}">
                <a16:creationId xmlns:a16="http://schemas.microsoft.com/office/drawing/2014/main" id="{D9893E83-8811-4ABC-85DF-6C89FFAAA625}"/>
              </a:ext>
            </a:extLst>
          </p:cNvPr>
          <p:cNvSpPr>
            <a:spLocks xmlns:a="http://schemas.openxmlformats.org/drawingml/2006/main" noGrp="1"/>
          </p:cNvSpPr>
          <p:nvPr/>
        </p:nvSpPr>
        <p:spPr>
          <a:xfrm xmlns:a="http://schemas.openxmlformats.org/drawingml/2006/main">
            <a:off x="3752850" y="24574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1D5AA6"/>
                </a:solidFill>
                <a:latin typeface="Aptos"/>
                <a:ea typeface="Aptos"/>
                <a:cs typeface="Aptos"/>
              </a:defRPr>
            </a:pPr>
            <a:r>
              <a:rPr sz="1050" b="1" i="0">
                <a:solidFill>
                  <a:srgbClr val="1D5AA6"/>
                </a:solidFill>
                <a:latin typeface="Aptos"/>
                <a:ea typeface="Aptos"/>
                <a:cs typeface="Aptos"/>
              </a:rPr>
              <a:t>▶</a:t>
            </a:r>
          </a:p>
        </p:txBody>
      </p:sp>
      <p:sp>
        <p:nvSpPr>
          <p:cNvPr id="23" name="">
            <a:extLst xmlns:a="http://schemas.openxmlformats.org/drawingml/2006/main">
              <a:ext uri="{FF2B5EF4-FFF2-40B4-BE49-F238E27FC236}">
                <a16:creationId xmlns:a16="http://schemas.microsoft.com/office/drawing/2014/main" id="{7B1AEBFF-6964-4677-9A8C-CC965EED2335}"/>
              </a:ext>
            </a:extLst>
          </p:cNvPr>
          <p:cNvSpPr>
            <a:spLocks xmlns:a="http://schemas.openxmlformats.org/drawingml/2006/main" noGrp="1"/>
          </p:cNvSpPr>
          <p:nvPr/>
        </p:nvSpPr>
        <p:spPr>
          <a:xfrm xmlns:a="http://schemas.openxmlformats.org/drawingml/2006/main">
            <a:off x="1809750" y="23050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@mention / commande / réponse</a:t>
            </a:r>
          </a:p>
        </p:txBody>
      </p:sp>
      <p:sp>
        <p:nvSpPr>
          <p:cNvPr id="24" name="">
            <a:extLst xmlns:a="http://schemas.openxmlformats.org/drawingml/2006/main">
              <a:ext uri="{FF2B5EF4-FFF2-40B4-BE49-F238E27FC236}">
                <a16:creationId xmlns:a16="http://schemas.microsoft.com/office/drawing/2014/main" id="{4BBF6F06-AB26-4B92-8B86-D0285A3ABCE8}"/>
              </a:ext>
            </a:extLst>
          </p:cNvPr>
          <p:cNvSpPr>
            <a:spLocks xmlns:a="http://schemas.openxmlformats.org/drawingml/2006/main" noGrp="1"/>
          </p:cNvSpPr>
          <p:nvPr/>
        </p:nvSpPr>
        <p:spPr>
          <a:xfrm xmlns:a="http://schemas.openxmlformats.org/drawingml/2006/main">
            <a:off x="3905250" y="3067050"/>
            <a:ext cx="2190750" cy="0"/>
          </a:xfrm>
          <a:prstGeom xmlns:a="http://schemas.openxmlformats.org/drawingml/2006/main" prst="line">
            <a:avLst/>
          </a:prstGeom>
          <a:noFill xmlns:a="http://schemas.openxmlformats.org/drawingml/2006/main"/>
          <a:ln xmlns:a="http://schemas.openxmlformats.org/drawingml/2006/main" w="19050">
            <a:solidFill>
              <a:srgbClr val="2FB9DB"/>
            </a:solidFill>
            <a:prstDash val="solid"/>
          </a:ln>
        </p:spPr>
      </p:sp>
      <p:sp>
        <p:nvSpPr>
          <p:cNvPr id="25" name="">
            <a:extLst xmlns:a="http://schemas.openxmlformats.org/drawingml/2006/main">
              <a:ext uri="{FF2B5EF4-FFF2-40B4-BE49-F238E27FC236}">
                <a16:creationId xmlns:a16="http://schemas.microsoft.com/office/drawing/2014/main" id="{2CA5C398-CB80-4BFA-99BD-E94BB24BA705}"/>
              </a:ext>
            </a:extLst>
          </p:cNvPr>
          <p:cNvSpPr>
            <a:spLocks xmlns:a="http://schemas.openxmlformats.org/drawingml/2006/main" noGrp="1"/>
          </p:cNvSpPr>
          <p:nvPr/>
        </p:nvSpPr>
        <p:spPr>
          <a:xfrm xmlns:a="http://schemas.openxmlformats.org/drawingml/2006/main">
            <a:off x="5943600" y="29527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2FB9DB"/>
                </a:solidFill>
                <a:latin typeface="Aptos"/>
                <a:ea typeface="Aptos"/>
                <a:cs typeface="Aptos"/>
              </a:defRPr>
            </a:pPr>
            <a:r>
              <a:rPr sz="1050" b="1" i="0">
                <a:solidFill>
                  <a:srgbClr val="2FB9DB"/>
                </a:solidFill>
                <a:latin typeface="Aptos"/>
                <a:ea typeface="Aptos"/>
                <a:cs typeface="Aptos"/>
              </a:rPr>
              <a:t>▶</a:t>
            </a:r>
          </a:p>
        </p:txBody>
      </p:sp>
      <p:sp>
        <p:nvSpPr>
          <p:cNvPr id="26" name="">
            <a:extLst xmlns:a="http://schemas.openxmlformats.org/drawingml/2006/main">
              <a:ext uri="{FF2B5EF4-FFF2-40B4-BE49-F238E27FC236}">
                <a16:creationId xmlns:a16="http://schemas.microsoft.com/office/drawing/2014/main" id="{3F6C424E-FE7F-4215-89F9-6855951DC3A2}"/>
              </a:ext>
            </a:extLst>
          </p:cNvPr>
          <p:cNvSpPr>
            <a:spLocks xmlns:a="http://schemas.openxmlformats.org/drawingml/2006/main" noGrp="1"/>
          </p:cNvSpPr>
          <p:nvPr/>
        </p:nvSpPr>
        <p:spPr>
          <a:xfrm xmlns:a="http://schemas.openxmlformats.org/drawingml/2006/main">
            <a:off x="4000500" y="28003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update</a:t>
            </a:r>
          </a:p>
        </p:txBody>
      </p:sp>
      <p:sp>
        <p:nvSpPr>
          <p:cNvPr id="27" name="">
            <a:extLst xmlns:a="http://schemas.openxmlformats.org/drawingml/2006/main">
              <a:ext uri="{FF2B5EF4-FFF2-40B4-BE49-F238E27FC236}">
                <a16:creationId xmlns:a16="http://schemas.microsoft.com/office/drawing/2014/main" id="{DCD44CF9-5879-4A84-AD06-BECD51EEB1B5}"/>
              </a:ext>
            </a:extLst>
          </p:cNvPr>
          <p:cNvSpPr>
            <a:spLocks xmlns:a="http://schemas.openxmlformats.org/drawingml/2006/main" noGrp="1"/>
          </p:cNvSpPr>
          <p:nvPr/>
        </p:nvSpPr>
        <p:spPr>
          <a:xfrm xmlns:a="http://schemas.openxmlformats.org/drawingml/2006/main">
            <a:off x="6096000" y="3562350"/>
            <a:ext cx="2190750" cy="0"/>
          </a:xfrm>
          <a:prstGeom xmlns:a="http://schemas.openxmlformats.org/drawingml/2006/main" prst="line">
            <a:avLst/>
          </a:prstGeom>
          <a:noFill xmlns:a="http://schemas.openxmlformats.org/drawingml/2006/main"/>
          <a:ln xmlns:a="http://schemas.openxmlformats.org/drawingml/2006/main" w="19050">
            <a:solidFill>
              <a:srgbClr val="1D5AA6"/>
            </a:solidFill>
            <a:prstDash val="solid"/>
          </a:ln>
        </p:spPr>
      </p:sp>
      <p:sp>
        <p:nvSpPr>
          <p:cNvPr id="28" name="">
            <a:extLst xmlns:a="http://schemas.openxmlformats.org/drawingml/2006/main">
              <a:ext uri="{FF2B5EF4-FFF2-40B4-BE49-F238E27FC236}">
                <a16:creationId xmlns:a16="http://schemas.microsoft.com/office/drawing/2014/main" id="{9A5FF1EC-C659-4641-BB48-E07C6827F6D5}"/>
              </a:ext>
            </a:extLst>
          </p:cNvPr>
          <p:cNvSpPr>
            <a:spLocks xmlns:a="http://schemas.openxmlformats.org/drawingml/2006/main" noGrp="1"/>
          </p:cNvSpPr>
          <p:nvPr/>
        </p:nvSpPr>
        <p:spPr>
          <a:xfrm xmlns:a="http://schemas.openxmlformats.org/drawingml/2006/main">
            <a:off x="8134350" y="34480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1D5AA6"/>
                </a:solidFill>
                <a:latin typeface="Aptos"/>
                <a:ea typeface="Aptos"/>
                <a:cs typeface="Aptos"/>
              </a:defRPr>
            </a:pPr>
            <a:r>
              <a:rPr sz="1050" b="1" i="0">
                <a:solidFill>
                  <a:srgbClr val="1D5AA6"/>
                </a:solidFill>
                <a:latin typeface="Aptos"/>
                <a:ea typeface="Aptos"/>
                <a:cs typeface="Aptos"/>
              </a:rPr>
              <a:t>▶</a:t>
            </a:r>
          </a:p>
        </p:txBody>
      </p:sp>
      <p:sp>
        <p:nvSpPr>
          <p:cNvPr id="29" name="">
            <a:extLst xmlns:a="http://schemas.openxmlformats.org/drawingml/2006/main">
              <a:ext uri="{FF2B5EF4-FFF2-40B4-BE49-F238E27FC236}">
                <a16:creationId xmlns:a16="http://schemas.microsoft.com/office/drawing/2014/main" id="{0AE3E1A2-051C-44C9-A6A1-62761C657471}"/>
              </a:ext>
            </a:extLst>
          </p:cNvPr>
          <p:cNvSpPr>
            <a:spLocks xmlns:a="http://schemas.openxmlformats.org/drawingml/2006/main" noGrp="1"/>
          </p:cNvSpPr>
          <p:nvPr/>
        </p:nvSpPr>
        <p:spPr>
          <a:xfrm xmlns:a="http://schemas.openxmlformats.org/drawingml/2006/main">
            <a:off x="6191250" y="32956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vérifier groupe + idempotence</a:t>
            </a:r>
          </a:p>
        </p:txBody>
      </p:sp>
      <p:sp>
        <p:nvSpPr>
          <p:cNvPr id="30" name="">
            <a:extLst xmlns:a="http://schemas.openxmlformats.org/drawingml/2006/main">
              <a:ext uri="{FF2B5EF4-FFF2-40B4-BE49-F238E27FC236}">
                <a16:creationId xmlns:a16="http://schemas.microsoft.com/office/drawing/2014/main" id="{B2C54E1C-6250-493D-823D-4A6C56CAEC73}"/>
              </a:ext>
            </a:extLst>
          </p:cNvPr>
          <p:cNvSpPr>
            <a:spLocks xmlns:a="http://schemas.openxmlformats.org/drawingml/2006/main" noGrp="1"/>
          </p:cNvSpPr>
          <p:nvPr/>
        </p:nvSpPr>
        <p:spPr>
          <a:xfrm xmlns:a="http://schemas.openxmlformats.org/drawingml/2006/main">
            <a:off x="6096000" y="4057650"/>
            <a:ext cx="4381500" cy="0"/>
          </a:xfrm>
          <a:prstGeom xmlns:a="http://schemas.openxmlformats.org/drawingml/2006/main" prst="line">
            <a:avLst/>
          </a:prstGeom>
          <a:noFill xmlns:a="http://schemas.openxmlformats.org/drawingml/2006/main"/>
          <a:ln xmlns:a="http://schemas.openxmlformats.org/drawingml/2006/main" w="19050">
            <a:solidFill>
              <a:srgbClr val="D99520"/>
            </a:solidFill>
            <a:prstDash val="solid"/>
          </a:ln>
        </p:spPr>
      </p:sp>
      <p:sp>
        <p:nvSpPr>
          <p:cNvPr id="31" name="">
            <a:extLst xmlns:a="http://schemas.openxmlformats.org/drawingml/2006/main">
              <a:ext uri="{FF2B5EF4-FFF2-40B4-BE49-F238E27FC236}">
                <a16:creationId xmlns:a16="http://schemas.microsoft.com/office/drawing/2014/main" id="{6A97D40C-52CA-485F-A6E6-0DC8A5223944}"/>
              </a:ext>
            </a:extLst>
          </p:cNvPr>
          <p:cNvSpPr>
            <a:spLocks xmlns:a="http://schemas.openxmlformats.org/drawingml/2006/main" noGrp="1"/>
          </p:cNvSpPr>
          <p:nvPr/>
        </p:nvSpPr>
        <p:spPr>
          <a:xfrm xmlns:a="http://schemas.openxmlformats.org/drawingml/2006/main">
            <a:off x="10325100" y="39433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D99520"/>
                </a:solidFill>
                <a:latin typeface="Aptos"/>
                <a:ea typeface="Aptos"/>
                <a:cs typeface="Aptos"/>
              </a:defRPr>
            </a:pPr>
            <a:r>
              <a:rPr sz="1050" b="1" i="0">
                <a:solidFill>
                  <a:srgbClr val="D99520"/>
                </a:solidFill>
                <a:latin typeface="Aptos"/>
                <a:ea typeface="Aptos"/>
                <a:cs typeface="Aptos"/>
              </a:rPr>
              <a:t>▶</a:t>
            </a:r>
          </a:p>
        </p:txBody>
      </p:sp>
      <p:sp>
        <p:nvSpPr>
          <p:cNvPr id="32" name="">
            <a:extLst xmlns:a="http://schemas.openxmlformats.org/drawingml/2006/main">
              <a:ext uri="{FF2B5EF4-FFF2-40B4-BE49-F238E27FC236}">
                <a16:creationId xmlns:a16="http://schemas.microsoft.com/office/drawing/2014/main" id="{4036DA67-DAFA-4E53-B3AE-4962DB27676E}"/>
              </a:ext>
            </a:extLst>
          </p:cNvPr>
          <p:cNvSpPr>
            <a:spLocks xmlns:a="http://schemas.openxmlformats.org/drawingml/2006/main" noGrp="1"/>
          </p:cNvSpPr>
          <p:nvPr/>
        </p:nvSpPr>
        <p:spPr>
          <a:xfrm xmlns:a="http://schemas.openxmlformats.org/drawingml/2006/main">
            <a:off x="6191250" y="379095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prompt fixe, données bornées</a:t>
            </a:r>
          </a:p>
        </p:txBody>
      </p:sp>
      <p:sp>
        <p:nvSpPr>
          <p:cNvPr id="33" name="">
            <a:extLst xmlns:a="http://schemas.openxmlformats.org/drawingml/2006/main">
              <a:ext uri="{FF2B5EF4-FFF2-40B4-BE49-F238E27FC236}">
                <a16:creationId xmlns:a16="http://schemas.microsoft.com/office/drawing/2014/main" id="{F763CC49-48AE-4971-9534-3B4DBAB50048}"/>
              </a:ext>
            </a:extLst>
          </p:cNvPr>
          <p:cNvSpPr>
            <a:spLocks xmlns:a="http://schemas.openxmlformats.org/drawingml/2006/main" noGrp="1"/>
          </p:cNvSpPr>
          <p:nvPr/>
        </p:nvSpPr>
        <p:spPr>
          <a:xfrm xmlns:a="http://schemas.openxmlformats.org/drawingml/2006/main">
            <a:off x="6096000" y="4552950"/>
            <a:ext cx="4381500" cy="0"/>
          </a:xfrm>
          <a:prstGeom xmlns:a="http://schemas.openxmlformats.org/drawingml/2006/main" prst="line">
            <a:avLst/>
          </a:prstGeom>
          <a:noFill xmlns:a="http://schemas.openxmlformats.org/drawingml/2006/main"/>
          <a:ln xmlns:a="http://schemas.openxmlformats.org/drawingml/2006/main" w="19050">
            <a:solidFill>
              <a:srgbClr val="D99520"/>
            </a:solidFill>
            <a:prstDash val="solid"/>
          </a:ln>
        </p:spPr>
      </p:sp>
      <p:sp>
        <p:nvSpPr>
          <p:cNvPr id="34" name="">
            <a:extLst xmlns:a="http://schemas.openxmlformats.org/drawingml/2006/main">
              <a:ext uri="{FF2B5EF4-FFF2-40B4-BE49-F238E27FC236}">
                <a16:creationId xmlns:a16="http://schemas.microsoft.com/office/drawing/2014/main" id="{3456F9EE-470E-4B98-BAEA-C66ECC9560F2}"/>
              </a:ext>
            </a:extLst>
          </p:cNvPr>
          <p:cNvSpPr>
            <a:spLocks xmlns:a="http://schemas.openxmlformats.org/drawingml/2006/main" noGrp="1"/>
          </p:cNvSpPr>
          <p:nvPr/>
        </p:nvSpPr>
        <p:spPr>
          <a:xfrm xmlns:a="http://schemas.openxmlformats.org/drawingml/2006/main">
            <a:off x="6019800" y="44386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D99520"/>
                </a:solidFill>
                <a:latin typeface="Aptos"/>
                <a:ea typeface="Aptos"/>
                <a:cs typeface="Aptos"/>
              </a:defRPr>
            </a:pPr>
            <a:r>
              <a:rPr sz="1050" b="1" i="0">
                <a:solidFill>
                  <a:srgbClr val="D99520"/>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DB133372-5D53-414D-A9B7-8C96C1AFDADB}"/>
              </a:ext>
            </a:extLst>
          </p:cNvPr>
          <p:cNvSpPr>
            <a:spLocks xmlns:a="http://schemas.openxmlformats.org/drawingml/2006/main" noGrp="1"/>
          </p:cNvSpPr>
          <p:nvPr/>
        </p:nvSpPr>
        <p:spPr>
          <a:xfrm xmlns:a="http://schemas.openxmlformats.org/drawingml/2006/main">
            <a:off x="6191250" y="428625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réponse</a:t>
            </a:r>
          </a:p>
        </p:txBody>
      </p:sp>
      <p:sp>
        <p:nvSpPr>
          <p:cNvPr id="36" name="">
            <a:extLst xmlns:a="http://schemas.openxmlformats.org/drawingml/2006/main">
              <a:ext uri="{FF2B5EF4-FFF2-40B4-BE49-F238E27FC236}">
                <a16:creationId xmlns:a16="http://schemas.microsoft.com/office/drawing/2014/main" id="{F21547D1-6EB1-4780-9E4C-68FD3D2F4674}"/>
              </a:ext>
            </a:extLst>
          </p:cNvPr>
          <p:cNvSpPr>
            <a:spLocks xmlns:a="http://schemas.openxmlformats.org/drawingml/2006/main" noGrp="1"/>
          </p:cNvSpPr>
          <p:nvPr/>
        </p:nvSpPr>
        <p:spPr>
          <a:xfrm xmlns:a="http://schemas.openxmlformats.org/drawingml/2006/main">
            <a:off x="3905250" y="5048250"/>
            <a:ext cx="2190750" cy="0"/>
          </a:xfrm>
          <a:prstGeom xmlns:a="http://schemas.openxmlformats.org/drawingml/2006/main" prst="line">
            <a:avLst/>
          </a:prstGeom>
          <a:noFill xmlns:a="http://schemas.openxmlformats.org/drawingml/2006/main"/>
          <a:ln xmlns:a="http://schemas.openxmlformats.org/drawingml/2006/main" w="19050">
            <a:solidFill>
              <a:srgbClr val="2E9D69"/>
            </a:solidFill>
            <a:prstDash val="solid"/>
          </a:ln>
        </p:spPr>
      </p:sp>
      <p:sp>
        <p:nvSpPr>
          <p:cNvPr id="37" name="">
            <a:extLst xmlns:a="http://schemas.openxmlformats.org/drawingml/2006/main">
              <a:ext uri="{FF2B5EF4-FFF2-40B4-BE49-F238E27FC236}">
                <a16:creationId xmlns:a16="http://schemas.microsoft.com/office/drawing/2014/main" id="{BF68F60B-6B31-4EFD-BD81-1B8DD36F8647}"/>
              </a:ext>
            </a:extLst>
          </p:cNvPr>
          <p:cNvSpPr>
            <a:spLocks xmlns:a="http://schemas.openxmlformats.org/drawingml/2006/main" noGrp="1"/>
          </p:cNvSpPr>
          <p:nvPr/>
        </p:nvSpPr>
        <p:spPr>
          <a:xfrm xmlns:a="http://schemas.openxmlformats.org/drawingml/2006/main">
            <a:off x="3829050" y="4933950"/>
            <a:ext cx="228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defRPr sz="1050" b="1" i="0">
                <a:solidFill>
                  <a:srgbClr val="2E9D69"/>
                </a:solidFill>
                <a:latin typeface="Aptos"/>
                <a:ea typeface="Aptos"/>
                <a:cs typeface="Aptos"/>
              </a:defRPr>
            </a:pPr>
            <a:r>
              <a:rPr sz="1050" b="1" i="0">
                <a:solidFill>
                  <a:srgbClr val="2E9D69"/>
                </a:solidFill>
                <a:latin typeface="Aptos"/>
                <a:ea typeface="Aptos"/>
                <a:cs typeface="Aptos"/>
              </a:rPr>
              <a:t>◀</a:t>
            </a:r>
          </a:p>
        </p:txBody>
      </p:sp>
      <p:sp>
        <p:nvSpPr>
          <p:cNvPr id="38" name="">
            <a:extLst xmlns:a="http://schemas.openxmlformats.org/drawingml/2006/main">
              <a:ext uri="{FF2B5EF4-FFF2-40B4-BE49-F238E27FC236}">
                <a16:creationId xmlns:a16="http://schemas.microsoft.com/office/drawing/2014/main" id="{C6ECAE71-0293-464B-ACFA-E60998606373}"/>
              </a:ext>
            </a:extLst>
          </p:cNvPr>
          <p:cNvSpPr>
            <a:spLocks xmlns:a="http://schemas.openxmlformats.org/drawingml/2006/main" noGrp="1"/>
          </p:cNvSpPr>
          <p:nvPr/>
        </p:nvSpPr>
        <p:spPr>
          <a:xfrm xmlns:a="http://schemas.openxmlformats.org/drawingml/2006/main">
            <a:off x="4000500" y="4781550"/>
            <a:ext cx="200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defRPr sz="1050" b="1" i="0">
                <a:solidFill>
                  <a:srgbClr val="101828"/>
                </a:solidFill>
                <a:latin typeface="Aptos"/>
                <a:ea typeface="Aptos"/>
                <a:cs typeface="Aptos"/>
              </a:defRPr>
            </a:pPr>
            <a:r>
              <a:rPr sz="1050" b="1" i="0">
                <a:solidFill>
                  <a:srgbClr val="101828"/>
                </a:solidFill>
                <a:latin typeface="Aptos"/>
                <a:ea typeface="Aptos"/>
                <a:cs typeface="Aptos"/>
              </a:rPr>
              <a:t>envoi segmenté + accusé</a:t>
            </a:r>
          </a:p>
        </p:txBody>
      </p:sp>
      <p:sp>
        <p:nvSpPr>
          <p:cNvPr id="39" name="">
            <a:extLst xmlns:a="http://schemas.openxmlformats.org/drawingml/2006/main">
              <a:ext uri="{FF2B5EF4-FFF2-40B4-BE49-F238E27FC236}">
                <a16:creationId xmlns:a16="http://schemas.microsoft.com/office/drawing/2014/main" id="{53DB0FA1-6FCE-444C-815E-EA957F3FA0F7}"/>
              </a:ext>
            </a:extLst>
          </p:cNvPr>
          <p:cNvSpPr>
            <a:spLocks xmlns:a="http://schemas.openxmlformats.org/drawingml/2006/main" noGrp="1"/>
          </p:cNvSpPr>
          <p:nvPr/>
        </p:nvSpPr>
        <p:spPr>
          <a:xfrm xmlns:a="http://schemas.openxmlformats.org/drawingml/2006/main">
            <a:off x="1619250" y="5657850"/>
            <a:ext cx="2000250" cy="285750"/>
          </a:xfrm>
          <a:prstGeom xmlns:a="http://schemas.openxmlformats.org/drawingml/2006/main" prst="roundRect">
            <a:avLst>
              <a:gd name="adj" fmla="val 50000"/>
            </a:avLst>
          </a:prstGeom>
          <a:solidFill xmlns:a="http://schemas.openxmlformats.org/drawingml/2006/main">
            <a:srgbClr val="FBEAEC"/>
          </a:solidFill>
          <a:ln xmlns:a="http://schemas.openxmlformats.org/drawingml/2006/main" w="9525">
            <a:solidFill>
              <a:srgbClr val="C84B55"/>
            </a:solidFill>
            <a:prstDash val="solid"/>
          </a:ln>
        </p:spPr>
      </p:sp>
      <p:sp>
        <p:nvSpPr>
          <p:cNvPr id="40" name="">
            <a:extLst xmlns:a="http://schemas.openxmlformats.org/drawingml/2006/main">
              <a:ext uri="{FF2B5EF4-FFF2-40B4-BE49-F238E27FC236}">
                <a16:creationId xmlns:a16="http://schemas.microsoft.com/office/drawing/2014/main" id="{29BE2981-20C7-4D4C-8F1E-4D4E7ECDC4CA}"/>
              </a:ext>
            </a:extLst>
          </p:cNvPr>
          <p:cNvSpPr>
            <a:spLocks xmlns:a="http://schemas.openxmlformats.org/drawingml/2006/main" noGrp="1"/>
          </p:cNvSpPr>
          <p:nvPr/>
        </p:nvSpPr>
        <p:spPr>
          <a:xfrm xmlns:a="http://schemas.openxmlformats.org/drawingml/2006/main">
            <a:off x="1657350" y="566737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975" b="1" i="0">
                <a:solidFill>
                  <a:srgbClr val="C84B55"/>
                </a:solidFill>
                <a:latin typeface="Aptos"/>
                <a:ea typeface="Aptos"/>
                <a:cs typeface="Aptos"/>
              </a:defRPr>
            </a:pPr>
            <a:r>
              <a:rPr sz="975" b="1" i="0">
                <a:solidFill>
                  <a:srgbClr val="C84B55"/>
                </a:solidFill>
                <a:latin typeface="Aptos"/>
                <a:ea typeface="Aptos"/>
                <a:cs typeface="Aptos"/>
              </a:rPr>
              <a:t>messages privés ignorés</a:t>
            </a:r>
          </a:p>
        </p:txBody>
      </p:sp>
      <p:sp>
        <p:nvSpPr>
          <p:cNvPr id="41" name="">
            <a:extLst xmlns:a="http://schemas.openxmlformats.org/drawingml/2006/main">
              <a:ext uri="{FF2B5EF4-FFF2-40B4-BE49-F238E27FC236}">
                <a16:creationId xmlns:a16="http://schemas.microsoft.com/office/drawing/2014/main" id="{33DF5FF4-9E46-40A1-9316-7657706B17AF}"/>
              </a:ext>
            </a:extLst>
          </p:cNvPr>
          <p:cNvSpPr>
            <a:spLocks xmlns:a="http://schemas.openxmlformats.org/drawingml/2006/main" noGrp="1"/>
          </p:cNvSpPr>
          <p:nvPr/>
        </p:nvSpPr>
        <p:spPr>
          <a:xfrm xmlns:a="http://schemas.openxmlformats.org/drawingml/2006/main">
            <a:off x="5095875" y="5657850"/>
            <a:ext cx="2000250" cy="285750"/>
          </a:xfrm>
          <a:prstGeom xmlns:a="http://schemas.openxmlformats.org/drawingml/2006/main" prst="roundRect">
            <a:avLst>
              <a:gd name="adj" fmla="val 50000"/>
            </a:avLst>
          </a:prstGeom>
          <a:solidFill xmlns:a="http://schemas.openxmlformats.org/drawingml/2006/main">
            <a:srgbClr val="EAF2FB"/>
          </a:solidFill>
          <a:ln xmlns:a="http://schemas.openxmlformats.org/drawingml/2006/main" w="9525">
            <a:solidFill>
              <a:srgbClr val="1D5AA6"/>
            </a:solidFill>
            <a:prstDash val="solid"/>
          </a:ln>
        </p:spPr>
      </p:sp>
      <p:sp>
        <p:nvSpPr>
          <p:cNvPr id="42" name="">
            <a:extLst xmlns:a="http://schemas.openxmlformats.org/drawingml/2006/main">
              <a:ext uri="{FF2B5EF4-FFF2-40B4-BE49-F238E27FC236}">
                <a16:creationId xmlns:a16="http://schemas.microsoft.com/office/drawing/2014/main" id="{78D63F7E-45A4-42E7-9DEB-71AD27B9B2AB}"/>
              </a:ext>
            </a:extLst>
          </p:cNvPr>
          <p:cNvSpPr>
            <a:spLocks xmlns:a="http://schemas.openxmlformats.org/drawingml/2006/main" noGrp="1"/>
          </p:cNvSpPr>
          <p:nvPr/>
        </p:nvSpPr>
        <p:spPr>
          <a:xfrm xmlns:a="http://schemas.openxmlformats.org/drawingml/2006/main">
            <a:off x="5133975" y="5667375"/>
            <a:ext cx="19240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975" b="1" i="0">
                <a:solidFill>
                  <a:srgbClr val="1D5AA6"/>
                </a:solidFill>
                <a:latin typeface="Aptos"/>
                <a:ea typeface="Aptos"/>
                <a:cs typeface="Aptos"/>
              </a:defRPr>
            </a:pPr>
            <a:r>
              <a:rPr sz="975" b="1" i="0">
                <a:solidFill>
                  <a:srgbClr val="1D5AA6"/>
                </a:solidFill>
                <a:latin typeface="Aptos"/>
                <a:ea typeface="Aptos"/>
                <a:cs typeface="Aptos"/>
              </a:rPr>
              <a:t>contenu non persisté</a:t>
            </a:r>
          </a:p>
        </p:txBody>
      </p:sp>
      <p:sp>
        <p:nvSpPr>
          <p:cNvPr id="43" name="">
            <a:extLst xmlns:a="http://schemas.openxmlformats.org/drawingml/2006/main">
              <a:ext uri="{FF2B5EF4-FFF2-40B4-BE49-F238E27FC236}">
                <a16:creationId xmlns:a16="http://schemas.microsoft.com/office/drawing/2014/main" id="{70E83233-9F70-43EA-9ADE-BF3B5370DA3C}"/>
              </a:ext>
            </a:extLst>
          </p:cNvPr>
          <p:cNvSpPr>
            <a:spLocks xmlns:a="http://schemas.openxmlformats.org/drawingml/2006/main" noGrp="1"/>
          </p:cNvSpPr>
          <p:nvPr/>
        </p:nvSpPr>
        <p:spPr>
          <a:xfrm xmlns:a="http://schemas.openxmlformats.org/drawingml/2006/main">
            <a:off x="8572500" y="5657850"/>
            <a:ext cx="2190750" cy="285750"/>
          </a:xfrm>
          <a:prstGeom xmlns:a="http://schemas.openxmlformats.org/drawingml/2006/main" prst="roundRect">
            <a:avLst>
              <a:gd name="adj" fmla="val 50000"/>
            </a:avLst>
          </a:prstGeom>
          <a:solidFill xmlns:a="http://schemas.openxmlformats.org/drawingml/2006/main">
            <a:srgbClr val="E6F5EE"/>
          </a:solidFill>
          <a:ln xmlns:a="http://schemas.openxmlformats.org/drawingml/2006/main" w="9525">
            <a:solidFill>
              <a:srgbClr val="2E9D69"/>
            </a:solidFill>
            <a:prstDash val="solid"/>
          </a:ln>
        </p:spPr>
      </p:sp>
      <p:sp>
        <p:nvSpPr>
          <p:cNvPr id="44" name="">
            <a:extLst xmlns:a="http://schemas.openxmlformats.org/drawingml/2006/main">
              <a:ext uri="{FF2B5EF4-FFF2-40B4-BE49-F238E27FC236}">
                <a16:creationId xmlns:a16="http://schemas.microsoft.com/office/drawing/2014/main" id="{E893A008-5A75-4908-9714-6E7094396962}"/>
              </a:ext>
            </a:extLst>
          </p:cNvPr>
          <p:cNvSpPr>
            <a:spLocks xmlns:a="http://schemas.openxmlformats.org/drawingml/2006/main" noGrp="1"/>
          </p:cNvSpPr>
          <p:nvPr/>
        </p:nvSpPr>
        <p:spPr>
          <a:xfrm xmlns:a="http://schemas.openxmlformats.org/drawingml/2006/main">
            <a:off x="8610600" y="5667375"/>
            <a:ext cx="21145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975" b="1" i="0">
                <a:solidFill>
                  <a:srgbClr val="2E9D69"/>
                </a:solidFill>
                <a:latin typeface="Aptos"/>
                <a:ea typeface="Aptos"/>
                <a:cs typeface="Aptos"/>
              </a:defRPr>
            </a:pPr>
            <a:r>
              <a:rPr sz="975" b="1" i="0">
                <a:solidFill>
                  <a:srgbClr val="2E9D69"/>
                </a:solidFill>
                <a:latin typeface="Aptos"/>
                <a:ea typeface="Aptos"/>
                <a:cs typeface="Aptos"/>
              </a:rPr>
              <a:t>aucun renvoi incertain</a:t>
            </a:r>
          </a:p>
        </p:txBody>
      </p:sp>
    </p:spTree>
    <p:extLst>
      <p:ext uri="{BB962C8B-B14F-4D97-AF65-F5344CB8AC3E}">
        <p14:creationId xmlns:p14="http://schemas.microsoft.com/office/powerpoint/2010/main" val="1406437561"/>
      </p:ext>
    </p:extLst>
  </p:cSld>
</p:sld>
</file>

<file path=ppt/slides/slide12.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410E356A-0272-4647-A544-2608DCD00679}"/>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INTEROPÉRABILITÉ</a:t>
            </a:r>
          </a:p>
        </p:txBody>
      </p:sp>
      <p:sp>
        <p:nvSpPr>
          <p:cNvPr id="2" name="">
            <a:extLst xmlns:a="http://schemas.openxmlformats.org/drawingml/2006/main">
              <a:ext uri="{FF2B5EF4-FFF2-40B4-BE49-F238E27FC236}">
                <a16:creationId xmlns:a16="http://schemas.microsoft.com/office/drawing/2014/main" id="{0C32DF1B-E6E9-4AC2-800F-334FB2EC988B}"/>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MCP expose cinq outils étroits — l’agent garde la stratégie</a:t>
            </a:r>
          </a:p>
        </p:txBody>
      </p:sp>
      <p:sp>
        <p:nvSpPr>
          <p:cNvPr id="3" name="">
            <a:extLst xmlns:a="http://schemas.openxmlformats.org/drawingml/2006/main">
              <a:ext uri="{FF2B5EF4-FFF2-40B4-BE49-F238E27FC236}">
                <a16:creationId xmlns:a16="http://schemas.microsoft.com/office/drawing/2014/main" id="{260532FD-A23B-40D9-9761-4D7688DF5A9E}"/>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526DEF45-FFDD-469A-A02A-94CB5A80EFD1}"/>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192B3D2A-4361-4EB4-9C60-53A1DBBE35C4}"/>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12</a:t>
            </a:r>
          </a:p>
        </p:txBody>
      </p:sp>
      <p:sp>
        <p:nvSpPr>
          <p:cNvPr id="6" name="">
            <a:extLst xmlns:a="http://schemas.openxmlformats.org/drawingml/2006/main">
              <a:ext uri="{FF2B5EF4-FFF2-40B4-BE49-F238E27FC236}">
                <a16:creationId xmlns:a16="http://schemas.microsoft.com/office/drawing/2014/main" id="{4398592B-1FAF-40ED-8A4B-A7D6F3234629}"/>
              </a:ext>
            </a:extLst>
          </p:cNvPr>
          <p:cNvSpPr>
            <a:spLocks xmlns:a="http://schemas.openxmlformats.org/drawingml/2006/main" noGrp="1"/>
          </p:cNvSpPr>
          <p:nvPr/>
        </p:nvSpPr>
        <p:spPr>
          <a:xfrm xmlns:a="http://schemas.openxmlformats.org/drawingml/2006/main">
            <a:off x="495300" y="1752600"/>
            <a:ext cx="2857500" cy="4000500"/>
          </a:xfrm>
          <a:prstGeom xmlns:a="http://schemas.openxmlformats.org/drawingml/2006/main" prst="roundRect">
            <a:avLst>
              <a:gd name="adj" fmla="val 5333"/>
            </a:avLst>
          </a:prstGeom>
          <a:solidFill xmlns:a="http://schemas.openxmlformats.org/drawingml/2006/main">
            <a:srgbClr val="0B2545"/>
          </a:solidFill>
          <a:ln xmlns:a="http://schemas.openxmlformats.org/drawingml/2006/main" w="0">
            <a:solidFill>
              <a:srgbClr val="0B2545"/>
            </a:solidFill>
            <a:prstDash val="solid"/>
          </a:ln>
        </p:spPr>
      </p:sp>
      <p:sp>
        <p:nvSpPr>
          <p:cNvPr id="7" name="">
            <a:extLst xmlns:a="http://schemas.openxmlformats.org/drawingml/2006/main">
              <a:ext uri="{FF2B5EF4-FFF2-40B4-BE49-F238E27FC236}">
                <a16:creationId xmlns:a16="http://schemas.microsoft.com/office/drawing/2014/main" id="{CC47538C-AE81-4519-AF70-F5F6596F3117}"/>
              </a:ext>
            </a:extLst>
          </p:cNvPr>
          <p:cNvSpPr>
            <a:spLocks xmlns:a="http://schemas.openxmlformats.org/drawingml/2006/main" noGrp="1"/>
          </p:cNvSpPr>
          <p:nvPr/>
        </p:nvSpPr>
        <p:spPr>
          <a:xfrm xmlns:a="http://schemas.openxmlformats.org/drawingml/2006/main">
            <a:off x="781050" y="2057400"/>
            <a:ext cx="2286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4444"/>
          </a:bodyPr>
          <a:lstStyle xmlns:a="http://schemas.openxmlformats.org/drawingml/2006/main"/>
          <a:p xmlns:a="http://schemas.openxmlformats.org/drawingml/2006/main">
            <a:pPr algn="ctr">
              <a:defRPr sz="2250" b="1" i="0">
                <a:solidFill>
                  <a:srgbClr val="FFFFFF"/>
                </a:solidFill>
                <a:latin typeface="Aptos"/>
                <a:ea typeface="Aptos"/>
                <a:cs typeface="Aptos"/>
              </a:defRPr>
            </a:pPr>
            <a:r>
              <a:rPr sz="2250" b="1" i="0">
                <a:solidFill>
                  <a:srgbClr val="FFFFFF"/>
                </a:solidFill>
                <a:latin typeface="Aptos"/>
                <a:ea typeface="Aptos"/>
                <a:cs typeface="Aptos"/>
              </a:rPr>
              <a:t>Agent</a:t>
            </a:r>
          </a:p>
        </p:txBody>
      </p:sp>
      <p:sp>
        <p:nvSpPr>
          <p:cNvPr id="8" name="">
            <a:extLst xmlns:a="http://schemas.openxmlformats.org/drawingml/2006/main">
              <a:ext uri="{FF2B5EF4-FFF2-40B4-BE49-F238E27FC236}">
                <a16:creationId xmlns:a16="http://schemas.microsoft.com/office/drawing/2014/main" id="{3B6CB6F4-09F7-4456-AC7F-E96BE12C6F56}"/>
              </a:ext>
            </a:extLst>
          </p:cNvPr>
          <p:cNvSpPr>
            <a:spLocks xmlns:a="http://schemas.openxmlformats.org/drawingml/2006/main" noGrp="1"/>
          </p:cNvSpPr>
          <p:nvPr/>
        </p:nvSpPr>
        <p:spPr>
          <a:xfrm xmlns:a="http://schemas.openxmlformats.org/drawingml/2006/main">
            <a:off x="781050" y="2724150"/>
            <a:ext cx="228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1575" b="0" i="0">
                <a:solidFill>
                  <a:srgbClr val="D6E7F6"/>
                </a:solidFill>
                <a:latin typeface="Aptos"/>
                <a:ea typeface="Aptos"/>
                <a:cs typeface="Aptos"/>
              </a:defRPr>
            </a:pPr>
            <a:r>
              <a:rPr sz="1575" b="0" i="0">
                <a:solidFill>
                  <a:srgbClr val="D6E7F6"/>
                </a:solidFill>
                <a:latin typeface="Aptos"/>
                <a:ea typeface="Aptos"/>
                <a:cs typeface="Aptos"/>
              </a:rPr>
              <a:t>comprend l’intention</a:t>
            </a:r>
          </a:p>
          <a:p xmlns:a="http://schemas.openxmlformats.org/drawingml/2006/main">
            <a:pPr algn="ctr">
              <a:defRPr sz="1575" b="0" i="0">
                <a:solidFill>
                  <a:srgbClr val="D6E7F6"/>
                </a:solidFill>
                <a:latin typeface="Aptos"/>
                <a:ea typeface="Aptos"/>
                <a:cs typeface="Aptos"/>
              </a:defRPr>
            </a:pPr>
            <a:r>
              <a:rPr sz="1575" b="0" i="0">
                <a:solidFill>
                  <a:srgbClr val="D6E7F6"/>
                </a:solidFill>
                <a:latin typeface="Aptos"/>
                <a:ea typeface="Aptos"/>
                <a:cs typeface="Aptos"/>
              </a:rPr>
              <a:t>choisit l’outil</a:t>
            </a:r>
          </a:p>
          <a:p xmlns:a="http://schemas.openxmlformats.org/drawingml/2006/main">
            <a:pPr algn="ctr">
              <a:defRPr sz="1575" b="0" i="0">
                <a:solidFill>
                  <a:srgbClr val="D6E7F6"/>
                </a:solidFill>
                <a:latin typeface="Aptos"/>
                <a:ea typeface="Aptos"/>
                <a:cs typeface="Aptos"/>
              </a:defRPr>
            </a:pPr>
            <a:r>
              <a:rPr sz="1575" b="0" i="0">
                <a:solidFill>
                  <a:srgbClr val="D6E7F6"/>
                </a:solidFill>
                <a:latin typeface="Aptos"/>
                <a:ea typeface="Aptos"/>
                <a:cs typeface="Aptos"/>
              </a:rPr>
              <a:t>compose la réponse</a:t>
            </a:r>
          </a:p>
        </p:txBody>
      </p:sp>
      <p:sp>
        <p:nvSpPr>
          <p:cNvPr id="9" name="">
            <a:extLst xmlns:a="http://schemas.openxmlformats.org/drawingml/2006/main">
              <a:ext uri="{FF2B5EF4-FFF2-40B4-BE49-F238E27FC236}">
                <a16:creationId xmlns:a16="http://schemas.microsoft.com/office/drawing/2014/main" id="{A984E00C-2F54-453B-988A-DFCE3F8CF09F}"/>
              </a:ext>
            </a:extLst>
          </p:cNvPr>
          <p:cNvSpPr>
            <a:spLocks xmlns:a="http://schemas.openxmlformats.org/drawingml/2006/main" noGrp="1"/>
          </p:cNvSpPr>
          <p:nvPr/>
        </p:nvSpPr>
        <p:spPr>
          <a:xfrm xmlns:a="http://schemas.openxmlformats.org/drawingml/2006/main">
            <a:off x="1104900" y="4229100"/>
            <a:ext cx="1619250" cy="361950"/>
          </a:xfrm>
          <a:prstGeom xmlns:a="http://schemas.openxmlformats.org/drawingml/2006/main" prst="roundRect">
            <a:avLst>
              <a:gd name="adj" fmla="val 50000"/>
            </a:avLst>
          </a:prstGeom>
          <a:solidFill xmlns:a="http://schemas.openxmlformats.org/drawingml/2006/main">
            <a:srgbClr val="123968"/>
          </a:solidFill>
          <a:ln xmlns:a="http://schemas.openxmlformats.org/drawingml/2006/main" w="9525">
            <a:solidFill>
              <a:srgbClr val="2FB9DB"/>
            </a:solidFill>
            <a:prstDash val="solid"/>
          </a:ln>
        </p:spPr>
      </p:sp>
      <p:sp>
        <p:nvSpPr>
          <p:cNvPr id="10" name="">
            <a:extLst xmlns:a="http://schemas.openxmlformats.org/drawingml/2006/main">
              <a:ext uri="{FF2B5EF4-FFF2-40B4-BE49-F238E27FC236}">
                <a16:creationId xmlns:a16="http://schemas.microsoft.com/office/drawing/2014/main" id="{5D78AEE1-35C1-4B38-95D8-C52832859F98}"/>
              </a:ext>
            </a:extLst>
          </p:cNvPr>
          <p:cNvSpPr>
            <a:spLocks xmlns:a="http://schemas.openxmlformats.org/drawingml/2006/main" noGrp="1"/>
          </p:cNvSpPr>
          <p:nvPr/>
        </p:nvSpPr>
        <p:spPr>
          <a:xfrm xmlns:a="http://schemas.openxmlformats.org/drawingml/2006/main">
            <a:off x="1143000" y="4238625"/>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00" b="1" i="0">
                <a:solidFill>
                  <a:srgbClr val="2FB9DB"/>
                </a:solidFill>
                <a:latin typeface="Aptos"/>
                <a:ea typeface="Aptos"/>
                <a:cs typeface="Aptos"/>
              </a:defRPr>
            </a:pPr>
            <a:r>
              <a:rPr sz="1200" b="1" i="0">
                <a:solidFill>
                  <a:srgbClr val="2FB9DB"/>
                </a:solidFill>
                <a:latin typeface="Aptos"/>
                <a:ea typeface="Aptos"/>
                <a:cs typeface="Aptos"/>
              </a:rPr>
              <a:t>pas d’accès libre</a:t>
            </a:r>
          </a:p>
        </p:txBody>
      </p:sp>
      <p:sp>
        <p:nvSpPr>
          <p:cNvPr id="11" name="">
            <a:extLst xmlns:a="http://schemas.openxmlformats.org/drawingml/2006/main">
              <a:ext uri="{FF2B5EF4-FFF2-40B4-BE49-F238E27FC236}">
                <a16:creationId xmlns:a16="http://schemas.microsoft.com/office/drawing/2014/main" id="{E71701D3-9699-4C3E-B033-2EBB906A2BCA}"/>
              </a:ext>
            </a:extLst>
          </p:cNvPr>
          <p:cNvSpPr>
            <a:spLocks xmlns:a="http://schemas.openxmlformats.org/drawingml/2006/main" noGrp="1"/>
          </p:cNvSpPr>
          <p:nvPr/>
        </p:nvSpPr>
        <p:spPr>
          <a:xfrm xmlns:a="http://schemas.openxmlformats.org/drawingml/2006/main">
            <a:off x="1104900" y="4762500"/>
            <a:ext cx="1619250" cy="361950"/>
          </a:xfrm>
          <a:prstGeom xmlns:a="http://schemas.openxmlformats.org/drawingml/2006/main" prst="roundRect">
            <a:avLst>
              <a:gd name="adj" fmla="val 50000"/>
            </a:avLst>
          </a:prstGeom>
          <a:solidFill xmlns:a="http://schemas.openxmlformats.org/drawingml/2006/main">
            <a:srgbClr val="123968"/>
          </a:solidFill>
          <a:ln xmlns:a="http://schemas.openxmlformats.org/drawingml/2006/main" w="9525">
            <a:solidFill>
              <a:srgbClr val="2FB9DB"/>
            </a:solidFill>
            <a:prstDash val="solid"/>
          </a:ln>
        </p:spPr>
      </p:sp>
      <p:sp>
        <p:nvSpPr>
          <p:cNvPr id="12" name="">
            <a:extLst xmlns:a="http://schemas.openxmlformats.org/drawingml/2006/main">
              <a:ext uri="{FF2B5EF4-FFF2-40B4-BE49-F238E27FC236}">
                <a16:creationId xmlns:a16="http://schemas.microsoft.com/office/drawing/2014/main" id="{F25A5E23-4CCD-400A-93CF-9B26C155DE71}"/>
              </a:ext>
            </a:extLst>
          </p:cNvPr>
          <p:cNvSpPr>
            <a:spLocks xmlns:a="http://schemas.openxmlformats.org/drawingml/2006/main" noGrp="1"/>
          </p:cNvSpPr>
          <p:nvPr/>
        </p:nvSpPr>
        <p:spPr>
          <a:xfrm xmlns:a="http://schemas.openxmlformats.org/drawingml/2006/main">
            <a:off x="1143000" y="4772025"/>
            <a:ext cx="154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00" b="1" i="0">
                <a:solidFill>
                  <a:srgbClr val="2FB9DB"/>
                </a:solidFill>
                <a:latin typeface="Aptos"/>
                <a:ea typeface="Aptos"/>
                <a:cs typeface="Aptos"/>
              </a:defRPr>
            </a:pPr>
            <a:r>
              <a:rPr sz="1200" b="1" i="0">
                <a:solidFill>
                  <a:srgbClr val="2FB9DB"/>
                </a:solidFill>
                <a:latin typeface="Aptos"/>
                <a:ea typeface="Aptos"/>
                <a:cs typeface="Aptos"/>
              </a:rPr>
              <a:t>sorties bornées</a:t>
            </a:r>
          </a:p>
        </p:txBody>
      </p:sp>
      <p:sp>
        <p:nvSpPr>
          <p:cNvPr id="13" name="">
            <a:extLst xmlns:a="http://schemas.openxmlformats.org/drawingml/2006/main">
              <a:ext uri="{FF2B5EF4-FFF2-40B4-BE49-F238E27FC236}">
                <a16:creationId xmlns:a16="http://schemas.microsoft.com/office/drawing/2014/main" id="{79CA07FD-65FF-416B-98EA-CB5002C25D69}"/>
              </a:ext>
            </a:extLst>
          </p:cNvPr>
          <p:cNvSpPr>
            <a:spLocks xmlns:a="http://schemas.openxmlformats.org/drawingml/2006/main" noGrp="1"/>
          </p:cNvSpPr>
          <p:nvPr/>
        </p:nvSpPr>
        <p:spPr>
          <a:xfrm xmlns:a="http://schemas.openxmlformats.org/drawingml/2006/main">
            <a:off x="3810000" y="3200400"/>
            <a:ext cx="952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ctr">
            <a:normAutofit fontScale="100000"/>
          </a:bodyPr>
          <a:lstStyle xmlns:a="http://schemas.openxmlformats.org/drawingml/2006/main"/>
          <a:p xmlns:a="http://schemas.openxmlformats.org/drawingml/2006/main">
            <a:pPr algn="ctr">
              <a:defRPr sz="2100" b="1" i="0">
                <a:solidFill>
                  <a:srgbClr val="2FB9DB"/>
                </a:solidFill>
                <a:latin typeface="Aptos"/>
                <a:ea typeface="Aptos"/>
                <a:cs typeface="Aptos"/>
              </a:defRPr>
            </a:pPr>
            <a:r>
              <a:rPr sz="2100" b="1" i="0">
                <a:solidFill>
                  <a:srgbClr val="2FB9DB"/>
                </a:solidFill>
                <a:latin typeface="Aptos"/>
                <a:ea typeface="Aptos"/>
                <a:cs typeface="Aptos"/>
              </a:rPr>
              <a:t>MCP</a:t>
            </a:r>
          </a:p>
        </p:txBody>
      </p:sp>
      <p:sp>
        <p:nvSpPr>
          <p:cNvPr id="14" name="">
            <a:extLst xmlns:a="http://schemas.openxmlformats.org/drawingml/2006/main">
              <a:ext uri="{FF2B5EF4-FFF2-40B4-BE49-F238E27FC236}">
                <a16:creationId xmlns:a16="http://schemas.microsoft.com/office/drawing/2014/main" id="{30AFC174-BEBD-4E18-8C75-0C0DAF5C745C}"/>
              </a:ext>
            </a:extLst>
          </p:cNvPr>
          <p:cNvSpPr>
            <a:spLocks xmlns:a="http://schemas.openxmlformats.org/drawingml/2006/main" noGrp="1"/>
          </p:cNvSpPr>
          <p:nvPr/>
        </p:nvSpPr>
        <p:spPr>
          <a:xfrm xmlns:a="http://schemas.openxmlformats.org/drawingml/2006/main">
            <a:off x="3409950" y="3162300"/>
            <a:ext cx="5524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700" b="1" i="0">
                <a:solidFill>
                  <a:srgbClr val="1D5AA6"/>
                </a:solidFill>
                <a:latin typeface="Aptos"/>
                <a:ea typeface="Aptos"/>
                <a:cs typeface="Aptos"/>
              </a:defRPr>
            </a:pPr>
            <a:r>
              <a:rPr sz="2700" b="1" i="0">
                <a:solidFill>
                  <a:srgbClr val="1D5AA6"/>
                </a:solidFill>
                <a:latin typeface="Aptos"/>
                <a:ea typeface="Aptos"/>
                <a:cs typeface="Aptos"/>
              </a:rPr>
              <a:t>→</a:t>
            </a:r>
          </a:p>
        </p:txBody>
      </p:sp>
      <p:sp>
        <p:nvSpPr>
          <p:cNvPr id="15" name="">
            <a:extLst xmlns:a="http://schemas.openxmlformats.org/drawingml/2006/main">
              <a:ext uri="{FF2B5EF4-FFF2-40B4-BE49-F238E27FC236}">
                <a16:creationId xmlns:a16="http://schemas.microsoft.com/office/drawing/2014/main" id="{08BF0830-2D3C-4805-B2EB-CDD1E0492F18}"/>
              </a:ext>
            </a:extLst>
          </p:cNvPr>
          <p:cNvSpPr>
            <a:spLocks xmlns:a="http://schemas.openxmlformats.org/drawingml/2006/main" noGrp="1"/>
          </p:cNvSpPr>
          <p:nvPr/>
        </p:nvSpPr>
        <p:spPr>
          <a:xfrm xmlns:a="http://schemas.openxmlformats.org/drawingml/2006/main">
            <a:off x="4857750" y="1847850"/>
            <a:ext cx="2628900" cy="9906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C055673B-F6BD-40CA-A888-9C25B87FA24B}"/>
              </a:ext>
            </a:extLst>
          </p:cNvPr>
          <p:cNvSpPr>
            <a:spLocks xmlns:a="http://schemas.openxmlformats.org/drawingml/2006/main" noGrp="1"/>
          </p:cNvSpPr>
          <p:nvPr/>
        </p:nvSpPr>
        <p:spPr>
          <a:xfrm xmlns:a="http://schemas.openxmlformats.org/drawingml/2006/main">
            <a:off x="5010150" y="2019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collect_tenders</a:t>
            </a:r>
          </a:p>
        </p:txBody>
      </p:sp>
      <p:sp>
        <p:nvSpPr>
          <p:cNvPr id="17" name="">
            <a:extLst xmlns:a="http://schemas.openxmlformats.org/drawingml/2006/main">
              <a:ext uri="{FF2B5EF4-FFF2-40B4-BE49-F238E27FC236}">
                <a16:creationId xmlns:a16="http://schemas.microsoft.com/office/drawing/2014/main" id="{046AD917-2E09-4A87-9059-B18C322FDC8B}"/>
              </a:ext>
            </a:extLst>
          </p:cNvPr>
          <p:cNvSpPr>
            <a:spLocks xmlns:a="http://schemas.openxmlformats.org/drawingml/2006/main" noGrp="1"/>
          </p:cNvSpPr>
          <p:nvPr/>
        </p:nvSpPr>
        <p:spPr>
          <a:xfrm xmlns:a="http://schemas.openxmlformats.org/drawingml/2006/main">
            <a:off x="5010150" y="2400300"/>
            <a:ext cx="232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8889"/>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collecte + journal</a:t>
            </a:r>
          </a:p>
        </p:txBody>
      </p:sp>
      <p:sp>
        <p:nvSpPr>
          <p:cNvPr id="18" name="">
            <a:extLst xmlns:a="http://schemas.openxmlformats.org/drawingml/2006/main">
              <a:ext uri="{FF2B5EF4-FFF2-40B4-BE49-F238E27FC236}">
                <a16:creationId xmlns:a16="http://schemas.microsoft.com/office/drawing/2014/main" id="{BA805D23-9E42-4B30-A909-183E8DBF105F}"/>
              </a:ext>
            </a:extLst>
          </p:cNvPr>
          <p:cNvSpPr>
            <a:spLocks xmlns:a="http://schemas.openxmlformats.org/drawingml/2006/main" noGrp="1"/>
          </p:cNvSpPr>
          <p:nvPr/>
        </p:nvSpPr>
        <p:spPr>
          <a:xfrm xmlns:a="http://schemas.openxmlformats.org/drawingml/2006/main">
            <a:off x="7829550" y="1847850"/>
            <a:ext cx="2628900" cy="9906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304360DF-1558-4BBD-BA11-622D8656A7D3}"/>
              </a:ext>
            </a:extLst>
          </p:cNvPr>
          <p:cNvSpPr>
            <a:spLocks xmlns:a="http://schemas.openxmlformats.org/drawingml/2006/main" noGrp="1"/>
          </p:cNvSpPr>
          <p:nvPr/>
        </p:nvSpPr>
        <p:spPr>
          <a:xfrm xmlns:a="http://schemas.openxmlformats.org/drawingml/2006/main">
            <a:off x="7981950" y="2019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list_open_tenders</a:t>
            </a:r>
          </a:p>
        </p:txBody>
      </p:sp>
      <p:sp>
        <p:nvSpPr>
          <p:cNvPr id="20" name="">
            <a:extLst xmlns:a="http://schemas.openxmlformats.org/drawingml/2006/main">
              <a:ext uri="{FF2B5EF4-FFF2-40B4-BE49-F238E27FC236}">
                <a16:creationId xmlns:a16="http://schemas.microsoft.com/office/drawing/2014/main" id="{C04DD773-484B-41B0-B436-F9E8D16360ED}"/>
              </a:ext>
            </a:extLst>
          </p:cNvPr>
          <p:cNvSpPr>
            <a:spLocks xmlns:a="http://schemas.openxmlformats.org/drawingml/2006/main" noGrp="1"/>
          </p:cNvSpPr>
          <p:nvPr/>
        </p:nvSpPr>
        <p:spPr>
          <a:xfrm xmlns:a="http://schemas.openxmlformats.org/drawingml/2006/main">
            <a:off x="7981950" y="2400300"/>
            <a:ext cx="232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8889"/>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liste filtrée</a:t>
            </a:r>
          </a:p>
        </p:txBody>
      </p:sp>
      <p:sp>
        <p:nvSpPr>
          <p:cNvPr id="21" name="">
            <a:extLst xmlns:a="http://schemas.openxmlformats.org/drawingml/2006/main">
              <a:ext uri="{FF2B5EF4-FFF2-40B4-BE49-F238E27FC236}">
                <a16:creationId xmlns:a16="http://schemas.microsoft.com/office/drawing/2014/main" id="{9441DB98-976D-4DDF-A39B-77494F97995C}"/>
              </a:ext>
            </a:extLst>
          </p:cNvPr>
          <p:cNvSpPr>
            <a:spLocks xmlns:a="http://schemas.openxmlformats.org/drawingml/2006/main" noGrp="1"/>
          </p:cNvSpPr>
          <p:nvPr/>
        </p:nvSpPr>
        <p:spPr>
          <a:xfrm xmlns:a="http://schemas.openxmlformats.org/drawingml/2006/main">
            <a:off x="4857750" y="3181350"/>
            <a:ext cx="2628900" cy="9906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F01D9926-69BF-4F62-98EA-AB96EA23D5D0}"/>
              </a:ext>
            </a:extLst>
          </p:cNvPr>
          <p:cNvSpPr>
            <a:spLocks xmlns:a="http://schemas.openxmlformats.org/drawingml/2006/main" noGrp="1"/>
          </p:cNvSpPr>
          <p:nvPr/>
        </p:nvSpPr>
        <p:spPr>
          <a:xfrm xmlns:a="http://schemas.openxmlformats.org/drawingml/2006/main">
            <a:off x="5010150" y="33528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get_tender</a:t>
            </a:r>
          </a:p>
        </p:txBody>
      </p:sp>
      <p:sp>
        <p:nvSpPr>
          <p:cNvPr id="23" name="">
            <a:extLst xmlns:a="http://schemas.openxmlformats.org/drawingml/2006/main">
              <a:ext uri="{FF2B5EF4-FFF2-40B4-BE49-F238E27FC236}">
                <a16:creationId xmlns:a16="http://schemas.microsoft.com/office/drawing/2014/main" id="{D40259E9-D9D8-40EF-8794-058F2970F5FB}"/>
              </a:ext>
            </a:extLst>
          </p:cNvPr>
          <p:cNvSpPr>
            <a:spLocks xmlns:a="http://schemas.openxmlformats.org/drawingml/2006/main" noGrp="1"/>
          </p:cNvSpPr>
          <p:nvPr/>
        </p:nvSpPr>
        <p:spPr>
          <a:xfrm xmlns:a="http://schemas.openxmlformats.org/drawingml/2006/main">
            <a:off x="5010150" y="3733800"/>
            <a:ext cx="232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8889"/>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faits + pièces</a:t>
            </a:r>
          </a:p>
        </p:txBody>
      </p:sp>
      <p:sp>
        <p:nvSpPr>
          <p:cNvPr id="24" name="">
            <a:extLst xmlns:a="http://schemas.openxmlformats.org/drawingml/2006/main">
              <a:ext uri="{FF2B5EF4-FFF2-40B4-BE49-F238E27FC236}">
                <a16:creationId xmlns:a16="http://schemas.microsoft.com/office/drawing/2014/main" id="{953514B4-6E04-41F2-BA81-210EF5EB9215}"/>
              </a:ext>
            </a:extLst>
          </p:cNvPr>
          <p:cNvSpPr>
            <a:spLocks xmlns:a="http://schemas.openxmlformats.org/drawingml/2006/main" noGrp="1"/>
          </p:cNvSpPr>
          <p:nvPr/>
        </p:nvSpPr>
        <p:spPr>
          <a:xfrm xmlns:a="http://schemas.openxmlformats.org/drawingml/2006/main">
            <a:off x="7829550" y="3181350"/>
            <a:ext cx="2628900" cy="990600"/>
          </a:xfrm>
          <a:prstGeom xmlns:a="http://schemas.openxmlformats.org/drawingml/2006/main" prst="roundRect">
            <a:avLst>
              <a:gd name="adj" fmla="val 15385"/>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5" name="">
            <a:extLst xmlns:a="http://schemas.openxmlformats.org/drawingml/2006/main">
              <a:ext uri="{FF2B5EF4-FFF2-40B4-BE49-F238E27FC236}">
                <a16:creationId xmlns:a16="http://schemas.microsoft.com/office/drawing/2014/main" id="{01EFCC4E-63FB-4092-AD05-1BE623105548}"/>
              </a:ext>
            </a:extLst>
          </p:cNvPr>
          <p:cNvSpPr>
            <a:spLocks xmlns:a="http://schemas.openxmlformats.org/drawingml/2006/main" noGrp="1"/>
          </p:cNvSpPr>
          <p:nvPr/>
        </p:nvSpPr>
        <p:spPr>
          <a:xfrm xmlns:a="http://schemas.openxmlformats.org/drawingml/2006/main">
            <a:off x="7981950" y="33528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analyze_tender</a:t>
            </a:r>
          </a:p>
        </p:txBody>
      </p:sp>
      <p:sp>
        <p:nvSpPr>
          <p:cNvPr id="26" name="">
            <a:extLst xmlns:a="http://schemas.openxmlformats.org/drawingml/2006/main">
              <a:ext uri="{FF2B5EF4-FFF2-40B4-BE49-F238E27FC236}">
                <a16:creationId xmlns:a16="http://schemas.microsoft.com/office/drawing/2014/main" id="{76EF2DBE-B642-43EB-B8E3-202B650898E0}"/>
              </a:ext>
            </a:extLst>
          </p:cNvPr>
          <p:cNvSpPr>
            <a:spLocks xmlns:a="http://schemas.openxmlformats.org/drawingml/2006/main" noGrp="1"/>
          </p:cNvSpPr>
          <p:nvPr/>
        </p:nvSpPr>
        <p:spPr>
          <a:xfrm xmlns:a="http://schemas.openxmlformats.org/drawingml/2006/main">
            <a:off x="7981950" y="3733800"/>
            <a:ext cx="232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8889"/>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contexte ou fiche</a:t>
            </a:r>
          </a:p>
        </p:txBody>
      </p:sp>
      <p:sp>
        <p:nvSpPr>
          <p:cNvPr id="27" name="">
            <a:extLst xmlns:a="http://schemas.openxmlformats.org/drawingml/2006/main">
              <a:ext uri="{FF2B5EF4-FFF2-40B4-BE49-F238E27FC236}">
                <a16:creationId xmlns:a16="http://schemas.microsoft.com/office/drawing/2014/main" id="{7BD5A498-B0C0-448F-A374-ED3C81C132A9}"/>
              </a:ext>
            </a:extLst>
          </p:cNvPr>
          <p:cNvSpPr>
            <a:spLocks xmlns:a="http://schemas.openxmlformats.org/drawingml/2006/main" noGrp="1"/>
          </p:cNvSpPr>
          <p:nvPr/>
        </p:nvSpPr>
        <p:spPr>
          <a:xfrm xmlns:a="http://schemas.openxmlformats.org/drawingml/2006/main">
            <a:off x="6343650" y="4514850"/>
            <a:ext cx="2628900" cy="990600"/>
          </a:xfrm>
          <a:prstGeom xmlns:a="http://schemas.openxmlformats.org/drawingml/2006/main" prst="roundRect">
            <a:avLst>
              <a:gd name="adj" fmla="val 15385"/>
            </a:avLst>
          </a:prstGeom>
          <a:solidFill xmlns:a="http://schemas.openxmlformats.org/drawingml/2006/main">
            <a:srgbClr val="DDF6FB"/>
          </a:solidFill>
          <a:ln xmlns:a="http://schemas.openxmlformats.org/drawingml/2006/main" w="19050">
            <a:solidFill>
              <a:srgbClr val="2FB9D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8" name="">
            <a:extLst xmlns:a="http://schemas.openxmlformats.org/drawingml/2006/main">
              <a:ext uri="{FF2B5EF4-FFF2-40B4-BE49-F238E27FC236}">
                <a16:creationId xmlns:a16="http://schemas.microsoft.com/office/drawing/2014/main" id="{EE0525B1-EC75-4F03-A6B0-1051717AA30B}"/>
              </a:ext>
            </a:extLst>
          </p:cNvPr>
          <p:cNvSpPr>
            <a:spLocks xmlns:a="http://schemas.openxmlformats.org/drawingml/2006/main" noGrp="1"/>
          </p:cNvSpPr>
          <p:nvPr/>
        </p:nvSpPr>
        <p:spPr>
          <a:xfrm xmlns:a="http://schemas.openxmlformats.org/drawingml/2006/main">
            <a:off x="6496050" y="4686300"/>
            <a:ext cx="23241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6491"/>
          </a:bodyPr>
          <a:lstStyle xmlns:a="http://schemas.openxmlformats.org/drawingml/2006/main"/>
          <a:p xmlns:a="http://schemas.openxmlformats.org/drawingml/2006/main">
            <a:pPr algn="ctr">
              <a:defRPr sz="1425" b="1" i="0">
                <a:solidFill>
                  <a:srgbClr val="0B2545"/>
                </a:solidFill>
                <a:latin typeface="Aptos"/>
                <a:ea typeface="Aptos"/>
                <a:cs typeface="Aptos"/>
              </a:defRPr>
            </a:pPr>
            <a:r>
              <a:rPr sz="1425" b="1" i="0">
                <a:solidFill>
                  <a:srgbClr val="0B2545"/>
                </a:solidFill>
                <a:latin typeface="Aptos"/>
                <a:ea typeface="Aptos"/>
                <a:cs typeface="Aptos"/>
              </a:rPr>
              <a:t>generate_digest</a:t>
            </a:r>
          </a:p>
        </p:txBody>
      </p:sp>
      <p:sp>
        <p:nvSpPr>
          <p:cNvPr id="29" name="">
            <a:extLst xmlns:a="http://schemas.openxmlformats.org/drawingml/2006/main">
              <a:ext uri="{FF2B5EF4-FFF2-40B4-BE49-F238E27FC236}">
                <a16:creationId xmlns:a16="http://schemas.microsoft.com/office/drawing/2014/main" id="{B280567A-ACA6-49C0-ACC5-DDF99D2EF3AE}"/>
              </a:ext>
            </a:extLst>
          </p:cNvPr>
          <p:cNvSpPr>
            <a:spLocks xmlns:a="http://schemas.openxmlformats.org/drawingml/2006/main" noGrp="1"/>
          </p:cNvSpPr>
          <p:nvPr/>
        </p:nvSpPr>
        <p:spPr>
          <a:xfrm xmlns:a="http://schemas.openxmlformats.org/drawingml/2006/main">
            <a:off x="6496050" y="5067300"/>
            <a:ext cx="2324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88889"/>
          </a:bodyPr>
          <a:lstStyle xmlns:a="http://schemas.openxmlformats.org/drawingml/2006/main"/>
          <a:p xmlns:a="http://schemas.openxmlformats.org/drawingml/2006/main">
            <a:pPr algn="ctr">
              <a:defRPr sz="1125" b="0" i="0">
                <a:solidFill>
                  <a:srgbClr val="667085"/>
                </a:solidFill>
                <a:latin typeface="Aptos"/>
                <a:ea typeface="Aptos"/>
                <a:cs typeface="Aptos"/>
              </a:defRPr>
            </a:pPr>
            <a:r>
              <a:rPr sz="1125" b="0" i="0">
                <a:solidFill>
                  <a:srgbClr val="667085"/>
                </a:solidFill>
                <a:latin typeface="Aptos"/>
                <a:ea typeface="Aptos"/>
                <a:cs typeface="Aptos"/>
              </a:rPr>
              <a:t>synthèse locale</a:t>
            </a:r>
          </a:p>
        </p:txBody>
      </p:sp>
      <p:sp>
        <p:nvSpPr>
          <p:cNvPr id="30" name="">
            <a:extLst xmlns:a="http://schemas.openxmlformats.org/drawingml/2006/main">
              <a:ext uri="{FF2B5EF4-FFF2-40B4-BE49-F238E27FC236}">
                <a16:creationId xmlns:a16="http://schemas.microsoft.com/office/drawing/2014/main" id="{B789917D-0590-41D4-ABD2-32CE49733CAB}"/>
              </a:ext>
            </a:extLst>
          </p:cNvPr>
          <p:cNvSpPr>
            <a:spLocks xmlns:a="http://schemas.openxmlformats.org/drawingml/2006/main" noGrp="1"/>
          </p:cNvSpPr>
          <p:nvPr/>
        </p:nvSpPr>
        <p:spPr>
          <a:xfrm xmlns:a="http://schemas.openxmlformats.org/drawingml/2006/main">
            <a:off x="4476750" y="5772150"/>
            <a:ext cx="6781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98039"/>
          </a:bodyPr>
          <a:lstStyle xmlns:a="http://schemas.openxmlformats.org/drawingml/2006/main"/>
          <a:p xmlns:a="http://schemas.openxmlformats.org/drawingml/2006/main">
            <a:pPr algn="ctr">
              <a:defRPr sz="1275" b="1" i="0">
                <a:solidFill>
                  <a:srgbClr val="1D5AA6"/>
                </a:solidFill>
                <a:latin typeface="Aptos"/>
                <a:ea typeface="Aptos"/>
                <a:cs typeface="Aptos"/>
              </a:defRPr>
            </a:pPr>
            <a:r>
              <a:rPr sz="1275" b="1" i="0">
                <a:solidFill>
                  <a:srgbClr val="1D5AA6"/>
                </a:solidFill>
                <a:latin typeface="Aptos"/>
                <a:ea typeface="Aptos"/>
                <a:cs typeface="Aptos"/>
              </a:rPr>
              <a:t>Les outils appliquent validation, limites, enveloppes JSON déterministes et masquage des erreurs.</a:t>
            </a:r>
          </a:p>
        </p:txBody>
      </p:sp>
    </p:spTree>
    <p:extLst>
      <p:ext uri="{BB962C8B-B14F-4D97-AF65-F5344CB8AC3E}">
        <p14:creationId xmlns:p14="http://schemas.microsoft.com/office/powerpoint/2010/main" val="412079539"/>
      </p:ext>
    </p:extLst>
  </p:cSld>
</p:sld>
</file>

<file path=ppt/slides/slide13.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CADF7899-9932-456B-BC38-78D3E3078F0B}"/>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RÉSULTATS</a:t>
            </a:r>
          </a:p>
        </p:txBody>
      </p:sp>
      <p:sp>
        <p:nvSpPr>
          <p:cNvPr id="2" name="">
            <a:extLst xmlns:a="http://schemas.openxmlformats.org/drawingml/2006/main">
              <a:ext uri="{FF2B5EF4-FFF2-40B4-BE49-F238E27FC236}">
                <a16:creationId xmlns:a16="http://schemas.microsoft.com/office/drawing/2014/main" id="{136E7C52-FD7C-4024-8C05-2E1FAFDF192B}"/>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Un MVP opérationnel, validé et démontrable</a:t>
            </a:r>
          </a:p>
        </p:txBody>
      </p:sp>
      <p:sp>
        <p:nvSpPr>
          <p:cNvPr id="3" name="">
            <a:extLst xmlns:a="http://schemas.openxmlformats.org/drawingml/2006/main">
              <a:ext uri="{FF2B5EF4-FFF2-40B4-BE49-F238E27FC236}">
                <a16:creationId xmlns:a16="http://schemas.microsoft.com/office/drawing/2014/main" id="{1D58CDA7-3D64-4217-B07F-5C4864F8F0BF}"/>
              </a:ext>
            </a:extLst>
          </p:cNvPr>
          <p:cNvSpPr>
            <a:spLocks xmlns:a="http://schemas.openxmlformats.org/drawingml/2006/main" noGrp="1"/>
          </p:cNvSpPr>
          <p:nvPr/>
        </p:nvSpPr>
        <p:spPr>
          <a:xfrm xmlns:a="http://schemas.openxmlformats.org/drawingml/2006/main">
            <a:off x="476250" y="12001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350" b="0" i="0">
                <a:solidFill>
                  <a:srgbClr val="667085"/>
                </a:solidFill>
                <a:latin typeface="Aptos"/>
                <a:ea typeface="Aptos"/>
                <a:cs typeface="Aptos"/>
              </a:defRPr>
            </a:pPr>
            <a:r>
              <a:rPr sz="1350" b="0" i="0">
                <a:solidFill>
                  <a:srgbClr val="667085"/>
                </a:solidFill>
                <a:latin typeface="Aptos"/>
                <a:ea typeface="Aptos"/>
                <a:cs typeface="Aptos"/>
              </a:rPr>
              <a:t>Les mesures ci-dessous proviennent de l’état audité du dépôt et des tests exécutés.</a:t>
            </a:r>
          </a:p>
        </p:txBody>
      </p:sp>
      <p:sp>
        <p:nvSpPr>
          <p:cNvPr id="4" name="">
            <a:extLst xmlns:a="http://schemas.openxmlformats.org/drawingml/2006/main">
              <a:ext uri="{FF2B5EF4-FFF2-40B4-BE49-F238E27FC236}">
                <a16:creationId xmlns:a16="http://schemas.microsoft.com/office/drawing/2014/main" id="{1B68FF87-2178-4F62-973E-1717C6BB5EF4}"/>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5" name="">
            <a:extLst xmlns:a="http://schemas.openxmlformats.org/drawingml/2006/main">
              <a:ext uri="{FF2B5EF4-FFF2-40B4-BE49-F238E27FC236}">
                <a16:creationId xmlns:a16="http://schemas.microsoft.com/office/drawing/2014/main" id="{18D0510D-C038-4CB1-ACC3-1B6DF1263619}"/>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6" name="">
            <a:extLst xmlns:a="http://schemas.openxmlformats.org/drawingml/2006/main">
              <a:ext uri="{FF2B5EF4-FFF2-40B4-BE49-F238E27FC236}">
                <a16:creationId xmlns:a16="http://schemas.microsoft.com/office/drawing/2014/main" id="{ABDBFE90-27C6-48DE-9488-14C00AF7AD0A}"/>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13</a:t>
            </a:r>
          </a:p>
        </p:txBody>
      </p:sp>
      <p:sp>
        <p:nvSpPr>
          <p:cNvPr id="7" name="">
            <a:extLst xmlns:a="http://schemas.openxmlformats.org/drawingml/2006/main">
              <a:ext uri="{FF2B5EF4-FFF2-40B4-BE49-F238E27FC236}">
                <a16:creationId xmlns:a16="http://schemas.microsoft.com/office/drawing/2014/main" id="{24F0A17E-4786-451A-9BAB-4A20FB9B7E85}"/>
              </a:ext>
            </a:extLst>
          </p:cNvPr>
          <p:cNvSpPr>
            <a:spLocks xmlns:a="http://schemas.openxmlformats.org/drawingml/2006/main" noGrp="1"/>
          </p:cNvSpPr>
          <p:nvPr/>
        </p:nvSpPr>
        <p:spPr>
          <a:xfrm xmlns:a="http://schemas.openxmlformats.org/drawingml/2006/main">
            <a:off x="533400" y="1866900"/>
            <a:ext cx="2457450" cy="2190750"/>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15196645-3201-42AB-BF6F-B73B1C28DACF}"/>
              </a:ext>
            </a:extLst>
          </p:cNvPr>
          <p:cNvSpPr>
            <a:spLocks xmlns:a="http://schemas.openxmlformats.org/drawingml/2006/main" noGrp="1"/>
          </p:cNvSpPr>
          <p:nvPr/>
        </p:nvSpPr>
        <p:spPr>
          <a:xfrm xmlns:a="http://schemas.openxmlformats.org/drawingml/2006/main">
            <a:off x="533400" y="1866900"/>
            <a:ext cx="2457450" cy="95250"/>
          </a:xfrm>
          <a:prstGeom xmlns:a="http://schemas.openxmlformats.org/drawingml/2006/main" prst="roundRect">
            <a:avLst>
              <a:gd name="adj" fmla="val 50000"/>
            </a:avLst>
          </a:prstGeom>
          <a:solidFill xmlns:a="http://schemas.openxmlformats.org/drawingml/2006/main">
            <a:srgbClr val="1D5AA6"/>
          </a:solidFill>
          <a:ln xmlns:a="http://schemas.openxmlformats.org/drawingml/2006/main" w="0">
            <a:solidFill>
              <a:srgbClr val="1D5AA6"/>
            </a:solidFill>
            <a:prstDash val="solid"/>
          </a:ln>
        </p:spPr>
      </p:sp>
      <p:sp>
        <p:nvSpPr>
          <p:cNvPr id="9" name="">
            <a:extLst xmlns:a="http://schemas.openxmlformats.org/drawingml/2006/main">
              <a:ext uri="{FF2B5EF4-FFF2-40B4-BE49-F238E27FC236}">
                <a16:creationId xmlns:a16="http://schemas.microsoft.com/office/drawing/2014/main" id="{BBFE01EC-47AF-47E7-9FC7-0E2917F170B2}"/>
              </a:ext>
            </a:extLst>
          </p:cNvPr>
          <p:cNvSpPr>
            <a:spLocks xmlns:a="http://schemas.openxmlformats.org/drawingml/2006/main" noGrp="1"/>
          </p:cNvSpPr>
          <p:nvPr/>
        </p:nvSpPr>
        <p:spPr>
          <a:xfrm xmlns:a="http://schemas.openxmlformats.org/drawingml/2006/main">
            <a:off x="723900" y="2171700"/>
            <a:ext cx="20764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i="0">
                <a:solidFill>
                  <a:srgbClr val="1D5AA6"/>
                </a:solidFill>
                <a:latin typeface="Aptos"/>
                <a:ea typeface="Aptos"/>
                <a:cs typeface="Aptos"/>
              </a:defRPr>
            </a:pPr>
            <a:r>
              <a:rPr sz="3450" b="1" i="0">
                <a:solidFill>
                  <a:srgbClr val="1D5AA6"/>
                </a:solidFill>
                <a:latin typeface="Aptos"/>
                <a:ea typeface="Aptos"/>
                <a:cs typeface="Aptos"/>
              </a:rPr>
              <a:t>100</a:t>
            </a:r>
          </a:p>
        </p:txBody>
      </p:sp>
      <p:sp>
        <p:nvSpPr>
          <p:cNvPr id="10" name="">
            <a:extLst xmlns:a="http://schemas.openxmlformats.org/drawingml/2006/main">
              <a:ext uri="{FF2B5EF4-FFF2-40B4-BE49-F238E27FC236}">
                <a16:creationId xmlns:a16="http://schemas.microsoft.com/office/drawing/2014/main" id="{523C073A-187A-4204-9B4B-48E802E388F2}"/>
              </a:ext>
            </a:extLst>
          </p:cNvPr>
          <p:cNvSpPr>
            <a:spLocks xmlns:a="http://schemas.openxmlformats.org/drawingml/2006/main" noGrp="1"/>
          </p:cNvSpPr>
          <p:nvPr/>
        </p:nvSpPr>
        <p:spPr>
          <a:xfrm xmlns:a="http://schemas.openxmlformats.org/drawingml/2006/main">
            <a:off x="723900" y="29146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appels d’offres</a:t>
            </a:r>
          </a:p>
        </p:txBody>
      </p:sp>
      <p:sp>
        <p:nvSpPr>
          <p:cNvPr id="11" name="">
            <a:extLst xmlns:a="http://schemas.openxmlformats.org/drawingml/2006/main">
              <a:ext uri="{FF2B5EF4-FFF2-40B4-BE49-F238E27FC236}">
                <a16:creationId xmlns:a16="http://schemas.microsoft.com/office/drawing/2014/main" id="{6D7B08FB-8C0E-49CB-B8EE-161B86A6A405}"/>
              </a:ext>
            </a:extLst>
          </p:cNvPr>
          <p:cNvSpPr>
            <a:spLocks xmlns:a="http://schemas.openxmlformats.org/drawingml/2006/main" noGrp="1"/>
          </p:cNvSpPr>
          <p:nvPr/>
        </p:nvSpPr>
        <p:spPr>
          <a:xfrm xmlns:a="http://schemas.openxmlformats.org/drawingml/2006/main">
            <a:off x="723900" y="3371850"/>
            <a:ext cx="2076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667085"/>
                </a:solidFill>
                <a:latin typeface="Aptos"/>
                <a:ea typeface="Aptos"/>
                <a:cs typeface="Aptos"/>
              </a:defRPr>
            </a:pPr>
            <a:r>
              <a:rPr sz="1125" b="0" i="0">
                <a:solidFill>
                  <a:srgbClr val="667085"/>
                </a:solidFill>
                <a:latin typeface="Aptos"/>
                <a:ea typeface="Aptos"/>
                <a:cs typeface="Aptos"/>
              </a:rPr>
              <a:t>0 doublon d’appel d’offres</a:t>
            </a:r>
          </a:p>
        </p:txBody>
      </p:sp>
      <p:sp>
        <p:nvSpPr>
          <p:cNvPr id="12" name="">
            <a:extLst xmlns:a="http://schemas.openxmlformats.org/drawingml/2006/main">
              <a:ext uri="{FF2B5EF4-FFF2-40B4-BE49-F238E27FC236}">
                <a16:creationId xmlns:a16="http://schemas.microsoft.com/office/drawing/2014/main" id="{0A3B2001-4326-4931-92E4-0F42CA8CB256}"/>
              </a:ext>
            </a:extLst>
          </p:cNvPr>
          <p:cNvSpPr>
            <a:spLocks xmlns:a="http://schemas.openxmlformats.org/drawingml/2006/main" noGrp="1"/>
          </p:cNvSpPr>
          <p:nvPr/>
        </p:nvSpPr>
        <p:spPr>
          <a:xfrm xmlns:a="http://schemas.openxmlformats.org/drawingml/2006/main">
            <a:off x="3295650" y="1866900"/>
            <a:ext cx="2457450" cy="2190750"/>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3" name="">
            <a:extLst xmlns:a="http://schemas.openxmlformats.org/drawingml/2006/main">
              <a:ext uri="{FF2B5EF4-FFF2-40B4-BE49-F238E27FC236}">
                <a16:creationId xmlns:a16="http://schemas.microsoft.com/office/drawing/2014/main" id="{1FDA6350-B34D-4D8E-A205-A495DCFE275C}"/>
              </a:ext>
            </a:extLst>
          </p:cNvPr>
          <p:cNvSpPr>
            <a:spLocks xmlns:a="http://schemas.openxmlformats.org/drawingml/2006/main" noGrp="1"/>
          </p:cNvSpPr>
          <p:nvPr/>
        </p:nvSpPr>
        <p:spPr>
          <a:xfrm xmlns:a="http://schemas.openxmlformats.org/drawingml/2006/main">
            <a:off x="3295650" y="1866900"/>
            <a:ext cx="2457450" cy="95250"/>
          </a:xfrm>
          <a:prstGeom xmlns:a="http://schemas.openxmlformats.org/drawingml/2006/main" prst="roundRect">
            <a:avLst>
              <a:gd name="adj" fmla="val 50000"/>
            </a:avLst>
          </a:prstGeom>
          <a:solidFill xmlns:a="http://schemas.openxmlformats.org/drawingml/2006/main">
            <a:srgbClr val="2FB9DB"/>
          </a:solidFill>
          <a:ln xmlns:a="http://schemas.openxmlformats.org/drawingml/2006/main" w="0">
            <a:solidFill>
              <a:srgbClr val="2FB9DB"/>
            </a:solidFill>
            <a:prstDash val="solid"/>
          </a:ln>
        </p:spPr>
      </p:sp>
      <p:sp>
        <p:nvSpPr>
          <p:cNvPr id="14" name="">
            <a:extLst xmlns:a="http://schemas.openxmlformats.org/drawingml/2006/main">
              <a:ext uri="{FF2B5EF4-FFF2-40B4-BE49-F238E27FC236}">
                <a16:creationId xmlns:a16="http://schemas.microsoft.com/office/drawing/2014/main" id="{B8BA3DD9-D20D-47E9-BEDF-1570BC53ED43}"/>
              </a:ext>
            </a:extLst>
          </p:cNvPr>
          <p:cNvSpPr>
            <a:spLocks xmlns:a="http://schemas.openxmlformats.org/drawingml/2006/main" noGrp="1"/>
          </p:cNvSpPr>
          <p:nvPr/>
        </p:nvSpPr>
        <p:spPr>
          <a:xfrm xmlns:a="http://schemas.openxmlformats.org/drawingml/2006/main">
            <a:off x="3486150" y="2171700"/>
            <a:ext cx="20764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i="0">
                <a:solidFill>
                  <a:srgbClr val="2FB9DB"/>
                </a:solidFill>
                <a:latin typeface="Aptos"/>
                <a:ea typeface="Aptos"/>
                <a:cs typeface="Aptos"/>
              </a:defRPr>
            </a:pPr>
            <a:r>
              <a:rPr sz="3450" b="1" i="0">
                <a:solidFill>
                  <a:srgbClr val="2FB9DB"/>
                </a:solidFill>
                <a:latin typeface="Aptos"/>
                <a:ea typeface="Aptos"/>
                <a:cs typeface="Aptos"/>
              </a:rPr>
              <a:t>152/152</a:t>
            </a:r>
          </a:p>
        </p:txBody>
      </p:sp>
      <p:sp>
        <p:nvSpPr>
          <p:cNvPr id="15" name="">
            <a:extLst xmlns:a="http://schemas.openxmlformats.org/drawingml/2006/main">
              <a:ext uri="{FF2B5EF4-FFF2-40B4-BE49-F238E27FC236}">
                <a16:creationId xmlns:a16="http://schemas.microsoft.com/office/drawing/2014/main" id="{5BC6666A-B96E-4FEA-9E15-737B16DE2966}"/>
              </a:ext>
            </a:extLst>
          </p:cNvPr>
          <p:cNvSpPr>
            <a:spLocks xmlns:a="http://schemas.openxmlformats.org/drawingml/2006/main" noGrp="1"/>
          </p:cNvSpPr>
          <p:nvPr/>
        </p:nvSpPr>
        <p:spPr>
          <a:xfrm xmlns:a="http://schemas.openxmlformats.org/drawingml/2006/main">
            <a:off x="3486150" y="29146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pièces traitées</a:t>
            </a:r>
          </a:p>
        </p:txBody>
      </p:sp>
      <p:sp>
        <p:nvSpPr>
          <p:cNvPr id="16" name="">
            <a:extLst xmlns:a="http://schemas.openxmlformats.org/drawingml/2006/main">
              <a:ext uri="{FF2B5EF4-FFF2-40B4-BE49-F238E27FC236}">
                <a16:creationId xmlns:a16="http://schemas.microsoft.com/office/drawing/2014/main" id="{19508B6E-A7A6-4BA9-8DE6-B2857CC55251}"/>
              </a:ext>
            </a:extLst>
          </p:cNvPr>
          <p:cNvSpPr>
            <a:spLocks xmlns:a="http://schemas.openxmlformats.org/drawingml/2006/main" noGrp="1"/>
          </p:cNvSpPr>
          <p:nvPr/>
        </p:nvSpPr>
        <p:spPr>
          <a:xfrm xmlns:a="http://schemas.openxmlformats.org/drawingml/2006/main">
            <a:off x="3486150" y="3371850"/>
            <a:ext cx="2076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667085"/>
                </a:solidFill>
                <a:latin typeface="Aptos"/>
                <a:ea typeface="Aptos"/>
                <a:cs typeface="Aptos"/>
              </a:defRPr>
            </a:pPr>
            <a:r>
              <a:rPr sz="1125" b="0" i="0">
                <a:solidFill>
                  <a:srgbClr val="667085"/>
                </a:solidFill>
                <a:latin typeface="Aptos"/>
                <a:ea typeface="Aptos"/>
                <a:cs typeface="Aptos"/>
              </a:rPr>
              <a:t>présentes · hachées · extraites</a:t>
            </a:r>
          </a:p>
        </p:txBody>
      </p:sp>
      <p:sp>
        <p:nvSpPr>
          <p:cNvPr id="17" name="">
            <a:extLst xmlns:a="http://schemas.openxmlformats.org/drawingml/2006/main">
              <a:ext uri="{FF2B5EF4-FFF2-40B4-BE49-F238E27FC236}">
                <a16:creationId xmlns:a16="http://schemas.microsoft.com/office/drawing/2014/main" id="{8941FDAB-9CF9-4067-927C-1597B99BF1B7}"/>
              </a:ext>
            </a:extLst>
          </p:cNvPr>
          <p:cNvSpPr>
            <a:spLocks xmlns:a="http://schemas.openxmlformats.org/drawingml/2006/main" noGrp="1"/>
          </p:cNvSpPr>
          <p:nvPr/>
        </p:nvSpPr>
        <p:spPr>
          <a:xfrm xmlns:a="http://schemas.openxmlformats.org/drawingml/2006/main">
            <a:off x="6057900" y="1866900"/>
            <a:ext cx="2457450" cy="2190750"/>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8" name="">
            <a:extLst xmlns:a="http://schemas.openxmlformats.org/drawingml/2006/main">
              <a:ext uri="{FF2B5EF4-FFF2-40B4-BE49-F238E27FC236}">
                <a16:creationId xmlns:a16="http://schemas.microsoft.com/office/drawing/2014/main" id="{C221115F-35CE-4DEF-9244-B4796929D5A7}"/>
              </a:ext>
            </a:extLst>
          </p:cNvPr>
          <p:cNvSpPr>
            <a:spLocks xmlns:a="http://schemas.openxmlformats.org/drawingml/2006/main" noGrp="1"/>
          </p:cNvSpPr>
          <p:nvPr/>
        </p:nvSpPr>
        <p:spPr>
          <a:xfrm xmlns:a="http://schemas.openxmlformats.org/drawingml/2006/main">
            <a:off x="6057900" y="1866900"/>
            <a:ext cx="2457450" cy="95250"/>
          </a:xfrm>
          <a:prstGeom xmlns:a="http://schemas.openxmlformats.org/drawingml/2006/main" prst="roundRect">
            <a:avLst>
              <a:gd name="adj" fmla="val 50000"/>
            </a:avLst>
          </a:prstGeom>
          <a:solidFill xmlns:a="http://schemas.openxmlformats.org/drawingml/2006/main">
            <a:srgbClr val="2E9D69"/>
          </a:solidFill>
          <a:ln xmlns:a="http://schemas.openxmlformats.org/drawingml/2006/main" w="0">
            <a:solidFill>
              <a:srgbClr val="2E9D69"/>
            </a:solidFill>
            <a:prstDash val="solid"/>
          </a:ln>
        </p:spPr>
      </p:sp>
      <p:sp>
        <p:nvSpPr>
          <p:cNvPr id="19" name="">
            <a:extLst xmlns:a="http://schemas.openxmlformats.org/drawingml/2006/main">
              <a:ext uri="{FF2B5EF4-FFF2-40B4-BE49-F238E27FC236}">
                <a16:creationId xmlns:a16="http://schemas.microsoft.com/office/drawing/2014/main" id="{27DE939F-55C3-4F68-B014-D20DEEB9F362}"/>
              </a:ext>
            </a:extLst>
          </p:cNvPr>
          <p:cNvSpPr>
            <a:spLocks xmlns:a="http://schemas.openxmlformats.org/drawingml/2006/main" noGrp="1"/>
          </p:cNvSpPr>
          <p:nvPr/>
        </p:nvSpPr>
        <p:spPr>
          <a:xfrm xmlns:a="http://schemas.openxmlformats.org/drawingml/2006/main">
            <a:off x="6248400" y="2171700"/>
            <a:ext cx="20764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i="0">
                <a:solidFill>
                  <a:srgbClr val="2E9D69"/>
                </a:solidFill>
                <a:latin typeface="Aptos"/>
                <a:ea typeface="Aptos"/>
                <a:cs typeface="Aptos"/>
              </a:defRPr>
            </a:pPr>
            <a:r>
              <a:rPr sz="3450" b="1" i="0">
                <a:solidFill>
                  <a:srgbClr val="2E9D69"/>
                </a:solidFill>
                <a:latin typeface="Aptos"/>
                <a:ea typeface="Aptos"/>
                <a:cs typeface="Aptos"/>
              </a:rPr>
              <a:t>62/62</a:t>
            </a:r>
          </a:p>
        </p:txBody>
      </p:sp>
      <p:sp>
        <p:nvSpPr>
          <p:cNvPr id="20" name="">
            <a:extLst xmlns:a="http://schemas.openxmlformats.org/drawingml/2006/main">
              <a:ext uri="{FF2B5EF4-FFF2-40B4-BE49-F238E27FC236}">
                <a16:creationId xmlns:a16="http://schemas.microsoft.com/office/drawing/2014/main" id="{A9125B3A-88F4-4497-9177-8BDFEC8F57DC}"/>
              </a:ext>
            </a:extLst>
          </p:cNvPr>
          <p:cNvSpPr>
            <a:spLocks xmlns:a="http://schemas.openxmlformats.org/drawingml/2006/main" noGrp="1"/>
          </p:cNvSpPr>
          <p:nvPr/>
        </p:nvSpPr>
        <p:spPr>
          <a:xfrm xmlns:a="http://schemas.openxmlformats.org/drawingml/2006/main">
            <a:off x="6248400" y="29146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tests locaux</a:t>
            </a:r>
          </a:p>
        </p:txBody>
      </p:sp>
      <p:sp>
        <p:nvSpPr>
          <p:cNvPr id="21" name="">
            <a:extLst xmlns:a="http://schemas.openxmlformats.org/drawingml/2006/main">
              <a:ext uri="{FF2B5EF4-FFF2-40B4-BE49-F238E27FC236}">
                <a16:creationId xmlns:a16="http://schemas.microsoft.com/office/drawing/2014/main" id="{1EFCA357-6490-4281-9026-BF22225AF8A3}"/>
              </a:ext>
            </a:extLst>
          </p:cNvPr>
          <p:cNvSpPr>
            <a:spLocks xmlns:a="http://schemas.openxmlformats.org/drawingml/2006/main" noGrp="1"/>
          </p:cNvSpPr>
          <p:nvPr/>
        </p:nvSpPr>
        <p:spPr>
          <a:xfrm xmlns:a="http://schemas.openxmlformats.org/drawingml/2006/main">
            <a:off x="6248400" y="3371850"/>
            <a:ext cx="2076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667085"/>
                </a:solidFill>
                <a:latin typeface="Aptos"/>
                <a:ea typeface="Aptos"/>
                <a:cs typeface="Aptos"/>
              </a:defRPr>
            </a:pPr>
            <a:r>
              <a:rPr sz="1125" b="0" i="0">
                <a:solidFill>
                  <a:srgbClr val="667085"/>
                </a:solidFill>
                <a:latin typeface="Aptos"/>
                <a:ea typeface="Aptos"/>
                <a:cs typeface="Aptos"/>
              </a:rPr>
              <a:t>hors Docker · 5 désélectionnés</a:t>
            </a:r>
          </a:p>
        </p:txBody>
      </p:sp>
      <p:sp>
        <p:nvSpPr>
          <p:cNvPr id="22" name="">
            <a:extLst xmlns:a="http://schemas.openxmlformats.org/drawingml/2006/main">
              <a:ext uri="{FF2B5EF4-FFF2-40B4-BE49-F238E27FC236}">
                <a16:creationId xmlns:a16="http://schemas.microsoft.com/office/drawing/2014/main" id="{2C7C3D56-B9C4-4E07-963F-A7BAFA5BA342}"/>
              </a:ext>
            </a:extLst>
          </p:cNvPr>
          <p:cNvSpPr>
            <a:spLocks xmlns:a="http://schemas.openxmlformats.org/drawingml/2006/main" noGrp="1"/>
          </p:cNvSpPr>
          <p:nvPr/>
        </p:nvSpPr>
        <p:spPr>
          <a:xfrm xmlns:a="http://schemas.openxmlformats.org/drawingml/2006/main">
            <a:off x="8820150" y="1866900"/>
            <a:ext cx="2457450" cy="2190750"/>
          </a:xfrm>
          <a:prstGeom xmlns:a="http://schemas.openxmlformats.org/drawingml/2006/main" prst="roundRect">
            <a:avLst>
              <a:gd name="adj" fmla="val 6957"/>
            </a:avLst>
          </a:prstGeom>
          <a:solidFill xmlns:a="http://schemas.openxmlformats.org/drawingml/2006/main">
            <a:srgbClr val="FFFFFF"/>
          </a:solidFill>
          <a:ln xmlns:a="http://schemas.openxmlformats.org/drawingml/2006/main" w="9525">
            <a:solidFill>
              <a:srgbClr val="D0D9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BF9542FB-30AF-4D7C-995D-C0A43C874F9C}"/>
              </a:ext>
            </a:extLst>
          </p:cNvPr>
          <p:cNvSpPr>
            <a:spLocks xmlns:a="http://schemas.openxmlformats.org/drawingml/2006/main" noGrp="1"/>
          </p:cNvSpPr>
          <p:nvPr/>
        </p:nvSpPr>
        <p:spPr>
          <a:xfrm xmlns:a="http://schemas.openxmlformats.org/drawingml/2006/main">
            <a:off x="8820150" y="1866900"/>
            <a:ext cx="2457450" cy="95250"/>
          </a:xfrm>
          <a:prstGeom xmlns:a="http://schemas.openxmlformats.org/drawingml/2006/main" prst="roundRect">
            <a:avLst>
              <a:gd name="adj" fmla="val 50000"/>
            </a:avLst>
          </a:prstGeom>
          <a:solidFill xmlns:a="http://schemas.openxmlformats.org/drawingml/2006/main">
            <a:srgbClr val="D99520"/>
          </a:solidFill>
          <a:ln xmlns:a="http://schemas.openxmlformats.org/drawingml/2006/main" w="0">
            <a:solidFill>
              <a:srgbClr val="D99520"/>
            </a:solidFill>
            <a:prstDash val="solid"/>
          </a:ln>
        </p:spPr>
      </p:sp>
      <p:sp>
        <p:nvSpPr>
          <p:cNvPr id="24" name="">
            <a:extLst xmlns:a="http://schemas.openxmlformats.org/drawingml/2006/main">
              <a:ext uri="{FF2B5EF4-FFF2-40B4-BE49-F238E27FC236}">
                <a16:creationId xmlns:a16="http://schemas.microsoft.com/office/drawing/2014/main" id="{396C3B14-B69C-4372-BD35-E12292FC3E68}"/>
              </a:ext>
            </a:extLst>
          </p:cNvPr>
          <p:cNvSpPr>
            <a:spLocks xmlns:a="http://schemas.openxmlformats.org/drawingml/2006/main" noGrp="1"/>
          </p:cNvSpPr>
          <p:nvPr/>
        </p:nvSpPr>
        <p:spPr>
          <a:xfrm xmlns:a="http://schemas.openxmlformats.org/drawingml/2006/main">
            <a:off x="9010650" y="2171700"/>
            <a:ext cx="20764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450" b="1" i="0">
                <a:solidFill>
                  <a:srgbClr val="D99520"/>
                </a:solidFill>
                <a:latin typeface="Aptos"/>
                <a:ea typeface="Aptos"/>
                <a:cs typeface="Aptos"/>
              </a:defRPr>
            </a:pPr>
            <a:r>
              <a:rPr sz="3450" b="1" i="0">
                <a:solidFill>
                  <a:srgbClr val="D99520"/>
                </a:solidFill>
                <a:latin typeface="Aptos"/>
                <a:ea typeface="Aptos"/>
                <a:cs typeface="Aptos"/>
              </a:rPr>
              <a:t>5/5</a:t>
            </a:r>
          </a:p>
        </p:txBody>
      </p:sp>
      <p:sp>
        <p:nvSpPr>
          <p:cNvPr id="25" name="">
            <a:extLst xmlns:a="http://schemas.openxmlformats.org/drawingml/2006/main">
              <a:ext uri="{FF2B5EF4-FFF2-40B4-BE49-F238E27FC236}">
                <a16:creationId xmlns:a16="http://schemas.microsoft.com/office/drawing/2014/main" id="{4698761A-6572-4416-A458-2293A7CE15CD}"/>
              </a:ext>
            </a:extLst>
          </p:cNvPr>
          <p:cNvSpPr>
            <a:spLocks xmlns:a="http://schemas.openxmlformats.org/drawingml/2006/main" noGrp="1"/>
          </p:cNvSpPr>
          <p:nvPr/>
        </p:nvSpPr>
        <p:spPr>
          <a:xfrm xmlns:a="http://schemas.openxmlformats.org/drawingml/2006/main">
            <a:off x="9010650" y="29146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500" b="1" i="0">
                <a:solidFill>
                  <a:srgbClr val="0B2545"/>
                </a:solidFill>
                <a:latin typeface="Aptos"/>
                <a:ea typeface="Aptos"/>
                <a:cs typeface="Aptos"/>
              </a:defRPr>
            </a:pPr>
            <a:r>
              <a:rPr sz="1500" b="1" i="0">
                <a:solidFill>
                  <a:srgbClr val="0B2545"/>
                </a:solidFill>
                <a:latin typeface="Aptos"/>
                <a:ea typeface="Aptos"/>
                <a:cs typeface="Aptos"/>
              </a:rPr>
              <a:t>outils MCP</a:t>
            </a:r>
          </a:p>
        </p:txBody>
      </p:sp>
      <p:sp>
        <p:nvSpPr>
          <p:cNvPr id="26" name="">
            <a:extLst xmlns:a="http://schemas.openxmlformats.org/drawingml/2006/main">
              <a:ext uri="{FF2B5EF4-FFF2-40B4-BE49-F238E27FC236}">
                <a16:creationId xmlns:a16="http://schemas.microsoft.com/office/drawing/2014/main" id="{25AC109E-4F4B-4D3E-B3C4-F21C4A718B11}"/>
              </a:ext>
            </a:extLst>
          </p:cNvPr>
          <p:cNvSpPr>
            <a:spLocks xmlns:a="http://schemas.openxmlformats.org/drawingml/2006/main" noGrp="1"/>
          </p:cNvSpPr>
          <p:nvPr/>
        </p:nvSpPr>
        <p:spPr>
          <a:xfrm xmlns:a="http://schemas.openxmlformats.org/drawingml/2006/main">
            <a:off x="9010650" y="3371850"/>
            <a:ext cx="2076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0" i="0">
                <a:solidFill>
                  <a:srgbClr val="667085"/>
                </a:solidFill>
                <a:latin typeface="Aptos"/>
                <a:ea typeface="Aptos"/>
                <a:cs typeface="Aptos"/>
              </a:defRPr>
            </a:pPr>
            <a:r>
              <a:rPr sz="1125" b="0" i="0">
                <a:solidFill>
                  <a:srgbClr val="667085"/>
                </a:solidFill>
                <a:latin typeface="Aptos"/>
                <a:ea typeface="Aptos"/>
                <a:cs typeface="Aptos"/>
              </a:rPr>
              <a:t>contrats bornés et testés</a:t>
            </a:r>
          </a:p>
        </p:txBody>
      </p:sp>
      <p:sp>
        <p:nvSpPr>
          <p:cNvPr id="27" name="">
            <a:extLst xmlns:a="http://schemas.openxmlformats.org/drawingml/2006/main">
              <a:ext uri="{FF2B5EF4-FFF2-40B4-BE49-F238E27FC236}">
                <a16:creationId xmlns:a16="http://schemas.microsoft.com/office/drawing/2014/main" id="{840252A4-12C5-4831-9B1D-0124260A82CE}"/>
              </a:ext>
            </a:extLst>
          </p:cNvPr>
          <p:cNvSpPr>
            <a:spLocks xmlns:a="http://schemas.openxmlformats.org/drawingml/2006/main" noGrp="1"/>
          </p:cNvSpPr>
          <p:nvPr/>
        </p:nvSpPr>
        <p:spPr>
          <a:xfrm xmlns:a="http://schemas.openxmlformats.org/drawingml/2006/main">
            <a:off x="533400" y="4381500"/>
            <a:ext cx="10744200" cy="1104900"/>
          </a:xfrm>
          <a:prstGeom xmlns:a="http://schemas.openxmlformats.org/drawingml/2006/main" prst="roundRect">
            <a:avLst>
              <a:gd name="adj" fmla="val 13793"/>
            </a:avLst>
          </a:prstGeom>
          <a:solidFill xmlns:a="http://schemas.openxmlformats.org/drawingml/2006/main">
            <a:srgbClr val="0B2545"/>
          </a:solidFill>
          <a:ln xmlns:a="http://schemas.openxmlformats.org/drawingml/2006/main" w="0">
            <a:solidFill>
              <a:srgbClr val="0B2545"/>
            </a:solidFill>
            <a:prstDash val="solid"/>
          </a:ln>
        </p:spPr>
      </p:sp>
      <p:sp>
        <p:nvSpPr>
          <p:cNvPr id="28" name="">
            <a:extLst xmlns:a="http://schemas.openxmlformats.org/drawingml/2006/main">
              <a:ext uri="{FF2B5EF4-FFF2-40B4-BE49-F238E27FC236}">
                <a16:creationId xmlns:a16="http://schemas.microsoft.com/office/drawing/2014/main" id="{DD0B8F4E-6031-4618-8297-03F4FBE190A9}"/>
              </a:ext>
            </a:extLst>
          </p:cNvPr>
          <p:cNvSpPr>
            <a:spLocks xmlns:a="http://schemas.openxmlformats.org/drawingml/2006/main" noGrp="1"/>
          </p:cNvSpPr>
          <p:nvPr/>
        </p:nvSpPr>
        <p:spPr>
          <a:xfrm xmlns:a="http://schemas.openxmlformats.org/drawingml/2006/main">
            <a:off x="781050" y="45720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75" b="1" i="0">
                <a:solidFill>
                  <a:srgbClr val="2FB9DB"/>
                </a:solidFill>
                <a:latin typeface="Aptos"/>
                <a:ea typeface="Aptos"/>
                <a:cs typeface="Aptos"/>
              </a:defRPr>
            </a:pPr>
            <a:r>
              <a:rPr sz="1275" b="1" i="0">
                <a:solidFill>
                  <a:srgbClr val="2FB9DB"/>
                </a:solidFill>
                <a:latin typeface="Aptos"/>
                <a:ea typeface="Aptos"/>
                <a:cs typeface="Aptos"/>
              </a:rPr>
              <a:t>Validation full-stack de référence</a:t>
            </a:r>
          </a:p>
        </p:txBody>
      </p:sp>
      <p:sp>
        <p:nvSpPr>
          <p:cNvPr id="29" name="">
            <a:extLst xmlns:a="http://schemas.openxmlformats.org/drawingml/2006/main">
              <a:ext uri="{FF2B5EF4-FFF2-40B4-BE49-F238E27FC236}">
                <a16:creationId xmlns:a16="http://schemas.microsoft.com/office/drawing/2014/main" id="{D0CD3C2F-CB44-42F9-81D1-12BB24C3DF96}"/>
              </a:ext>
            </a:extLst>
          </p:cNvPr>
          <p:cNvSpPr>
            <a:spLocks xmlns:a="http://schemas.openxmlformats.org/drawingml/2006/main" noGrp="1"/>
          </p:cNvSpPr>
          <p:nvPr/>
        </p:nvSpPr>
        <p:spPr>
          <a:xfrm xmlns:a="http://schemas.openxmlformats.org/drawingml/2006/main">
            <a:off x="781050" y="4972050"/>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2025" b="1" i="0">
                <a:solidFill>
                  <a:srgbClr val="FFFFFF"/>
                </a:solidFill>
                <a:latin typeface="Aptos"/>
                <a:ea typeface="Aptos"/>
                <a:cs typeface="Aptos"/>
              </a:defRPr>
            </a:pPr>
            <a:r>
              <a:rPr sz="2025" b="1" i="0">
                <a:solidFill>
                  <a:srgbClr val="FFFFFF"/>
                </a:solidFill>
                <a:latin typeface="Aptos"/>
                <a:ea typeface="Aptos"/>
                <a:cs typeface="Aptos"/>
              </a:rPr>
              <a:t>67 tests Python + 6 tests SQL</a:t>
            </a:r>
          </a:p>
        </p:txBody>
      </p:sp>
      <p:sp>
        <p:nvSpPr>
          <p:cNvPr id="30" name="">
            <a:extLst xmlns:a="http://schemas.openxmlformats.org/drawingml/2006/main">
              <a:ext uri="{FF2B5EF4-FFF2-40B4-BE49-F238E27FC236}">
                <a16:creationId xmlns:a16="http://schemas.microsoft.com/office/drawing/2014/main" id="{2209D7A9-FAA1-4F55-BD65-42037A75E096}"/>
              </a:ext>
            </a:extLst>
          </p:cNvPr>
          <p:cNvSpPr>
            <a:spLocks xmlns:a="http://schemas.openxmlformats.org/drawingml/2006/main" noGrp="1"/>
          </p:cNvSpPr>
          <p:nvPr/>
        </p:nvSpPr>
        <p:spPr>
          <a:xfrm xmlns:a="http://schemas.openxmlformats.org/drawingml/2006/main">
            <a:off x="6762750" y="478155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800" b="1" i="0">
                <a:solidFill>
                  <a:srgbClr val="FFFFFF"/>
                </a:solidFill>
                <a:latin typeface="Aptos"/>
                <a:ea typeface="Aptos"/>
                <a:cs typeface="Aptos"/>
              </a:defRPr>
            </a:pPr>
            <a:r>
              <a:rPr sz="1800" b="1" i="0">
                <a:solidFill>
                  <a:srgbClr val="FFFFFF"/>
                </a:solidFill>
                <a:latin typeface="Aptos"/>
                <a:ea typeface="Aptos"/>
                <a:cs typeface="Aptos"/>
              </a:rPr>
              <a:t>Mailpit · Gmail · Telegram</a:t>
            </a:r>
          </a:p>
        </p:txBody>
      </p:sp>
    </p:spTree>
    <p:extLst>
      <p:ext uri="{BB962C8B-B14F-4D97-AF65-F5344CB8AC3E}">
        <p14:creationId xmlns:p14="http://schemas.microsoft.com/office/powerpoint/2010/main" val="277236407"/>
      </p:ext>
    </p:extLst>
  </p:cSld>
</p:sld>
</file>

<file path=ppt/slides/slide14.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870F71B-A8B3-49BA-8C18-04B65ECEA161}"/>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QUALITÉ &amp; SÉCURITÉ</a:t>
            </a:r>
          </a:p>
        </p:txBody>
      </p:sp>
      <p:sp>
        <p:nvSpPr>
          <p:cNvPr id="2" name="">
            <a:extLst xmlns:a="http://schemas.openxmlformats.org/drawingml/2006/main">
              <a:ext uri="{FF2B5EF4-FFF2-40B4-BE49-F238E27FC236}">
                <a16:creationId xmlns:a16="http://schemas.microsoft.com/office/drawing/2014/main" id="{E4054F51-0DEF-4C8F-92AB-18A83A671DAE}"/>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La robustesse vient de contrôles simples, placés au bon endroit</a:t>
            </a:r>
          </a:p>
        </p:txBody>
      </p:sp>
      <p:sp>
        <p:nvSpPr>
          <p:cNvPr id="3" name="">
            <a:extLst xmlns:a="http://schemas.openxmlformats.org/drawingml/2006/main">
              <a:ext uri="{FF2B5EF4-FFF2-40B4-BE49-F238E27FC236}">
                <a16:creationId xmlns:a16="http://schemas.microsoft.com/office/drawing/2014/main" id="{68FFF783-50B3-4CC3-AC72-F5E9DCCE7139}"/>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F8DE6134-5180-4355-A01A-69D8566843CD}"/>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DEB54D83-20F6-4DB8-BFCF-7548B5C76A07}"/>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14</a:t>
            </a:r>
          </a:p>
        </p:txBody>
      </p:sp>
      <p:sp>
        <p:nvSpPr>
          <p:cNvPr id="6" name="">
            <a:extLst xmlns:a="http://schemas.openxmlformats.org/drawingml/2006/main">
              <a:ext uri="{FF2B5EF4-FFF2-40B4-BE49-F238E27FC236}">
                <a16:creationId xmlns:a16="http://schemas.microsoft.com/office/drawing/2014/main" id="{10DFE934-C6F2-4BD9-AE19-93A4D3646818}"/>
              </a:ext>
            </a:extLst>
          </p:cNvPr>
          <p:cNvSpPr>
            <a:spLocks xmlns:a="http://schemas.openxmlformats.org/drawingml/2006/main" noGrp="1"/>
          </p:cNvSpPr>
          <p:nvPr/>
        </p:nvSpPr>
        <p:spPr>
          <a:xfrm xmlns:a="http://schemas.openxmlformats.org/drawingml/2006/main">
            <a:off x="514350" y="1809750"/>
            <a:ext cx="2381250" cy="3200400"/>
          </a:xfrm>
          <a:prstGeom xmlns:a="http://schemas.openxmlformats.org/drawingml/2006/main" prst="roundRect">
            <a:avLst>
              <a:gd name="adj" fmla="val 6400"/>
            </a:avLst>
          </a:prstGeom>
          <a:solidFill xmlns:a="http://schemas.openxmlformats.org/drawingml/2006/main">
            <a:srgbClr val="FFFFFF"/>
          </a:solidFill>
          <a:ln xmlns:a="http://schemas.openxmlformats.org/drawingml/2006/main" w="19050">
            <a:solidFill>
              <a:srgbClr val="1D5AA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1B0EA9DB-B45E-488D-BDEE-9DEBFCE40DDE}"/>
              </a:ext>
            </a:extLst>
          </p:cNvPr>
          <p:cNvSpPr>
            <a:spLocks xmlns:a="http://schemas.openxmlformats.org/drawingml/2006/main" noGrp="1"/>
          </p:cNvSpPr>
          <p:nvPr/>
        </p:nvSpPr>
        <p:spPr>
          <a:xfrm xmlns:a="http://schemas.openxmlformats.org/drawingml/2006/main">
            <a:off x="723900" y="20193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01</a:t>
            </a:r>
          </a:p>
        </p:txBody>
      </p:sp>
      <p:sp>
        <p:nvSpPr>
          <p:cNvPr id="8" name="">
            <a:extLst xmlns:a="http://schemas.openxmlformats.org/drawingml/2006/main">
              <a:ext uri="{FF2B5EF4-FFF2-40B4-BE49-F238E27FC236}">
                <a16:creationId xmlns:a16="http://schemas.microsoft.com/office/drawing/2014/main" id="{7D62738C-5530-4FA4-B50A-39AF48478A94}"/>
              </a:ext>
            </a:extLst>
          </p:cNvPr>
          <p:cNvSpPr>
            <a:spLocks xmlns:a="http://schemas.openxmlformats.org/drawingml/2006/main" noGrp="1"/>
          </p:cNvSpPr>
          <p:nvPr/>
        </p:nvSpPr>
        <p:spPr>
          <a:xfrm xmlns:a="http://schemas.openxmlformats.org/drawingml/2006/main">
            <a:off x="723900" y="2438400"/>
            <a:ext cx="1962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725" b="1" i="0">
                <a:solidFill>
                  <a:srgbClr val="0B2545"/>
                </a:solidFill>
                <a:latin typeface="Aptos"/>
                <a:ea typeface="Aptos"/>
                <a:cs typeface="Aptos"/>
              </a:defRPr>
            </a:pPr>
            <a:r>
              <a:rPr sz="1725" b="1" i="0">
                <a:solidFill>
                  <a:srgbClr val="0B2545"/>
                </a:solidFill>
                <a:latin typeface="Aptos"/>
                <a:ea typeface="Aptos"/>
                <a:cs typeface="Aptos"/>
              </a:rPr>
              <a:t>Entrées</a:t>
            </a:r>
          </a:p>
        </p:txBody>
      </p:sp>
      <p:sp>
        <p:nvSpPr>
          <p:cNvPr id="9" name="">
            <a:extLst xmlns:a="http://schemas.openxmlformats.org/drawingml/2006/main">
              <a:ext uri="{FF2B5EF4-FFF2-40B4-BE49-F238E27FC236}">
                <a16:creationId xmlns:a16="http://schemas.microsoft.com/office/drawing/2014/main" id="{39BDF3B3-2C8E-4D71-AB08-8D1DCDE08CF6}"/>
              </a:ext>
            </a:extLst>
          </p:cNvPr>
          <p:cNvSpPr>
            <a:spLocks xmlns:a="http://schemas.openxmlformats.org/drawingml/2006/main" noGrp="1"/>
          </p:cNvSpPr>
          <p:nvPr/>
        </p:nvSpPr>
        <p:spPr>
          <a:xfrm xmlns:a="http://schemas.openxmlformats.org/drawingml/2006/main">
            <a:off x="723900" y="3048000"/>
            <a:ext cx="19621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HTTPS + hôte autorisé</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limites de taille et délai</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signature de fichier</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chemins contenus</a:t>
            </a:r>
          </a:p>
        </p:txBody>
      </p:sp>
      <p:sp>
        <p:nvSpPr>
          <p:cNvPr id="10" name="">
            <a:extLst xmlns:a="http://schemas.openxmlformats.org/drawingml/2006/main">
              <a:ext uri="{FF2B5EF4-FFF2-40B4-BE49-F238E27FC236}">
                <a16:creationId xmlns:a16="http://schemas.microsoft.com/office/drawing/2014/main" id="{E5C9BBCA-4CCC-43AB-A731-8D5CCDB7FF76}"/>
              </a:ext>
            </a:extLst>
          </p:cNvPr>
          <p:cNvSpPr>
            <a:spLocks xmlns:a="http://schemas.openxmlformats.org/drawingml/2006/main" noGrp="1"/>
          </p:cNvSpPr>
          <p:nvPr/>
        </p:nvSpPr>
        <p:spPr>
          <a:xfrm xmlns:a="http://schemas.openxmlformats.org/drawingml/2006/main">
            <a:off x="3333750" y="1809750"/>
            <a:ext cx="2381250" cy="3200400"/>
          </a:xfrm>
          <a:prstGeom xmlns:a="http://schemas.openxmlformats.org/drawingml/2006/main" prst="roundRect">
            <a:avLst>
              <a:gd name="adj" fmla="val 6400"/>
            </a:avLst>
          </a:prstGeom>
          <a:solidFill xmlns:a="http://schemas.openxmlformats.org/drawingml/2006/main">
            <a:srgbClr val="FFFFFF"/>
          </a:solidFill>
          <a:ln xmlns:a="http://schemas.openxmlformats.org/drawingml/2006/main" w="19050">
            <a:solidFill>
              <a:srgbClr val="2FB9D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B261E9C2-72A0-480E-9993-6BD78D6DB4EC}"/>
              </a:ext>
            </a:extLst>
          </p:cNvPr>
          <p:cNvSpPr>
            <a:spLocks xmlns:a="http://schemas.openxmlformats.org/drawingml/2006/main" noGrp="1"/>
          </p:cNvSpPr>
          <p:nvPr/>
        </p:nvSpPr>
        <p:spPr>
          <a:xfrm xmlns:a="http://schemas.openxmlformats.org/drawingml/2006/main">
            <a:off x="3543300" y="20193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125" b="1" i="0">
                <a:solidFill>
                  <a:srgbClr val="2FB9DB"/>
                </a:solidFill>
                <a:latin typeface="Aptos"/>
                <a:ea typeface="Aptos"/>
                <a:cs typeface="Aptos"/>
              </a:defRPr>
            </a:pPr>
            <a:r>
              <a:rPr sz="1125" b="1" i="0">
                <a:solidFill>
                  <a:srgbClr val="2FB9DB"/>
                </a:solidFill>
                <a:latin typeface="Aptos"/>
                <a:ea typeface="Aptos"/>
                <a:cs typeface="Aptos"/>
              </a:rPr>
              <a:t>02</a:t>
            </a:r>
          </a:p>
        </p:txBody>
      </p:sp>
      <p:sp>
        <p:nvSpPr>
          <p:cNvPr id="12" name="">
            <a:extLst xmlns:a="http://schemas.openxmlformats.org/drawingml/2006/main">
              <a:ext uri="{FF2B5EF4-FFF2-40B4-BE49-F238E27FC236}">
                <a16:creationId xmlns:a16="http://schemas.microsoft.com/office/drawing/2014/main" id="{92B95F9D-FE46-499E-B467-A45A245AED18}"/>
              </a:ext>
            </a:extLst>
          </p:cNvPr>
          <p:cNvSpPr>
            <a:spLocks xmlns:a="http://schemas.openxmlformats.org/drawingml/2006/main" noGrp="1"/>
          </p:cNvSpPr>
          <p:nvPr/>
        </p:nvSpPr>
        <p:spPr>
          <a:xfrm xmlns:a="http://schemas.openxmlformats.org/drawingml/2006/main">
            <a:off x="3543300" y="2438400"/>
            <a:ext cx="1962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725" b="1" i="0">
                <a:solidFill>
                  <a:srgbClr val="0B2545"/>
                </a:solidFill>
                <a:latin typeface="Aptos"/>
                <a:ea typeface="Aptos"/>
                <a:cs typeface="Aptos"/>
              </a:defRPr>
            </a:pPr>
            <a:r>
              <a:rPr sz="1725" b="1" i="0">
                <a:solidFill>
                  <a:srgbClr val="0B2545"/>
                </a:solidFill>
                <a:latin typeface="Aptos"/>
                <a:ea typeface="Aptos"/>
                <a:cs typeface="Aptos"/>
              </a:rPr>
              <a:t>Exécution</a:t>
            </a:r>
          </a:p>
        </p:txBody>
      </p:sp>
      <p:sp>
        <p:nvSpPr>
          <p:cNvPr id="13" name="">
            <a:extLst xmlns:a="http://schemas.openxmlformats.org/drawingml/2006/main">
              <a:ext uri="{FF2B5EF4-FFF2-40B4-BE49-F238E27FC236}">
                <a16:creationId xmlns:a16="http://schemas.microsoft.com/office/drawing/2014/main" id="{66C7E20A-0438-4A3F-BD38-E117DEF7DB8B}"/>
              </a:ext>
            </a:extLst>
          </p:cNvPr>
          <p:cNvSpPr>
            <a:spLocks xmlns:a="http://schemas.openxmlformats.org/drawingml/2006/main" noGrp="1"/>
          </p:cNvSpPr>
          <p:nvPr/>
        </p:nvSpPr>
        <p:spPr>
          <a:xfrm xmlns:a="http://schemas.openxmlformats.org/drawingml/2006/main">
            <a:off x="3543300" y="3048000"/>
            <a:ext cx="19621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transactions et upserts</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subprocess sans shell</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timeouts</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services liés à localhost</a:t>
            </a:r>
          </a:p>
        </p:txBody>
      </p:sp>
      <p:sp>
        <p:nvSpPr>
          <p:cNvPr id="14" name="">
            <a:extLst xmlns:a="http://schemas.openxmlformats.org/drawingml/2006/main">
              <a:ext uri="{FF2B5EF4-FFF2-40B4-BE49-F238E27FC236}">
                <a16:creationId xmlns:a16="http://schemas.microsoft.com/office/drawing/2014/main" id="{78635136-D039-46BF-8C5B-0B8DCBB52AB5}"/>
              </a:ext>
            </a:extLst>
          </p:cNvPr>
          <p:cNvSpPr>
            <a:spLocks xmlns:a="http://schemas.openxmlformats.org/drawingml/2006/main" noGrp="1"/>
          </p:cNvSpPr>
          <p:nvPr/>
        </p:nvSpPr>
        <p:spPr>
          <a:xfrm xmlns:a="http://schemas.openxmlformats.org/drawingml/2006/main">
            <a:off x="6153150" y="1809750"/>
            <a:ext cx="2381250" cy="3200400"/>
          </a:xfrm>
          <a:prstGeom xmlns:a="http://schemas.openxmlformats.org/drawingml/2006/main" prst="roundRect">
            <a:avLst>
              <a:gd name="adj" fmla="val 6400"/>
            </a:avLst>
          </a:prstGeom>
          <a:solidFill xmlns:a="http://schemas.openxmlformats.org/drawingml/2006/main">
            <a:srgbClr val="FFFFFF"/>
          </a:solidFill>
          <a:ln xmlns:a="http://schemas.openxmlformats.org/drawingml/2006/main" w="19050">
            <a:solidFill>
              <a:srgbClr val="D99520"/>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1710B2D6-ADB5-43F0-A867-A33905202B52}"/>
              </a:ext>
            </a:extLst>
          </p:cNvPr>
          <p:cNvSpPr>
            <a:spLocks xmlns:a="http://schemas.openxmlformats.org/drawingml/2006/main" noGrp="1"/>
          </p:cNvSpPr>
          <p:nvPr/>
        </p:nvSpPr>
        <p:spPr>
          <a:xfrm xmlns:a="http://schemas.openxmlformats.org/drawingml/2006/main">
            <a:off x="6362700" y="20193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125" b="1" i="0">
                <a:solidFill>
                  <a:srgbClr val="D99520"/>
                </a:solidFill>
                <a:latin typeface="Aptos"/>
                <a:ea typeface="Aptos"/>
                <a:cs typeface="Aptos"/>
              </a:defRPr>
            </a:pPr>
            <a:r>
              <a:rPr sz="1125" b="1" i="0">
                <a:solidFill>
                  <a:srgbClr val="D99520"/>
                </a:solidFill>
                <a:latin typeface="Aptos"/>
                <a:ea typeface="Aptos"/>
                <a:cs typeface="Aptos"/>
              </a:rPr>
              <a:t>03</a:t>
            </a:r>
          </a:p>
        </p:txBody>
      </p:sp>
      <p:sp>
        <p:nvSpPr>
          <p:cNvPr id="16" name="">
            <a:extLst xmlns:a="http://schemas.openxmlformats.org/drawingml/2006/main">
              <a:ext uri="{FF2B5EF4-FFF2-40B4-BE49-F238E27FC236}">
                <a16:creationId xmlns:a16="http://schemas.microsoft.com/office/drawing/2014/main" id="{79E03BDC-0868-4336-A55D-04BB3B729B02}"/>
              </a:ext>
            </a:extLst>
          </p:cNvPr>
          <p:cNvSpPr>
            <a:spLocks xmlns:a="http://schemas.openxmlformats.org/drawingml/2006/main" noGrp="1"/>
          </p:cNvSpPr>
          <p:nvPr/>
        </p:nvSpPr>
        <p:spPr>
          <a:xfrm xmlns:a="http://schemas.openxmlformats.org/drawingml/2006/main">
            <a:off x="6362700" y="2438400"/>
            <a:ext cx="1962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725" b="1" i="0">
                <a:solidFill>
                  <a:srgbClr val="0B2545"/>
                </a:solidFill>
                <a:latin typeface="Aptos"/>
                <a:ea typeface="Aptos"/>
                <a:cs typeface="Aptos"/>
              </a:defRPr>
            </a:pPr>
            <a:r>
              <a:rPr sz="1725" b="1" i="0">
                <a:solidFill>
                  <a:srgbClr val="0B2545"/>
                </a:solidFill>
                <a:latin typeface="Aptos"/>
                <a:ea typeface="Aptos"/>
                <a:cs typeface="Aptos"/>
              </a:rPr>
              <a:t>IA</a:t>
            </a:r>
          </a:p>
        </p:txBody>
      </p:sp>
      <p:sp>
        <p:nvSpPr>
          <p:cNvPr id="17" name="">
            <a:extLst xmlns:a="http://schemas.openxmlformats.org/drawingml/2006/main">
              <a:ext uri="{FF2B5EF4-FFF2-40B4-BE49-F238E27FC236}">
                <a16:creationId xmlns:a16="http://schemas.microsoft.com/office/drawing/2014/main" id="{FEFE12E4-8B04-44EE-8B65-10D949BB1B16}"/>
              </a:ext>
            </a:extLst>
          </p:cNvPr>
          <p:cNvSpPr>
            <a:spLocks xmlns:a="http://schemas.openxmlformats.org/drawingml/2006/main" noGrp="1"/>
          </p:cNvSpPr>
          <p:nvPr/>
        </p:nvSpPr>
        <p:spPr>
          <a:xfrm xmlns:a="http://schemas.openxmlformats.org/drawingml/2006/main">
            <a:off x="6362700" y="3048000"/>
            <a:ext cx="19621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contexte figé</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score recalculé</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preuves obligatoires</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aucun GO si incomplet</a:t>
            </a:r>
          </a:p>
        </p:txBody>
      </p:sp>
      <p:sp>
        <p:nvSpPr>
          <p:cNvPr id="18" name="">
            <a:extLst xmlns:a="http://schemas.openxmlformats.org/drawingml/2006/main">
              <a:ext uri="{FF2B5EF4-FFF2-40B4-BE49-F238E27FC236}">
                <a16:creationId xmlns:a16="http://schemas.microsoft.com/office/drawing/2014/main" id="{DBF1FD95-5508-4272-9923-170805E6015B}"/>
              </a:ext>
            </a:extLst>
          </p:cNvPr>
          <p:cNvSpPr>
            <a:spLocks xmlns:a="http://schemas.openxmlformats.org/drawingml/2006/main" noGrp="1"/>
          </p:cNvSpPr>
          <p:nvPr/>
        </p:nvSpPr>
        <p:spPr>
          <a:xfrm xmlns:a="http://schemas.openxmlformats.org/drawingml/2006/main">
            <a:off x="8972550" y="1809750"/>
            <a:ext cx="2381250" cy="3200400"/>
          </a:xfrm>
          <a:prstGeom xmlns:a="http://schemas.openxmlformats.org/drawingml/2006/main" prst="roundRect">
            <a:avLst>
              <a:gd name="adj" fmla="val 6400"/>
            </a:avLst>
          </a:prstGeom>
          <a:solidFill xmlns:a="http://schemas.openxmlformats.org/drawingml/2006/main">
            <a:srgbClr val="FFFFFF"/>
          </a:solidFill>
          <a:ln xmlns:a="http://schemas.openxmlformats.org/drawingml/2006/main" w="19050">
            <a:solidFill>
              <a:srgbClr val="2E9D69"/>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EAE825B3-1C46-4699-A18C-02AB51AE688A}"/>
              </a:ext>
            </a:extLst>
          </p:cNvPr>
          <p:cNvSpPr>
            <a:spLocks xmlns:a="http://schemas.openxmlformats.org/drawingml/2006/main" noGrp="1"/>
          </p:cNvSpPr>
          <p:nvPr/>
        </p:nvSpPr>
        <p:spPr>
          <a:xfrm xmlns:a="http://schemas.openxmlformats.org/drawingml/2006/main">
            <a:off x="9182100" y="2019300"/>
            <a:ext cx="419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125" b="1" i="0">
                <a:solidFill>
                  <a:srgbClr val="2E9D69"/>
                </a:solidFill>
                <a:latin typeface="Aptos"/>
                <a:ea typeface="Aptos"/>
                <a:cs typeface="Aptos"/>
              </a:defRPr>
            </a:pPr>
            <a:r>
              <a:rPr sz="1125" b="1" i="0">
                <a:solidFill>
                  <a:srgbClr val="2E9D69"/>
                </a:solidFill>
                <a:latin typeface="Aptos"/>
                <a:ea typeface="Aptos"/>
                <a:cs typeface="Aptos"/>
              </a:rPr>
              <a:t>04</a:t>
            </a:r>
          </a:p>
        </p:txBody>
      </p:sp>
      <p:sp>
        <p:nvSpPr>
          <p:cNvPr id="20" name="">
            <a:extLst xmlns:a="http://schemas.openxmlformats.org/drawingml/2006/main">
              <a:ext uri="{FF2B5EF4-FFF2-40B4-BE49-F238E27FC236}">
                <a16:creationId xmlns:a16="http://schemas.microsoft.com/office/drawing/2014/main" id="{133FB25B-3995-43A1-AFE8-EBE56D537D4F}"/>
              </a:ext>
            </a:extLst>
          </p:cNvPr>
          <p:cNvSpPr>
            <a:spLocks xmlns:a="http://schemas.openxmlformats.org/drawingml/2006/main" noGrp="1"/>
          </p:cNvSpPr>
          <p:nvPr/>
        </p:nvSpPr>
        <p:spPr>
          <a:xfrm xmlns:a="http://schemas.openxmlformats.org/drawingml/2006/main">
            <a:off x="9182100" y="2438400"/>
            <a:ext cx="19621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725" b="1" i="0">
                <a:solidFill>
                  <a:srgbClr val="0B2545"/>
                </a:solidFill>
                <a:latin typeface="Aptos"/>
                <a:ea typeface="Aptos"/>
                <a:cs typeface="Aptos"/>
              </a:defRPr>
            </a:pPr>
            <a:r>
              <a:rPr sz="1725" b="1" i="0">
                <a:solidFill>
                  <a:srgbClr val="0B2545"/>
                </a:solidFill>
                <a:latin typeface="Aptos"/>
                <a:ea typeface="Aptos"/>
                <a:cs typeface="Aptos"/>
              </a:rPr>
              <a:t>Diffusion</a:t>
            </a:r>
          </a:p>
        </p:txBody>
      </p:sp>
      <p:sp>
        <p:nvSpPr>
          <p:cNvPr id="21" name="">
            <a:extLst xmlns:a="http://schemas.openxmlformats.org/drawingml/2006/main">
              <a:ext uri="{FF2B5EF4-FFF2-40B4-BE49-F238E27FC236}">
                <a16:creationId xmlns:a16="http://schemas.microsoft.com/office/drawing/2014/main" id="{4E52D168-A1A9-4476-8BDA-63BADA1F7A81}"/>
              </a:ext>
            </a:extLst>
          </p:cNvPr>
          <p:cNvSpPr>
            <a:spLocks xmlns:a="http://schemas.openxmlformats.org/drawingml/2006/main" noGrp="1"/>
          </p:cNvSpPr>
          <p:nvPr/>
        </p:nvSpPr>
        <p:spPr>
          <a:xfrm xmlns:a="http://schemas.openxmlformats.org/drawingml/2006/main">
            <a:off x="9182100" y="3048000"/>
            <a:ext cx="19621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secrets en environnement</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jeton comparé en temps constant</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ledger par destinataire</a:t>
            </a:r>
          </a:p>
          <a:p xmlns:a="http://schemas.openxmlformats.org/drawingml/2006/main">
            <a:pPr algn="l">
              <a:defRPr sz="1275" b="0" i="0">
                <a:solidFill>
                  <a:srgbClr val="101828"/>
                </a:solidFill>
                <a:latin typeface="Aptos"/>
                <a:ea typeface="Aptos"/>
                <a:cs typeface="Aptos"/>
              </a:defRPr>
            </a:pPr>
            <a:r>
              <a:rPr sz="1275" b="0" i="0">
                <a:solidFill>
                  <a:srgbClr val="101828"/>
                </a:solidFill>
                <a:latin typeface="Aptos"/>
                <a:ea typeface="Aptos"/>
                <a:cs typeface="Aptos"/>
              </a:rPr>
              <a:t>rejeu sans doublon</a:t>
            </a:r>
          </a:p>
        </p:txBody>
      </p:sp>
      <p:sp>
        <p:nvSpPr>
          <p:cNvPr id="22" name="">
            <a:extLst xmlns:a="http://schemas.openxmlformats.org/drawingml/2006/main">
              <a:ext uri="{FF2B5EF4-FFF2-40B4-BE49-F238E27FC236}">
                <a16:creationId xmlns:a16="http://schemas.microsoft.com/office/drawing/2014/main" id="{6DCDB8AB-2030-4717-8827-2ED0FFB75216}"/>
              </a:ext>
            </a:extLst>
          </p:cNvPr>
          <p:cNvSpPr>
            <a:spLocks xmlns:a="http://schemas.openxmlformats.org/drawingml/2006/main" noGrp="1"/>
          </p:cNvSpPr>
          <p:nvPr/>
        </p:nvSpPr>
        <p:spPr>
          <a:xfrm xmlns:a="http://schemas.openxmlformats.org/drawingml/2006/main">
            <a:off x="4381500" y="5391150"/>
            <a:ext cx="3429000" cy="400050"/>
          </a:xfrm>
          <a:prstGeom xmlns:a="http://schemas.openxmlformats.org/drawingml/2006/main" prst="roundRect">
            <a:avLst>
              <a:gd name="adj" fmla="val 50000"/>
            </a:avLst>
          </a:prstGeom>
          <a:solidFill xmlns:a="http://schemas.openxmlformats.org/drawingml/2006/main">
            <a:srgbClr val="0B2545"/>
          </a:solidFill>
          <a:ln xmlns:a="http://schemas.openxmlformats.org/drawingml/2006/main" w="9525">
            <a:solidFill>
              <a:srgbClr val="0B2545"/>
            </a:solidFill>
            <a:prstDash val="solid"/>
          </a:ln>
        </p:spPr>
      </p:sp>
      <p:sp>
        <p:nvSpPr>
          <p:cNvPr id="23" name="">
            <a:extLst xmlns:a="http://schemas.openxmlformats.org/drawingml/2006/main">
              <a:ext uri="{FF2B5EF4-FFF2-40B4-BE49-F238E27FC236}">
                <a16:creationId xmlns:a16="http://schemas.microsoft.com/office/drawing/2014/main" id="{31C02DF5-2E5E-4CF3-A30B-56B6E354F62D}"/>
              </a:ext>
            </a:extLst>
          </p:cNvPr>
          <p:cNvSpPr>
            <a:spLocks xmlns:a="http://schemas.openxmlformats.org/drawingml/2006/main" noGrp="1"/>
          </p:cNvSpPr>
          <p:nvPr/>
        </p:nvSpPr>
        <p:spPr>
          <a:xfrm xmlns:a="http://schemas.openxmlformats.org/drawingml/2006/main">
            <a:off x="4419600" y="5400675"/>
            <a:ext cx="33528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350" b="1" i="0">
                <a:solidFill>
                  <a:srgbClr val="FFFFFF"/>
                </a:solidFill>
                <a:latin typeface="Aptos"/>
                <a:ea typeface="Aptos"/>
                <a:cs typeface="Aptos"/>
              </a:defRPr>
            </a:pPr>
            <a:r>
              <a:rPr sz="1350" b="1" i="0">
                <a:solidFill>
                  <a:srgbClr val="FFFFFF"/>
                </a:solidFill>
                <a:latin typeface="Aptos"/>
                <a:ea typeface="Aptos"/>
                <a:cs typeface="Aptos"/>
              </a:rPr>
              <a:t>La décision finale reste humaine</a:t>
            </a:r>
          </a:p>
        </p:txBody>
      </p:sp>
    </p:spTree>
    <p:extLst>
      <p:ext uri="{BB962C8B-B14F-4D97-AF65-F5344CB8AC3E}">
        <p14:creationId xmlns:p14="http://schemas.microsoft.com/office/powerpoint/2010/main" val="688912449"/>
      </p:ext>
    </p:extLst>
  </p:cSld>
</p:sld>
</file>

<file path=ppt/slides/slide15.xml><?xml version="1.0" encoding="utf-8"?>
<p:sld xmlns:p="http://schemas.openxmlformats.org/presentationml/2006/main">
  <p:cSld>
    <p:bg>
      <p:bgPr>
        <a:solidFill xmlns:a="http://schemas.openxmlformats.org/drawingml/2006/main">
          <a:srgbClr val="F6F8FB"/>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FDAC6BE5-1437-4E79-9DF8-867691D76F4F}"/>
              </a:ext>
            </a:extLst>
          </p:cNvPr>
          <p:cNvSpPr>
            <a:spLocks xmlns:a="http://schemas.openxmlformats.org/drawingml/2006/main" noGrp="1"/>
          </p:cNvSpPr>
          <p:nvPr/>
        </p:nvSpPr>
        <p:spPr>
          <a:xfrm xmlns:a="http://schemas.openxmlformats.org/drawingml/2006/main">
            <a:off x="457200" y="266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125" b="1" i="0">
                <a:solidFill>
                  <a:srgbClr val="1D5AA6"/>
                </a:solidFill>
                <a:latin typeface="Aptos"/>
                <a:ea typeface="Aptos"/>
                <a:cs typeface="Aptos"/>
              </a:defRPr>
            </a:pPr>
            <a:r>
              <a:rPr sz="1125" b="1" i="0">
                <a:solidFill>
                  <a:srgbClr val="1D5AA6"/>
                </a:solidFill>
                <a:latin typeface="Aptos"/>
                <a:ea typeface="Aptos"/>
                <a:cs typeface="Aptos"/>
              </a:rPr>
              <a:t>DÉMONSTRATION</a:t>
            </a:r>
          </a:p>
        </p:txBody>
      </p:sp>
      <p:sp>
        <p:nvSpPr>
          <p:cNvPr id="2" name="">
            <a:extLst xmlns:a="http://schemas.openxmlformats.org/drawingml/2006/main">
              <a:ext uri="{FF2B5EF4-FFF2-40B4-BE49-F238E27FC236}">
                <a16:creationId xmlns:a16="http://schemas.microsoft.com/office/drawing/2014/main" id="{53B0C068-B7EF-4148-B4A0-19647BEB17D1}"/>
              </a:ext>
            </a:extLst>
          </p:cNvPr>
          <p:cNvSpPr>
            <a:spLocks xmlns:a="http://schemas.openxmlformats.org/drawingml/2006/main" noGrp="1"/>
          </p:cNvSpPr>
          <p:nvPr/>
        </p:nvSpPr>
        <p:spPr>
          <a:xfrm xmlns:a="http://schemas.openxmlformats.org/drawingml/2006/main">
            <a:off x="457200" y="590550"/>
            <a:ext cx="10668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3150" b="1" i="0">
                <a:solidFill>
                  <a:srgbClr val="0B2545"/>
                </a:solidFill>
                <a:latin typeface="Aptos"/>
                <a:ea typeface="Aptos"/>
                <a:cs typeface="Aptos"/>
              </a:defRPr>
            </a:pPr>
            <a:r>
              <a:rPr sz="3150" b="1" i="0">
                <a:solidFill>
                  <a:srgbClr val="0B2545"/>
                </a:solidFill>
                <a:latin typeface="Aptos"/>
                <a:ea typeface="Aptos"/>
                <a:cs typeface="Aptos"/>
              </a:rPr>
              <a:t>Deux dossiers réels montrent la valeur… et les limites</a:t>
            </a:r>
          </a:p>
        </p:txBody>
      </p:sp>
      <p:sp>
        <p:nvSpPr>
          <p:cNvPr id="3" name="">
            <a:extLst xmlns:a="http://schemas.openxmlformats.org/drawingml/2006/main">
              <a:ext uri="{FF2B5EF4-FFF2-40B4-BE49-F238E27FC236}">
                <a16:creationId xmlns:a16="http://schemas.microsoft.com/office/drawing/2014/main" id="{462A6348-C569-4B42-9909-2CFD322B01FE}"/>
              </a:ext>
            </a:extLst>
          </p:cNvPr>
          <p:cNvSpPr>
            <a:spLocks xmlns:a="http://schemas.openxmlformats.org/drawingml/2006/main" noGrp="1"/>
          </p:cNvSpPr>
          <p:nvPr/>
        </p:nvSpPr>
        <p:spPr>
          <a:xfrm xmlns:a="http://schemas.openxmlformats.org/drawingml/2006/main">
            <a:off x="457200" y="6362700"/>
            <a:ext cx="1082040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4" name="">
            <a:extLst xmlns:a="http://schemas.openxmlformats.org/drawingml/2006/main">
              <a:ext uri="{FF2B5EF4-FFF2-40B4-BE49-F238E27FC236}">
                <a16:creationId xmlns:a16="http://schemas.microsoft.com/office/drawing/2014/main" id="{E3820A97-1DF1-4212-B038-4A5D8309C7AD}"/>
              </a:ext>
            </a:extLst>
          </p:cNvPr>
          <p:cNvSpPr>
            <a:spLocks xmlns:a="http://schemas.openxmlformats.org/drawingml/2006/main" noGrp="1"/>
          </p:cNvSpPr>
          <p:nvPr/>
        </p:nvSpPr>
        <p:spPr>
          <a:xfrm xmlns:a="http://schemas.openxmlformats.org/drawingml/2006/main">
            <a:off x="457200" y="643890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975" b="0" i="0">
                <a:solidFill>
                  <a:srgbClr val="667085"/>
                </a:solidFill>
                <a:latin typeface="Aptos"/>
                <a:ea typeface="Aptos"/>
                <a:cs typeface="Aptos"/>
              </a:defRPr>
            </a:pPr>
            <a:r>
              <a:rPr sz="975" b="0" i="0">
                <a:solidFill>
                  <a:srgbClr val="667085"/>
                </a:solidFill>
                <a:latin typeface="Aptos"/>
                <a:ea typeface="Aptos"/>
                <a:cs typeface="Aptos"/>
              </a:rPr>
              <a:t>Khayem Ben Ghorbel  ·  OneTech Tender Agent</a:t>
            </a:r>
          </a:p>
        </p:txBody>
      </p:sp>
      <p:sp>
        <p:nvSpPr>
          <p:cNvPr id="5" name="">
            <a:extLst xmlns:a="http://schemas.openxmlformats.org/drawingml/2006/main">
              <a:ext uri="{FF2B5EF4-FFF2-40B4-BE49-F238E27FC236}">
                <a16:creationId xmlns:a16="http://schemas.microsoft.com/office/drawing/2014/main" id="{DBE7582E-C7FE-4B89-96FA-64494D60CE9E}"/>
              </a:ext>
            </a:extLst>
          </p:cNvPr>
          <p:cNvSpPr>
            <a:spLocks xmlns:a="http://schemas.openxmlformats.org/drawingml/2006/main" noGrp="1"/>
          </p:cNvSpPr>
          <p:nvPr/>
        </p:nvSpPr>
        <p:spPr>
          <a:xfrm xmlns:a="http://schemas.openxmlformats.org/drawingml/2006/main">
            <a:off x="10715625" y="6419850"/>
            <a:ext cx="57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defRPr sz="975" b="1" i="0">
                <a:solidFill>
                  <a:srgbClr val="1D5AA6"/>
                </a:solidFill>
                <a:latin typeface="Aptos"/>
                <a:ea typeface="Aptos"/>
                <a:cs typeface="Aptos"/>
              </a:defRPr>
            </a:pPr>
            <a:r>
              <a:rPr sz="975" b="1" i="0">
                <a:solidFill>
                  <a:srgbClr val="1D5AA6"/>
                </a:solidFill>
                <a:latin typeface="Aptos"/>
                <a:ea typeface="Aptos"/>
                <a:cs typeface="Aptos"/>
              </a:rPr>
              <a:t>15</a:t>
            </a:r>
          </a:p>
        </p:txBody>
      </p:sp>
      <p:sp>
        <p:nvSpPr>
          <p:cNvPr id="6" name="">
            <a:extLst xmlns:a="http://schemas.openxmlformats.org/drawingml/2006/main">
              <a:ext uri="{FF2B5EF4-FFF2-40B4-BE49-F238E27FC236}">
                <a16:creationId xmlns:a16="http://schemas.microsoft.com/office/drawing/2014/main" id="{0BB81865-EEBA-4392-8154-06C873013D58}"/>
              </a:ext>
            </a:extLst>
          </p:cNvPr>
          <p:cNvSpPr>
            <a:spLocks xmlns:a="http://schemas.openxmlformats.org/drawingml/2006/main" noGrp="1"/>
          </p:cNvSpPr>
          <p:nvPr/>
        </p:nvSpPr>
        <p:spPr>
          <a:xfrm xmlns:a="http://schemas.openxmlformats.org/drawingml/2006/main">
            <a:off x="514350" y="1771650"/>
            <a:ext cx="5143500" cy="3714750"/>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19050">
            <a:solidFill>
              <a:srgbClr val="C84B5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F2E27F47-ECB0-4070-8E95-98C915C2CA3C}"/>
              </a:ext>
            </a:extLst>
          </p:cNvPr>
          <p:cNvSpPr>
            <a:spLocks xmlns:a="http://schemas.openxmlformats.org/drawingml/2006/main" noGrp="1"/>
          </p:cNvSpPr>
          <p:nvPr/>
        </p:nvSpPr>
        <p:spPr>
          <a:xfrm xmlns:a="http://schemas.openxmlformats.org/drawingml/2006/main">
            <a:off x="742950" y="1981200"/>
            <a:ext cx="1600200" cy="304800"/>
          </a:xfrm>
          <a:prstGeom xmlns:a="http://schemas.openxmlformats.org/drawingml/2006/main" prst="roundRect">
            <a:avLst>
              <a:gd name="adj" fmla="val 50000"/>
            </a:avLst>
          </a:prstGeom>
          <a:solidFill xmlns:a="http://schemas.openxmlformats.org/drawingml/2006/main">
            <a:srgbClr val="FBEAEC"/>
          </a:solidFill>
          <a:ln xmlns:a="http://schemas.openxmlformats.org/drawingml/2006/main" w="9525">
            <a:solidFill>
              <a:srgbClr val="C84B55"/>
            </a:solidFill>
            <a:prstDash val="solid"/>
          </a:ln>
        </p:spPr>
      </p:sp>
      <p:sp>
        <p:nvSpPr>
          <p:cNvPr id="8" name="">
            <a:extLst xmlns:a="http://schemas.openxmlformats.org/drawingml/2006/main">
              <a:ext uri="{FF2B5EF4-FFF2-40B4-BE49-F238E27FC236}">
                <a16:creationId xmlns:a16="http://schemas.microsoft.com/office/drawing/2014/main" id="{31059CC4-813D-413B-83A2-B76D76A7A70A}"/>
              </a:ext>
            </a:extLst>
          </p:cNvPr>
          <p:cNvSpPr>
            <a:spLocks xmlns:a="http://schemas.openxmlformats.org/drawingml/2006/main" noGrp="1"/>
          </p:cNvSpPr>
          <p:nvPr/>
        </p:nvSpPr>
        <p:spPr>
          <a:xfrm xmlns:a="http://schemas.openxmlformats.org/drawingml/2006/main">
            <a:off x="781050" y="19907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125" b="1" i="0">
                <a:solidFill>
                  <a:srgbClr val="C84B55"/>
                </a:solidFill>
                <a:latin typeface="Aptos"/>
                <a:ea typeface="Aptos"/>
                <a:cs typeface="Aptos"/>
              </a:defRPr>
            </a:pPr>
            <a:r>
              <a:rPr sz="1125" b="1" i="0">
                <a:solidFill>
                  <a:srgbClr val="C84B55"/>
                </a:solidFill>
                <a:latin typeface="Aptos"/>
                <a:ea typeface="Aptos"/>
                <a:cs typeface="Aptos"/>
              </a:rPr>
              <a:t>TENDER-103283</a:t>
            </a:r>
          </a:p>
        </p:txBody>
      </p:sp>
      <p:sp>
        <p:nvSpPr>
          <p:cNvPr id="9" name="">
            <a:extLst xmlns:a="http://schemas.openxmlformats.org/drawingml/2006/main">
              <a:ext uri="{FF2B5EF4-FFF2-40B4-BE49-F238E27FC236}">
                <a16:creationId xmlns:a16="http://schemas.microsoft.com/office/drawing/2014/main" id="{21CE2CAD-1147-4BC3-BF4B-F0E90BFCCEF1}"/>
              </a:ext>
            </a:extLst>
          </p:cNvPr>
          <p:cNvSpPr>
            <a:spLocks xmlns:a="http://schemas.openxmlformats.org/drawingml/2006/main" noGrp="1"/>
          </p:cNvSpPr>
          <p:nvPr/>
        </p:nvSpPr>
        <p:spPr>
          <a:xfrm xmlns:a="http://schemas.openxmlformats.org/drawingml/2006/main">
            <a:off x="742950" y="2533650"/>
            <a:ext cx="209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3150" b="1" i="0">
                <a:solidFill>
                  <a:srgbClr val="C84B55"/>
                </a:solidFill>
                <a:latin typeface="Aptos"/>
                <a:ea typeface="Aptos"/>
                <a:cs typeface="Aptos"/>
              </a:defRPr>
            </a:pPr>
            <a:r>
              <a:rPr sz="3150" b="1" i="0">
                <a:solidFill>
                  <a:srgbClr val="C84B55"/>
                </a:solidFill>
                <a:latin typeface="Aptos"/>
                <a:ea typeface="Aptos"/>
                <a:cs typeface="Aptos"/>
              </a:rPr>
              <a:t>24 / 100</a:t>
            </a:r>
          </a:p>
        </p:txBody>
      </p:sp>
      <p:sp>
        <p:nvSpPr>
          <p:cNvPr id="10" name="">
            <a:extLst xmlns:a="http://schemas.openxmlformats.org/drawingml/2006/main">
              <a:ext uri="{FF2B5EF4-FFF2-40B4-BE49-F238E27FC236}">
                <a16:creationId xmlns:a16="http://schemas.microsoft.com/office/drawing/2014/main" id="{CB464CCD-E165-4193-BDA5-7FEA56223C57}"/>
              </a:ext>
            </a:extLst>
          </p:cNvPr>
          <p:cNvSpPr>
            <a:spLocks xmlns:a="http://schemas.openxmlformats.org/drawingml/2006/main" noGrp="1"/>
          </p:cNvSpPr>
          <p:nvPr/>
        </p:nvSpPr>
        <p:spPr>
          <a:xfrm xmlns:a="http://schemas.openxmlformats.org/drawingml/2006/main">
            <a:off x="3276600" y="2628900"/>
            <a:ext cx="171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950" b="1" i="0">
                <a:solidFill>
                  <a:srgbClr val="C84B55"/>
                </a:solidFill>
                <a:latin typeface="Aptos"/>
                <a:ea typeface="Aptos"/>
                <a:cs typeface="Aptos"/>
              </a:defRPr>
            </a:pPr>
            <a:r>
              <a:rPr sz="1950" b="1" i="0">
                <a:solidFill>
                  <a:srgbClr val="C84B55"/>
                </a:solidFill>
                <a:latin typeface="Aptos"/>
                <a:ea typeface="Aptos"/>
                <a:cs typeface="Aptos"/>
              </a:rPr>
              <a:t>NO_GO</a:t>
            </a:r>
          </a:p>
        </p:txBody>
      </p:sp>
      <p:sp>
        <p:nvSpPr>
          <p:cNvPr id="11" name="">
            <a:extLst xmlns:a="http://schemas.openxmlformats.org/drawingml/2006/main">
              <a:ext uri="{FF2B5EF4-FFF2-40B4-BE49-F238E27FC236}">
                <a16:creationId xmlns:a16="http://schemas.microsoft.com/office/drawing/2014/main" id="{61259720-7BDA-4DE5-9681-5BBC6D9DBAB8}"/>
              </a:ext>
            </a:extLst>
          </p:cNvPr>
          <p:cNvSpPr>
            <a:spLocks xmlns:a="http://schemas.openxmlformats.org/drawingml/2006/main" noGrp="1"/>
          </p:cNvSpPr>
          <p:nvPr/>
        </p:nvSpPr>
        <p:spPr>
          <a:xfrm xmlns:a="http://schemas.openxmlformats.org/drawingml/2006/main">
            <a:off x="742950" y="3257550"/>
            <a:ext cx="44005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12" name="">
            <a:extLst xmlns:a="http://schemas.openxmlformats.org/drawingml/2006/main">
              <a:ext uri="{FF2B5EF4-FFF2-40B4-BE49-F238E27FC236}">
                <a16:creationId xmlns:a16="http://schemas.microsoft.com/office/drawing/2014/main" id="{C27D766A-70D0-4294-9493-4B873DAE32BD}"/>
              </a:ext>
            </a:extLst>
          </p:cNvPr>
          <p:cNvSpPr>
            <a:spLocks xmlns:a="http://schemas.openxmlformats.org/drawingml/2006/main" noGrp="1"/>
          </p:cNvSpPr>
          <p:nvPr/>
        </p:nvSpPr>
        <p:spPr>
          <a:xfrm xmlns:a="http://schemas.openxmlformats.org/drawingml/2006/main">
            <a:off x="742950" y="3486150"/>
            <a:ext cx="44005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La fiche conserve :</a:t>
            </a:r>
          </a:p>
          <a:p xmlns:a="http://schemas.openxmlformats.org/drawingml/2006/main">
            <a:r>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les critères et les quatre notes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les preuves documentaires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les réserves et éléments manquants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l’empreinte du contexte analysé.</a:t>
            </a:r>
          </a:p>
        </p:txBody>
      </p:sp>
      <p:sp>
        <p:nvSpPr>
          <p:cNvPr id="13" name="">
            <a:extLst xmlns:a="http://schemas.openxmlformats.org/drawingml/2006/main">
              <a:ext uri="{FF2B5EF4-FFF2-40B4-BE49-F238E27FC236}">
                <a16:creationId xmlns:a16="http://schemas.microsoft.com/office/drawing/2014/main" id="{17D6B051-EBB5-4E3F-98BA-43A253A6424E}"/>
              </a:ext>
            </a:extLst>
          </p:cNvPr>
          <p:cNvSpPr>
            <a:spLocks xmlns:a="http://schemas.openxmlformats.org/drawingml/2006/main" noGrp="1"/>
          </p:cNvSpPr>
          <p:nvPr/>
        </p:nvSpPr>
        <p:spPr>
          <a:xfrm xmlns:a="http://schemas.openxmlformats.org/drawingml/2006/main">
            <a:off x="6038850" y="1771650"/>
            <a:ext cx="5143500" cy="3714750"/>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19050">
            <a:solidFill>
              <a:srgbClr val="C84B55"/>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88D0B167-C932-4B42-999C-A83869F50B79}"/>
              </a:ext>
            </a:extLst>
          </p:cNvPr>
          <p:cNvSpPr>
            <a:spLocks xmlns:a="http://schemas.openxmlformats.org/drawingml/2006/main" noGrp="1"/>
          </p:cNvSpPr>
          <p:nvPr/>
        </p:nvSpPr>
        <p:spPr>
          <a:xfrm xmlns:a="http://schemas.openxmlformats.org/drawingml/2006/main">
            <a:off x="6267450" y="1981200"/>
            <a:ext cx="1600200" cy="304800"/>
          </a:xfrm>
          <a:prstGeom xmlns:a="http://schemas.openxmlformats.org/drawingml/2006/main" prst="roundRect">
            <a:avLst>
              <a:gd name="adj" fmla="val 50000"/>
            </a:avLst>
          </a:prstGeom>
          <a:solidFill xmlns:a="http://schemas.openxmlformats.org/drawingml/2006/main">
            <a:srgbClr val="FBEAEC"/>
          </a:solidFill>
          <a:ln xmlns:a="http://schemas.openxmlformats.org/drawingml/2006/main" w="9525">
            <a:solidFill>
              <a:srgbClr val="C84B55"/>
            </a:solidFill>
            <a:prstDash val="solid"/>
          </a:ln>
        </p:spPr>
      </p:sp>
      <p:sp>
        <p:nvSpPr>
          <p:cNvPr id="15" name="">
            <a:extLst xmlns:a="http://schemas.openxmlformats.org/drawingml/2006/main">
              <a:ext uri="{FF2B5EF4-FFF2-40B4-BE49-F238E27FC236}">
                <a16:creationId xmlns:a16="http://schemas.microsoft.com/office/drawing/2014/main" id="{C7CA79DD-90DB-4389-B895-94D276151F05}"/>
              </a:ext>
            </a:extLst>
          </p:cNvPr>
          <p:cNvSpPr>
            <a:spLocks xmlns:a="http://schemas.openxmlformats.org/drawingml/2006/main" noGrp="1"/>
          </p:cNvSpPr>
          <p:nvPr/>
        </p:nvSpPr>
        <p:spPr>
          <a:xfrm xmlns:a="http://schemas.openxmlformats.org/drawingml/2006/main">
            <a:off x="6305550" y="1990725"/>
            <a:ext cx="152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125" b="1" i="0">
                <a:solidFill>
                  <a:srgbClr val="C84B55"/>
                </a:solidFill>
                <a:latin typeface="Aptos"/>
                <a:ea typeface="Aptos"/>
                <a:cs typeface="Aptos"/>
              </a:defRPr>
            </a:pPr>
            <a:r>
              <a:rPr sz="1125" b="1" i="0">
                <a:solidFill>
                  <a:srgbClr val="C84B55"/>
                </a:solidFill>
                <a:latin typeface="Aptos"/>
                <a:ea typeface="Aptos"/>
                <a:cs typeface="Aptos"/>
              </a:rPr>
              <a:t>TENDER-103307</a:t>
            </a:r>
          </a:p>
        </p:txBody>
      </p:sp>
      <p:sp>
        <p:nvSpPr>
          <p:cNvPr id="16" name="">
            <a:extLst xmlns:a="http://schemas.openxmlformats.org/drawingml/2006/main">
              <a:ext uri="{FF2B5EF4-FFF2-40B4-BE49-F238E27FC236}">
                <a16:creationId xmlns:a16="http://schemas.microsoft.com/office/drawing/2014/main" id="{853900C5-A54E-4BD1-8655-2CD4A5A41868}"/>
              </a:ext>
            </a:extLst>
          </p:cNvPr>
          <p:cNvSpPr>
            <a:spLocks xmlns:a="http://schemas.openxmlformats.org/drawingml/2006/main" noGrp="1"/>
          </p:cNvSpPr>
          <p:nvPr/>
        </p:nvSpPr>
        <p:spPr>
          <a:xfrm xmlns:a="http://schemas.openxmlformats.org/drawingml/2006/main">
            <a:off x="6267450" y="2533650"/>
            <a:ext cx="20955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3150" b="1" i="0">
                <a:solidFill>
                  <a:srgbClr val="C84B55"/>
                </a:solidFill>
                <a:latin typeface="Aptos"/>
                <a:ea typeface="Aptos"/>
                <a:cs typeface="Aptos"/>
              </a:defRPr>
            </a:pPr>
            <a:r>
              <a:rPr sz="3150" b="1" i="0">
                <a:solidFill>
                  <a:srgbClr val="C84B55"/>
                </a:solidFill>
                <a:latin typeface="Aptos"/>
                <a:ea typeface="Aptos"/>
                <a:cs typeface="Aptos"/>
              </a:rPr>
              <a:t>36 / 100</a:t>
            </a:r>
          </a:p>
        </p:txBody>
      </p:sp>
      <p:sp>
        <p:nvSpPr>
          <p:cNvPr id="17" name="">
            <a:extLst xmlns:a="http://schemas.openxmlformats.org/drawingml/2006/main">
              <a:ext uri="{FF2B5EF4-FFF2-40B4-BE49-F238E27FC236}">
                <a16:creationId xmlns:a16="http://schemas.microsoft.com/office/drawing/2014/main" id="{9C0E6CC2-F63C-40C7-B46D-8D5678D8E463}"/>
              </a:ext>
            </a:extLst>
          </p:cNvPr>
          <p:cNvSpPr>
            <a:spLocks xmlns:a="http://schemas.openxmlformats.org/drawingml/2006/main" noGrp="1"/>
          </p:cNvSpPr>
          <p:nvPr/>
        </p:nvSpPr>
        <p:spPr>
          <a:xfrm xmlns:a="http://schemas.openxmlformats.org/drawingml/2006/main">
            <a:off x="8801100" y="2628900"/>
            <a:ext cx="1714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r">
              <a:defRPr sz="1950" b="1" i="0">
                <a:solidFill>
                  <a:srgbClr val="C84B55"/>
                </a:solidFill>
                <a:latin typeface="Aptos"/>
                <a:ea typeface="Aptos"/>
                <a:cs typeface="Aptos"/>
              </a:defRPr>
            </a:pPr>
            <a:r>
              <a:rPr sz="1950" b="1" i="0">
                <a:solidFill>
                  <a:srgbClr val="C84B55"/>
                </a:solidFill>
                <a:latin typeface="Aptos"/>
                <a:ea typeface="Aptos"/>
                <a:cs typeface="Aptos"/>
              </a:rPr>
              <a:t>NO_GO</a:t>
            </a:r>
          </a:p>
        </p:txBody>
      </p:sp>
      <p:sp>
        <p:nvSpPr>
          <p:cNvPr id="18" name="">
            <a:extLst xmlns:a="http://schemas.openxmlformats.org/drawingml/2006/main">
              <a:ext uri="{FF2B5EF4-FFF2-40B4-BE49-F238E27FC236}">
                <a16:creationId xmlns:a16="http://schemas.microsoft.com/office/drawing/2014/main" id="{842AEA3F-E85B-4DD1-A8FC-4347F655A844}"/>
              </a:ext>
            </a:extLst>
          </p:cNvPr>
          <p:cNvSpPr>
            <a:spLocks xmlns:a="http://schemas.openxmlformats.org/drawingml/2006/main" noGrp="1"/>
          </p:cNvSpPr>
          <p:nvPr/>
        </p:nvSpPr>
        <p:spPr>
          <a:xfrm xmlns:a="http://schemas.openxmlformats.org/drawingml/2006/main">
            <a:off x="6267450" y="3257550"/>
            <a:ext cx="44005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19" name="">
            <a:extLst xmlns:a="http://schemas.openxmlformats.org/drawingml/2006/main">
              <a:ext uri="{FF2B5EF4-FFF2-40B4-BE49-F238E27FC236}">
                <a16:creationId xmlns:a16="http://schemas.microsoft.com/office/drawing/2014/main" id="{953EFF31-801D-41D7-8529-E8A33D04D114}"/>
              </a:ext>
            </a:extLst>
          </p:cNvPr>
          <p:cNvSpPr>
            <a:spLocks xmlns:a="http://schemas.openxmlformats.org/drawingml/2006/main" noGrp="1"/>
          </p:cNvSpPr>
          <p:nvPr/>
        </p:nvSpPr>
        <p:spPr>
          <a:xfrm xmlns:a="http://schemas.openxmlformats.org/drawingml/2006/main">
            <a:off x="6267450" y="3486150"/>
            <a:ext cx="4400550" cy="1581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Le rejeu est sans duplication :</a:t>
            </a:r>
          </a:p>
          <a:p xmlns:a="http://schemas.openxmlformats.org/drawingml/2006/main">
            <a:r>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même AO → upsert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même pièce → empreinte unique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même contexte → analyse réutilisée ;</a:t>
            </a:r>
          </a:p>
          <a:p xmlns:a="http://schemas.openxmlformats.org/drawingml/2006/main">
            <a:pPr algn="l">
              <a:defRPr sz="1425" b="0" i="0">
                <a:solidFill>
                  <a:srgbClr val="101828"/>
                </a:solidFill>
                <a:latin typeface="Aptos"/>
                <a:ea typeface="Aptos"/>
                <a:cs typeface="Aptos"/>
              </a:defRPr>
            </a:pPr>
            <a:r>
              <a:rPr sz="1425" b="0" i="0">
                <a:solidFill>
                  <a:srgbClr val="101828"/>
                </a:solidFill>
                <a:latin typeface="Aptos"/>
                <a:ea typeface="Aptos"/>
                <a:cs typeface="Aptos"/>
              </a:rPr>
              <a:t>• même livraison → envoi bloqué.</a:t>
            </a:r>
          </a:p>
        </p:txBody>
      </p:sp>
      <p:sp>
        <p:nvSpPr>
          <p:cNvPr id="20" name="">
            <a:extLst xmlns:a="http://schemas.openxmlformats.org/drawingml/2006/main">
              <a:ext uri="{FF2B5EF4-FFF2-40B4-BE49-F238E27FC236}">
                <a16:creationId xmlns:a16="http://schemas.microsoft.com/office/drawing/2014/main" id="{E06727A5-3B68-416B-852A-CC90E25792DD}"/>
              </a:ext>
            </a:extLst>
          </p:cNvPr>
          <p:cNvSpPr>
            <a:spLocks xmlns:a="http://schemas.openxmlformats.org/drawingml/2006/main" noGrp="1"/>
          </p:cNvSpPr>
          <p:nvPr/>
        </p:nvSpPr>
        <p:spPr>
          <a:xfrm xmlns:a="http://schemas.openxmlformats.org/drawingml/2006/main">
            <a:off x="1333500" y="5772150"/>
            <a:ext cx="952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575" b="1" i="0">
                <a:solidFill>
                  <a:srgbClr val="0B2545"/>
                </a:solidFill>
                <a:latin typeface="Aptos"/>
                <a:ea typeface="Aptos"/>
                <a:cs typeface="Aptos"/>
              </a:defRPr>
            </a:pPr>
            <a:r>
              <a:rPr sz="1575" b="1" i="0">
                <a:solidFill>
                  <a:srgbClr val="0B2545"/>
                </a:solidFill>
                <a:latin typeface="Aptos"/>
                <a:ea typeface="Aptos"/>
                <a:cs typeface="Aptos"/>
              </a:rPr>
              <a:t>Le système sait dire « non » et expliquer pourquoi — c’est une capacité métier, pas un échec du modèle.</a:t>
            </a:r>
          </a:p>
        </p:txBody>
      </p:sp>
    </p:spTree>
    <p:extLst>
      <p:ext uri="{BB962C8B-B14F-4D97-AF65-F5344CB8AC3E}">
        <p14:creationId xmlns:p14="http://schemas.microsoft.com/office/powerpoint/2010/main" val="1838050983"/>
      </p:ext>
    </p:extLst>
  </p:cSld>
</p:sld>
</file>

<file path=ppt/slides/slide16.xml><?xml version="1.0" encoding="utf-8"?>
<p:sld xmlns:p="http://schemas.openxmlformats.org/presentationml/2006/main">
  <p:cSld>
    <p:bg>
      <p:bgPr>
        <a:solidFill xmlns:a="http://schemas.openxmlformats.org/drawingml/2006/main">
          <a:srgbClr val="0B2545"/>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969614A-7288-4B73-AACE-2729A0FB13B9}"/>
              </a:ext>
            </a:extLst>
          </p:cNvPr>
          <p:cNvSpPr>
            <a:spLocks xmlns:a="http://schemas.openxmlformats.org/drawingml/2006/main" noGrp="1"/>
          </p:cNvSpPr>
          <p:nvPr/>
        </p:nvSpPr>
        <p:spPr>
          <a:xfrm xmlns:a="http://schemas.openxmlformats.org/drawingml/2006/main">
            <a:off x="609600" y="53340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200" b="1" i="0">
                <a:solidFill>
                  <a:srgbClr val="2FB9DB"/>
                </a:solidFill>
                <a:latin typeface="Aptos"/>
                <a:ea typeface="Aptos"/>
                <a:cs typeface="Aptos"/>
              </a:defRPr>
            </a:pPr>
            <a:r>
              <a:rPr sz="1200" b="1" i="0">
                <a:solidFill>
                  <a:srgbClr val="2FB9DB"/>
                </a:solidFill>
                <a:latin typeface="Aptos"/>
                <a:ea typeface="Aptos"/>
                <a:cs typeface="Aptos"/>
              </a:rPr>
              <a:t>CONCLUSION</a:t>
            </a:r>
          </a:p>
        </p:txBody>
      </p:sp>
      <p:sp>
        <p:nvSpPr>
          <p:cNvPr id="2" name="">
            <a:extLst xmlns:a="http://schemas.openxmlformats.org/drawingml/2006/main">
              <a:ext uri="{FF2B5EF4-FFF2-40B4-BE49-F238E27FC236}">
                <a16:creationId xmlns:a16="http://schemas.microsoft.com/office/drawing/2014/main" id="{2C700227-FF73-480F-ADDC-67104712F5CF}"/>
              </a:ext>
            </a:extLst>
          </p:cNvPr>
          <p:cNvSpPr>
            <a:spLocks xmlns:a="http://schemas.openxmlformats.org/drawingml/2006/main" noGrp="1"/>
          </p:cNvSpPr>
          <p:nvPr/>
        </p:nvSpPr>
        <p:spPr>
          <a:xfrm xmlns:a="http://schemas.openxmlformats.org/drawingml/2006/main">
            <a:off x="590550" y="1295400"/>
            <a:ext cx="7239000"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i="0">
                <a:solidFill>
                  <a:srgbClr val="FFFFFF"/>
                </a:solidFill>
                <a:latin typeface="Aptos"/>
                <a:ea typeface="Aptos"/>
                <a:cs typeface="Aptos"/>
              </a:defRPr>
            </a:pPr>
            <a:r>
              <a:rPr sz="4350" b="1" i="0">
                <a:solidFill>
                  <a:srgbClr val="FFFFFF"/>
                </a:solidFill>
                <a:latin typeface="Aptos"/>
                <a:ea typeface="Aptos"/>
                <a:cs typeface="Aptos"/>
              </a:rPr>
              <a:t>Un agent utile n’est pas</a:t>
            </a:r>
          </a:p>
          <a:p xmlns:a="http://schemas.openxmlformats.org/drawingml/2006/main">
            <a:pPr algn="l">
              <a:defRPr sz="4350" b="1" i="0">
                <a:solidFill>
                  <a:srgbClr val="FFFFFF"/>
                </a:solidFill>
                <a:latin typeface="Aptos"/>
                <a:ea typeface="Aptos"/>
                <a:cs typeface="Aptos"/>
              </a:defRPr>
            </a:pPr>
            <a:r>
              <a:rPr sz="4350" b="1" i="0">
                <a:solidFill>
                  <a:srgbClr val="FFFFFF"/>
                </a:solidFill>
                <a:latin typeface="Aptos"/>
                <a:ea typeface="Aptos"/>
                <a:cs typeface="Aptos"/>
              </a:rPr>
              <a:t>seulement intelligent.</a:t>
            </a:r>
          </a:p>
          <a:p xmlns:a="http://schemas.openxmlformats.org/drawingml/2006/main">
            <a:pPr algn="l">
              <a:defRPr sz="4350" b="1" i="0">
                <a:solidFill>
                  <a:srgbClr val="FFFFFF"/>
                </a:solidFill>
                <a:latin typeface="Aptos"/>
                <a:ea typeface="Aptos"/>
                <a:cs typeface="Aptos"/>
              </a:defRPr>
            </a:pPr>
            <a:r>
              <a:rPr sz="4350" b="1" i="0">
                <a:solidFill>
                  <a:srgbClr val="FFFFFF"/>
                </a:solidFill>
                <a:latin typeface="Aptos"/>
                <a:ea typeface="Aptos"/>
                <a:cs typeface="Aptos"/>
              </a:rPr>
              <a:t>Il est traçable.</a:t>
            </a:r>
          </a:p>
        </p:txBody>
      </p:sp>
      <p:sp>
        <p:nvSpPr>
          <p:cNvPr id="3" name="">
            <a:extLst xmlns:a="http://schemas.openxmlformats.org/drawingml/2006/main">
              <a:ext uri="{FF2B5EF4-FFF2-40B4-BE49-F238E27FC236}">
                <a16:creationId xmlns:a16="http://schemas.microsoft.com/office/drawing/2014/main" id="{EB5D586F-04CA-4996-B4D3-F1DD677D4405}"/>
              </a:ext>
            </a:extLst>
          </p:cNvPr>
          <p:cNvSpPr>
            <a:spLocks xmlns:a="http://schemas.openxmlformats.org/drawingml/2006/main" noGrp="1"/>
          </p:cNvSpPr>
          <p:nvPr/>
        </p:nvSpPr>
        <p:spPr>
          <a:xfrm xmlns:a="http://schemas.openxmlformats.org/drawingml/2006/main">
            <a:off x="628650" y="3810000"/>
            <a:ext cx="609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650" b="0" i="0">
                <a:solidFill>
                  <a:srgbClr val="D6E7F6"/>
                </a:solidFill>
                <a:latin typeface="Aptos"/>
                <a:ea typeface="Aptos"/>
                <a:cs typeface="Aptos"/>
              </a:defRPr>
            </a:pPr>
            <a:r>
              <a:rPr sz="1650" b="0" i="0">
                <a:solidFill>
                  <a:srgbClr val="D6E7F6"/>
                </a:solidFill>
                <a:latin typeface="Aptos"/>
                <a:ea typeface="Aptos"/>
                <a:cs typeface="Aptos"/>
              </a:rPr>
              <a:t>Ce projet m’a fait progresser sur quatre plans :</a:t>
            </a:r>
          </a:p>
        </p:txBody>
      </p:sp>
      <p:sp>
        <p:nvSpPr>
          <p:cNvPr id="4" name="">
            <a:extLst xmlns:a="http://schemas.openxmlformats.org/drawingml/2006/main">
              <a:ext uri="{FF2B5EF4-FFF2-40B4-BE49-F238E27FC236}">
                <a16:creationId xmlns:a16="http://schemas.microsoft.com/office/drawing/2014/main" id="{8413CFEF-391A-417F-9436-52936EDE22BF}"/>
              </a:ext>
            </a:extLst>
          </p:cNvPr>
          <p:cNvSpPr>
            <a:spLocks xmlns:a="http://schemas.openxmlformats.org/drawingml/2006/main" noGrp="1"/>
          </p:cNvSpPr>
          <p:nvPr/>
        </p:nvSpPr>
        <p:spPr>
          <a:xfrm xmlns:a="http://schemas.openxmlformats.org/drawingml/2006/main">
            <a:off x="628650" y="4362450"/>
            <a:ext cx="2324100" cy="381000"/>
          </a:xfrm>
          <a:prstGeom xmlns:a="http://schemas.openxmlformats.org/drawingml/2006/main" prst="roundRect">
            <a:avLst>
              <a:gd name="adj" fmla="val 50000"/>
            </a:avLst>
          </a:prstGeom>
          <a:solidFill xmlns:a="http://schemas.openxmlformats.org/drawingml/2006/main">
            <a:srgbClr val="123968"/>
          </a:solidFill>
          <a:ln xmlns:a="http://schemas.openxmlformats.org/drawingml/2006/main" w="9525">
            <a:solidFill>
              <a:srgbClr val="2FB9DB"/>
            </a:solidFill>
            <a:prstDash val="solid"/>
          </a:ln>
        </p:spPr>
      </p:sp>
      <p:sp>
        <p:nvSpPr>
          <p:cNvPr id="5" name="">
            <a:extLst xmlns:a="http://schemas.openxmlformats.org/drawingml/2006/main">
              <a:ext uri="{FF2B5EF4-FFF2-40B4-BE49-F238E27FC236}">
                <a16:creationId xmlns:a16="http://schemas.microsoft.com/office/drawing/2014/main" id="{3DE11A0F-B0EC-484D-9177-5638EF1DCDA9}"/>
              </a:ext>
            </a:extLst>
          </p:cNvPr>
          <p:cNvSpPr>
            <a:spLocks xmlns:a="http://schemas.openxmlformats.org/drawingml/2006/main" noGrp="1"/>
          </p:cNvSpPr>
          <p:nvPr/>
        </p:nvSpPr>
        <p:spPr>
          <a:xfrm xmlns:a="http://schemas.openxmlformats.org/drawingml/2006/main">
            <a:off x="666750" y="4371975"/>
            <a:ext cx="2247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00" b="1" i="0">
                <a:solidFill>
                  <a:srgbClr val="FFFFFF"/>
                </a:solidFill>
                <a:latin typeface="Aptos"/>
                <a:ea typeface="Aptos"/>
                <a:cs typeface="Aptos"/>
              </a:defRPr>
            </a:pPr>
            <a:r>
              <a:rPr sz="1200" b="1" i="0">
                <a:solidFill>
                  <a:srgbClr val="FFFFFF"/>
                </a:solidFill>
                <a:latin typeface="Aptos"/>
                <a:ea typeface="Aptos"/>
                <a:cs typeface="Aptos"/>
              </a:rPr>
              <a:t>Data engineering</a:t>
            </a:r>
          </a:p>
        </p:txBody>
      </p:sp>
      <p:sp>
        <p:nvSpPr>
          <p:cNvPr id="6" name="">
            <a:extLst xmlns:a="http://schemas.openxmlformats.org/drawingml/2006/main">
              <a:ext uri="{FF2B5EF4-FFF2-40B4-BE49-F238E27FC236}">
                <a16:creationId xmlns:a16="http://schemas.microsoft.com/office/drawing/2014/main" id="{E4FC62C8-682B-4628-A54C-D0BE18D9666A}"/>
              </a:ext>
            </a:extLst>
          </p:cNvPr>
          <p:cNvSpPr>
            <a:spLocks xmlns:a="http://schemas.openxmlformats.org/drawingml/2006/main" noGrp="1"/>
          </p:cNvSpPr>
          <p:nvPr/>
        </p:nvSpPr>
        <p:spPr>
          <a:xfrm xmlns:a="http://schemas.openxmlformats.org/drawingml/2006/main">
            <a:off x="3200400" y="4362450"/>
            <a:ext cx="2324100" cy="381000"/>
          </a:xfrm>
          <a:prstGeom xmlns:a="http://schemas.openxmlformats.org/drawingml/2006/main" prst="roundRect">
            <a:avLst>
              <a:gd name="adj" fmla="val 50000"/>
            </a:avLst>
          </a:prstGeom>
          <a:solidFill xmlns:a="http://schemas.openxmlformats.org/drawingml/2006/main">
            <a:srgbClr val="123968"/>
          </a:solidFill>
          <a:ln xmlns:a="http://schemas.openxmlformats.org/drawingml/2006/main" w="9525">
            <a:solidFill>
              <a:srgbClr val="2FB9DB"/>
            </a:solidFill>
            <a:prstDash val="solid"/>
          </a:ln>
        </p:spPr>
      </p:sp>
      <p:sp>
        <p:nvSpPr>
          <p:cNvPr id="7" name="">
            <a:extLst xmlns:a="http://schemas.openxmlformats.org/drawingml/2006/main">
              <a:ext uri="{FF2B5EF4-FFF2-40B4-BE49-F238E27FC236}">
                <a16:creationId xmlns:a16="http://schemas.microsoft.com/office/drawing/2014/main" id="{7ACBD19B-7F0A-4774-A828-69AB39B17EDB}"/>
              </a:ext>
            </a:extLst>
          </p:cNvPr>
          <p:cNvSpPr>
            <a:spLocks xmlns:a="http://schemas.openxmlformats.org/drawingml/2006/main" noGrp="1"/>
          </p:cNvSpPr>
          <p:nvPr/>
        </p:nvSpPr>
        <p:spPr>
          <a:xfrm xmlns:a="http://schemas.openxmlformats.org/drawingml/2006/main">
            <a:off x="3238500" y="4371975"/>
            <a:ext cx="2247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00" b="1" i="0">
                <a:solidFill>
                  <a:srgbClr val="FFFFFF"/>
                </a:solidFill>
                <a:latin typeface="Aptos"/>
                <a:ea typeface="Aptos"/>
                <a:cs typeface="Aptos"/>
              </a:defRPr>
            </a:pPr>
            <a:r>
              <a:rPr sz="1200" b="1" i="0">
                <a:solidFill>
                  <a:srgbClr val="FFFFFF"/>
                </a:solidFill>
                <a:latin typeface="Aptos"/>
                <a:ea typeface="Aptos"/>
                <a:cs typeface="Aptos"/>
              </a:rPr>
              <a:t>Fiabilité logicielle</a:t>
            </a:r>
          </a:p>
        </p:txBody>
      </p:sp>
      <p:sp>
        <p:nvSpPr>
          <p:cNvPr id="8" name="">
            <a:extLst xmlns:a="http://schemas.openxmlformats.org/drawingml/2006/main">
              <a:ext uri="{FF2B5EF4-FFF2-40B4-BE49-F238E27FC236}">
                <a16:creationId xmlns:a16="http://schemas.microsoft.com/office/drawing/2014/main" id="{06C346C8-0BD6-4AF9-9A37-E3208AD2B0BE}"/>
              </a:ext>
            </a:extLst>
          </p:cNvPr>
          <p:cNvSpPr>
            <a:spLocks xmlns:a="http://schemas.openxmlformats.org/drawingml/2006/main" noGrp="1"/>
          </p:cNvSpPr>
          <p:nvPr/>
        </p:nvSpPr>
        <p:spPr>
          <a:xfrm xmlns:a="http://schemas.openxmlformats.org/drawingml/2006/main">
            <a:off x="628650" y="4914900"/>
            <a:ext cx="2324100" cy="381000"/>
          </a:xfrm>
          <a:prstGeom xmlns:a="http://schemas.openxmlformats.org/drawingml/2006/main" prst="roundRect">
            <a:avLst>
              <a:gd name="adj" fmla="val 50000"/>
            </a:avLst>
          </a:prstGeom>
          <a:solidFill xmlns:a="http://schemas.openxmlformats.org/drawingml/2006/main">
            <a:srgbClr val="123968"/>
          </a:solidFill>
          <a:ln xmlns:a="http://schemas.openxmlformats.org/drawingml/2006/main" w="9525">
            <a:solidFill>
              <a:srgbClr val="2FB9DB"/>
            </a:solidFill>
            <a:prstDash val="solid"/>
          </a:ln>
        </p:spPr>
      </p:sp>
      <p:sp>
        <p:nvSpPr>
          <p:cNvPr id="9" name="">
            <a:extLst xmlns:a="http://schemas.openxmlformats.org/drawingml/2006/main">
              <a:ext uri="{FF2B5EF4-FFF2-40B4-BE49-F238E27FC236}">
                <a16:creationId xmlns:a16="http://schemas.microsoft.com/office/drawing/2014/main" id="{9F22A82A-26B2-486E-9D96-30DC057E1FAE}"/>
              </a:ext>
            </a:extLst>
          </p:cNvPr>
          <p:cNvSpPr>
            <a:spLocks xmlns:a="http://schemas.openxmlformats.org/drawingml/2006/main" noGrp="1"/>
          </p:cNvSpPr>
          <p:nvPr/>
        </p:nvSpPr>
        <p:spPr>
          <a:xfrm xmlns:a="http://schemas.openxmlformats.org/drawingml/2006/main">
            <a:off x="666750" y="4924425"/>
            <a:ext cx="2247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00" b="1" i="0">
                <a:solidFill>
                  <a:srgbClr val="FFFFFF"/>
                </a:solidFill>
                <a:latin typeface="Aptos"/>
                <a:ea typeface="Aptos"/>
                <a:cs typeface="Aptos"/>
              </a:defRPr>
            </a:pPr>
            <a:r>
              <a:rPr sz="1200" b="1" i="0">
                <a:solidFill>
                  <a:srgbClr val="FFFFFF"/>
                </a:solidFill>
                <a:latin typeface="Aptos"/>
                <a:ea typeface="Aptos"/>
                <a:cs typeface="Aptos"/>
              </a:rPr>
              <a:t>Intégration de systèmes</a:t>
            </a:r>
          </a:p>
        </p:txBody>
      </p:sp>
      <p:sp>
        <p:nvSpPr>
          <p:cNvPr id="10" name="">
            <a:extLst xmlns:a="http://schemas.openxmlformats.org/drawingml/2006/main">
              <a:ext uri="{FF2B5EF4-FFF2-40B4-BE49-F238E27FC236}">
                <a16:creationId xmlns:a16="http://schemas.microsoft.com/office/drawing/2014/main" id="{68BA88B1-2110-4D2B-BDBD-206B108AB5C8}"/>
              </a:ext>
            </a:extLst>
          </p:cNvPr>
          <p:cNvSpPr>
            <a:spLocks xmlns:a="http://schemas.openxmlformats.org/drawingml/2006/main" noGrp="1"/>
          </p:cNvSpPr>
          <p:nvPr/>
        </p:nvSpPr>
        <p:spPr>
          <a:xfrm xmlns:a="http://schemas.openxmlformats.org/drawingml/2006/main">
            <a:off x="3200400" y="4914900"/>
            <a:ext cx="2324100" cy="381000"/>
          </a:xfrm>
          <a:prstGeom xmlns:a="http://schemas.openxmlformats.org/drawingml/2006/main" prst="roundRect">
            <a:avLst>
              <a:gd name="adj" fmla="val 50000"/>
            </a:avLst>
          </a:prstGeom>
          <a:solidFill xmlns:a="http://schemas.openxmlformats.org/drawingml/2006/main">
            <a:srgbClr val="123968"/>
          </a:solidFill>
          <a:ln xmlns:a="http://schemas.openxmlformats.org/drawingml/2006/main" w="9525">
            <a:solidFill>
              <a:srgbClr val="2FB9DB"/>
            </a:solidFill>
            <a:prstDash val="solid"/>
          </a:ln>
        </p:spPr>
      </p:sp>
      <p:sp>
        <p:nvSpPr>
          <p:cNvPr id="11" name="">
            <a:extLst xmlns:a="http://schemas.openxmlformats.org/drawingml/2006/main">
              <a:ext uri="{FF2B5EF4-FFF2-40B4-BE49-F238E27FC236}">
                <a16:creationId xmlns:a16="http://schemas.microsoft.com/office/drawing/2014/main" id="{D1AB21BF-60B7-4532-A3D7-3D5F66C7DC82}"/>
              </a:ext>
            </a:extLst>
          </p:cNvPr>
          <p:cNvSpPr>
            <a:spLocks xmlns:a="http://schemas.openxmlformats.org/drawingml/2006/main" noGrp="1"/>
          </p:cNvSpPr>
          <p:nvPr/>
        </p:nvSpPr>
        <p:spPr>
          <a:xfrm xmlns:a="http://schemas.openxmlformats.org/drawingml/2006/main">
            <a:off x="3238500" y="4924425"/>
            <a:ext cx="2247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28575" tIns="0" rIns="28575" bIns="0" anchor="ctr">
            <a:normAutofit fontScale="100000"/>
          </a:bodyPr>
          <a:lstStyle xmlns:a="http://schemas.openxmlformats.org/drawingml/2006/main"/>
          <a:p xmlns:a="http://schemas.openxmlformats.org/drawingml/2006/main">
            <a:pPr algn="ctr">
              <a:defRPr sz="1200" b="1" i="0">
                <a:solidFill>
                  <a:srgbClr val="FFFFFF"/>
                </a:solidFill>
                <a:latin typeface="Aptos"/>
                <a:ea typeface="Aptos"/>
                <a:cs typeface="Aptos"/>
              </a:defRPr>
            </a:pPr>
            <a:r>
              <a:rPr sz="1200" b="1" i="0">
                <a:solidFill>
                  <a:srgbClr val="FFFFFF"/>
                </a:solidFill>
                <a:latin typeface="Aptos"/>
                <a:ea typeface="Aptos"/>
                <a:cs typeface="Aptos"/>
              </a:rPr>
              <a:t>Gouvernance de l’IA</a:t>
            </a:r>
          </a:p>
        </p:txBody>
      </p:sp>
      <p:sp>
        <p:nvSpPr>
          <p:cNvPr id="12" name="">
            <a:extLst xmlns:a="http://schemas.openxmlformats.org/drawingml/2006/main">
              <a:ext uri="{FF2B5EF4-FFF2-40B4-BE49-F238E27FC236}">
                <a16:creationId xmlns:a16="http://schemas.microsoft.com/office/drawing/2014/main" id="{F471322D-12B7-4127-9067-3608B284291D}"/>
              </a:ext>
            </a:extLst>
          </p:cNvPr>
          <p:cNvSpPr>
            <a:spLocks xmlns:a="http://schemas.openxmlformats.org/drawingml/2006/main" noGrp="1"/>
          </p:cNvSpPr>
          <p:nvPr/>
        </p:nvSpPr>
        <p:spPr>
          <a:xfrm xmlns:a="http://schemas.openxmlformats.org/drawingml/2006/main">
            <a:off x="8458200" y="1238250"/>
            <a:ext cx="2724150" cy="4286250"/>
          </a:xfrm>
          <a:prstGeom xmlns:a="http://schemas.openxmlformats.org/drawingml/2006/main" prst="roundRect">
            <a:avLst>
              <a:gd name="adj" fmla="val 5594"/>
            </a:avLst>
          </a:prstGeom>
          <a:solidFill xmlns:a="http://schemas.openxmlformats.org/drawingml/2006/main">
            <a:srgbClr val="FFFFFF"/>
          </a:solidFill>
          <a:ln xmlns:a="http://schemas.openxmlformats.org/drawingml/2006/main" w="0">
            <a:solidFill>
              <a:srgbClr val="FFFFFF"/>
            </a:solidFill>
            <a:prstDash val="solid"/>
          </a:ln>
        </p:spPr>
      </p:sp>
      <p:sp>
        <p:nvSpPr>
          <p:cNvPr id="13" name="">
            <a:extLst xmlns:a="http://schemas.openxmlformats.org/drawingml/2006/main">
              <a:ext uri="{FF2B5EF4-FFF2-40B4-BE49-F238E27FC236}">
                <a16:creationId xmlns:a16="http://schemas.microsoft.com/office/drawing/2014/main" id="{B97BC3EB-A8CD-47BA-AFFF-A5A1394A92DF}"/>
              </a:ext>
            </a:extLst>
          </p:cNvPr>
          <p:cNvSpPr>
            <a:spLocks xmlns:a="http://schemas.openxmlformats.org/drawingml/2006/main" noGrp="1"/>
          </p:cNvSpPr>
          <p:nvPr/>
        </p:nvSpPr>
        <p:spPr>
          <a:xfrm xmlns:a="http://schemas.openxmlformats.org/drawingml/2006/main">
            <a:off x="8782050" y="1657350"/>
            <a:ext cx="20764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1350" b="1" i="0">
                <a:solidFill>
                  <a:srgbClr val="1D5AA6"/>
                </a:solidFill>
                <a:latin typeface="Aptos"/>
                <a:ea typeface="Aptos"/>
                <a:cs typeface="Aptos"/>
              </a:defRPr>
            </a:pPr>
            <a:r>
              <a:rPr sz="1350" b="1" i="0">
                <a:solidFill>
                  <a:srgbClr val="1D5AA6"/>
                </a:solidFill>
                <a:latin typeface="Aptos"/>
                <a:ea typeface="Aptos"/>
                <a:cs typeface="Aptos"/>
              </a:rPr>
              <a:t>MVP</a:t>
            </a:r>
          </a:p>
        </p:txBody>
      </p:sp>
      <p:sp>
        <p:nvSpPr>
          <p:cNvPr id="14" name="">
            <a:extLst xmlns:a="http://schemas.openxmlformats.org/drawingml/2006/main">
              <a:ext uri="{FF2B5EF4-FFF2-40B4-BE49-F238E27FC236}">
                <a16:creationId xmlns:a16="http://schemas.microsoft.com/office/drawing/2014/main" id="{84135C5D-96DC-448F-9D70-453BEC71116D}"/>
              </a:ext>
            </a:extLst>
          </p:cNvPr>
          <p:cNvSpPr>
            <a:spLocks xmlns:a="http://schemas.openxmlformats.org/drawingml/2006/main" noGrp="1"/>
          </p:cNvSpPr>
          <p:nvPr/>
        </p:nvSpPr>
        <p:spPr>
          <a:xfrm xmlns:a="http://schemas.openxmlformats.org/drawingml/2006/main">
            <a:off x="8724900" y="220980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325" b="1" i="0">
                <a:solidFill>
                  <a:srgbClr val="0B2545"/>
                </a:solidFill>
                <a:latin typeface="Aptos"/>
                <a:ea typeface="Aptos"/>
                <a:cs typeface="Aptos"/>
              </a:defRPr>
            </a:pPr>
            <a:r>
              <a:rPr sz="2325" b="1" i="0">
                <a:solidFill>
                  <a:srgbClr val="0B2545"/>
                </a:solidFill>
                <a:latin typeface="Aptos"/>
                <a:ea typeface="Aptos"/>
                <a:cs typeface="Aptos"/>
              </a:rPr>
              <a:t>opérationnel</a:t>
            </a:r>
          </a:p>
        </p:txBody>
      </p:sp>
      <p:sp>
        <p:nvSpPr>
          <p:cNvPr id="15" name="">
            <a:extLst xmlns:a="http://schemas.openxmlformats.org/drawingml/2006/main">
              <a:ext uri="{FF2B5EF4-FFF2-40B4-BE49-F238E27FC236}">
                <a16:creationId xmlns:a16="http://schemas.microsoft.com/office/drawing/2014/main" id="{7965A2CD-4B78-4EA6-B8A8-E1B618F6D380}"/>
              </a:ext>
            </a:extLst>
          </p:cNvPr>
          <p:cNvSpPr>
            <a:spLocks xmlns:a="http://schemas.openxmlformats.org/drawingml/2006/main" noGrp="1"/>
          </p:cNvSpPr>
          <p:nvPr/>
        </p:nvSpPr>
        <p:spPr>
          <a:xfrm xmlns:a="http://schemas.openxmlformats.org/drawingml/2006/main">
            <a:off x="8820150" y="2952750"/>
            <a:ext cx="20002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16" name="">
            <a:extLst xmlns:a="http://schemas.openxmlformats.org/drawingml/2006/main">
              <a:ext uri="{FF2B5EF4-FFF2-40B4-BE49-F238E27FC236}">
                <a16:creationId xmlns:a16="http://schemas.microsoft.com/office/drawing/2014/main" id="{D5F0FF28-6EA6-4F69-B535-996DB0968983}"/>
              </a:ext>
            </a:extLst>
          </p:cNvPr>
          <p:cNvSpPr>
            <a:spLocks xmlns:a="http://schemas.openxmlformats.org/drawingml/2006/main" noGrp="1"/>
          </p:cNvSpPr>
          <p:nvPr/>
        </p:nvSpPr>
        <p:spPr>
          <a:xfrm xmlns:a="http://schemas.openxmlformats.org/drawingml/2006/main">
            <a:off x="8724900" y="333375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325" b="1" i="0">
                <a:solidFill>
                  <a:srgbClr val="2E9D69"/>
                </a:solidFill>
                <a:latin typeface="Aptos"/>
                <a:ea typeface="Aptos"/>
                <a:cs typeface="Aptos"/>
              </a:defRPr>
            </a:pPr>
            <a:r>
              <a:rPr sz="2325" b="1" i="0">
                <a:solidFill>
                  <a:srgbClr val="2E9D69"/>
                </a:solidFill>
                <a:latin typeface="Aptos"/>
                <a:ea typeface="Aptos"/>
                <a:cs typeface="Aptos"/>
              </a:rPr>
              <a:t>validé</a:t>
            </a:r>
          </a:p>
        </p:txBody>
      </p:sp>
      <p:sp>
        <p:nvSpPr>
          <p:cNvPr id="17" name="">
            <a:extLst xmlns:a="http://schemas.openxmlformats.org/drawingml/2006/main">
              <a:ext uri="{FF2B5EF4-FFF2-40B4-BE49-F238E27FC236}">
                <a16:creationId xmlns:a16="http://schemas.microsoft.com/office/drawing/2014/main" id="{C124ABD4-9679-480D-A1D5-230467D1E512}"/>
              </a:ext>
            </a:extLst>
          </p:cNvPr>
          <p:cNvSpPr>
            <a:spLocks xmlns:a="http://schemas.openxmlformats.org/drawingml/2006/main" noGrp="1"/>
          </p:cNvSpPr>
          <p:nvPr/>
        </p:nvSpPr>
        <p:spPr>
          <a:xfrm xmlns:a="http://schemas.openxmlformats.org/drawingml/2006/main">
            <a:off x="8820150" y="4076700"/>
            <a:ext cx="2000250" cy="0"/>
          </a:xfrm>
          <a:prstGeom xmlns:a="http://schemas.openxmlformats.org/drawingml/2006/main" prst="line">
            <a:avLst/>
          </a:prstGeom>
          <a:noFill xmlns:a="http://schemas.openxmlformats.org/drawingml/2006/main"/>
          <a:ln xmlns:a="http://schemas.openxmlformats.org/drawingml/2006/main" w="9525">
            <a:solidFill>
              <a:srgbClr val="D0D9E6"/>
            </a:solidFill>
            <a:prstDash val="solid"/>
          </a:ln>
        </p:spPr>
      </p:sp>
      <p:sp>
        <p:nvSpPr>
          <p:cNvPr id="18" name="">
            <a:extLst xmlns:a="http://schemas.openxmlformats.org/drawingml/2006/main">
              <a:ext uri="{FF2B5EF4-FFF2-40B4-BE49-F238E27FC236}">
                <a16:creationId xmlns:a16="http://schemas.microsoft.com/office/drawing/2014/main" id="{1CAF2B89-4E16-4850-BDAF-12093B6048B9}"/>
              </a:ext>
            </a:extLst>
          </p:cNvPr>
          <p:cNvSpPr>
            <a:spLocks xmlns:a="http://schemas.openxmlformats.org/drawingml/2006/main" noGrp="1"/>
          </p:cNvSpPr>
          <p:nvPr/>
        </p:nvSpPr>
        <p:spPr>
          <a:xfrm xmlns:a="http://schemas.openxmlformats.org/drawingml/2006/main">
            <a:off x="8724900" y="4457700"/>
            <a:ext cx="2190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57150" tIns="38100" rIns="57150" bIns="38100" anchor="t">
            <a:normAutofit fontScale="100000"/>
          </a:bodyPr>
          <a:lstStyle xmlns:a="http://schemas.openxmlformats.org/drawingml/2006/main"/>
          <a:p xmlns:a="http://schemas.openxmlformats.org/drawingml/2006/main">
            <a:pPr algn="ctr">
              <a:defRPr sz="2325" b="1" i="0">
                <a:solidFill>
                  <a:srgbClr val="1D5AA6"/>
                </a:solidFill>
                <a:latin typeface="Aptos"/>
                <a:ea typeface="Aptos"/>
                <a:cs typeface="Aptos"/>
              </a:defRPr>
            </a:pPr>
            <a:r>
              <a:rPr sz="2325" b="1" i="0">
                <a:solidFill>
                  <a:srgbClr val="1D5AA6"/>
                </a:solidFill>
                <a:latin typeface="Aptos"/>
                <a:ea typeface="Aptos"/>
                <a:cs typeface="Aptos"/>
              </a:rPr>
              <a:t>démontrable</a:t>
            </a:r>
          </a:p>
        </p:txBody>
      </p:sp>
      <p:sp>
        <p:nvSpPr>
          <p:cNvPr id="19" name="">
            <a:extLst xmlns:a="http://schemas.openxmlformats.org/drawingml/2006/main">
              <a:ext uri="{FF2B5EF4-FFF2-40B4-BE49-F238E27FC236}">
                <a16:creationId xmlns:a16="http://schemas.microsoft.com/office/drawing/2014/main" id="{949D35A2-1EE8-49CA-9409-7C24345499B3}"/>
              </a:ext>
            </a:extLst>
          </p:cNvPr>
          <p:cNvSpPr>
            <a:spLocks xmlns:a="http://schemas.openxmlformats.org/drawingml/2006/main" noGrp="1"/>
          </p:cNvSpPr>
          <p:nvPr/>
        </p:nvSpPr>
        <p:spPr>
          <a:xfrm xmlns:a="http://schemas.openxmlformats.org/drawingml/2006/main">
            <a:off x="628650" y="6038850"/>
            <a:ext cx="3810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defRPr sz="1875" b="1" i="0">
                <a:solidFill>
                  <a:srgbClr val="2FB9DB"/>
                </a:solidFill>
                <a:latin typeface="Aptos"/>
                <a:ea typeface="Aptos"/>
                <a:cs typeface="Aptos"/>
              </a:defRPr>
            </a:pPr>
            <a:r>
              <a:rPr sz="1875" b="1" i="0">
                <a:solidFill>
                  <a:srgbClr val="2FB9DB"/>
                </a:solidFill>
                <a:latin typeface="Aptos"/>
                <a:ea typeface="Aptos"/>
                <a:cs typeface="Aptos"/>
              </a:rPr>
              <a:t>Questions ?</a:t>
            </a:r>
          </a:p>
        </p:txBody>
      </p:sp>
    </p:spTree>
    <p:extLst>
      <p:ext uri="{BB962C8B-B14F-4D97-AF65-F5344CB8AC3E}">
        <p14:creationId xmlns:p14="http://schemas.microsoft.com/office/powerpoint/2010/main" val="134419530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Khayem Ben Ghorbel</dc:creator>
  <lastModifiedBy>Walnut Exporter</lastModifiedBy>
  <dc:title>OneTech Tender Agent — Soutenance de stage</dc:title>
  <dcterms:created xsi:type="dcterms:W3CDTF">2026-08-26T21:46:05.5250000Z</dcterms:created>
  <dcterms:modified xsi:type="dcterms:W3CDTF">2026-08-26T21:46:05.5260000Z</dcterms:modified>
  <dc:subject>Système IA agentique pour la gestion des appels d’offres publics</dc:subject>
</coreProperties>
</file>