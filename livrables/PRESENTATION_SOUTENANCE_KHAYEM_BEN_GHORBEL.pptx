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Dans le cadre de mon stage chez One Tech Business Solutions, j’ai conçu OneTech Tender Agent : une chaîne complète qui collecte des appels d’offres publics, lit leurs documents, structure les faits, produit une première recommandation Go/No-Go et diffuse un digest aux équipes. Le résultat validé porte sur cent appels d’offres, cent cinquante-deux documents intégralement traités et soixante-sept tests Python réussis, complétés par six scripts SQL. Pendant cette soutenance, je vais présenter l’entreprise, la mission qui m’a été confiée, les choix techniques, les réalisations concrètes, une démonstration et les compétences que j’ai développées.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Tech Business Solutions est l’entreprise d’accueil du stage. Le contexte est celui des services numériques : développement logiciel, intégration de systèmes, Data, intelligence artificielle et automatisation. Dans ce cadre, la veille sur les marchés publics représente une activité utile mais très documentaire. Ma mission a consisté à transformer cette veille en un processus structuré : repérer les publications, qualifier les dossiers à partir de leurs pièces, puis transmettre une synthèse exploitable. Le projet devait donc relier une problématique métier à plusieurs disciplines informatiques, depuis la collecte web jusqu’à l’automatisation et l’IA agentique.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point de départ est un flux d’information dispersé. Un même appel d’offres peut être décrit dans une liste, complété sur une page détaillée et accompagné de plusieurs pièces jointes. Ces pièces utilisent des formats différents et les éléments importants — échéance, organisme, critères ou documents — doivent être rapprochés. Le besoin n’était donc pas simplement de télécharger des fichiers. Il fallait construire un dossier unique, conserver la source de chaque fait, prioriser les opportunités et rendre la recommandation compréhensible. C’est cette continuité, de la publication au dossier analysé, qui structure tout le système.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mission s’est matérialisée par six capacités effectivement livrées. Premièrement, la collecte des données et documents publics HAICOP. Deuxièmement, la structuration dans PostgreSQL avec anti-doublon. Troisièmement, l’extraction de texte pour les formats natifs, les scans et les anciens fichiers Word. Quatrièmement, l’analyse Go/No-Go avec sources et contexte persistés. Cinquièmement, l’automatisation du digest quotidien par n8n. Enfin, l’interopérabilité grâce aux skills OpenClaw et au serveur MCP. Ces briques ne sont pas des maquettes isolées : elles ont été reliées et validées ensemble sur les données réelles du projet.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L’architecture distingue clairement le raisonnement et l’exécution. OpenClaw orchestre la mission : il prépare le contexte, appelle les capacités autorisées et restitue une synthèse. Le modèle intervient lorsque le sens des documents doit être interprété. Python, SQL, HTTP et l’OCR prennent en charge les opérations qui doivent rester déterministes. Les skills décrivent la procédure et limitent les actions possibles. Cette séparation rend le système plus fiable : une analyse peut évoluer sans modifier les faits collectés, et une opération technique peut être testée indépendamment du modèle.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Cette vue résume le chemin complet. HAICOP fournit les données publiques, les pages détaillées et les pièces jointes. La couche d’acquisition les récupère, contrôle les téléchargements et transforme chaque document en texte. PostgreSQL devient ensuite la source de vérité : il relie les faits, les fichiers, les analyses et les envois. OpenClaw et le profil OneTech produisent la qualification, puis n8n déclenche la diffusion par Gmail et Telegram. Le point important est la continuité : chaque étape reçoit un état vérifiable de la précédente et conserve une preuve pour la suivante.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PostgreSQL est le socle de traçabilité. Les faits officiels sont conservés dans appels_offres avec l’identifiant HAICOP et le payload original en JSONB. Les preuves documentaires sont stockées séparément avec leur URL, leur empreinte SHA-256 et le texte extrait. Enfin, l’analyse conserve le hash exact du contexte, le score, la décision et la fiche. Cette organisation permet de répondre à quatre questions : quelle donnée a été reçue, quel document a été lu, sur quel contexte la décision a été produite et si le même traitement a déjà eu lieu. L’UPSERT et les contraintes uniques rendent les replays idempotents.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pipeline documentaire choisit automatiquement la bonne méthode. Le fichier est d’abord téléchargé depuis un domaine public autorisé, puis son type réel et sa taille sont vérifiés. Une empreinte SHA-256 permet d’identifier le contenu et d’éviter un retraitement inutile. Les PDF texte et les DOCX utilisent une extraction native. Pour un scan ou une image, Poppler rend la page puis Tesseract réalise l’OCR en français, arabe et anglais. Les anciens DOC sont convertis temporairement avec LibreOffice avant lecture. Le résultat est de quarante-et-un PDF, soixante-quatorze DOCX, trente-cinq DOC et deux images, soit cent cinquante-deux textes persistés sur cent cinquante-deux documents.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L’analyse débute par un contexte préparé depuis PostgreSQL. Ce contexte contient les faits officiels, le texte des pièces et le profil métier OneTech. Il est hashé afin que la décision reste liée au snapshot réellement lu. La fiche générée suit neuf sections et attribue quatre notes sur vingt-cinq : adéquation, délai, administratif et risque. Le cas démontré, Tender-103307, a produit trente-six sur cent et une recommandation NO_GO après lecture des deux documents disponibles. L’intérêt technique du cas est surtout le replay : le même contexte retrouve l’analyse numéro cinquante-trois, sans créer de doublon et avec les mêmes preuves.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L’automatisation quotidienne est décrite dans n8n. À huit heures, heure de Paris, les jours ouvrés, le workflow appelle une route authentifiée du worker. Celui-ci confie à OpenClaw une mission bornée, puis Python exécute la collecte, l’analyse et la génération du digest. PostgreSQL conserve l’état de diffusion par canal et par destinataire. Ce registre est essentiel : si le workflow est relancé, le même message n’est pas envoyé une seconde fois. La chaîne a été validée sur trois canaux : Mailpit pour la preuve locale, Gmail pour les destinataires et Telegram pour le digest ainsi que les réponses aux mentions du bot.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serveur MCP rend le cœur du projet réutilisable par d’autres clients compatibles. Il expose cinq outils : collecter, lister les AO ouvertes, consulter un dossier, récupérer son analyse et générer un digest. Chaque outil possède un schéma d’entrée et des limites de taille. Il n’expose ni SQL arbitraire ni accès libre au système. Tous les clients s’appuient sur le même PostgreSQL, donc les résultats, les identifiants et les preuves restent cohérents. Pour moi, MCP a surtout été un exercice d’architecture : créer une interface standard sans recopier la logique métier déjà présente dans la CLI et le worker.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résultats sont mesurés à partir du snapshot de validation. Cent appels d’offres ont été centralisés. Les cent cinquante-deux documents disposent d’un fichier, d’un hash et d’un texte extrait. Les contrôles d’unicité n’ont détecté aucun doublon. La suite Python compte soixante-sept tests réussis et les six scripts SQL de validation passent également. Les cinq outils MCP ont été découverts et exécutés. Enfin, la diffusion a été validée sur Mailpit, Gmail et Telegram. Une sauvegarde complète a aussi été restaurée dans une base isolée, puis les neuf tables ont été comparées avant suppression de la base temporaire.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démonstration suit quatre preuves et dure environ quatre minutes. Je commence par PostgreSQL pour montrer une AO, les documents reliés et leurs empreintes. Je lance ensuite la qualification afin d’ouvrir la fiche Go/No-Go et de retrouver les sources utilisées. Troisième preuve : je rejoue le même contexte et je montre que l’identifiant d’analyse reste inchangé, donc qu’aucun doublon n’est créé. Enfin, j’ouvre le workflow n8n et les notifications réellement envoyées par Gmail et Telegram. L’objectif n’est pas de montrer toutes les interfaces, mais de prouver le lien continu entre la source, la décision et la diffusion.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qualité ne repose pas sur une seule barrière. Les empreintes SHA-256 identifient les fichiers et les contextes. L’idempotence permet de rejouer une collecte, une analyse ou un envoi sans créer de doublon. Les outils valident leurs entrées et limitent les actions autorisées. Les faits officiels restent séparés du raisonnement généré. Les tests couvrent le code Python, les contraintes SQL et la restauration d’une sauvegarde. Enfin, la décision commerciale reste humaine. Ces garde-fous donnent une architecture où le modèle peut raisonner, tandis que le code vérifie et que PostgreSQL conserve la preuve de ce qui a réellement été traité.</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stage m’a permis de consolider des compétences techniques très variées. J’ai utilisé Python pour la collecte et les API, PostgreSQL pour la modélisation et l’idempotence, Docker et n8n pour l’infrastructure, OpenClaw et MCP pour l’architecture agentique, ainsi que Tesseract et LibreOffice pour les documents. J’ai aussi progressé sur les tests, la sécurité et la restauration. Sur le plan humain, j’ai gagné en autonomie, en organisation et en persévérance. J’ai appris à expliquer mes choix, à documenter un système complexe, à distinguer une intuition d’une mesure et à protéger les données sensibles. Ce sont ces compétences transversales qui m’ont permis d’aller jusqu’à un MVP réellement validé.</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conclure, le résultat du stage est une chaîne de décision complète et réutilisable. Les faits sont centralisés dans PostgreSQL, les documents sont transformés en texte, les analyses restent liées à leurs sources, les doublons sont bloqués et les résultats sont diffusés automatiquement. Les chiffres résument le travail livré : cent appels d’offres, cent cinquante-deux documents traités, aucun doublon détecté et cinq outils MCP opérationnels. Au-delà des technologies, le projet m’a appris à construire un système où l’intelligence artificielle reste encadrée par les données, le code et les contrôles métier. Merci pour votre attention, je suis prêt à répondre à vos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Oval 1"/>
          <p:cNvSpPr/>
          <p:nvPr/>
        </p:nvSpPr>
        <p:spPr>
          <a:xfrm>
            <a:off x="9235440" y="-594360"/>
            <a:ext cx="3794760" cy="3794760"/>
          </a:xfrm>
          <a:prstGeom prst="ellipse">
            <a:avLst/>
          </a:prstGeom>
          <a:solidFill>
            <a:srgbClr val="06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366760" y="4407408"/>
            <a:ext cx="2194560" cy="2194560"/>
          </a:xfrm>
          <a:prstGeom prst="ellipse">
            <a:avLst/>
          </a:prstGeom>
          <a:solidFill>
            <a:srgbClr val="2D6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418320" y="777240"/>
            <a:ext cx="146304" cy="146304"/>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561320" y="2011680"/>
            <a:ext cx="146304" cy="146304"/>
          </a:xfrm>
          <a:prstGeom prst="ellipse">
            <a:avLst/>
          </a:prstGeom>
          <a:solidFill>
            <a:srgbClr val="28B4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41080" y="2788920"/>
            <a:ext cx="146304" cy="14630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0332720" y="4434840"/>
            <a:ext cx="146304" cy="146304"/>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49808" y="658368"/>
            <a:ext cx="2542032" cy="292608"/>
          </a:xfrm>
          <a:prstGeom prst="roundRect">
            <a:avLst/>
          </a:prstGeom>
          <a:solidFill>
            <a:srgbClr val="19365D"/>
          </a:solidFill>
          <a:ln w="6350">
            <a:solidFill>
              <a:srgbClr val="19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667512"/>
            <a:ext cx="2450591" cy="246888"/>
          </a:xfrm>
          <a:prstGeom prst="rect">
            <a:avLst/>
          </a:prstGeom>
          <a:noFill/>
        </p:spPr>
        <p:txBody>
          <a:bodyPr wrap="square" lIns="27432" rIns="27432" tIns="27432" bIns="27432" anchor="ctr">
            <a:spAutoFit/>
          </a:bodyPr>
          <a:lstStyle/>
          <a:p>
            <a:pPr algn="ctr"/>
            <a:r>
              <a:rPr sz="1050" b="1">
                <a:solidFill>
                  <a:srgbClr val="8FE2E7"/>
                </a:solidFill>
                <a:latin typeface="Aptos"/>
              </a:rPr>
              <a:t>SOUTENANCE DE STAGE  ·  2026</a:t>
            </a:r>
          </a:p>
        </p:txBody>
      </p:sp>
      <p:sp>
        <p:nvSpPr>
          <p:cNvPr id="10" name="TextBox 9"/>
          <p:cNvSpPr txBox="1"/>
          <p:nvPr/>
        </p:nvSpPr>
        <p:spPr>
          <a:xfrm>
            <a:off x="749808" y="1298448"/>
            <a:ext cx="6720840" cy="1508760"/>
          </a:xfrm>
          <a:prstGeom prst="rect">
            <a:avLst/>
          </a:prstGeom>
          <a:noFill/>
        </p:spPr>
        <p:txBody>
          <a:bodyPr wrap="square" lIns="27432" rIns="27432" tIns="27432" bIns="27432" anchor="t">
            <a:spAutoFit/>
          </a:bodyPr>
          <a:lstStyle/>
          <a:p>
            <a:pPr algn="l"/>
            <a:r>
              <a:rPr sz="4300" b="1">
                <a:solidFill>
                  <a:srgbClr val="FFFFFF"/>
                </a:solidFill>
                <a:latin typeface="Aptos Display"/>
              </a:rPr>
              <a:t>OneTech</a:t>
            </a:r>
            <a:br/>
            <a:r>
              <a:rPr sz="4300" b="1">
                <a:solidFill>
                  <a:srgbClr val="FFFFFF"/>
                </a:solidFill>
                <a:latin typeface="Aptos Display"/>
              </a:rPr>
              <a:t>Tender Agent</a:t>
            </a:r>
          </a:p>
        </p:txBody>
      </p:sp>
      <p:sp>
        <p:nvSpPr>
          <p:cNvPr id="11" name="TextBox 10"/>
          <p:cNvSpPr txBox="1"/>
          <p:nvPr/>
        </p:nvSpPr>
        <p:spPr>
          <a:xfrm>
            <a:off x="786384" y="2971800"/>
            <a:ext cx="6858000" cy="868680"/>
          </a:xfrm>
          <a:prstGeom prst="rect">
            <a:avLst/>
          </a:prstGeom>
          <a:noFill/>
        </p:spPr>
        <p:txBody>
          <a:bodyPr wrap="square" lIns="27432" rIns="27432" tIns="27432" bIns="27432" anchor="t">
            <a:spAutoFit/>
          </a:bodyPr>
          <a:lstStyle/>
          <a:p>
            <a:pPr algn="l"/>
            <a:r>
              <a:rPr sz="2100" b="0">
                <a:solidFill>
                  <a:srgbClr val="D9E5F4"/>
                </a:solidFill>
                <a:latin typeface="Aptos"/>
              </a:rPr>
              <a:t>Système IA agentique pour collecter, analyser</a:t>
            </a:r>
            <a:br/>
            <a:r>
              <a:rPr sz="2100" b="0">
                <a:solidFill>
                  <a:srgbClr val="D9E5F4"/>
                </a:solidFill>
                <a:latin typeface="Aptos"/>
              </a:rPr>
              <a:t>et diffuser les appels d’offres publics</a:t>
            </a:r>
          </a:p>
        </p:txBody>
      </p:sp>
      <p:sp>
        <p:nvSpPr>
          <p:cNvPr id="12" name="TextBox 11"/>
          <p:cNvSpPr txBox="1"/>
          <p:nvPr/>
        </p:nvSpPr>
        <p:spPr>
          <a:xfrm>
            <a:off x="786384" y="4206240"/>
            <a:ext cx="3840480" cy="320040"/>
          </a:xfrm>
          <a:prstGeom prst="rect">
            <a:avLst/>
          </a:prstGeom>
          <a:noFill/>
        </p:spPr>
        <p:txBody>
          <a:bodyPr wrap="square" lIns="27432" rIns="27432" tIns="27432" bIns="27432" anchor="t">
            <a:spAutoFit/>
          </a:bodyPr>
          <a:lstStyle/>
          <a:p>
            <a:pPr algn="l"/>
            <a:r>
              <a:rPr sz="1600" b="1">
                <a:solidFill>
                  <a:srgbClr val="FFFFFF"/>
                </a:solidFill>
                <a:latin typeface="Aptos"/>
              </a:rPr>
              <a:t>Khayem Ben Ghorbel</a:t>
            </a:r>
          </a:p>
        </p:txBody>
      </p:sp>
      <p:sp>
        <p:nvSpPr>
          <p:cNvPr id="13" name="TextBox 12"/>
          <p:cNvSpPr txBox="1"/>
          <p:nvPr/>
        </p:nvSpPr>
        <p:spPr>
          <a:xfrm>
            <a:off x="786384" y="4572000"/>
            <a:ext cx="5303520" cy="256032"/>
          </a:xfrm>
          <a:prstGeom prst="rect">
            <a:avLst/>
          </a:prstGeom>
          <a:noFill/>
        </p:spPr>
        <p:txBody>
          <a:bodyPr wrap="square" lIns="27432" rIns="27432" tIns="27432" bIns="27432" anchor="t">
            <a:spAutoFit/>
          </a:bodyPr>
          <a:lstStyle/>
          <a:p>
            <a:pPr algn="l"/>
            <a:r>
              <a:rPr sz="1250" b="0">
                <a:solidFill>
                  <a:srgbClr val="9FB1C8"/>
                </a:solidFill>
                <a:latin typeface="Aptos"/>
              </a:rPr>
              <a:t>CY Tech  ·  One Tech Business Solutions</a:t>
            </a:r>
          </a:p>
        </p:txBody>
      </p:sp>
      <p:sp>
        <p:nvSpPr>
          <p:cNvPr id="14" name="TextBox 13"/>
          <p:cNvSpPr txBox="1"/>
          <p:nvPr/>
        </p:nvSpPr>
        <p:spPr>
          <a:xfrm>
            <a:off x="786384" y="5504688"/>
            <a:ext cx="868680" cy="384048"/>
          </a:xfrm>
          <a:prstGeom prst="rect">
            <a:avLst/>
          </a:prstGeom>
          <a:noFill/>
        </p:spPr>
        <p:txBody>
          <a:bodyPr wrap="square" lIns="27432" rIns="27432" tIns="27432" bIns="27432" anchor="t">
            <a:spAutoFit/>
          </a:bodyPr>
          <a:lstStyle/>
          <a:p>
            <a:pPr algn="l"/>
            <a:r>
              <a:rPr sz="2300" b="1">
                <a:solidFill>
                  <a:srgbClr val="06A6B5"/>
                </a:solidFill>
                <a:latin typeface="Aptos"/>
              </a:rPr>
              <a:t>100</a:t>
            </a:r>
          </a:p>
        </p:txBody>
      </p:sp>
      <p:sp>
        <p:nvSpPr>
          <p:cNvPr id="15" name="TextBox 14"/>
          <p:cNvSpPr txBox="1"/>
          <p:nvPr/>
        </p:nvSpPr>
        <p:spPr>
          <a:xfrm>
            <a:off x="1444752" y="5559552"/>
            <a:ext cx="1325880" cy="274320"/>
          </a:xfrm>
          <a:prstGeom prst="rect">
            <a:avLst/>
          </a:prstGeom>
          <a:noFill/>
        </p:spPr>
        <p:txBody>
          <a:bodyPr wrap="square" lIns="27432" rIns="27432" tIns="27432" bIns="27432" anchor="t">
            <a:spAutoFit/>
          </a:bodyPr>
          <a:lstStyle/>
          <a:p>
            <a:pPr algn="l"/>
            <a:r>
              <a:rPr sz="960" b="1">
                <a:solidFill>
                  <a:srgbClr val="B8C6D8"/>
                </a:solidFill>
                <a:latin typeface="Aptos"/>
              </a:rPr>
              <a:t>AO centralisées</a:t>
            </a:r>
          </a:p>
        </p:txBody>
      </p:sp>
      <p:sp>
        <p:nvSpPr>
          <p:cNvPr id="16" name="TextBox 15"/>
          <p:cNvSpPr txBox="1"/>
          <p:nvPr/>
        </p:nvSpPr>
        <p:spPr>
          <a:xfrm>
            <a:off x="2843784" y="5504688"/>
            <a:ext cx="868680" cy="384048"/>
          </a:xfrm>
          <a:prstGeom prst="rect">
            <a:avLst/>
          </a:prstGeom>
          <a:noFill/>
        </p:spPr>
        <p:txBody>
          <a:bodyPr wrap="square" lIns="27432" rIns="27432" tIns="27432" bIns="27432" anchor="t">
            <a:spAutoFit/>
          </a:bodyPr>
          <a:lstStyle/>
          <a:p>
            <a:pPr algn="l"/>
            <a:r>
              <a:rPr sz="2300" b="1">
                <a:solidFill>
                  <a:srgbClr val="28B487"/>
                </a:solidFill>
                <a:latin typeface="Aptos"/>
              </a:rPr>
              <a:t>152</a:t>
            </a:r>
          </a:p>
        </p:txBody>
      </p:sp>
      <p:sp>
        <p:nvSpPr>
          <p:cNvPr id="17" name="TextBox 16"/>
          <p:cNvSpPr txBox="1"/>
          <p:nvPr/>
        </p:nvSpPr>
        <p:spPr>
          <a:xfrm>
            <a:off x="3502152" y="5559552"/>
            <a:ext cx="1325880" cy="274320"/>
          </a:xfrm>
          <a:prstGeom prst="rect">
            <a:avLst/>
          </a:prstGeom>
          <a:noFill/>
        </p:spPr>
        <p:txBody>
          <a:bodyPr wrap="square" lIns="27432" rIns="27432" tIns="27432" bIns="27432" anchor="t">
            <a:spAutoFit/>
          </a:bodyPr>
          <a:lstStyle/>
          <a:p>
            <a:pPr algn="l"/>
            <a:r>
              <a:rPr sz="960" b="1">
                <a:solidFill>
                  <a:srgbClr val="B8C6D8"/>
                </a:solidFill>
                <a:latin typeface="Aptos"/>
              </a:rPr>
              <a:t>documents traités</a:t>
            </a:r>
          </a:p>
        </p:txBody>
      </p:sp>
      <p:sp>
        <p:nvSpPr>
          <p:cNvPr id="18" name="TextBox 17"/>
          <p:cNvSpPr txBox="1"/>
          <p:nvPr/>
        </p:nvSpPr>
        <p:spPr>
          <a:xfrm>
            <a:off x="4901184" y="5504688"/>
            <a:ext cx="868680" cy="384048"/>
          </a:xfrm>
          <a:prstGeom prst="rect">
            <a:avLst/>
          </a:prstGeom>
          <a:noFill/>
        </p:spPr>
        <p:txBody>
          <a:bodyPr wrap="square" lIns="27432" rIns="27432" tIns="27432" bIns="27432" anchor="t">
            <a:spAutoFit/>
          </a:bodyPr>
          <a:lstStyle/>
          <a:p>
            <a:pPr algn="l"/>
            <a:r>
              <a:rPr sz="2300" b="1">
                <a:solidFill>
                  <a:srgbClr val="F59E0B"/>
                </a:solidFill>
                <a:latin typeface="Aptos"/>
              </a:rPr>
              <a:t>67/67</a:t>
            </a:r>
          </a:p>
        </p:txBody>
      </p:sp>
      <p:sp>
        <p:nvSpPr>
          <p:cNvPr id="19" name="TextBox 18"/>
          <p:cNvSpPr txBox="1"/>
          <p:nvPr/>
        </p:nvSpPr>
        <p:spPr>
          <a:xfrm>
            <a:off x="5559552" y="5559552"/>
            <a:ext cx="1325880" cy="274320"/>
          </a:xfrm>
          <a:prstGeom prst="rect">
            <a:avLst/>
          </a:prstGeom>
          <a:noFill/>
        </p:spPr>
        <p:txBody>
          <a:bodyPr wrap="square" lIns="27432" rIns="27432" tIns="27432" bIns="27432" anchor="t">
            <a:spAutoFit/>
          </a:bodyPr>
          <a:lstStyle/>
          <a:p>
            <a:pPr algn="l"/>
            <a:r>
              <a:rPr sz="960" b="1">
                <a:solidFill>
                  <a:srgbClr val="B8C6D8"/>
                </a:solidFill>
                <a:latin typeface="Aptos"/>
              </a:rPr>
              <a:t>tests Python</a:t>
            </a:r>
          </a:p>
        </p:txBody>
      </p:sp>
      <p:sp>
        <p:nvSpPr>
          <p:cNvPr id="20" name="TextBox 19"/>
          <p:cNvSpPr txBox="1"/>
          <p:nvPr/>
        </p:nvSpPr>
        <p:spPr>
          <a:xfrm>
            <a:off x="11109960" y="6217920"/>
            <a:ext cx="411480" cy="228600"/>
          </a:xfrm>
          <a:prstGeom prst="rect">
            <a:avLst/>
          </a:prstGeom>
          <a:noFill/>
        </p:spPr>
        <p:txBody>
          <a:bodyPr wrap="square" lIns="27432" rIns="27432" tIns="27432" bIns="27432" anchor="t">
            <a:spAutoFit/>
          </a:bodyPr>
          <a:lstStyle/>
          <a:p>
            <a:pPr algn="r"/>
            <a:r>
              <a:rPr sz="950" b="1">
                <a:solidFill>
                  <a:srgbClr val="A9BCD2"/>
                </a:solidFill>
                <a:latin typeface="Aptos"/>
              </a:rP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ounded Rectangle 1"/>
          <p:cNvSpPr/>
          <p:nvPr/>
        </p:nvSpPr>
        <p:spPr>
          <a:xfrm>
            <a:off x="621792" y="384048"/>
            <a:ext cx="1700784" cy="292608"/>
          </a:xfrm>
          <a:prstGeom prst="roundRect">
            <a:avLst/>
          </a:prstGeom>
          <a:solidFill>
            <a:srgbClr val="E4F8FA"/>
          </a:solidFill>
          <a:ln w="6350">
            <a:solidFill>
              <a:srgbClr val="E4F8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67512" y="393192"/>
            <a:ext cx="1609343" cy="246888"/>
          </a:xfrm>
          <a:prstGeom prst="rect">
            <a:avLst/>
          </a:prstGeom>
          <a:noFill/>
        </p:spPr>
        <p:txBody>
          <a:bodyPr wrap="square" lIns="27432" rIns="27432" tIns="27432" bIns="27432" anchor="ctr">
            <a:spAutoFit/>
          </a:bodyPr>
          <a:lstStyle/>
          <a:p>
            <a:pPr algn="ctr"/>
            <a:r>
              <a:rPr sz="950" b="1">
                <a:solidFill>
                  <a:srgbClr val="06A6B5"/>
                </a:solidFill>
                <a:latin typeface="Aptos"/>
              </a:rPr>
              <a:t>ENTREPRISE D’ACCUEIL</a:t>
            </a:r>
          </a:p>
        </p:txBody>
      </p:sp>
      <p:sp>
        <p:nvSpPr>
          <p:cNvPr id="4" name="TextBox 3"/>
          <p:cNvSpPr txBox="1"/>
          <p:nvPr/>
        </p:nvSpPr>
        <p:spPr>
          <a:xfrm>
            <a:off x="621792" y="795528"/>
            <a:ext cx="10972800" cy="530352"/>
          </a:xfrm>
          <a:prstGeom prst="rect">
            <a:avLst/>
          </a:prstGeom>
          <a:noFill/>
        </p:spPr>
        <p:txBody>
          <a:bodyPr wrap="square" lIns="27432" rIns="27432" tIns="27432" bIns="27432" anchor="t">
            <a:spAutoFit/>
          </a:bodyPr>
          <a:lstStyle/>
          <a:p>
            <a:pPr algn="l"/>
            <a:r>
              <a:rPr sz="2850" b="1">
                <a:solidFill>
                  <a:srgbClr val="0B1F3A"/>
                </a:solidFill>
                <a:latin typeface="Aptos Display"/>
              </a:rPr>
              <a:t>One Tech Business Solutions</a:t>
            </a:r>
          </a:p>
        </p:txBody>
      </p:sp>
      <p:sp>
        <p:nvSpPr>
          <p:cNvPr id="5" name="Rectangle 4"/>
          <p:cNvSpPr/>
          <p:nvPr/>
        </p:nvSpPr>
        <p:spPr>
          <a:xfrm>
            <a:off x="621792" y="1380744"/>
            <a:ext cx="10972800" cy="22860"/>
          </a:xfrm>
          <a:prstGeom prst="rect">
            <a:avLst/>
          </a:prstGeom>
          <a:solidFill>
            <a:srgbClr val="DCE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6519672"/>
            <a:ext cx="4937760" cy="164592"/>
          </a:xfrm>
          <a:prstGeom prst="rect">
            <a:avLst/>
          </a:prstGeom>
          <a:noFill/>
        </p:spPr>
        <p:txBody>
          <a:bodyPr wrap="square" lIns="27432" rIns="27432" tIns="27432" bIns="27432" anchor="t">
            <a:spAutoFit/>
          </a:bodyPr>
          <a:lstStyle/>
          <a:p>
            <a:pPr algn="l"/>
            <a:r>
              <a:rPr sz="840" b="1">
                <a:solidFill>
                  <a:srgbClr val="8A98AA"/>
                </a:solidFill>
                <a:latin typeface="Aptos"/>
              </a:rPr>
              <a:t>ONE TECH BUSINESS SOLUTIONS  ·  CY TECH</a:t>
            </a:r>
          </a:p>
        </p:txBody>
      </p:sp>
      <p:sp>
        <p:nvSpPr>
          <p:cNvPr id="7" name="TextBox 6"/>
          <p:cNvSpPr txBox="1"/>
          <p:nvPr/>
        </p:nvSpPr>
        <p:spPr>
          <a:xfrm>
            <a:off x="8321040" y="6519672"/>
            <a:ext cx="3063240" cy="164592"/>
          </a:xfrm>
          <a:prstGeom prst="rect">
            <a:avLst/>
          </a:prstGeom>
          <a:noFill/>
        </p:spPr>
        <p:txBody>
          <a:bodyPr wrap="square" lIns="27432" rIns="27432" tIns="27432" bIns="27432" anchor="t">
            <a:spAutoFit/>
          </a:bodyPr>
          <a:lstStyle/>
          <a:p>
            <a:pPr algn="r"/>
            <a:r>
              <a:rPr sz="840" b="1">
                <a:solidFill>
                  <a:srgbClr val="8A98AA"/>
                </a:solidFill>
                <a:latin typeface="Aptos"/>
              </a:rPr>
              <a:t>ENTREPRISE D’ACCUEIL</a:t>
            </a:r>
          </a:p>
        </p:txBody>
      </p:sp>
      <p:sp>
        <p:nvSpPr>
          <p:cNvPr id="8" name="Oval 7"/>
          <p:cNvSpPr/>
          <p:nvPr/>
        </p:nvSpPr>
        <p:spPr>
          <a:xfrm>
            <a:off x="11466576" y="6428232"/>
            <a:ext cx="256032" cy="256032"/>
          </a:xfrm>
          <a:prstGeom prst="ellipse">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66576" y="6437376"/>
            <a:ext cx="256032" cy="237744"/>
          </a:xfrm>
          <a:prstGeom prst="rect">
            <a:avLst/>
          </a:prstGeom>
          <a:noFill/>
        </p:spPr>
        <p:txBody>
          <a:bodyPr wrap="square" lIns="27432" rIns="27432" tIns="27432" bIns="27432" anchor="ctr">
            <a:spAutoFit/>
          </a:bodyPr>
          <a:lstStyle/>
          <a:p>
            <a:pPr algn="ctr"/>
            <a:r>
              <a:rPr sz="850" b="1">
                <a:solidFill>
                  <a:srgbClr val="FFFFFF"/>
                </a:solidFill>
                <a:latin typeface="Aptos"/>
              </a:rPr>
              <a:t>2</a:t>
            </a:r>
          </a:p>
        </p:txBody>
      </p:sp>
      <p:sp>
        <p:nvSpPr>
          <p:cNvPr id="10" name="Rounded Rectangle 9"/>
          <p:cNvSpPr/>
          <p:nvPr/>
        </p:nvSpPr>
        <p:spPr>
          <a:xfrm>
            <a:off x="658368" y="1673352"/>
            <a:ext cx="3794760" cy="4407408"/>
          </a:xfrm>
          <a:prstGeom prst="roundRect">
            <a:avLst/>
          </a:prstGeom>
          <a:solidFill>
            <a:srgbClr val="0B1F3A"/>
          </a:solidFill>
          <a:ln w="12700">
            <a:solidFill>
              <a:srgbClr val="0B1F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69264" y="1984248"/>
            <a:ext cx="1627632" cy="292608"/>
          </a:xfrm>
          <a:prstGeom prst="roundRect">
            <a:avLst/>
          </a:prstGeom>
          <a:solidFill>
            <a:srgbClr val="19365D"/>
          </a:solidFill>
          <a:ln w="6350">
            <a:solidFill>
              <a:srgbClr val="19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4" y="1993391"/>
            <a:ext cx="1536192" cy="246888"/>
          </a:xfrm>
          <a:prstGeom prst="rect">
            <a:avLst/>
          </a:prstGeom>
          <a:noFill/>
        </p:spPr>
        <p:txBody>
          <a:bodyPr wrap="square" lIns="27432" rIns="27432" tIns="27432" bIns="27432" anchor="ctr">
            <a:spAutoFit/>
          </a:bodyPr>
          <a:lstStyle/>
          <a:p>
            <a:pPr algn="ctr"/>
            <a:r>
              <a:rPr sz="1050" b="1">
                <a:solidFill>
                  <a:srgbClr val="8FE2E7"/>
                </a:solidFill>
                <a:latin typeface="Aptos"/>
              </a:rPr>
              <a:t>ONE TECH GROUP</a:t>
            </a:r>
          </a:p>
        </p:txBody>
      </p:sp>
      <p:sp>
        <p:nvSpPr>
          <p:cNvPr id="13" name="TextBox 12"/>
          <p:cNvSpPr txBox="1"/>
          <p:nvPr/>
        </p:nvSpPr>
        <p:spPr>
          <a:xfrm>
            <a:off x="969264" y="2542032"/>
            <a:ext cx="3017520" cy="932688"/>
          </a:xfrm>
          <a:prstGeom prst="rect">
            <a:avLst/>
          </a:prstGeom>
          <a:noFill/>
        </p:spPr>
        <p:txBody>
          <a:bodyPr wrap="square" lIns="27432" rIns="27432" tIns="27432" bIns="27432" anchor="t">
            <a:spAutoFit/>
          </a:bodyPr>
          <a:lstStyle/>
          <a:p>
            <a:pPr algn="l"/>
            <a:r>
              <a:rPr sz="2300" b="1">
                <a:solidFill>
                  <a:srgbClr val="FFFFFF"/>
                </a:solidFill>
                <a:latin typeface="Aptos Display"/>
              </a:rPr>
              <a:t>Une expertise numérique</a:t>
            </a:r>
            <a:br/>
            <a:r>
              <a:rPr sz="2300" b="1">
                <a:solidFill>
                  <a:srgbClr val="FFFFFF"/>
                </a:solidFill>
                <a:latin typeface="Aptos Display"/>
              </a:rPr>
              <a:t>au service des métiers</a:t>
            </a:r>
          </a:p>
        </p:txBody>
      </p:sp>
      <p:sp>
        <p:nvSpPr>
          <p:cNvPr id="14" name="TextBox 13"/>
          <p:cNvSpPr txBox="1"/>
          <p:nvPr/>
        </p:nvSpPr>
        <p:spPr>
          <a:xfrm>
            <a:off x="969264" y="4078224"/>
            <a:ext cx="3017520" cy="1554480"/>
          </a:xfrm>
          <a:prstGeom prst="rect">
            <a:avLst/>
          </a:prstGeom>
          <a:noFill/>
        </p:spPr>
        <p:txBody>
          <a:bodyPr wrap="square" lIns="27432" rIns="27432" tIns="27432" bIns="27432" anchor="t">
            <a:spAutoFit/>
          </a:bodyPr>
          <a:lstStyle/>
          <a:p>
            <a:pPr algn="l">
              <a:lnSpc>
                <a:spcPct val="110000"/>
              </a:lnSpc>
            </a:pPr>
            <a:r>
              <a:rPr sz="1350" b="0">
                <a:solidFill>
                  <a:srgbClr val="D9E6F5"/>
                </a:solidFill>
                <a:latin typeface="Aptos"/>
              </a:rPr>
              <a:t>Développement logiciel</a:t>
            </a:r>
            <a:br/>
            <a:r>
              <a:rPr sz="1350" b="0">
                <a:solidFill>
                  <a:srgbClr val="D9E6F5"/>
                </a:solidFill>
                <a:latin typeface="Aptos"/>
              </a:rPr>
              <a:t>Intégration de systèmes</a:t>
            </a:r>
            <a:br/>
            <a:r>
              <a:rPr sz="1350" b="0">
                <a:solidFill>
                  <a:srgbClr val="D9E6F5"/>
                </a:solidFill>
                <a:latin typeface="Aptos"/>
              </a:rPr>
              <a:t>Data &amp; intelligence artificielle</a:t>
            </a:r>
            <a:br/>
            <a:r>
              <a:rPr sz="1350" b="0">
                <a:solidFill>
                  <a:srgbClr val="D9E6F5"/>
                </a:solidFill>
                <a:latin typeface="Aptos"/>
              </a:rPr>
              <a:t>Automatisation des processus</a:t>
            </a:r>
          </a:p>
        </p:txBody>
      </p:sp>
      <p:sp>
        <p:nvSpPr>
          <p:cNvPr id="15" name="TextBox 14"/>
          <p:cNvSpPr txBox="1"/>
          <p:nvPr/>
        </p:nvSpPr>
        <p:spPr>
          <a:xfrm>
            <a:off x="4892040" y="1792224"/>
            <a:ext cx="3108960" cy="329184"/>
          </a:xfrm>
          <a:prstGeom prst="rect">
            <a:avLst/>
          </a:prstGeom>
          <a:noFill/>
        </p:spPr>
        <p:txBody>
          <a:bodyPr wrap="square" lIns="27432" rIns="27432" tIns="27432" bIns="27432" anchor="t">
            <a:spAutoFit/>
          </a:bodyPr>
          <a:lstStyle/>
          <a:p>
            <a:pPr algn="l"/>
            <a:r>
              <a:rPr sz="1600" b="1">
                <a:solidFill>
                  <a:srgbClr val="06A6B5"/>
                </a:solidFill>
                <a:latin typeface="Aptos"/>
              </a:rPr>
              <a:t>Mission du stage</a:t>
            </a:r>
          </a:p>
        </p:txBody>
      </p:sp>
      <p:sp>
        <p:nvSpPr>
          <p:cNvPr id="16" name="TextBox 15"/>
          <p:cNvSpPr txBox="1"/>
          <p:nvPr/>
        </p:nvSpPr>
        <p:spPr>
          <a:xfrm>
            <a:off x="4892040" y="2286000"/>
            <a:ext cx="6199632" cy="868680"/>
          </a:xfrm>
          <a:prstGeom prst="rect">
            <a:avLst/>
          </a:prstGeom>
          <a:noFill/>
        </p:spPr>
        <p:txBody>
          <a:bodyPr wrap="square" lIns="27432" rIns="27432" tIns="27432" bIns="27432" anchor="t">
            <a:spAutoFit/>
          </a:bodyPr>
          <a:lstStyle/>
          <a:p>
            <a:pPr algn="l"/>
            <a:r>
              <a:rPr sz="2300" b="1">
                <a:solidFill>
                  <a:srgbClr val="0B1F3A"/>
                </a:solidFill>
                <a:latin typeface="Aptos Display"/>
              </a:rPr>
              <a:t>Transformer la veille sur les marchés publics en un processus structuré, traçable et exploitable.</a:t>
            </a:r>
          </a:p>
        </p:txBody>
      </p:sp>
      <p:sp>
        <p:nvSpPr>
          <p:cNvPr id="17" name="Rounded Rectangle 16"/>
          <p:cNvSpPr/>
          <p:nvPr/>
        </p:nvSpPr>
        <p:spPr>
          <a:xfrm>
            <a:off x="4892040" y="3794760"/>
            <a:ext cx="1993392" cy="1417320"/>
          </a:xfrm>
          <a:prstGeom prst="roundRect">
            <a:avLst/>
          </a:prstGeom>
          <a:solidFill>
            <a:srgbClr val="FFFFFF"/>
          </a:solidFill>
          <a:ln w="12700">
            <a:solidFill>
              <a:srgbClr val="DCE4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892040" y="3794760"/>
            <a:ext cx="64008" cy="1417320"/>
          </a:xfrm>
          <a:prstGeom prst="rect">
            <a:avLst/>
          </a:prstGeom>
          <a:solidFill>
            <a:srgbClr val="2D6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093207" y="3959352"/>
            <a:ext cx="347472" cy="347472"/>
          </a:xfrm>
          <a:prstGeom prst="ellipse">
            <a:avLst/>
          </a:prstGeom>
          <a:solidFill>
            <a:srgbClr val="2D6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93207" y="3968496"/>
            <a:ext cx="347472" cy="329184"/>
          </a:xfrm>
          <a:prstGeom prst="rect">
            <a:avLst/>
          </a:prstGeom>
          <a:noFill/>
        </p:spPr>
        <p:txBody>
          <a:bodyPr wrap="square" lIns="27432" rIns="27432" tIns="27432" bIns="27432" anchor="ctr">
            <a:spAutoFit/>
          </a:bodyPr>
          <a:lstStyle/>
          <a:p>
            <a:pPr algn="ctr"/>
            <a:r>
              <a:rPr sz="1000" b="1">
                <a:solidFill>
                  <a:srgbClr val="FFFFFF"/>
                </a:solidFill>
                <a:latin typeface="Aptos"/>
              </a:rPr>
              <a:t>01</a:t>
            </a:r>
          </a:p>
        </p:txBody>
      </p:sp>
      <p:sp>
        <p:nvSpPr>
          <p:cNvPr id="21" name="TextBox 20"/>
          <p:cNvSpPr txBox="1"/>
          <p:nvPr/>
        </p:nvSpPr>
        <p:spPr>
          <a:xfrm>
            <a:off x="5550407" y="3950208"/>
            <a:ext cx="1170432" cy="301752"/>
          </a:xfrm>
          <a:prstGeom prst="rect">
            <a:avLst/>
          </a:prstGeom>
          <a:noFill/>
        </p:spPr>
        <p:txBody>
          <a:bodyPr wrap="square" lIns="27432" rIns="27432" tIns="27432" bIns="27432" anchor="ctr">
            <a:spAutoFit/>
          </a:bodyPr>
          <a:lstStyle/>
          <a:p>
            <a:pPr algn="l"/>
            <a:r>
              <a:rPr sz="1320" b="1">
                <a:solidFill>
                  <a:srgbClr val="17243B"/>
                </a:solidFill>
                <a:latin typeface="Aptos"/>
              </a:rPr>
              <a:t>Veille</a:t>
            </a:r>
          </a:p>
        </p:txBody>
      </p:sp>
      <p:sp>
        <p:nvSpPr>
          <p:cNvPr id="22" name="TextBox 21"/>
          <p:cNvSpPr txBox="1"/>
          <p:nvPr/>
        </p:nvSpPr>
        <p:spPr>
          <a:xfrm>
            <a:off x="5102352" y="4325112"/>
            <a:ext cx="1609344" cy="786384"/>
          </a:xfrm>
          <a:prstGeom prst="rect">
            <a:avLst/>
          </a:prstGeom>
          <a:noFill/>
        </p:spPr>
        <p:txBody>
          <a:bodyPr wrap="square" lIns="27432" rIns="27432" tIns="27432" bIns="27432" anchor="t">
            <a:spAutoFit/>
          </a:bodyPr>
          <a:lstStyle/>
          <a:p>
            <a:pPr algn="l">
              <a:lnSpc>
                <a:spcPct val="100000"/>
              </a:lnSpc>
            </a:pPr>
            <a:r>
              <a:rPr sz="1019" b="0">
                <a:solidFill>
                  <a:srgbClr val="66758A"/>
                </a:solidFill>
                <a:latin typeface="Aptos"/>
              </a:rPr>
              <a:t>Repérer les opportunités publiées</a:t>
            </a:r>
          </a:p>
        </p:txBody>
      </p:sp>
      <p:sp>
        <p:nvSpPr>
          <p:cNvPr id="23" name="Rounded Rectangle 22"/>
          <p:cNvSpPr/>
          <p:nvPr/>
        </p:nvSpPr>
        <p:spPr>
          <a:xfrm>
            <a:off x="7104888" y="3794760"/>
            <a:ext cx="1993392" cy="1417320"/>
          </a:xfrm>
          <a:prstGeom prst="roundRect">
            <a:avLst/>
          </a:prstGeom>
          <a:solidFill>
            <a:srgbClr val="FFFFFF"/>
          </a:solidFill>
          <a:ln w="12700">
            <a:solidFill>
              <a:srgbClr val="DCE4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104888" y="3794760"/>
            <a:ext cx="64008" cy="1417320"/>
          </a:xfrm>
          <a:prstGeom prst="rect">
            <a:avLst/>
          </a:prstGeom>
          <a:solidFill>
            <a:srgbClr val="7165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306055" y="3959352"/>
            <a:ext cx="347472" cy="347472"/>
          </a:xfrm>
          <a:prstGeom prst="ellipse">
            <a:avLst/>
          </a:prstGeom>
          <a:solidFill>
            <a:srgbClr val="7165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06055" y="3968496"/>
            <a:ext cx="347472" cy="329184"/>
          </a:xfrm>
          <a:prstGeom prst="rect">
            <a:avLst/>
          </a:prstGeom>
          <a:noFill/>
        </p:spPr>
        <p:txBody>
          <a:bodyPr wrap="square" lIns="27432" rIns="27432" tIns="27432" bIns="27432" anchor="ctr">
            <a:spAutoFit/>
          </a:bodyPr>
          <a:lstStyle/>
          <a:p>
            <a:pPr algn="ctr"/>
            <a:r>
              <a:rPr sz="1000" b="1">
                <a:solidFill>
                  <a:srgbClr val="FFFFFF"/>
                </a:solidFill>
                <a:latin typeface="Aptos"/>
              </a:rPr>
              <a:t>02</a:t>
            </a:r>
          </a:p>
        </p:txBody>
      </p:sp>
      <p:sp>
        <p:nvSpPr>
          <p:cNvPr id="27" name="TextBox 26"/>
          <p:cNvSpPr txBox="1"/>
          <p:nvPr/>
        </p:nvSpPr>
        <p:spPr>
          <a:xfrm>
            <a:off x="7763256" y="3950208"/>
            <a:ext cx="1170431" cy="301752"/>
          </a:xfrm>
          <a:prstGeom prst="rect">
            <a:avLst/>
          </a:prstGeom>
          <a:noFill/>
        </p:spPr>
        <p:txBody>
          <a:bodyPr wrap="square" lIns="27432" rIns="27432" tIns="27432" bIns="27432" anchor="ctr">
            <a:spAutoFit/>
          </a:bodyPr>
          <a:lstStyle/>
          <a:p>
            <a:pPr algn="l"/>
            <a:r>
              <a:rPr sz="1320" b="1">
                <a:solidFill>
                  <a:srgbClr val="17243B"/>
                </a:solidFill>
                <a:latin typeface="Aptos"/>
              </a:rPr>
              <a:t>Qualification</a:t>
            </a:r>
          </a:p>
        </p:txBody>
      </p:sp>
      <p:sp>
        <p:nvSpPr>
          <p:cNvPr id="28" name="TextBox 27"/>
          <p:cNvSpPr txBox="1"/>
          <p:nvPr/>
        </p:nvSpPr>
        <p:spPr>
          <a:xfrm>
            <a:off x="7315200" y="4325112"/>
            <a:ext cx="1609344" cy="786384"/>
          </a:xfrm>
          <a:prstGeom prst="rect">
            <a:avLst/>
          </a:prstGeom>
          <a:noFill/>
        </p:spPr>
        <p:txBody>
          <a:bodyPr wrap="square" lIns="27432" rIns="27432" tIns="27432" bIns="27432" anchor="t">
            <a:spAutoFit/>
          </a:bodyPr>
          <a:lstStyle/>
          <a:p>
            <a:pPr algn="l">
              <a:lnSpc>
                <a:spcPct val="100000"/>
              </a:lnSpc>
            </a:pPr>
            <a:r>
              <a:rPr sz="1019" b="0">
                <a:solidFill>
                  <a:srgbClr val="66758A"/>
                </a:solidFill>
                <a:latin typeface="Aptos"/>
              </a:rPr>
              <a:t>Analyser les faits et les documents</a:t>
            </a:r>
          </a:p>
        </p:txBody>
      </p:sp>
      <p:sp>
        <p:nvSpPr>
          <p:cNvPr id="29" name="Rounded Rectangle 28"/>
          <p:cNvSpPr/>
          <p:nvPr/>
        </p:nvSpPr>
        <p:spPr>
          <a:xfrm>
            <a:off x="9317736" y="3794760"/>
            <a:ext cx="1993392" cy="1417320"/>
          </a:xfrm>
          <a:prstGeom prst="roundRect">
            <a:avLst/>
          </a:prstGeom>
          <a:solidFill>
            <a:srgbClr val="FFFFFF"/>
          </a:solidFill>
          <a:ln w="12700">
            <a:solidFill>
              <a:srgbClr val="DCE4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317736" y="3794760"/>
            <a:ext cx="64008" cy="1417320"/>
          </a:xfrm>
          <a:prstGeom prst="rect">
            <a:avLst/>
          </a:prstGeom>
          <a:solidFill>
            <a:srgbClr val="28B4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9518904" y="3959352"/>
            <a:ext cx="347472" cy="347472"/>
          </a:xfrm>
          <a:prstGeom prst="ellipse">
            <a:avLst/>
          </a:prstGeom>
          <a:solidFill>
            <a:srgbClr val="28B4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518904" y="3968496"/>
            <a:ext cx="347472" cy="329184"/>
          </a:xfrm>
          <a:prstGeom prst="rect">
            <a:avLst/>
          </a:prstGeom>
          <a:noFill/>
        </p:spPr>
        <p:txBody>
          <a:bodyPr wrap="square" lIns="27432" rIns="27432" tIns="27432" bIns="27432" anchor="ctr">
            <a:spAutoFit/>
          </a:bodyPr>
          <a:lstStyle/>
          <a:p>
            <a:pPr algn="ctr"/>
            <a:r>
              <a:rPr sz="1000" b="1">
                <a:solidFill>
                  <a:srgbClr val="FFFFFF"/>
                </a:solidFill>
                <a:latin typeface="Aptos"/>
              </a:rPr>
              <a:t>03</a:t>
            </a:r>
          </a:p>
        </p:txBody>
      </p:sp>
      <p:sp>
        <p:nvSpPr>
          <p:cNvPr id="33" name="TextBox 32"/>
          <p:cNvSpPr txBox="1"/>
          <p:nvPr/>
        </p:nvSpPr>
        <p:spPr>
          <a:xfrm>
            <a:off x="9976104" y="3950208"/>
            <a:ext cx="1170431" cy="301752"/>
          </a:xfrm>
          <a:prstGeom prst="rect">
            <a:avLst/>
          </a:prstGeom>
          <a:noFill/>
        </p:spPr>
        <p:txBody>
          <a:bodyPr wrap="square" lIns="27432" rIns="27432" tIns="27432" bIns="27432" anchor="ctr">
            <a:spAutoFit/>
          </a:bodyPr>
          <a:lstStyle/>
          <a:p>
            <a:pPr algn="l"/>
            <a:r>
              <a:rPr sz="1320" b="1">
                <a:solidFill>
                  <a:srgbClr val="17243B"/>
                </a:solidFill>
                <a:latin typeface="Aptos"/>
              </a:rPr>
              <a:t>Diffusion</a:t>
            </a:r>
          </a:p>
        </p:txBody>
      </p:sp>
      <p:sp>
        <p:nvSpPr>
          <p:cNvPr id="34" name="TextBox 33"/>
          <p:cNvSpPr txBox="1"/>
          <p:nvPr/>
        </p:nvSpPr>
        <p:spPr>
          <a:xfrm>
            <a:off x="9528048" y="4325112"/>
            <a:ext cx="1609344" cy="786384"/>
          </a:xfrm>
          <a:prstGeom prst="rect">
            <a:avLst/>
          </a:prstGeom>
          <a:noFill/>
        </p:spPr>
        <p:txBody>
          <a:bodyPr wrap="square" lIns="27432" rIns="27432" tIns="27432" bIns="27432" anchor="t">
            <a:spAutoFit/>
          </a:bodyPr>
          <a:lstStyle/>
          <a:p>
            <a:pPr algn="l">
              <a:lnSpc>
                <a:spcPct val="100000"/>
              </a:lnSpc>
            </a:pPr>
            <a:r>
              <a:rPr sz="1019" b="0">
                <a:solidFill>
                  <a:srgbClr val="66758A"/>
                </a:solidFill>
                <a:latin typeface="Aptos"/>
              </a:rPr>
              <a:t>Transmettre un digest actionnable</a:t>
            </a:r>
          </a:p>
        </p:txBody>
      </p:sp>
      <p:sp>
        <p:nvSpPr>
          <p:cNvPr id="35" name="Rounded Rectangle 34"/>
          <p:cNvSpPr/>
          <p:nvPr/>
        </p:nvSpPr>
        <p:spPr>
          <a:xfrm>
            <a:off x="6419088" y="5678424"/>
            <a:ext cx="3236976" cy="292608"/>
          </a:xfrm>
          <a:prstGeom prst="roundRect">
            <a:avLst/>
          </a:prstGeom>
          <a:solidFill>
            <a:srgbClr val="E4F8FA"/>
          </a:solidFill>
          <a:ln w="6350">
            <a:solidFill>
              <a:srgbClr val="E4F8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64807" y="5687568"/>
            <a:ext cx="3145536" cy="246888"/>
          </a:xfrm>
          <a:prstGeom prst="rect">
            <a:avLst/>
          </a:prstGeom>
          <a:noFill/>
        </p:spPr>
        <p:txBody>
          <a:bodyPr wrap="square" lIns="27432" rIns="27432" tIns="27432" bIns="27432" anchor="ctr">
            <a:spAutoFit/>
          </a:bodyPr>
          <a:lstStyle/>
          <a:p>
            <a:pPr algn="ctr"/>
            <a:r>
              <a:rPr sz="1050" b="1">
                <a:solidFill>
                  <a:srgbClr val="06A6B5"/>
                </a:solidFill>
                <a:latin typeface="Aptos"/>
              </a:rPr>
              <a:t>Stage ingénieur informatique · ING1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ounded Rectangle 1"/>
          <p:cNvSpPr/>
          <p:nvPr/>
        </p:nvSpPr>
        <p:spPr>
          <a:xfrm>
            <a:off x="621792" y="384048"/>
            <a:ext cx="1371599" cy="292608"/>
          </a:xfrm>
          <a:prstGeom prst="roundRect">
            <a:avLst/>
          </a:prstGeom>
          <a:solidFill>
            <a:srgbClr val="E4F8FA"/>
          </a:solidFill>
          <a:ln w="6350">
            <a:solidFill>
              <a:srgbClr val="E4F8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67512" y="393192"/>
            <a:ext cx="1280159" cy="246888"/>
          </a:xfrm>
          <a:prstGeom prst="rect">
            <a:avLst/>
          </a:prstGeom>
          <a:noFill/>
        </p:spPr>
        <p:txBody>
          <a:bodyPr wrap="square" lIns="27432" rIns="27432" tIns="27432" bIns="27432" anchor="ctr">
            <a:spAutoFit/>
          </a:bodyPr>
          <a:lstStyle/>
          <a:p>
            <a:pPr algn="ctr"/>
            <a:r>
              <a:rPr sz="950" b="1">
                <a:solidFill>
                  <a:srgbClr val="06A6B5"/>
                </a:solidFill>
                <a:latin typeface="Aptos"/>
              </a:rPr>
              <a:t>PROBLÈME MÉTIER</a:t>
            </a:r>
          </a:p>
        </p:txBody>
      </p:sp>
      <p:sp>
        <p:nvSpPr>
          <p:cNvPr id="4" name="TextBox 3"/>
          <p:cNvSpPr txBox="1"/>
          <p:nvPr/>
        </p:nvSpPr>
        <p:spPr>
          <a:xfrm>
            <a:off x="621792" y="795528"/>
            <a:ext cx="10972800" cy="530352"/>
          </a:xfrm>
          <a:prstGeom prst="rect">
            <a:avLst/>
          </a:prstGeom>
          <a:noFill/>
        </p:spPr>
        <p:txBody>
          <a:bodyPr wrap="square" lIns="27432" rIns="27432" tIns="27432" bIns="27432" anchor="t">
            <a:spAutoFit/>
          </a:bodyPr>
          <a:lstStyle/>
          <a:p>
            <a:pPr algn="l"/>
            <a:r>
              <a:rPr sz="2850" b="1">
                <a:solidFill>
                  <a:srgbClr val="0B1F3A"/>
                </a:solidFill>
                <a:latin typeface="Aptos Display"/>
              </a:rPr>
              <a:t>Du chaos documentaire à une décision vérifiable</a:t>
            </a:r>
          </a:p>
        </p:txBody>
      </p:sp>
      <p:sp>
        <p:nvSpPr>
          <p:cNvPr id="5" name="Rectangle 4"/>
          <p:cNvSpPr/>
          <p:nvPr/>
        </p:nvSpPr>
        <p:spPr>
          <a:xfrm>
            <a:off x="621792" y="1380744"/>
            <a:ext cx="10972800" cy="22860"/>
          </a:xfrm>
          <a:prstGeom prst="rect">
            <a:avLst/>
          </a:prstGeom>
          <a:solidFill>
            <a:srgbClr val="DCE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6519672"/>
            <a:ext cx="4937760" cy="164592"/>
          </a:xfrm>
          <a:prstGeom prst="rect">
            <a:avLst/>
          </a:prstGeom>
          <a:noFill/>
        </p:spPr>
        <p:txBody>
          <a:bodyPr wrap="square" lIns="27432" rIns="27432" tIns="27432" bIns="27432" anchor="t">
            <a:spAutoFit/>
          </a:bodyPr>
          <a:lstStyle/>
          <a:p>
            <a:pPr algn="l"/>
            <a:r>
              <a:rPr sz="840" b="1">
                <a:solidFill>
                  <a:srgbClr val="8A98AA"/>
                </a:solidFill>
                <a:latin typeface="Aptos"/>
              </a:rPr>
              <a:t>ONE TECH BUSINESS SOLUTIONS  ·  CY TECH</a:t>
            </a:r>
          </a:p>
        </p:txBody>
      </p:sp>
      <p:sp>
        <p:nvSpPr>
          <p:cNvPr id="7" name="TextBox 6"/>
          <p:cNvSpPr txBox="1"/>
          <p:nvPr/>
        </p:nvSpPr>
        <p:spPr>
          <a:xfrm>
            <a:off x="8321040" y="6519672"/>
            <a:ext cx="3063240" cy="164592"/>
          </a:xfrm>
          <a:prstGeom prst="rect">
            <a:avLst/>
          </a:prstGeom>
          <a:noFill/>
        </p:spPr>
        <p:txBody>
          <a:bodyPr wrap="square" lIns="27432" rIns="27432" tIns="27432" bIns="27432" anchor="t">
            <a:spAutoFit/>
          </a:bodyPr>
          <a:lstStyle/>
          <a:p>
            <a:pPr algn="r"/>
            <a:r>
              <a:rPr sz="840" b="1">
                <a:solidFill>
                  <a:srgbClr val="8A98AA"/>
                </a:solidFill>
                <a:latin typeface="Aptos"/>
              </a:rPr>
              <a:t>PROBLÈME MÉTIER</a:t>
            </a:r>
          </a:p>
        </p:txBody>
      </p:sp>
      <p:sp>
        <p:nvSpPr>
          <p:cNvPr id="8" name="Oval 7"/>
          <p:cNvSpPr/>
          <p:nvPr/>
        </p:nvSpPr>
        <p:spPr>
          <a:xfrm>
            <a:off x="11466576" y="6428232"/>
            <a:ext cx="256032" cy="256032"/>
          </a:xfrm>
          <a:prstGeom prst="ellipse">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66576" y="6437376"/>
            <a:ext cx="256032" cy="237744"/>
          </a:xfrm>
          <a:prstGeom prst="rect">
            <a:avLst/>
          </a:prstGeom>
          <a:noFill/>
        </p:spPr>
        <p:txBody>
          <a:bodyPr wrap="square" lIns="27432" rIns="27432" tIns="27432" bIns="27432" anchor="ctr">
            <a:spAutoFit/>
          </a:bodyPr>
          <a:lstStyle/>
          <a:p>
            <a:pPr algn="ctr"/>
            <a:r>
              <a:rPr sz="850" b="1">
                <a:solidFill>
                  <a:srgbClr val="FFFFFF"/>
                </a:solidFill>
                <a:latin typeface="Aptos"/>
              </a:rPr>
              <a:t>3</a:t>
            </a:r>
          </a:p>
        </p:txBody>
      </p:sp>
      <p:sp>
        <p:nvSpPr>
          <p:cNvPr id="10" name="Rounded Rectangle 9"/>
          <p:cNvSpPr/>
          <p:nvPr/>
        </p:nvSpPr>
        <p:spPr>
          <a:xfrm>
            <a:off x="658368" y="1700784"/>
            <a:ext cx="3246120" cy="1170432"/>
          </a:xfrm>
          <a:prstGeom prst="roundRect">
            <a:avLst/>
          </a:prstGeom>
          <a:solidFill>
            <a:srgbClr val="FDECEF"/>
          </a:solidFill>
          <a:ln w="12700">
            <a:solidFill>
              <a:srgbClr val="DCE4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1700784"/>
            <a:ext cx="64008" cy="1170432"/>
          </a:xfrm>
          <a:prstGeom prst="rect">
            <a:avLst/>
          </a:prstGeom>
          <a:solidFill>
            <a:srgbClr val="E35D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59536" y="1865376"/>
            <a:ext cx="347472" cy="347472"/>
          </a:xfrm>
          <a:prstGeom prst="ellipse">
            <a:avLst/>
          </a:prstGeom>
          <a:solidFill>
            <a:srgbClr val="E35D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1874519"/>
            <a:ext cx="347472" cy="329184"/>
          </a:xfrm>
          <a:prstGeom prst="rect">
            <a:avLst/>
          </a:prstGeom>
          <a:noFill/>
        </p:spPr>
        <p:txBody>
          <a:bodyPr wrap="square" lIns="27432" rIns="27432" tIns="27432" bIns="27432" anchor="ctr">
            <a:spAutoFit/>
          </a:bodyPr>
          <a:lstStyle/>
          <a:p>
            <a:pPr algn="ctr"/>
            <a:r>
              <a:rPr sz="1000" b="1">
                <a:solidFill>
                  <a:srgbClr val="FFFFFF"/>
                </a:solidFill>
                <a:latin typeface="Aptos"/>
              </a:rPr>
              <a:t>1</a:t>
            </a:r>
          </a:p>
        </p:txBody>
      </p:sp>
      <p:sp>
        <p:nvSpPr>
          <p:cNvPr id="14" name="TextBox 13"/>
          <p:cNvSpPr txBox="1"/>
          <p:nvPr/>
        </p:nvSpPr>
        <p:spPr>
          <a:xfrm>
            <a:off x="1316736" y="1856232"/>
            <a:ext cx="2423160" cy="301752"/>
          </a:xfrm>
          <a:prstGeom prst="rect">
            <a:avLst/>
          </a:prstGeom>
          <a:noFill/>
        </p:spPr>
        <p:txBody>
          <a:bodyPr wrap="square" lIns="27432" rIns="27432" tIns="27432" bIns="27432" anchor="ctr">
            <a:spAutoFit/>
          </a:bodyPr>
          <a:lstStyle/>
          <a:p>
            <a:pPr algn="l"/>
            <a:r>
              <a:rPr sz="1500" b="1">
                <a:solidFill>
                  <a:srgbClr val="17243B"/>
                </a:solidFill>
                <a:latin typeface="Aptos"/>
              </a:rPr>
              <a:t>Information dispersée</a:t>
            </a:r>
          </a:p>
        </p:txBody>
      </p:sp>
      <p:sp>
        <p:nvSpPr>
          <p:cNvPr id="15" name="TextBox 14"/>
          <p:cNvSpPr txBox="1"/>
          <p:nvPr/>
        </p:nvSpPr>
        <p:spPr>
          <a:xfrm>
            <a:off x="868680" y="2231136"/>
            <a:ext cx="2862072" cy="539496"/>
          </a:xfrm>
          <a:prstGeom prst="rect">
            <a:avLst/>
          </a:prstGeom>
          <a:noFill/>
        </p:spPr>
        <p:txBody>
          <a:bodyPr wrap="square" lIns="27432" rIns="27432" tIns="27432" bIns="27432" anchor="t">
            <a:spAutoFit/>
          </a:bodyPr>
          <a:lstStyle/>
          <a:p>
            <a:pPr algn="l">
              <a:lnSpc>
                <a:spcPct val="100000"/>
              </a:lnSpc>
            </a:pPr>
            <a:r>
              <a:rPr sz="1150" b="0">
                <a:solidFill>
                  <a:srgbClr val="66758A"/>
                </a:solidFill>
                <a:latin typeface="Aptos"/>
              </a:rPr>
              <a:t>Listes HAICOP, pages détail et pièces jointes ne forment pas un dossier unique.</a:t>
            </a:r>
          </a:p>
        </p:txBody>
      </p:sp>
      <p:sp>
        <p:nvSpPr>
          <p:cNvPr id="16" name="Rounded Rectangle 15"/>
          <p:cNvSpPr/>
          <p:nvPr/>
        </p:nvSpPr>
        <p:spPr>
          <a:xfrm>
            <a:off x="658368" y="3026664"/>
            <a:ext cx="3246120" cy="1170432"/>
          </a:xfrm>
          <a:prstGeom prst="roundRect">
            <a:avLst/>
          </a:prstGeom>
          <a:solidFill>
            <a:srgbClr val="FFF4DD"/>
          </a:solidFill>
          <a:ln w="12700">
            <a:solidFill>
              <a:srgbClr val="DCE4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3026664"/>
            <a:ext cx="64008" cy="117043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59536" y="3191256"/>
            <a:ext cx="347472" cy="347472"/>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3200400"/>
            <a:ext cx="347472" cy="329184"/>
          </a:xfrm>
          <a:prstGeom prst="rect">
            <a:avLst/>
          </a:prstGeom>
          <a:noFill/>
        </p:spPr>
        <p:txBody>
          <a:bodyPr wrap="square" lIns="27432" rIns="27432" tIns="27432" bIns="27432" anchor="ctr">
            <a:spAutoFit/>
          </a:bodyPr>
          <a:lstStyle/>
          <a:p>
            <a:pPr algn="ctr"/>
            <a:r>
              <a:rPr sz="1000" b="1">
                <a:solidFill>
                  <a:srgbClr val="FFFFFF"/>
                </a:solidFill>
                <a:latin typeface="Aptos"/>
              </a:rPr>
              <a:t>2</a:t>
            </a:r>
          </a:p>
        </p:txBody>
      </p:sp>
      <p:sp>
        <p:nvSpPr>
          <p:cNvPr id="20" name="TextBox 19"/>
          <p:cNvSpPr txBox="1"/>
          <p:nvPr/>
        </p:nvSpPr>
        <p:spPr>
          <a:xfrm>
            <a:off x="1316736" y="3182112"/>
            <a:ext cx="2423160" cy="301752"/>
          </a:xfrm>
          <a:prstGeom prst="rect">
            <a:avLst/>
          </a:prstGeom>
          <a:noFill/>
        </p:spPr>
        <p:txBody>
          <a:bodyPr wrap="square" lIns="27432" rIns="27432" tIns="27432" bIns="27432" anchor="ctr">
            <a:spAutoFit/>
          </a:bodyPr>
          <a:lstStyle/>
          <a:p>
            <a:pPr algn="l"/>
            <a:r>
              <a:rPr sz="1500" b="1">
                <a:solidFill>
                  <a:srgbClr val="17243B"/>
                </a:solidFill>
                <a:latin typeface="Aptos"/>
              </a:rPr>
              <a:t>Formats hétérogènes</a:t>
            </a:r>
          </a:p>
        </p:txBody>
      </p:sp>
      <p:sp>
        <p:nvSpPr>
          <p:cNvPr id="21" name="TextBox 20"/>
          <p:cNvSpPr txBox="1"/>
          <p:nvPr/>
        </p:nvSpPr>
        <p:spPr>
          <a:xfrm>
            <a:off x="868680" y="3557016"/>
            <a:ext cx="2862072" cy="539496"/>
          </a:xfrm>
          <a:prstGeom prst="rect">
            <a:avLst/>
          </a:prstGeom>
          <a:noFill/>
        </p:spPr>
        <p:txBody>
          <a:bodyPr wrap="square" lIns="27432" rIns="27432" tIns="27432" bIns="27432" anchor="t">
            <a:spAutoFit/>
          </a:bodyPr>
          <a:lstStyle/>
          <a:p>
            <a:pPr algn="l">
              <a:lnSpc>
                <a:spcPct val="100000"/>
              </a:lnSpc>
            </a:pPr>
            <a:r>
              <a:rPr sz="1150" b="0">
                <a:solidFill>
                  <a:srgbClr val="66758A"/>
                </a:solidFill>
                <a:latin typeface="Aptos"/>
              </a:rPr>
              <a:t>PDF, DOCX, anciens DOC, scans et images exigent plusieurs méthodes d’extraction.</a:t>
            </a:r>
          </a:p>
        </p:txBody>
      </p:sp>
      <p:sp>
        <p:nvSpPr>
          <p:cNvPr id="22" name="Rounded Rectangle 21"/>
          <p:cNvSpPr/>
          <p:nvPr/>
        </p:nvSpPr>
        <p:spPr>
          <a:xfrm>
            <a:off x="658368" y="4352544"/>
            <a:ext cx="3246120" cy="1170432"/>
          </a:xfrm>
          <a:prstGeom prst="roundRect">
            <a:avLst/>
          </a:prstGeom>
          <a:solidFill>
            <a:srgbClr val="FDECEF"/>
          </a:solidFill>
          <a:ln w="12700">
            <a:solidFill>
              <a:srgbClr val="DCE4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58368" y="4352544"/>
            <a:ext cx="64008" cy="1170432"/>
          </a:xfrm>
          <a:prstGeom prst="rect">
            <a:avLst/>
          </a:prstGeom>
          <a:solidFill>
            <a:srgbClr val="E35D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59536" y="4517136"/>
            <a:ext cx="347472" cy="347472"/>
          </a:xfrm>
          <a:prstGeom prst="ellipse">
            <a:avLst/>
          </a:prstGeom>
          <a:solidFill>
            <a:srgbClr val="E35D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9536" y="4526279"/>
            <a:ext cx="347472" cy="329184"/>
          </a:xfrm>
          <a:prstGeom prst="rect">
            <a:avLst/>
          </a:prstGeom>
          <a:noFill/>
        </p:spPr>
        <p:txBody>
          <a:bodyPr wrap="square" lIns="27432" rIns="27432" tIns="27432" bIns="27432" anchor="ctr">
            <a:spAutoFit/>
          </a:bodyPr>
          <a:lstStyle/>
          <a:p>
            <a:pPr algn="ctr"/>
            <a:r>
              <a:rPr sz="1000" b="1">
                <a:solidFill>
                  <a:srgbClr val="FFFFFF"/>
                </a:solidFill>
                <a:latin typeface="Aptos"/>
              </a:rPr>
              <a:t>3</a:t>
            </a:r>
          </a:p>
        </p:txBody>
      </p:sp>
      <p:sp>
        <p:nvSpPr>
          <p:cNvPr id="26" name="TextBox 25"/>
          <p:cNvSpPr txBox="1"/>
          <p:nvPr/>
        </p:nvSpPr>
        <p:spPr>
          <a:xfrm>
            <a:off x="1316736" y="4507992"/>
            <a:ext cx="2423160" cy="301752"/>
          </a:xfrm>
          <a:prstGeom prst="rect">
            <a:avLst/>
          </a:prstGeom>
          <a:noFill/>
        </p:spPr>
        <p:txBody>
          <a:bodyPr wrap="square" lIns="27432" rIns="27432" tIns="27432" bIns="27432" anchor="ctr">
            <a:spAutoFit/>
          </a:bodyPr>
          <a:lstStyle/>
          <a:p>
            <a:pPr algn="l"/>
            <a:r>
              <a:rPr sz="1500" b="1">
                <a:solidFill>
                  <a:srgbClr val="17243B"/>
                </a:solidFill>
                <a:latin typeface="Aptos"/>
              </a:rPr>
              <a:t>Risque opérationnel</a:t>
            </a:r>
          </a:p>
        </p:txBody>
      </p:sp>
      <p:sp>
        <p:nvSpPr>
          <p:cNvPr id="27" name="TextBox 26"/>
          <p:cNvSpPr txBox="1"/>
          <p:nvPr/>
        </p:nvSpPr>
        <p:spPr>
          <a:xfrm>
            <a:off x="868680" y="4882896"/>
            <a:ext cx="2862072" cy="539496"/>
          </a:xfrm>
          <a:prstGeom prst="rect">
            <a:avLst/>
          </a:prstGeom>
          <a:noFill/>
        </p:spPr>
        <p:txBody>
          <a:bodyPr wrap="square" lIns="27432" rIns="27432" tIns="27432" bIns="27432" anchor="t">
            <a:spAutoFit/>
          </a:bodyPr>
          <a:lstStyle/>
          <a:p>
            <a:pPr algn="l">
              <a:lnSpc>
                <a:spcPct val="100000"/>
              </a:lnSpc>
            </a:pPr>
            <a:r>
              <a:rPr sz="1150" b="0">
                <a:solidFill>
                  <a:srgbClr val="66758A"/>
                </a:solidFill>
                <a:latin typeface="Aptos"/>
              </a:rPr>
              <a:t>Échéance, pièce obligatoire, doublon ou critère éliminatoire peuvent être manqués.</a:t>
            </a:r>
          </a:p>
        </p:txBody>
      </p:sp>
      <p:cxnSp>
        <p:nvCxnSpPr>
          <p:cNvPr id="28" name="Connector 27"/>
          <p:cNvCxnSpPr/>
          <p:nvPr/>
        </p:nvCxnSpPr>
        <p:spPr>
          <a:xfrm>
            <a:off x="4160520" y="3611880"/>
            <a:ext cx="1005840" cy="0"/>
          </a:xfrm>
          <a:prstGeom prst="line">
            <a:avLst/>
          </a:prstGeom>
          <a:ln w="33020">
            <a:solidFill>
              <a:srgbClr val="06A6B5"/>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5413248" y="1783080"/>
            <a:ext cx="6144768" cy="4251960"/>
          </a:xfrm>
          <a:prstGeom prst="roundRect">
            <a:avLst/>
          </a:prstGeom>
          <a:solidFill>
            <a:srgbClr val="FFFFFF"/>
          </a:solidFill>
          <a:ln w="17780">
            <a:solidFill>
              <a:srgbClr val="BBD7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742432" y="2057400"/>
            <a:ext cx="1481328" cy="292608"/>
          </a:xfrm>
          <a:prstGeom prst="roundRect">
            <a:avLst/>
          </a:prstGeom>
          <a:solidFill>
            <a:srgbClr val="E4F8FA"/>
          </a:solidFill>
          <a:ln w="6350">
            <a:solidFill>
              <a:srgbClr val="E4F8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788152" y="2066543"/>
            <a:ext cx="1389888" cy="246888"/>
          </a:xfrm>
          <a:prstGeom prst="rect">
            <a:avLst/>
          </a:prstGeom>
          <a:noFill/>
        </p:spPr>
        <p:txBody>
          <a:bodyPr wrap="square" lIns="27432" rIns="27432" tIns="27432" bIns="27432" anchor="ctr">
            <a:spAutoFit/>
          </a:bodyPr>
          <a:lstStyle/>
          <a:p>
            <a:pPr algn="ctr"/>
            <a:r>
              <a:rPr sz="1050" b="1">
                <a:solidFill>
                  <a:srgbClr val="06A6B5"/>
                </a:solidFill>
                <a:latin typeface="Aptos"/>
              </a:rPr>
              <a:t>DOSSIER UNIQUE</a:t>
            </a:r>
          </a:p>
        </p:txBody>
      </p:sp>
      <p:sp>
        <p:nvSpPr>
          <p:cNvPr id="32" name="TextBox 31"/>
          <p:cNvSpPr txBox="1"/>
          <p:nvPr/>
        </p:nvSpPr>
        <p:spPr>
          <a:xfrm>
            <a:off x="5742432" y="2587752"/>
            <a:ext cx="4956048" cy="841248"/>
          </a:xfrm>
          <a:prstGeom prst="rect">
            <a:avLst/>
          </a:prstGeom>
          <a:noFill/>
        </p:spPr>
        <p:txBody>
          <a:bodyPr wrap="square" lIns="27432" rIns="27432" tIns="27432" bIns="27432" anchor="t">
            <a:spAutoFit/>
          </a:bodyPr>
          <a:lstStyle/>
          <a:p>
            <a:pPr algn="l"/>
            <a:r>
              <a:rPr sz="2300" b="1">
                <a:solidFill>
                  <a:srgbClr val="0B1F3A"/>
                </a:solidFill>
                <a:latin typeface="Aptos Display"/>
              </a:rPr>
              <a:t>Une qualification qui reste</a:t>
            </a:r>
            <a:br/>
            <a:r>
              <a:rPr sz="2300" b="1">
                <a:solidFill>
                  <a:srgbClr val="0B1F3A"/>
                </a:solidFill>
                <a:latin typeface="Aptos Display"/>
              </a:rPr>
              <a:t>explicable avant la décision</a:t>
            </a:r>
          </a:p>
        </p:txBody>
      </p:sp>
      <p:sp>
        <p:nvSpPr>
          <p:cNvPr id="33" name="Oval 32"/>
          <p:cNvSpPr/>
          <p:nvPr/>
        </p:nvSpPr>
        <p:spPr>
          <a:xfrm>
            <a:off x="5760720" y="3721607"/>
            <a:ext cx="219456" cy="219456"/>
          </a:xfrm>
          <a:prstGeom prst="ellipse">
            <a:avLst/>
          </a:prstGeom>
          <a:solidFill>
            <a:srgbClr val="06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760720" y="3730751"/>
            <a:ext cx="219456" cy="201168"/>
          </a:xfrm>
          <a:prstGeom prst="rect">
            <a:avLst/>
          </a:prstGeom>
          <a:noFill/>
        </p:spPr>
        <p:txBody>
          <a:bodyPr wrap="square" lIns="27432" rIns="27432" tIns="27432" bIns="27432" anchor="ctr">
            <a:spAutoFit/>
          </a:bodyPr>
          <a:lstStyle/>
          <a:p>
            <a:pPr algn="ctr"/>
          </a:p>
        </p:txBody>
      </p:sp>
      <p:sp>
        <p:nvSpPr>
          <p:cNvPr id="35" name="Oval 34"/>
          <p:cNvSpPr/>
          <p:nvPr/>
        </p:nvSpPr>
        <p:spPr>
          <a:xfrm>
            <a:off x="5824728" y="3813048"/>
            <a:ext cx="82296" cy="82296"/>
          </a:xfrm>
          <a:prstGeom prst="ellipse">
            <a:avLst/>
          </a:prstGeom>
          <a:solidFill>
            <a:srgbClr val="06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08192" y="3703320"/>
            <a:ext cx="4818888" cy="475488"/>
          </a:xfrm>
          <a:prstGeom prst="rect">
            <a:avLst/>
          </a:prstGeom>
          <a:noFill/>
        </p:spPr>
        <p:txBody>
          <a:bodyPr wrap="square" lIns="27432" rIns="27432" tIns="27432" bIns="27432" anchor="ctr">
            <a:spAutoFit/>
          </a:bodyPr>
          <a:lstStyle/>
          <a:p>
            <a:pPr algn="l"/>
            <a:r>
              <a:rPr sz="1320" b="0">
                <a:solidFill>
                  <a:srgbClr val="17243B"/>
                </a:solidFill>
                <a:latin typeface="Aptos"/>
              </a:rPr>
              <a:t>Faits officiels centralisés</a:t>
            </a:r>
          </a:p>
        </p:txBody>
      </p:sp>
      <p:sp>
        <p:nvSpPr>
          <p:cNvPr id="37" name="Oval 36"/>
          <p:cNvSpPr/>
          <p:nvPr/>
        </p:nvSpPr>
        <p:spPr>
          <a:xfrm>
            <a:off x="5760720" y="4197096"/>
            <a:ext cx="219456" cy="219456"/>
          </a:xfrm>
          <a:prstGeom prst="ellipse">
            <a:avLst/>
          </a:prstGeom>
          <a:solidFill>
            <a:srgbClr val="06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760720" y="4206240"/>
            <a:ext cx="219456" cy="201168"/>
          </a:xfrm>
          <a:prstGeom prst="rect">
            <a:avLst/>
          </a:prstGeom>
          <a:noFill/>
        </p:spPr>
        <p:txBody>
          <a:bodyPr wrap="square" lIns="27432" rIns="27432" tIns="27432" bIns="27432" anchor="ctr">
            <a:spAutoFit/>
          </a:bodyPr>
          <a:lstStyle/>
          <a:p>
            <a:pPr algn="ctr"/>
          </a:p>
        </p:txBody>
      </p:sp>
      <p:sp>
        <p:nvSpPr>
          <p:cNvPr id="39" name="Oval 38"/>
          <p:cNvSpPr/>
          <p:nvPr/>
        </p:nvSpPr>
        <p:spPr>
          <a:xfrm>
            <a:off x="5824728" y="4288536"/>
            <a:ext cx="82296" cy="82296"/>
          </a:xfrm>
          <a:prstGeom prst="ellipse">
            <a:avLst/>
          </a:prstGeom>
          <a:solidFill>
            <a:srgbClr val="06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108192" y="4178808"/>
            <a:ext cx="4818888" cy="475488"/>
          </a:xfrm>
          <a:prstGeom prst="rect">
            <a:avLst/>
          </a:prstGeom>
          <a:noFill/>
        </p:spPr>
        <p:txBody>
          <a:bodyPr wrap="square" lIns="27432" rIns="27432" tIns="27432" bIns="27432" anchor="ctr">
            <a:spAutoFit/>
          </a:bodyPr>
          <a:lstStyle/>
          <a:p>
            <a:pPr algn="l"/>
            <a:r>
              <a:rPr sz="1320" b="0">
                <a:solidFill>
                  <a:srgbClr val="17243B"/>
                </a:solidFill>
                <a:latin typeface="Aptos"/>
              </a:rPr>
              <a:t>Opportunités automatiquement priorisées</a:t>
            </a:r>
          </a:p>
        </p:txBody>
      </p:sp>
      <p:sp>
        <p:nvSpPr>
          <p:cNvPr id="41" name="Oval 40"/>
          <p:cNvSpPr/>
          <p:nvPr/>
        </p:nvSpPr>
        <p:spPr>
          <a:xfrm>
            <a:off x="5760720" y="4672583"/>
            <a:ext cx="219456" cy="219456"/>
          </a:xfrm>
          <a:prstGeom prst="ellipse">
            <a:avLst/>
          </a:prstGeom>
          <a:solidFill>
            <a:srgbClr val="06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760720" y="4681727"/>
            <a:ext cx="219456" cy="201168"/>
          </a:xfrm>
          <a:prstGeom prst="rect">
            <a:avLst/>
          </a:prstGeom>
          <a:noFill/>
        </p:spPr>
        <p:txBody>
          <a:bodyPr wrap="square" lIns="27432" rIns="27432" tIns="27432" bIns="27432" anchor="ctr">
            <a:spAutoFit/>
          </a:bodyPr>
          <a:lstStyle/>
          <a:p>
            <a:pPr algn="ctr"/>
          </a:p>
        </p:txBody>
      </p:sp>
      <p:sp>
        <p:nvSpPr>
          <p:cNvPr id="43" name="Oval 42"/>
          <p:cNvSpPr/>
          <p:nvPr/>
        </p:nvSpPr>
        <p:spPr>
          <a:xfrm>
            <a:off x="5824728" y="4764024"/>
            <a:ext cx="82296" cy="82296"/>
          </a:xfrm>
          <a:prstGeom prst="ellipse">
            <a:avLst/>
          </a:prstGeom>
          <a:solidFill>
            <a:srgbClr val="06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108192" y="4654296"/>
            <a:ext cx="4818888" cy="475488"/>
          </a:xfrm>
          <a:prstGeom prst="rect">
            <a:avLst/>
          </a:prstGeom>
          <a:noFill/>
        </p:spPr>
        <p:txBody>
          <a:bodyPr wrap="square" lIns="27432" rIns="27432" tIns="27432" bIns="27432" anchor="ctr">
            <a:spAutoFit/>
          </a:bodyPr>
          <a:lstStyle/>
          <a:p>
            <a:pPr algn="l"/>
            <a:r>
              <a:rPr sz="1320" b="0">
                <a:solidFill>
                  <a:srgbClr val="17243B"/>
                </a:solidFill>
                <a:latin typeface="Aptos"/>
              </a:rPr>
              <a:t>Sources et échéances visibles</a:t>
            </a:r>
          </a:p>
        </p:txBody>
      </p:sp>
      <p:sp>
        <p:nvSpPr>
          <p:cNvPr id="45" name="Oval 44"/>
          <p:cNvSpPr/>
          <p:nvPr/>
        </p:nvSpPr>
        <p:spPr>
          <a:xfrm>
            <a:off x="5760720" y="5148071"/>
            <a:ext cx="219456" cy="219456"/>
          </a:xfrm>
          <a:prstGeom prst="ellipse">
            <a:avLst/>
          </a:prstGeom>
          <a:solidFill>
            <a:srgbClr val="06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760720" y="5157215"/>
            <a:ext cx="219456" cy="201168"/>
          </a:xfrm>
          <a:prstGeom prst="rect">
            <a:avLst/>
          </a:prstGeom>
          <a:noFill/>
        </p:spPr>
        <p:txBody>
          <a:bodyPr wrap="square" lIns="27432" rIns="27432" tIns="27432" bIns="27432" anchor="ctr">
            <a:spAutoFit/>
          </a:bodyPr>
          <a:lstStyle/>
          <a:p>
            <a:pPr algn="ctr"/>
          </a:p>
        </p:txBody>
      </p:sp>
      <p:sp>
        <p:nvSpPr>
          <p:cNvPr id="47" name="Oval 46"/>
          <p:cNvSpPr/>
          <p:nvPr/>
        </p:nvSpPr>
        <p:spPr>
          <a:xfrm>
            <a:off x="5824728" y="5239512"/>
            <a:ext cx="82296" cy="82296"/>
          </a:xfrm>
          <a:prstGeom prst="ellipse">
            <a:avLst/>
          </a:prstGeom>
          <a:solidFill>
            <a:srgbClr val="06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108192" y="5129783"/>
            <a:ext cx="4818888" cy="475488"/>
          </a:xfrm>
          <a:prstGeom prst="rect">
            <a:avLst/>
          </a:prstGeom>
          <a:noFill/>
        </p:spPr>
        <p:txBody>
          <a:bodyPr wrap="square" lIns="27432" rIns="27432" tIns="27432" bIns="27432" anchor="ctr">
            <a:spAutoFit/>
          </a:bodyPr>
          <a:lstStyle/>
          <a:p>
            <a:pPr algn="l"/>
            <a:r>
              <a:rPr sz="1320" b="0">
                <a:solidFill>
                  <a:srgbClr val="17243B"/>
                </a:solidFill>
                <a:latin typeface="Aptos"/>
              </a:rPr>
              <a:t>Recommandation Go/No-Go traçable</a:t>
            </a:r>
          </a:p>
        </p:txBody>
      </p:sp>
      <p:sp>
        <p:nvSpPr>
          <p:cNvPr id="49" name="Rounded Rectangle 48"/>
          <p:cNvSpPr/>
          <p:nvPr/>
        </p:nvSpPr>
        <p:spPr>
          <a:xfrm>
            <a:off x="8348472" y="5541264"/>
            <a:ext cx="2715768" cy="292608"/>
          </a:xfrm>
          <a:prstGeom prst="roundRect">
            <a:avLst/>
          </a:prstGeom>
          <a:solidFill>
            <a:srgbClr val="E8F8F2"/>
          </a:solidFill>
          <a:ln w="6350">
            <a:solidFill>
              <a:srgbClr val="E8F8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394192" y="5550407"/>
            <a:ext cx="2624328" cy="246888"/>
          </a:xfrm>
          <a:prstGeom prst="rect">
            <a:avLst/>
          </a:prstGeom>
          <a:noFill/>
        </p:spPr>
        <p:txBody>
          <a:bodyPr wrap="square" lIns="27432" rIns="27432" tIns="27432" bIns="27432" anchor="ctr">
            <a:spAutoFit/>
          </a:bodyPr>
          <a:lstStyle/>
          <a:p>
            <a:pPr algn="ctr"/>
            <a:r>
              <a:rPr sz="950" b="1">
                <a:solidFill>
                  <a:srgbClr val="28B487"/>
                </a:solidFill>
                <a:latin typeface="Aptos"/>
              </a:rPr>
              <a:t>De la publication au dossier analysé</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ounded Rectangle 1"/>
          <p:cNvSpPr/>
          <p:nvPr/>
        </p:nvSpPr>
        <p:spPr>
          <a:xfrm>
            <a:off x="621792" y="384048"/>
            <a:ext cx="1437436" cy="292608"/>
          </a:xfrm>
          <a:prstGeom prst="roundRect">
            <a:avLst/>
          </a:prstGeom>
          <a:solidFill>
            <a:srgbClr val="E4F8FA"/>
          </a:solidFill>
          <a:ln w="6350">
            <a:solidFill>
              <a:srgbClr val="E4F8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67512" y="393192"/>
            <a:ext cx="1345996" cy="246888"/>
          </a:xfrm>
          <a:prstGeom prst="rect">
            <a:avLst/>
          </a:prstGeom>
          <a:noFill/>
        </p:spPr>
        <p:txBody>
          <a:bodyPr wrap="square" lIns="27432" rIns="27432" tIns="27432" bIns="27432" anchor="ctr">
            <a:spAutoFit/>
          </a:bodyPr>
          <a:lstStyle/>
          <a:p>
            <a:pPr algn="ctr"/>
            <a:r>
              <a:rPr sz="950" b="1">
                <a:solidFill>
                  <a:srgbClr val="06A6B5"/>
                </a:solidFill>
                <a:latin typeface="Aptos"/>
              </a:rPr>
              <a:t>MISSION RÉALISÉE</a:t>
            </a:r>
          </a:p>
        </p:txBody>
      </p:sp>
      <p:sp>
        <p:nvSpPr>
          <p:cNvPr id="4" name="TextBox 3"/>
          <p:cNvSpPr txBox="1"/>
          <p:nvPr/>
        </p:nvSpPr>
        <p:spPr>
          <a:xfrm>
            <a:off x="621792" y="795528"/>
            <a:ext cx="10972800" cy="530352"/>
          </a:xfrm>
          <a:prstGeom prst="rect">
            <a:avLst/>
          </a:prstGeom>
          <a:noFill/>
        </p:spPr>
        <p:txBody>
          <a:bodyPr wrap="square" lIns="27432" rIns="27432" tIns="27432" bIns="27432" anchor="t">
            <a:spAutoFit/>
          </a:bodyPr>
          <a:lstStyle/>
          <a:p>
            <a:pPr algn="l"/>
            <a:r>
              <a:rPr sz="2850" b="1">
                <a:solidFill>
                  <a:srgbClr val="0B1F3A"/>
                </a:solidFill>
                <a:latin typeface="Aptos Display"/>
              </a:rPr>
              <a:t>Six capacités livrées de bout en bout</a:t>
            </a:r>
          </a:p>
        </p:txBody>
      </p:sp>
      <p:sp>
        <p:nvSpPr>
          <p:cNvPr id="5" name="Rectangle 4"/>
          <p:cNvSpPr/>
          <p:nvPr/>
        </p:nvSpPr>
        <p:spPr>
          <a:xfrm>
            <a:off x="621792" y="1380744"/>
            <a:ext cx="10972800" cy="22860"/>
          </a:xfrm>
          <a:prstGeom prst="rect">
            <a:avLst/>
          </a:prstGeom>
          <a:solidFill>
            <a:srgbClr val="DCE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6519672"/>
            <a:ext cx="4937760" cy="164592"/>
          </a:xfrm>
          <a:prstGeom prst="rect">
            <a:avLst/>
          </a:prstGeom>
          <a:noFill/>
        </p:spPr>
        <p:txBody>
          <a:bodyPr wrap="square" lIns="27432" rIns="27432" tIns="27432" bIns="27432" anchor="t">
            <a:spAutoFit/>
          </a:bodyPr>
          <a:lstStyle/>
          <a:p>
            <a:pPr algn="l"/>
            <a:r>
              <a:rPr sz="840" b="1">
                <a:solidFill>
                  <a:srgbClr val="8A98AA"/>
                </a:solidFill>
                <a:latin typeface="Aptos"/>
              </a:rPr>
              <a:t>ONE TECH BUSINESS SOLUTIONS  ·  CY TECH</a:t>
            </a:r>
          </a:p>
        </p:txBody>
      </p:sp>
      <p:sp>
        <p:nvSpPr>
          <p:cNvPr id="7" name="TextBox 6"/>
          <p:cNvSpPr txBox="1"/>
          <p:nvPr/>
        </p:nvSpPr>
        <p:spPr>
          <a:xfrm>
            <a:off x="8321040" y="6519672"/>
            <a:ext cx="3063240" cy="164592"/>
          </a:xfrm>
          <a:prstGeom prst="rect">
            <a:avLst/>
          </a:prstGeom>
          <a:noFill/>
        </p:spPr>
        <p:txBody>
          <a:bodyPr wrap="square" lIns="27432" rIns="27432" tIns="27432" bIns="27432" anchor="t">
            <a:spAutoFit/>
          </a:bodyPr>
          <a:lstStyle/>
          <a:p>
            <a:pPr algn="r"/>
            <a:r>
              <a:rPr sz="840" b="1">
                <a:solidFill>
                  <a:srgbClr val="8A98AA"/>
                </a:solidFill>
                <a:latin typeface="Aptos"/>
              </a:rPr>
              <a:t>MISSION RÉALISÉE</a:t>
            </a:r>
          </a:p>
        </p:txBody>
      </p:sp>
      <p:sp>
        <p:nvSpPr>
          <p:cNvPr id="8" name="Oval 7"/>
          <p:cNvSpPr/>
          <p:nvPr/>
        </p:nvSpPr>
        <p:spPr>
          <a:xfrm>
            <a:off x="11466576" y="6428232"/>
            <a:ext cx="256032" cy="256032"/>
          </a:xfrm>
          <a:prstGeom prst="ellipse">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66576" y="6437376"/>
            <a:ext cx="256032" cy="237744"/>
          </a:xfrm>
          <a:prstGeom prst="rect">
            <a:avLst/>
          </a:prstGeom>
          <a:noFill/>
        </p:spPr>
        <p:txBody>
          <a:bodyPr wrap="square" lIns="27432" rIns="27432" tIns="27432" bIns="27432" anchor="ctr">
            <a:spAutoFit/>
          </a:bodyPr>
          <a:lstStyle/>
          <a:p>
            <a:pPr algn="ctr"/>
            <a:r>
              <a:rPr sz="850" b="1">
                <a:solidFill>
                  <a:srgbClr val="FFFFFF"/>
                </a:solidFill>
                <a:latin typeface="Aptos"/>
              </a:rPr>
              <a:t>4</a:t>
            </a:r>
          </a:p>
        </p:txBody>
      </p:sp>
      <p:sp>
        <p:nvSpPr>
          <p:cNvPr id="10" name="Rounded Rectangle 9"/>
          <p:cNvSpPr/>
          <p:nvPr/>
        </p:nvSpPr>
        <p:spPr>
          <a:xfrm>
            <a:off x="658368" y="1682496"/>
            <a:ext cx="3502152" cy="1115568"/>
          </a:xfrm>
          <a:prstGeom prst="roundRect">
            <a:avLst/>
          </a:prstGeom>
          <a:solidFill>
            <a:srgbClr val="FFFFFF"/>
          </a:solidFill>
          <a:ln w="12700">
            <a:solidFill>
              <a:srgbClr val="DCE4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1682496"/>
            <a:ext cx="64008" cy="1115568"/>
          </a:xfrm>
          <a:prstGeom prst="rect">
            <a:avLst/>
          </a:prstGeom>
          <a:solidFill>
            <a:srgbClr val="2D6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59536" y="1847088"/>
            <a:ext cx="347472" cy="347472"/>
          </a:xfrm>
          <a:prstGeom prst="ellipse">
            <a:avLst/>
          </a:prstGeom>
          <a:solidFill>
            <a:srgbClr val="2D6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1856231"/>
            <a:ext cx="347472" cy="329184"/>
          </a:xfrm>
          <a:prstGeom prst="rect">
            <a:avLst/>
          </a:prstGeom>
          <a:noFill/>
        </p:spPr>
        <p:txBody>
          <a:bodyPr wrap="square" lIns="27432" rIns="27432" tIns="27432" bIns="27432" anchor="ctr">
            <a:spAutoFit/>
          </a:bodyPr>
          <a:lstStyle/>
          <a:p>
            <a:pPr algn="ctr"/>
            <a:r>
              <a:rPr sz="1000" b="1">
                <a:solidFill>
                  <a:srgbClr val="FFFFFF"/>
                </a:solidFill>
                <a:latin typeface="Aptos"/>
              </a:rPr>
              <a:t>1</a:t>
            </a:r>
          </a:p>
        </p:txBody>
      </p:sp>
      <p:sp>
        <p:nvSpPr>
          <p:cNvPr id="14" name="TextBox 13"/>
          <p:cNvSpPr txBox="1"/>
          <p:nvPr/>
        </p:nvSpPr>
        <p:spPr>
          <a:xfrm>
            <a:off x="1316736" y="1837944"/>
            <a:ext cx="2679192" cy="301752"/>
          </a:xfrm>
          <a:prstGeom prst="rect">
            <a:avLst/>
          </a:prstGeom>
          <a:noFill/>
        </p:spPr>
        <p:txBody>
          <a:bodyPr wrap="square" lIns="27432" rIns="27432" tIns="27432" bIns="27432" anchor="ctr">
            <a:spAutoFit/>
          </a:bodyPr>
          <a:lstStyle/>
          <a:p>
            <a:pPr algn="l"/>
            <a:r>
              <a:rPr sz="1450" b="1">
                <a:solidFill>
                  <a:srgbClr val="17243B"/>
                </a:solidFill>
                <a:latin typeface="Aptos"/>
              </a:rPr>
              <a:t>Collecter</a:t>
            </a:r>
          </a:p>
        </p:txBody>
      </p:sp>
      <p:sp>
        <p:nvSpPr>
          <p:cNvPr id="15" name="TextBox 14"/>
          <p:cNvSpPr txBox="1"/>
          <p:nvPr/>
        </p:nvSpPr>
        <p:spPr>
          <a:xfrm>
            <a:off x="868680" y="2212848"/>
            <a:ext cx="3118104" cy="484632"/>
          </a:xfrm>
          <a:prstGeom prst="rect">
            <a:avLst/>
          </a:prstGeom>
          <a:noFill/>
        </p:spPr>
        <p:txBody>
          <a:bodyPr wrap="square" lIns="27432" rIns="27432" tIns="27432" bIns="27432" anchor="t">
            <a:spAutoFit/>
          </a:bodyPr>
          <a:lstStyle/>
          <a:p>
            <a:pPr algn="l">
              <a:lnSpc>
                <a:spcPct val="100000"/>
              </a:lnSpc>
            </a:pPr>
            <a:r>
              <a:rPr sz="1080" b="0">
                <a:solidFill>
                  <a:srgbClr val="66758A"/>
                </a:solidFill>
                <a:latin typeface="Aptos"/>
              </a:rPr>
              <a:t>Données et documents publics HAICOP</a:t>
            </a:r>
          </a:p>
        </p:txBody>
      </p:sp>
      <p:sp>
        <p:nvSpPr>
          <p:cNvPr id="16" name="Rounded Rectangle 15"/>
          <p:cNvSpPr/>
          <p:nvPr/>
        </p:nvSpPr>
        <p:spPr>
          <a:xfrm>
            <a:off x="4480559" y="1682496"/>
            <a:ext cx="3502152" cy="1115568"/>
          </a:xfrm>
          <a:prstGeom prst="roundRect">
            <a:avLst/>
          </a:prstGeom>
          <a:solidFill>
            <a:srgbClr val="FFFFFF"/>
          </a:solidFill>
          <a:ln w="12700">
            <a:solidFill>
              <a:srgbClr val="DCE4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59" y="1682496"/>
            <a:ext cx="64008" cy="1115568"/>
          </a:xfrm>
          <a:prstGeom prst="rect">
            <a:avLst/>
          </a:prstGeom>
          <a:solidFill>
            <a:srgbClr val="06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4681727" y="1847088"/>
            <a:ext cx="347472" cy="347472"/>
          </a:xfrm>
          <a:prstGeom prst="ellipse">
            <a:avLst/>
          </a:prstGeom>
          <a:solidFill>
            <a:srgbClr val="06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81727" y="1856231"/>
            <a:ext cx="347472" cy="329184"/>
          </a:xfrm>
          <a:prstGeom prst="rect">
            <a:avLst/>
          </a:prstGeom>
          <a:noFill/>
        </p:spPr>
        <p:txBody>
          <a:bodyPr wrap="square" lIns="27432" rIns="27432" tIns="27432" bIns="27432" anchor="ctr">
            <a:spAutoFit/>
          </a:bodyPr>
          <a:lstStyle/>
          <a:p>
            <a:pPr algn="ctr"/>
            <a:r>
              <a:rPr sz="1000" b="1">
                <a:solidFill>
                  <a:srgbClr val="FFFFFF"/>
                </a:solidFill>
                <a:latin typeface="Aptos"/>
              </a:rPr>
              <a:t>2</a:t>
            </a:r>
          </a:p>
        </p:txBody>
      </p:sp>
      <p:sp>
        <p:nvSpPr>
          <p:cNvPr id="20" name="TextBox 19"/>
          <p:cNvSpPr txBox="1"/>
          <p:nvPr/>
        </p:nvSpPr>
        <p:spPr>
          <a:xfrm>
            <a:off x="5138927" y="1837944"/>
            <a:ext cx="2679192" cy="301752"/>
          </a:xfrm>
          <a:prstGeom prst="rect">
            <a:avLst/>
          </a:prstGeom>
          <a:noFill/>
        </p:spPr>
        <p:txBody>
          <a:bodyPr wrap="square" lIns="27432" rIns="27432" tIns="27432" bIns="27432" anchor="ctr">
            <a:spAutoFit/>
          </a:bodyPr>
          <a:lstStyle/>
          <a:p>
            <a:pPr algn="l"/>
            <a:r>
              <a:rPr sz="1450" b="1">
                <a:solidFill>
                  <a:srgbClr val="17243B"/>
                </a:solidFill>
                <a:latin typeface="Aptos"/>
              </a:rPr>
              <a:t>Structurer</a:t>
            </a:r>
          </a:p>
        </p:txBody>
      </p:sp>
      <p:sp>
        <p:nvSpPr>
          <p:cNvPr id="21" name="TextBox 20"/>
          <p:cNvSpPr txBox="1"/>
          <p:nvPr/>
        </p:nvSpPr>
        <p:spPr>
          <a:xfrm>
            <a:off x="4690872" y="2212848"/>
            <a:ext cx="3118104" cy="484632"/>
          </a:xfrm>
          <a:prstGeom prst="rect">
            <a:avLst/>
          </a:prstGeom>
          <a:noFill/>
        </p:spPr>
        <p:txBody>
          <a:bodyPr wrap="square" lIns="27432" rIns="27432" tIns="27432" bIns="27432" anchor="t">
            <a:spAutoFit/>
          </a:bodyPr>
          <a:lstStyle/>
          <a:p>
            <a:pPr algn="l">
              <a:lnSpc>
                <a:spcPct val="100000"/>
              </a:lnSpc>
            </a:pPr>
            <a:r>
              <a:rPr sz="1080" b="0">
                <a:solidFill>
                  <a:srgbClr val="66758A"/>
                </a:solidFill>
                <a:latin typeface="Aptos"/>
              </a:rPr>
              <a:t>PostgreSQL, JSONB et anti-doublon</a:t>
            </a:r>
          </a:p>
        </p:txBody>
      </p:sp>
      <p:sp>
        <p:nvSpPr>
          <p:cNvPr id="22" name="Rounded Rectangle 21"/>
          <p:cNvSpPr/>
          <p:nvPr/>
        </p:nvSpPr>
        <p:spPr>
          <a:xfrm>
            <a:off x="8302752" y="1682496"/>
            <a:ext cx="3502152" cy="1115568"/>
          </a:xfrm>
          <a:prstGeom prst="roundRect">
            <a:avLst/>
          </a:prstGeom>
          <a:solidFill>
            <a:srgbClr val="FFFFFF"/>
          </a:solidFill>
          <a:ln w="12700">
            <a:solidFill>
              <a:srgbClr val="DCE4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302752" y="1682496"/>
            <a:ext cx="64008" cy="1115568"/>
          </a:xfrm>
          <a:prstGeom prst="rect">
            <a:avLst/>
          </a:prstGeom>
          <a:solidFill>
            <a:srgbClr val="7165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503920" y="1847088"/>
            <a:ext cx="347472" cy="347472"/>
          </a:xfrm>
          <a:prstGeom prst="ellipse">
            <a:avLst/>
          </a:prstGeom>
          <a:solidFill>
            <a:srgbClr val="7165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03920" y="1856231"/>
            <a:ext cx="347472" cy="329184"/>
          </a:xfrm>
          <a:prstGeom prst="rect">
            <a:avLst/>
          </a:prstGeom>
          <a:noFill/>
        </p:spPr>
        <p:txBody>
          <a:bodyPr wrap="square" lIns="27432" rIns="27432" tIns="27432" bIns="27432" anchor="ctr">
            <a:spAutoFit/>
          </a:bodyPr>
          <a:lstStyle/>
          <a:p>
            <a:pPr algn="ctr"/>
            <a:r>
              <a:rPr sz="1000" b="1">
                <a:solidFill>
                  <a:srgbClr val="FFFFFF"/>
                </a:solidFill>
                <a:latin typeface="Aptos"/>
              </a:rPr>
              <a:t>3</a:t>
            </a:r>
          </a:p>
        </p:txBody>
      </p:sp>
      <p:sp>
        <p:nvSpPr>
          <p:cNvPr id="26" name="TextBox 25"/>
          <p:cNvSpPr txBox="1"/>
          <p:nvPr/>
        </p:nvSpPr>
        <p:spPr>
          <a:xfrm>
            <a:off x="8961120" y="1837944"/>
            <a:ext cx="2679191" cy="301752"/>
          </a:xfrm>
          <a:prstGeom prst="rect">
            <a:avLst/>
          </a:prstGeom>
          <a:noFill/>
        </p:spPr>
        <p:txBody>
          <a:bodyPr wrap="square" lIns="27432" rIns="27432" tIns="27432" bIns="27432" anchor="ctr">
            <a:spAutoFit/>
          </a:bodyPr>
          <a:lstStyle/>
          <a:p>
            <a:pPr algn="l"/>
            <a:r>
              <a:rPr sz="1450" b="1">
                <a:solidFill>
                  <a:srgbClr val="17243B"/>
                </a:solidFill>
                <a:latin typeface="Aptos"/>
              </a:rPr>
              <a:t>Extraire</a:t>
            </a:r>
          </a:p>
        </p:txBody>
      </p:sp>
      <p:sp>
        <p:nvSpPr>
          <p:cNvPr id="27" name="TextBox 26"/>
          <p:cNvSpPr txBox="1"/>
          <p:nvPr/>
        </p:nvSpPr>
        <p:spPr>
          <a:xfrm>
            <a:off x="8513064" y="2212848"/>
            <a:ext cx="3118104" cy="484632"/>
          </a:xfrm>
          <a:prstGeom prst="rect">
            <a:avLst/>
          </a:prstGeom>
          <a:noFill/>
        </p:spPr>
        <p:txBody>
          <a:bodyPr wrap="square" lIns="27432" rIns="27432" tIns="27432" bIns="27432" anchor="t">
            <a:spAutoFit/>
          </a:bodyPr>
          <a:lstStyle/>
          <a:p>
            <a:pPr algn="l">
              <a:lnSpc>
                <a:spcPct val="100000"/>
              </a:lnSpc>
            </a:pPr>
            <a:r>
              <a:rPr sz="1080" b="0">
                <a:solidFill>
                  <a:srgbClr val="66758A"/>
                </a:solidFill>
                <a:latin typeface="Aptos"/>
              </a:rPr>
              <a:t>PDF, DOCX, DOC, scans et images</a:t>
            </a:r>
          </a:p>
        </p:txBody>
      </p:sp>
      <p:sp>
        <p:nvSpPr>
          <p:cNvPr id="28" name="Rounded Rectangle 27"/>
          <p:cNvSpPr/>
          <p:nvPr/>
        </p:nvSpPr>
        <p:spPr>
          <a:xfrm>
            <a:off x="658368" y="3026664"/>
            <a:ext cx="3502152" cy="1115568"/>
          </a:xfrm>
          <a:prstGeom prst="roundRect">
            <a:avLst/>
          </a:prstGeom>
          <a:solidFill>
            <a:srgbClr val="FFFFFF"/>
          </a:solidFill>
          <a:ln w="12700">
            <a:solidFill>
              <a:srgbClr val="DCE4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58368" y="3026664"/>
            <a:ext cx="64008" cy="1115568"/>
          </a:xfrm>
          <a:prstGeom prst="rect">
            <a:avLst/>
          </a:prstGeom>
          <a:solidFill>
            <a:srgbClr val="28B4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59536" y="3191256"/>
            <a:ext cx="347472" cy="347472"/>
          </a:xfrm>
          <a:prstGeom prst="ellipse">
            <a:avLst/>
          </a:prstGeom>
          <a:solidFill>
            <a:srgbClr val="28B4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9536" y="3200400"/>
            <a:ext cx="347472" cy="329184"/>
          </a:xfrm>
          <a:prstGeom prst="rect">
            <a:avLst/>
          </a:prstGeom>
          <a:noFill/>
        </p:spPr>
        <p:txBody>
          <a:bodyPr wrap="square" lIns="27432" rIns="27432" tIns="27432" bIns="27432" anchor="ctr">
            <a:spAutoFit/>
          </a:bodyPr>
          <a:lstStyle/>
          <a:p>
            <a:pPr algn="ctr"/>
            <a:r>
              <a:rPr sz="1000" b="1">
                <a:solidFill>
                  <a:srgbClr val="FFFFFF"/>
                </a:solidFill>
                <a:latin typeface="Aptos"/>
              </a:rPr>
              <a:t>4</a:t>
            </a:r>
          </a:p>
        </p:txBody>
      </p:sp>
      <p:sp>
        <p:nvSpPr>
          <p:cNvPr id="32" name="TextBox 31"/>
          <p:cNvSpPr txBox="1"/>
          <p:nvPr/>
        </p:nvSpPr>
        <p:spPr>
          <a:xfrm>
            <a:off x="1316736" y="3182112"/>
            <a:ext cx="2679192" cy="301752"/>
          </a:xfrm>
          <a:prstGeom prst="rect">
            <a:avLst/>
          </a:prstGeom>
          <a:noFill/>
        </p:spPr>
        <p:txBody>
          <a:bodyPr wrap="square" lIns="27432" rIns="27432" tIns="27432" bIns="27432" anchor="ctr">
            <a:spAutoFit/>
          </a:bodyPr>
          <a:lstStyle/>
          <a:p>
            <a:pPr algn="l"/>
            <a:r>
              <a:rPr sz="1450" b="1">
                <a:solidFill>
                  <a:srgbClr val="17243B"/>
                </a:solidFill>
                <a:latin typeface="Aptos"/>
              </a:rPr>
              <a:t>Analyser</a:t>
            </a:r>
          </a:p>
        </p:txBody>
      </p:sp>
      <p:sp>
        <p:nvSpPr>
          <p:cNvPr id="33" name="TextBox 32"/>
          <p:cNvSpPr txBox="1"/>
          <p:nvPr/>
        </p:nvSpPr>
        <p:spPr>
          <a:xfrm>
            <a:off x="868680" y="3557016"/>
            <a:ext cx="3118104" cy="484632"/>
          </a:xfrm>
          <a:prstGeom prst="rect">
            <a:avLst/>
          </a:prstGeom>
          <a:noFill/>
        </p:spPr>
        <p:txBody>
          <a:bodyPr wrap="square" lIns="27432" rIns="27432" tIns="27432" bIns="27432" anchor="t">
            <a:spAutoFit/>
          </a:bodyPr>
          <a:lstStyle/>
          <a:p>
            <a:pPr algn="l">
              <a:lnSpc>
                <a:spcPct val="100000"/>
              </a:lnSpc>
            </a:pPr>
            <a:r>
              <a:rPr sz="1080" b="0">
                <a:solidFill>
                  <a:srgbClr val="66758A"/>
                </a:solidFill>
                <a:latin typeface="Aptos"/>
              </a:rPr>
              <a:t>Fiche Go/No-Go sourcée et persistée</a:t>
            </a:r>
          </a:p>
        </p:txBody>
      </p:sp>
      <p:sp>
        <p:nvSpPr>
          <p:cNvPr id="34" name="Rounded Rectangle 33"/>
          <p:cNvSpPr/>
          <p:nvPr/>
        </p:nvSpPr>
        <p:spPr>
          <a:xfrm>
            <a:off x="4480559" y="3026664"/>
            <a:ext cx="3502152" cy="1115568"/>
          </a:xfrm>
          <a:prstGeom prst="roundRect">
            <a:avLst/>
          </a:prstGeom>
          <a:solidFill>
            <a:srgbClr val="FFFFFF"/>
          </a:solidFill>
          <a:ln w="12700">
            <a:solidFill>
              <a:srgbClr val="DCE4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480559" y="3026664"/>
            <a:ext cx="64008" cy="111556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4681727" y="3191256"/>
            <a:ext cx="347472" cy="347472"/>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681727" y="3200400"/>
            <a:ext cx="347472" cy="329184"/>
          </a:xfrm>
          <a:prstGeom prst="rect">
            <a:avLst/>
          </a:prstGeom>
          <a:noFill/>
        </p:spPr>
        <p:txBody>
          <a:bodyPr wrap="square" lIns="27432" rIns="27432" tIns="27432" bIns="27432" anchor="ctr">
            <a:spAutoFit/>
          </a:bodyPr>
          <a:lstStyle/>
          <a:p>
            <a:pPr algn="ctr"/>
            <a:r>
              <a:rPr sz="1000" b="1">
                <a:solidFill>
                  <a:srgbClr val="FFFFFF"/>
                </a:solidFill>
                <a:latin typeface="Aptos"/>
              </a:rPr>
              <a:t>5</a:t>
            </a:r>
          </a:p>
        </p:txBody>
      </p:sp>
      <p:sp>
        <p:nvSpPr>
          <p:cNvPr id="38" name="TextBox 37"/>
          <p:cNvSpPr txBox="1"/>
          <p:nvPr/>
        </p:nvSpPr>
        <p:spPr>
          <a:xfrm>
            <a:off x="5138927" y="3182112"/>
            <a:ext cx="2679192" cy="301752"/>
          </a:xfrm>
          <a:prstGeom prst="rect">
            <a:avLst/>
          </a:prstGeom>
          <a:noFill/>
        </p:spPr>
        <p:txBody>
          <a:bodyPr wrap="square" lIns="27432" rIns="27432" tIns="27432" bIns="27432" anchor="ctr">
            <a:spAutoFit/>
          </a:bodyPr>
          <a:lstStyle/>
          <a:p>
            <a:pPr algn="l"/>
            <a:r>
              <a:rPr sz="1450" b="1">
                <a:solidFill>
                  <a:srgbClr val="17243B"/>
                </a:solidFill>
                <a:latin typeface="Aptos"/>
              </a:rPr>
              <a:t>Automatiser</a:t>
            </a:r>
          </a:p>
        </p:txBody>
      </p:sp>
      <p:sp>
        <p:nvSpPr>
          <p:cNvPr id="39" name="TextBox 38"/>
          <p:cNvSpPr txBox="1"/>
          <p:nvPr/>
        </p:nvSpPr>
        <p:spPr>
          <a:xfrm>
            <a:off x="4690872" y="3557016"/>
            <a:ext cx="3118104" cy="484632"/>
          </a:xfrm>
          <a:prstGeom prst="rect">
            <a:avLst/>
          </a:prstGeom>
          <a:noFill/>
        </p:spPr>
        <p:txBody>
          <a:bodyPr wrap="square" lIns="27432" rIns="27432" tIns="27432" bIns="27432" anchor="t">
            <a:spAutoFit/>
          </a:bodyPr>
          <a:lstStyle/>
          <a:p>
            <a:pPr algn="l">
              <a:lnSpc>
                <a:spcPct val="100000"/>
              </a:lnSpc>
            </a:pPr>
            <a:r>
              <a:rPr sz="1080" b="0">
                <a:solidFill>
                  <a:srgbClr val="66758A"/>
                </a:solidFill>
                <a:latin typeface="Aptos"/>
              </a:rPr>
              <a:t>Digest quotidien Gmail et Telegram</a:t>
            </a:r>
          </a:p>
        </p:txBody>
      </p:sp>
      <p:sp>
        <p:nvSpPr>
          <p:cNvPr id="40" name="Rounded Rectangle 39"/>
          <p:cNvSpPr/>
          <p:nvPr/>
        </p:nvSpPr>
        <p:spPr>
          <a:xfrm>
            <a:off x="8302752" y="3026664"/>
            <a:ext cx="3502152" cy="1115568"/>
          </a:xfrm>
          <a:prstGeom prst="roundRect">
            <a:avLst/>
          </a:prstGeom>
          <a:solidFill>
            <a:srgbClr val="FFFFFF"/>
          </a:solidFill>
          <a:ln w="12700">
            <a:solidFill>
              <a:srgbClr val="DCE4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8302752" y="3026664"/>
            <a:ext cx="64008" cy="1115568"/>
          </a:xfrm>
          <a:prstGeom prst="rect">
            <a:avLst/>
          </a:prstGeom>
          <a:solidFill>
            <a:srgbClr val="2D6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8503920" y="3191256"/>
            <a:ext cx="347472" cy="347472"/>
          </a:xfrm>
          <a:prstGeom prst="ellipse">
            <a:avLst/>
          </a:prstGeom>
          <a:solidFill>
            <a:srgbClr val="2D6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503920" y="3200400"/>
            <a:ext cx="347472" cy="329184"/>
          </a:xfrm>
          <a:prstGeom prst="rect">
            <a:avLst/>
          </a:prstGeom>
          <a:noFill/>
        </p:spPr>
        <p:txBody>
          <a:bodyPr wrap="square" lIns="27432" rIns="27432" tIns="27432" bIns="27432" anchor="ctr">
            <a:spAutoFit/>
          </a:bodyPr>
          <a:lstStyle/>
          <a:p>
            <a:pPr algn="ctr"/>
            <a:r>
              <a:rPr sz="1000" b="1">
                <a:solidFill>
                  <a:srgbClr val="FFFFFF"/>
                </a:solidFill>
                <a:latin typeface="Aptos"/>
              </a:rPr>
              <a:t>6</a:t>
            </a:r>
          </a:p>
        </p:txBody>
      </p:sp>
      <p:sp>
        <p:nvSpPr>
          <p:cNvPr id="44" name="TextBox 43"/>
          <p:cNvSpPr txBox="1"/>
          <p:nvPr/>
        </p:nvSpPr>
        <p:spPr>
          <a:xfrm>
            <a:off x="8961120" y="3182112"/>
            <a:ext cx="2679191" cy="301752"/>
          </a:xfrm>
          <a:prstGeom prst="rect">
            <a:avLst/>
          </a:prstGeom>
          <a:noFill/>
        </p:spPr>
        <p:txBody>
          <a:bodyPr wrap="square" lIns="27432" rIns="27432" tIns="27432" bIns="27432" anchor="ctr">
            <a:spAutoFit/>
          </a:bodyPr>
          <a:lstStyle/>
          <a:p>
            <a:pPr algn="l"/>
            <a:r>
              <a:rPr sz="1450" b="1">
                <a:solidFill>
                  <a:srgbClr val="17243B"/>
                </a:solidFill>
                <a:latin typeface="Aptos"/>
              </a:rPr>
              <a:t>Interopérer</a:t>
            </a:r>
          </a:p>
        </p:txBody>
      </p:sp>
      <p:sp>
        <p:nvSpPr>
          <p:cNvPr id="45" name="TextBox 44"/>
          <p:cNvSpPr txBox="1"/>
          <p:nvPr/>
        </p:nvSpPr>
        <p:spPr>
          <a:xfrm>
            <a:off x="8513064" y="3557016"/>
            <a:ext cx="3118104" cy="484632"/>
          </a:xfrm>
          <a:prstGeom prst="rect">
            <a:avLst/>
          </a:prstGeom>
          <a:noFill/>
        </p:spPr>
        <p:txBody>
          <a:bodyPr wrap="square" lIns="27432" rIns="27432" tIns="27432" bIns="27432" anchor="t">
            <a:spAutoFit/>
          </a:bodyPr>
          <a:lstStyle/>
          <a:p>
            <a:pPr algn="l">
              <a:lnSpc>
                <a:spcPct val="100000"/>
              </a:lnSpc>
            </a:pPr>
            <a:r>
              <a:rPr sz="1080" b="0">
                <a:solidFill>
                  <a:srgbClr val="66758A"/>
                </a:solidFill>
                <a:latin typeface="Aptos"/>
              </a:rPr>
              <a:t>Skills OpenClaw et serveur MCP</a:t>
            </a:r>
          </a:p>
        </p:txBody>
      </p:sp>
      <p:sp>
        <p:nvSpPr>
          <p:cNvPr id="46" name="Rounded Rectangle 45"/>
          <p:cNvSpPr/>
          <p:nvPr/>
        </p:nvSpPr>
        <p:spPr>
          <a:xfrm>
            <a:off x="658368" y="4645152"/>
            <a:ext cx="10972800" cy="1143000"/>
          </a:xfrm>
          <a:prstGeom prst="roundRect">
            <a:avLst/>
          </a:prstGeom>
          <a:solidFill>
            <a:srgbClr val="0B1F3A"/>
          </a:solidFill>
          <a:ln w="12700">
            <a:solidFill>
              <a:srgbClr val="0B1F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896112" y="4965192"/>
            <a:ext cx="201168" cy="201168"/>
          </a:xfrm>
          <a:prstGeom prst="ellipse">
            <a:avLst/>
          </a:prstGeom>
          <a:solidFill>
            <a:srgbClr val="2D6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207008" y="4892040"/>
            <a:ext cx="1325880" cy="292608"/>
          </a:xfrm>
          <a:prstGeom prst="rect">
            <a:avLst/>
          </a:prstGeom>
          <a:noFill/>
        </p:spPr>
        <p:txBody>
          <a:bodyPr wrap="square" lIns="27432" rIns="27432" tIns="27432" bIns="27432" anchor="ctr">
            <a:spAutoFit/>
          </a:bodyPr>
          <a:lstStyle/>
          <a:p>
            <a:pPr algn="l"/>
            <a:r>
              <a:rPr sz="1030" b="1">
                <a:solidFill>
                  <a:srgbClr val="FFFFFF"/>
                </a:solidFill>
                <a:latin typeface="Aptos"/>
              </a:rPr>
              <a:t>HAICOP</a:t>
            </a:r>
          </a:p>
        </p:txBody>
      </p:sp>
      <p:sp>
        <p:nvSpPr>
          <p:cNvPr id="49" name="Oval 48"/>
          <p:cNvSpPr/>
          <p:nvPr/>
        </p:nvSpPr>
        <p:spPr>
          <a:xfrm>
            <a:off x="2651760" y="4965192"/>
            <a:ext cx="201168" cy="201168"/>
          </a:xfrm>
          <a:prstGeom prst="ellipse">
            <a:avLst/>
          </a:prstGeom>
          <a:solidFill>
            <a:srgbClr val="28B4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962656" y="4892040"/>
            <a:ext cx="1325880" cy="292608"/>
          </a:xfrm>
          <a:prstGeom prst="rect">
            <a:avLst/>
          </a:prstGeom>
          <a:noFill/>
        </p:spPr>
        <p:txBody>
          <a:bodyPr wrap="square" lIns="27432" rIns="27432" tIns="27432" bIns="27432" anchor="ctr">
            <a:spAutoFit/>
          </a:bodyPr>
          <a:lstStyle/>
          <a:p>
            <a:pPr algn="l"/>
            <a:r>
              <a:rPr sz="1030" b="1">
                <a:solidFill>
                  <a:srgbClr val="FFFFFF"/>
                </a:solidFill>
                <a:latin typeface="Aptos"/>
              </a:rPr>
              <a:t>PostgreSQL</a:t>
            </a:r>
          </a:p>
        </p:txBody>
      </p:sp>
      <p:sp>
        <p:nvSpPr>
          <p:cNvPr id="51" name="Oval 50"/>
          <p:cNvSpPr/>
          <p:nvPr/>
        </p:nvSpPr>
        <p:spPr>
          <a:xfrm>
            <a:off x="4407408" y="4965192"/>
            <a:ext cx="201168" cy="201168"/>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718304" y="4892040"/>
            <a:ext cx="1325880" cy="292608"/>
          </a:xfrm>
          <a:prstGeom prst="rect">
            <a:avLst/>
          </a:prstGeom>
          <a:noFill/>
        </p:spPr>
        <p:txBody>
          <a:bodyPr wrap="square" lIns="27432" rIns="27432" tIns="27432" bIns="27432" anchor="ctr">
            <a:spAutoFit/>
          </a:bodyPr>
          <a:lstStyle/>
          <a:p>
            <a:pPr algn="l"/>
            <a:r>
              <a:rPr sz="1030" b="1">
                <a:solidFill>
                  <a:srgbClr val="FFFFFF"/>
                </a:solidFill>
                <a:latin typeface="Aptos"/>
              </a:rPr>
              <a:t>OCR</a:t>
            </a:r>
          </a:p>
        </p:txBody>
      </p:sp>
      <p:sp>
        <p:nvSpPr>
          <p:cNvPr id="53" name="Oval 52"/>
          <p:cNvSpPr/>
          <p:nvPr/>
        </p:nvSpPr>
        <p:spPr>
          <a:xfrm>
            <a:off x="6163056" y="4965192"/>
            <a:ext cx="201168" cy="201168"/>
          </a:xfrm>
          <a:prstGeom prst="ellipse">
            <a:avLst/>
          </a:prstGeom>
          <a:solidFill>
            <a:srgbClr val="7165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473952" y="4892040"/>
            <a:ext cx="1325880" cy="292608"/>
          </a:xfrm>
          <a:prstGeom prst="rect">
            <a:avLst/>
          </a:prstGeom>
          <a:noFill/>
        </p:spPr>
        <p:txBody>
          <a:bodyPr wrap="square" lIns="27432" rIns="27432" tIns="27432" bIns="27432" anchor="ctr">
            <a:spAutoFit/>
          </a:bodyPr>
          <a:lstStyle/>
          <a:p>
            <a:pPr algn="l"/>
            <a:r>
              <a:rPr sz="1030" b="1">
                <a:solidFill>
                  <a:srgbClr val="FFFFFF"/>
                </a:solidFill>
                <a:latin typeface="Aptos"/>
              </a:rPr>
              <a:t>OpenClaw</a:t>
            </a:r>
          </a:p>
        </p:txBody>
      </p:sp>
      <p:sp>
        <p:nvSpPr>
          <p:cNvPr id="55" name="Oval 54"/>
          <p:cNvSpPr/>
          <p:nvPr/>
        </p:nvSpPr>
        <p:spPr>
          <a:xfrm>
            <a:off x="7918704" y="4965192"/>
            <a:ext cx="201168" cy="201168"/>
          </a:xfrm>
          <a:prstGeom prst="ellipse">
            <a:avLst/>
          </a:prstGeom>
          <a:solidFill>
            <a:srgbClr val="06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229600" y="4892040"/>
            <a:ext cx="1325880" cy="292608"/>
          </a:xfrm>
          <a:prstGeom prst="rect">
            <a:avLst/>
          </a:prstGeom>
          <a:noFill/>
        </p:spPr>
        <p:txBody>
          <a:bodyPr wrap="square" lIns="27432" rIns="27432" tIns="27432" bIns="27432" anchor="ctr">
            <a:spAutoFit/>
          </a:bodyPr>
          <a:lstStyle/>
          <a:p>
            <a:pPr algn="l"/>
            <a:r>
              <a:rPr sz="1030" b="1">
                <a:solidFill>
                  <a:srgbClr val="FFFFFF"/>
                </a:solidFill>
                <a:latin typeface="Aptos"/>
              </a:rPr>
              <a:t>n8n</a:t>
            </a:r>
          </a:p>
        </p:txBody>
      </p:sp>
      <p:sp>
        <p:nvSpPr>
          <p:cNvPr id="57" name="Oval 56"/>
          <p:cNvSpPr/>
          <p:nvPr/>
        </p:nvSpPr>
        <p:spPr>
          <a:xfrm>
            <a:off x="9674352" y="4965192"/>
            <a:ext cx="201168" cy="201168"/>
          </a:xfrm>
          <a:prstGeom prst="ellipse">
            <a:avLst/>
          </a:prstGeom>
          <a:solidFill>
            <a:srgbClr val="28B4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985248" y="4892040"/>
            <a:ext cx="1325880" cy="292608"/>
          </a:xfrm>
          <a:prstGeom prst="rect">
            <a:avLst/>
          </a:prstGeom>
          <a:noFill/>
        </p:spPr>
        <p:txBody>
          <a:bodyPr wrap="square" lIns="27432" rIns="27432" tIns="27432" bIns="27432" anchor="ctr">
            <a:spAutoFit/>
          </a:bodyPr>
          <a:lstStyle/>
          <a:p>
            <a:pPr algn="l"/>
            <a:r>
              <a:rPr sz="1030" b="1">
                <a:solidFill>
                  <a:srgbClr val="FFFFFF"/>
                </a:solidFill>
                <a:latin typeface="Aptos"/>
              </a:rPr>
              <a:t>Gmail + Telegram</a:t>
            </a:r>
          </a:p>
        </p:txBody>
      </p:sp>
      <p:sp>
        <p:nvSpPr>
          <p:cNvPr id="59" name="Rounded Rectangle 58"/>
          <p:cNvSpPr/>
          <p:nvPr/>
        </p:nvSpPr>
        <p:spPr>
          <a:xfrm>
            <a:off x="4325112" y="5961888"/>
            <a:ext cx="2633472" cy="292608"/>
          </a:xfrm>
          <a:prstGeom prst="roundRect">
            <a:avLst/>
          </a:prstGeom>
          <a:solidFill>
            <a:srgbClr val="E8F8F2"/>
          </a:solidFill>
          <a:ln w="6350">
            <a:solidFill>
              <a:srgbClr val="E8F8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370832" y="5971031"/>
            <a:ext cx="2542032" cy="246888"/>
          </a:xfrm>
          <a:prstGeom prst="rect">
            <a:avLst/>
          </a:prstGeom>
          <a:noFill/>
        </p:spPr>
        <p:txBody>
          <a:bodyPr wrap="square" lIns="27432" rIns="27432" tIns="27432" bIns="27432" anchor="ctr">
            <a:spAutoFit/>
          </a:bodyPr>
          <a:lstStyle/>
          <a:p>
            <a:pPr algn="ctr"/>
            <a:r>
              <a:rPr sz="1050" b="1">
                <a:solidFill>
                  <a:srgbClr val="28B487"/>
                </a:solidFill>
                <a:latin typeface="Aptos"/>
              </a:rPr>
              <a:t>MVP validé sur données réelles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ounded Rectangle 1"/>
          <p:cNvSpPr/>
          <p:nvPr/>
        </p:nvSpPr>
        <p:spPr>
          <a:xfrm>
            <a:off x="621792" y="384048"/>
            <a:ext cx="1832457" cy="292608"/>
          </a:xfrm>
          <a:prstGeom prst="roundRect">
            <a:avLst/>
          </a:prstGeom>
          <a:solidFill>
            <a:srgbClr val="E4F8FA"/>
          </a:solidFill>
          <a:ln w="6350">
            <a:solidFill>
              <a:srgbClr val="E4F8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67512" y="393192"/>
            <a:ext cx="1741017" cy="246888"/>
          </a:xfrm>
          <a:prstGeom prst="rect">
            <a:avLst/>
          </a:prstGeom>
          <a:noFill/>
        </p:spPr>
        <p:txBody>
          <a:bodyPr wrap="square" lIns="27432" rIns="27432" tIns="27432" bIns="27432" anchor="ctr">
            <a:spAutoFit/>
          </a:bodyPr>
          <a:lstStyle/>
          <a:p>
            <a:pPr algn="ctr"/>
            <a:r>
              <a:rPr sz="950" b="1">
                <a:solidFill>
                  <a:srgbClr val="06A6B5"/>
                </a:solidFill>
                <a:latin typeface="Aptos"/>
              </a:rPr>
              <a:t>ARCHITECTURE AGENTIQUE</a:t>
            </a:r>
          </a:p>
        </p:txBody>
      </p:sp>
      <p:sp>
        <p:nvSpPr>
          <p:cNvPr id="4" name="TextBox 3"/>
          <p:cNvSpPr txBox="1"/>
          <p:nvPr/>
        </p:nvSpPr>
        <p:spPr>
          <a:xfrm>
            <a:off x="621792" y="795528"/>
            <a:ext cx="10972800" cy="530352"/>
          </a:xfrm>
          <a:prstGeom prst="rect">
            <a:avLst/>
          </a:prstGeom>
          <a:noFill/>
        </p:spPr>
        <p:txBody>
          <a:bodyPr wrap="square" lIns="27432" rIns="27432" tIns="27432" bIns="27432" anchor="t">
            <a:spAutoFit/>
          </a:bodyPr>
          <a:lstStyle/>
          <a:p>
            <a:pPr algn="l"/>
            <a:r>
              <a:rPr sz="2850" b="1">
                <a:solidFill>
                  <a:srgbClr val="0B1F3A"/>
                </a:solidFill>
                <a:latin typeface="Aptos Display"/>
              </a:rPr>
              <a:t>L’agent orchestre ; les outils garantissent</a:t>
            </a:r>
          </a:p>
        </p:txBody>
      </p:sp>
      <p:sp>
        <p:nvSpPr>
          <p:cNvPr id="5" name="Rectangle 4"/>
          <p:cNvSpPr/>
          <p:nvPr/>
        </p:nvSpPr>
        <p:spPr>
          <a:xfrm>
            <a:off x="621792" y="1380744"/>
            <a:ext cx="10972800" cy="22860"/>
          </a:xfrm>
          <a:prstGeom prst="rect">
            <a:avLst/>
          </a:prstGeom>
          <a:solidFill>
            <a:srgbClr val="DCE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6519672"/>
            <a:ext cx="4937760" cy="164592"/>
          </a:xfrm>
          <a:prstGeom prst="rect">
            <a:avLst/>
          </a:prstGeom>
          <a:noFill/>
        </p:spPr>
        <p:txBody>
          <a:bodyPr wrap="square" lIns="27432" rIns="27432" tIns="27432" bIns="27432" anchor="t">
            <a:spAutoFit/>
          </a:bodyPr>
          <a:lstStyle/>
          <a:p>
            <a:pPr algn="l"/>
            <a:r>
              <a:rPr sz="840" b="1">
                <a:solidFill>
                  <a:srgbClr val="8A98AA"/>
                </a:solidFill>
                <a:latin typeface="Aptos"/>
              </a:rPr>
              <a:t>ONE TECH BUSINESS SOLUTIONS  ·  CY TECH</a:t>
            </a:r>
          </a:p>
        </p:txBody>
      </p:sp>
      <p:sp>
        <p:nvSpPr>
          <p:cNvPr id="7" name="TextBox 6"/>
          <p:cNvSpPr txBox="1"/>
          <p:nvPr/>
        </p:nvSpPr>
        <p:spPr>
          <a:xfrm>
            <a:off x="8321040" y="6519672"/>
            <a:ext cx="3063240" cy="164592"/>
          </a:xfrm>
          <a:prstGeom prst="rect">
            <a:avLst/>
          </a:prstGeom>
          <a:noFill/>
        </p:spPr>
        <p:txBody>
          <a:bodyPr wrap="square" lIns="27432" rIns="27432" tIns="27432" bIns="27432" anchor="t">
            <a:spAutoFit/>
          </a:bodyPr>
          <a:lstStyle/>
          <a:p>
            <a:pPr algn="r"/>
            <a:r>
              <a:rPr sz="840" b="1">
                <a:solidFill>
                  <a:srgbClr val="8A98AA"/>
                </a:solidFill>
                <a:latin typeface="Aptos"/>
              </a:rPr>
              <a:t>ARCHITECTURE AGENTIQUE</a:t>
            </a:r>
          </a:p>
        </p:txBody>
      </p:sp>
      <p:sp>
        <p:nvSpPr>
          <p:cNvPr id="8" name="Oval 7"/>
          <p:cNvSpPr/>
          <p:nvPr/>
        </p:nvSpPr>
        <p:spPr>
          <a:xfrm>
            <a:off x="11466576" y="6428232"/>
            <a:ext cx="256032" cy="256032"/>
          </a:xfrm>
          <a:prstGeom prst="ellipse">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66576" y="6437376"/>
            <a:ext cx="256032" cy="237744"/>
          </a:xfrm>
          <a:prstGeom prst="rect">
            <a:avLst/>
          </a:prstGeom>
          <a:noFill/>
        </p:spPr>
        <p:txBody>
          <a:bodyPr wrap="square" lIns="27432" rIns="27432" tIns="27432" bIns="27432" anchor="ctr">
            <a:spAutoFit/>
          </a:bodyPr>
          <a:lstStyle/>
          <a:p>
            <a:pPr algn="ctr"/>
            <a:r>
              <a:rPr sz="850" b="1">
                <a:solidFill>
                  <a:srgbClr val="FFFFFF"/>
                </a:solidFill>
                <a:latin typeface="Aptos"/>
              </a:rPr>
              <a:t>5</a:t>
            </a:r>
          </a:p>
        </p:txBody>
      </p:sp>
      <p:sp>
        <p:nvSpPr>
          <p:cNvPr id="10" name="Oval 9"/>
          <p:cNvSpPr/>
          <p:nvPr/>
        </p:nvSpPr>
        <p:spPr>
          <a:xfrm>
            <a:off x="5532120" y="2971800"/>
            <a:ext cx="1188720" cy="1188720"/>
          </a:xfrm>
          <a:prstGeom prst="ellipse">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32120" y="3346704"/>
            <a:ext cx="1188720" cy="256032"/>
          </a:xfrm>
          <a:prstGeom prst="rect">
            <a:avLst/>
          </a:prstGeom>
          <a:noFill/>
        </p:spPr>
        <p:txBody>
          <a:bodyPr wrap="square" lIns="27432" rIns="27432" tIns="27432" bIns="27432" anchor="t">
            <a:spAutoFit/>
          </a:bodyPr>
          <a:lstStyle/>
          <a:p>
            <a:pPr algn="ctr"/>
            <a:r>
              <a:rPr sz="1500" b="1">
                <a:solidFill>
                  <a:srgbClr val="FFFFFF"/>
                </a:solidFill>
                <a:latin typeface="Aptos"/>
              </a:rPr>
              <a:t>OpenClaw</a:t>
            </a:r>
          </a:p>
        </p:txBody>
      </p:sp>
      <p:sp>
        <p:nvSpPr>
          <p:cNvPr id="12" name="Rounded Rectangle 11"/>
          <p:cNvSpPr/>
          <p:nvPr/>
        </p:nvSpPr>
        <p:spPr>
          <a:xfrm>
            <a:off x="914400" y="1828800"/>
            <a:ext cx="2542032" cy="1207008"/>
          </a:xfrm>
          <a:prstGeom prst="roundRect">
            <a:avLst/>
          </a:prstGeom>
          <a:solidFill>
            <a:srgbClr val="EAF0FF"/>
          </a:solidFill>
          <a:ln w="12700">
            <a:solidFill>
              <a:srgbClr val="DCE4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914400" y="1828800"/>
            <a:ext cx="64008" cy="1207008"/>
          </a:xfrm>
          <a:prstGeom prst="rect">
            <a:avLst/>
          </a:prstGeom>
          <a:solidFill>
            <a:srgbClr val="7165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24712" y="1984248"/>
            <a:ext cx="2167127" cy="301752"/>
          </a:xfrm>
          <a:prstGeom prst="rect">
            <a:avLst/>
          </a:prstGeom>
          <a:noFill/>
        </p:spPr>
        <p:txBody>
          <a:bodyPr wrap="square" lIns="27432" rIns="27432" tIns="27432" bIns="27432" anchor="ctr">
            <a:spAutoFit/>
          </a:bodyPr>
          <a:lstStyle/>
          <a:p>
            <a:pPr algn="l"/>
            <a:r>
              <a:rPr sz="1350" b="1">
                <a:solidFill>
                  <a:srgbClr val="17243B"/>
                </a:solidFill>
                <a:latin typeface="Aptos"/>
              </a:rPr>
              <a:t>MODÈLE</a:t>
            </a:r>
          </a:p>
        </p:txBody>
      </p:sp>
      <p:sp>
        <p:nvSpPr>
          <p:cNvPr id="15" name="TextBox 14"/>
          <p:cNvSpPr txBox="1"/>
          <p:nvPr/>
        </p:nvSpPr>
        <p:spPr>
          <a:xfrm>
            <a:off x="1124712" y="2359152"/>
            <a:ext cx="2157984" cy="576072"/>
          </a:xfrm>
          <a:prstGeom prst="rect">
            <a:avLst/>
          </a:prstGeom>
          <a:noFill/>
        </p:spPr>
        <p:txBody>
          <a:bodyPr wrap="square" lIns="27432" rIns="27432" tIns="27432" bIns="27432" anchor="t">
            <a:spAutoFit/>
          </a:bodyPr>
          <a:lstStyle/>
          <a:p>
            <a:pPr algn="l">
              <a:lnSpc>
                <a:spcPct val="100000"/>
              </a:lnSpc>
            </a:pPr>
            <a:r>
              <a:rPr sz="1100" b="0">
                <a:solidFill>
                  <a:srgbClr val="66758A"/>
                </a:solidFill>
                <a:latin typeface="Aptos"/>
              </a:rPr>
              <a:t>Raisonnement</a:t>
            </a:r>
            <a:br/>
            <a:r>
              <a:rPr sz="1100" b="0">
                <a:solidFill>
                  <a:srgbClr val="66758A"/>
                </a:solidFill>
                <a:latin typeface="Aptos"/>
              </a:rPr>
              <a:t>sémantique</a:t>
            </a:r>
          </a:p>
        </p:txBody>
      </p:sp>
      <p:cxnSp>
        <p:nvCxnSpPr>
          <p:cNvPr id="16" name="Connector 15"/>
          <p:cNvCxnSpPr/>
          <p:nvPr/>
        </p:nvCxnSpPr>
        <p:spPr>
          <a:xfrm flipH="1" flipV="1">
            <a:off x="3456432" y="2432304"/>
            <a:ext cx="2670048" cy="1133856"/>
          </a:xfrm>
          <a:prstGeom prst="line">
            <a:avLst/>
          </a:prstGeom>
          <a:ln w="15875">
            <a:solidFill>
              <a:srgbClr val="9AA9BA"/>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732520" y="1828800"/>
            <a:ext cx="2542032" cy="1207008"/>
          </a:xfrm>
          <a:prstGeom prst="roundRect">
            <a:avLst/>
          </a:prstGeom>
          <a:solidFill>
            <a:srgbClr val="EAF0FF"/>
          </a:solidFill>
          <a:ln w="12700">
            <a:solidFill>
              <a:srgbClr val="DCE4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732520" y="1828800"/>
            <a:ext cx="64008" cy="1207008"/>
          </a:xfrm>
          <a:prstGeom prst="rect">
            <a:avLst/>
          </a:prstGeom>
          <a:solidFill>
            <a:srgbClr val="2D6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42832" y="1984248"/>
            <a:ext cx="2167127" cy="301752"/>
          </a:xfrm>
          <a:prstGeom prst="rect">
            <a:avLst/>
          </a:prstGeom>
          <a:noFill/>
        </p:spPr>
        <p:txBody>
          <a:bodyPr wrap="square" lIns="27432" rIns="27432" tIns="27432" bIns="27432" anchor="ctr">
            <a:spAutoFit/>
          </a:bodyPr>
          <a:lstStyle/>
          <a:p>
            <a:pPr algn="l"/>
            <a:r>
              <a:rPr sz="1350" b="1">
                <a:solidFill>
                  <a:srgbClr val="17243B"/>
                </a:solidFill>
                <a:latin typeface="Aptos"/>
              </a:rPr>
              <a:t>PYTHON / SQL</a:t>
            </a:r>
          </a:p>
        </p:txBody>
      </p:sp>
      <p:sp>
        <p:nvSpPr>
          <p:cNvPr id="20" name="TextBox 19"/>
          <p:cNvSpPr txBox="1"/>
          <p:nvPr/>
        </p:nvSpPr>
        <p:spPr>
          <a:xfrm>
            <a:off x="8942832" y="2359152"/>
            <a:ext cx="2157984" cy="576072"/>
          </a:xfrm>
          <a:prstGeom prst="rect">
            <a:avLst/>
          </a:prstGeom>
          <a:noFill/>
        </p:spPr>
        <p:txBody>
          <a:bodyPr wrap="square" lIns="27432" rIns="27432" tIns="27432" bIns="27432" anchor="t">
            <a:spAutoFit/>
          </a:bodyPr>
          <a:lstStyle/>
          <a:p>
            <a:pPr algn="l">
              <a:lnSpc>
                <a:spcPct val="100000"/>
              </a:lnSpc>
            </a:pPr>
            <a:r>
              <a:rPr sz="1100" b="0">
                <a:solidFill>
                  <a:srgbClr val="66758A"/>
                </a:solidFill>
                <a:latin typeface="Aptos"/>
              </a:rPr>
              <a:t>HTTP · parsing</a:t>
            </a:r>
            <a:br/>
            <a:r>
              <a:rPr sz="1100" b="0">
                <a:solidFill>
                  <a:srgbClr val="66758A"/>
                </a:solidFill>
                <a:latin typeface="Aptos"/>
              </a:rPr>
              <a:t>transactions</a:t>
            </a:r>
          </a:p>
        </p:txBody>
      </p:sp>
      <p:cxnSp>
        <p:nvCxnSpPr>
          <p:cNvPr id="21" name="Connector 20"/>
          <p:cNvCxnSpPr/>
          <p:nvPr/>
        </p:nvCxnSpPr>
        <p:spPr>
          <a:xfrm flipV="1">
            <a:off x="6126480" y="2432304"/>
            <a:ext cx="2606040" cy="1133856"/>
          </a:xfrm>
          <a:prstGeom prst="line">
            <a:avLst/>
          </a:prstGeom>
          <a:ln w="15875">
            <a:solidFill>
              <a:srgbClr val="9AA9BA"/>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14400" y="4251960"/>
            <a:ext cx="2542032" cy="1207008"/>
          </a:xfrm>
          <a:prstGeom prst="roundRect">
            <a:avLst/>
          </a:prstGeom>
          <a:solidFill>
            <a:srgbClr val="E4F8FA"/>
          </a:solidFill>
          <a:ln w="12700">
            <a:solidFill>
              <a:srgbClr val="DCE4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4400" y="4251960"/>
            <a:ext cx="64008" cy="1207008"/>
          </a:xfrm>
          <a:prstGeom prst="rect">
            <a:avLst/>
          </a:prstGeom>
          <a:solidFill>
            <a:srgbClr val="06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24712" y="4407408"/>
            <a:ext cx="2167127" cy="301752"/>
          </a:xfrm>
          <a:prstGeom prst="rect">
            <a:avLst/>
          </a:prstGeom>
          <a:noFill/>
        </p:spPr>
        <p:txBody>
          <a:bodyPr wrap="square" lIns="27432" rIns="27432" tIns="27432" bIns="27432" anchor="ctr">
            <a:spAutoFit/>
          </a:bodyPr>
          <a:lstStyle/>
          <a:p>
            <a:pPr algn="l"/>
            <a:r>
              <a:rPr sz="1350" b="1">
                <a:solidFill>
                  <a:srgbClr val="17243B"/>
                </a:solidFill>
                <a:latin typeface="Aptos"/>
              </a:rPr>
              <a:t>SKILLS</a:t>
            </a:r>
          </a:p>
        </p:txBody>
      </p:sp>
      <p:sp>
        <p:nvSpPr>
          <p:cNvPr id="25" name="TextBox 24"/>
          <p:cNvSpPr txBox="1"/>
          <p:nvPr/>
        </p:nvSpPr>
        <p:spPr>
          <a:xfrm>
            <a:off x="1124712" y="4782312"/>
            <a:ext cx="2157984" cy="576072"/>
          </a:xfrm>
          <a:prstGeom prst="rect">
            <a:avLst/>
          </a:prstGeom>
          <a:noFill/>
        </p:spPr>
        <p:txBody>
          <a:bodyPr wrap="square" lIns="27432" rIns="27432" tIns="27432" bIns="27432" anchor="t">
            <a:spAutoFit/>
          </a:bodyPr>
          <a:lstStyle/>
          <a:p>
            <a:pPr algn="l">
              <a:lnSpc>
                <a:spcPct val="100000"/>
              </a:lnSpc>
            </a:pPr>
            <a:r>
              <a:rPr sz="1100" b="0">
                <a:solidFill>
                  <a:srgbClr val="66758A"/>
                </a:solidFill>
                <a:latin typeface="Aptos"/>
              </a:rPr>
              <a:t>Procédures</a:t>
            </a:r>
            <a:br/>
            <a:r>
              <a:rPr sz="1100" b="0">
                <a:solidFill>
                  <a:srgbClr val="66758A"/>
                </a:solidFill>
                <a:latin typeface="Aptos"/>
              </a:rPr>
              <a:t>contrôlées</a:t>
            </a:r>
          </a:p>
        </p:txBody>
      </p:sp>
      <p:cxnSp>
        <p:nvCxnSpPr>
          <p:cNvPr id="26" name="Connector 25"/>
          <p:cNvCxnSpPr/>
          <p:nvPr/>
        </p:nvCxnSpPr>
        <p:spPr>
          <a:xfrm flipH="1">
            <a:off x="3456432" y="3566160"/>
            <a:ext cx="2670048" cy="1289304"/>
          </a:xfrm>
          <a:prstGeom prst="line">
            <a:avLst/>
          </a:prstGeom>
          <a:ln w="15875">
            <a:solidFill>
              <a:srgbClr val="9AA9BA"/>
            </a:solidFill>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8732520" y="4251960"/>
            <a:ext cx="2542032" cy="1207008"/>
          </a:xfrm>
          <a:prstGeom prst="roundRect">
            <a:avLst/>
          </a:prstGeom>
          <a:solidFill>
            <a:srgbClr val="E8F8F2"/>
          </a:solidFill>
          <a:ln w="12700">
            <a:solidFill>
              <a:srgbClr val="DCE4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732520" y="4251960"/>
            <a:ext cx="64008" cy="1207008"/>
          </a:xfrm>
          <a:prstGeom prst="rect">
            <a:avLst/>
          </a:prstGeom>
          <a:solidFill>
            <a:srgbClr val="28B4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942832" y="4407408"/>
            <a:ext cx="2167127" cy="301752"/>
          </a:xfrm>
          <a:prstGeom prst="rect">
            <a:avLst/>
          </a:prstGeom>
          <a:noFill/>
        </p:spPr>
        <p:txBody>
          <a:bodyPr wrap="square" lIns="27432" rIns="27432" tIns="27432" bIns="27432" anchor="ctr">
            <a:spAutoFit/>
          </a:bodyPr>
          <a:lstStyle/>
          <a:p>
            <a:pPr algn="l"/>
            <a:r>
              <a:rPr sz="1350" b="1">
                <a:solidFill>
                  <a:srgbClr val="17243B"/>
                </a:solidFill>
                <a:latin typeface="Aptos"/>
              </a:rPr>
              <a:t>OCR / FICHIERS</a:t>
            </a:r>
          </a:p>
        </p:txBody>
      </p:sp>
      <p:sp>
        <p:nvSpPr>
          <p:cNvPr id="30" name="TextBox 29"/>
          <p:cNvSpPr txBox="1"/>
          <p:nvPr/>
        </p:nvSpPr>
        <p:spPr>
          <a:xfrm>
            <a:off x="8942832" y="4782312"/>
            <a:ext cx="2157984" cy="576072"/>
          </a:xfrm>
          <a:prstGeom prst="rect">
            <a:avLst/>
          </a:prstGeom>
          <a:noFill/>
        </p:spPr>
        <p:txBody>
          <a:bodyPr wrap="square" lIns="27432" rIns="27432" tIns="27432" bIns="27432" anchor="t">
            <a:spAutoFit/>
          </a:bodyPr>
          <a:lstStyle/>
          <a:p>
            <a:pPr algn="l">
              <a:lnSpc>
                <a:spcPct val="100000"/>
              </a:lnSpc>
            </a:pPr>
            <a:r>
              <a:rPr sz="1100" b="0">
                <a:solidFill>
                  <a:srgbClr val="66758A"/>
                </a:solidFill>
                <a:latin typeface="Aptos"/>
              </a:rPr>
              <a:t>Extraction</a:t>
            </a:r>
            <a:br/>
            <a:r>
              <a:rPr sz="1100" b="0">
                <a:solidFill>
                  <a:srgbClr val="66758A"/>
                </a:solidFill>
                <a:latin typeface="Aptos"/>
              </a:rPr>
              <a:t>déterministe</a:t>
            </a:r>
          </a:p>
        </p:txBody>
      </p:sp>
      <p:cxnSp>
        <p:nvCxnSpPr>
          <p:cNvPr id="31" name="Connector 30"/>
          <p:cNvCxnSpPr/>
          <p:nvPr/>
        </p:nvCxnSpPr>
        <p:spPr>
          <a:xfrm>
            <a:off x="6126480" y="3566160"/>
            <a:ext cx="2606040" cy="1289304"/>
          </a:xfrm>
          <a:prstGeom prst="line">
            <a:avLst/>
          </a:prstGeom>
          <a:ln w="15875">
            <a:solidFill>
              <a:srgbClr val="9AA9BA"/>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3767328" y="5266944"/>
            <a:ext cx="4736592" cy="676656"/>
          </a:xfrm>
          <a:prstGeom prst="roundRect">
            <a:avLst/>
          </a:prstGeom>
          <a:solidFill>
            <a:srgbClr val="E4F8FA"/>
          </a:solidFill>
          <a:ln w="12700">
            <a:solidFill>
              <a:srgbClr val="B9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977639" y="5449824"/>
            <a:ext cx="4315968" cy="237744"/>
          </a:xfrm>
          <a:prstGeom prst="rect">
            <a:avLst/>
          </a:prstGeom>
          <a:noFill/>
        </p:spPr>
        <p:txBody>
          <a:bodyPr wrap="square" lIns="27432" rIns="27432" tIns="27432" bIns="27432" anchor="t">
            <a:spAutoFit/>
          </a:bodyPr>
          <a:lstStyle/>
          <a:p>
            <a:pPr algn="ctr"/>
            <a:r>
              <a:rPr sz="1320" b="1">
                <a:solidFill>
                  <a:srgbClr val="0B1F3A"/>
                </a:solidFill>
                <a:latin typeface="Aptos"/>
              </a:rPr>
              <a:t>L’agent utilise un modèle, mais l’agent n’est pas le modèle.</a:t>
            </a:r>
          </a:p>
        </p:txBody>
      </p:sp>
      <p:sp>
        <p:nvSpPr>
          <p:cNvPr id="34" name="Rounded Rectangle 33"/>
          <p:cNvSpPr/>
          <p:nvPr/>
        </p:nvSpPr>
        <p:spPr>
          <a:xfrm>
            <a:off x="4718304" y="1664208"/>
            <a:ext cx="2743200" cy="292608"/>
          </a:xfrm>
          <a:prstGeom prst="roundRect">
            <a:avLst/>
          </a:prstGeom>
          <a:solidFill>
            <a:srgbClr val="E8F8F2"/>
          </a:solidFill>
          <a:ln w="6350">
            <a:solidFill>
              <a:srgbClr val="E8F8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764024" y="1673352"/>
            <a:ext cx="2651760" cy="246888"/>
          </a:xfrm>
          <a:prstGeom prst="rect">
            <a:avLst/>
          </a:prstGeom>
          <a:noFill/>
        </p:spPr>
        <p:txBody>
          <a:bodyPr wrap="square" lIns="27432" rIns="27432" tIns="27432" bIns="27432" anchor="ctr">
            <a:spAutoFit/>
          </a:bodyPr>
          <a:lstStyle/>
          <a:p>
            <a:pPr algn="ctr"/>
            <a:r>
              <a:rPr sz="1050" b="1">
                <a:solidFill>
                  <a:srgbClr val="28B487"/>
                </a:solidFill>
                <a:latin typeface="Aptos"/>
              </a:rPr>
              <a:t>Responsabilités séparées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ounded Rectangle 1"/>
          <p:cNvSpPr/>
          <p:nvPr/>
        </p:nvSpPr>
        <p:spPr>
          <a:xfrm>
            <a:off x="621792" y="384048"/>
            <a:ext cx="1174089" cy="292608"/>
          </a:xfrm>
          <a:prstGeom prst="roundRect">
            <a:avLst/>
          </a:prstGeom>
          <a:solidFill>
            <a:srgbClr val="E4F8FA"/>
          </a:solidFill>
          <a:ln w="6350">
            <a:solidFill>
              <a:srgbClr val="E4F8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67512" y="393192"/>
            <a:ext cx="1082649" cy="246888"/>
          </a:xfrm>
          <a:prstGeom prst="rect">
            <a:avLst/>
          </a:prstGeom>
          <a:noFill/>
        </p:spPr>
        <p:txBody>
          <a:bodyPr wrap="square" lIns="27432" rIns="27432" tIns="27432" bIns="27432" anchor="ctr">
            <a:spAutoFit/>
          </a:bodyPr>
          <a:lstStyle/>
          <a:p>
            <a:pPr algn="ctr"/>
            <a:r>
              <a:rPr sz="950" b="1">
                <a:solidFill>
                  <a:srgbClr val="06A6B5"/>
                </a:solidFill>
                <a:latin typeface="Aptos"/>
              </a:rPr>
              <a:t>ARCHITECTURE</a:t>
            </a:r>
          </a:p>
        </p:txBody>
      </p:sp>
      <p:sp>
        <p:nvSpPr>
          <p:cNvPr id="4" name="TextBox 3"/>
          <p:cNvSpPr txBox="1"/>
          <p:nvPr/>
        </p:nvSpPr>
        <p:spPr>
          <a:xfrm>
            <a:off x="621792" y="795528"/>
            <a:ext cx="10972800" cy="530352"/>
          </a:xfrm>
          <a:prstGeom prst="rect">
            <a:avLst/>
          </a:prstGeom>
          <a:noFill/>
        </p:spPr>
        <p:txBody>
          <a:bodyPr wrap="square" lIns="27432" rIns="27432" tIns="27432" bIns="27432" anchor="t">
            <a:spAutoFit/>
          </a:bodyPr>
          <a:lstStyle/>
          <a:p>
            <a:pPr algn="l"/>
            <a:r>
              <a:rPr sz="2850" b="1">
                <a:solidFill>
                  <a:srgbClr val="0B1F3A"/>
                </a:solidFill>
                <a:latin typeface="Aptos Display"/>
              </a:rPr>
              <a:t>Une chaîne de bout en bout, reproductible</a:t>
            </a:r>
          </a:p>
        </p:txBody>
      </p:sp>
      <p:sp>
        <p:nvSpPr>
          <p:cNvPr id="5" name="Rectangle 4"/>
          <p:cNvSpPr/>
          <p:nvPr/>
        </p:nvSpPr>
        <p:spPr>
          <a:xfrm>
            <a:off x="621792" y="1380744"/>
            <a:ext cx="10972800" cy="22860"/>
          </a:xfrm>
          <a:prstGeom prst="rect">
            <a:avLst/>
          </a:prstGeom>
          <a:solidFill>
            <a:srgbClr val="DCE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6519672"/>
            <a:ext cx="4937760" cy="164592"/>
          </a:xfrm>
          <a:prstGeom prst="rect">
            <a:avLst/>
          </a:prstGeom>
          <a:noFill/>
        </p:spPr>
        <p:txBody>
          <a:bodyPr wrap="square" lIns="27432" rIns="27432" tIns="27432" bIns="27432" anchor="t">
            <a:spAutoFit/>
          </a:bodyPr>
          <a:lstStyle/>
          <a:p>
            <a:pPr algn="l"/>
            <a:r>
              <a:rPr sz="840" b="1">
                <a:solidFill>
                  <a:srgbClr val="8A98AA"/>
                </a:solidFill>
                <a:latin typeface="Aptos"/>
              </a:rPr>
              <a:t>ONE TECH BUSINESS SOLUTIONS  ·  CY TECH</a:t>
            </a:r>
          </a:p>
        </p:txBody>
      </p:sp>
      <p:sp>
        <p:nvSpPr>
          <p:cNvPr id="7" name="TextBox 6"/>
          <p:cNvSpPr txBox="1"/>
          <p:nvPr/>
        </p:nvSpPr>
        <p:spPr>
          <a:xfrm>
            <a:off x="8321040" y="6519672"/>
            <a:ext cx="3063240" cy="164592"/>
          </a:xfrm>
          <a:prstGeom prst="rect">
            <a:avLst/>
          </a:prstGeom>
          <a:noFill/>
        </p:spPr>
        <p:txBody>
          <a:bodyPr wrap="square" lIns="27432" rIns="27432" tIns="27432" bIns="27432" anchor="t">
            <a:spAutoFit/>
          </a:bodyPr>
          <a:lstStyle/>
          <a:p>
            <a:pPr algn="r"/>
            <a:r>
              <a:rPr sz="840" b="1">
                <a:solidFill>
                  <a:srgbClr val="8A98AA"/>
                </a:solidFill>
                <a:latin typeface="Aptos"/>
              </a:rPr>
              <a:t>ARCHITECTURE</a:t>
            </a:r>
          </a:p>
        </p:txBody>
      </p:sp>
      <p:sp>
        <p:nvSpPr>
          <p:cNvPr id="8" name="Oval 7"/>
          <p:cNvSpPr/>
          <p:nvPr/>
        </p:nvSpPr>
        <p:spPr>
          <a:xfrm>
            <a:off x="11466576" y="6428232"/>
            <a:ext cx="256032" cy="256032"/>
          </a:xfrm>
          <a:prstGeom prst="ellipse">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66576" y="6437376"/>
            <a:ext cx="256032" cy="237744"/>
          </a:xfrm>
          <a:prstGeom prst="rect">
            <a:avLst/>
          </a:prstGeom>
          <a:noFill/>
        </p:spPr>
        <p:txBody>
          <a:bodyPr wrap="square" lIns="27432" rIns="27432" tIns="27432" bIns="27432" anchor="ctr">
            <a:spAutoFit/>
          </a:bodyPr>
          <a:lstStyle/>
          <a:p>
            <a:pPr algn="ctr"/>
            <a:r>
              <a:rPr sz="850" b="1">
                <a:solidFill>
                  <a:srgbClr val="FFFFFF"/>
                </a:solidFill>
                <a:latin typeface="Aptos"/>
              </a:rPr>
              <a:t>6</a:t>
            </a:r>
          </a:p>
        </p:txBody>
      </p:sp>
      <p:pic>
        <p:nvPicPr>
          <p:cNvPr id="10" name="Picture 9" descr="architecture_v2.png"/>
          <p:cNvPicPr>
            <a:picLocks noChangeAspect="1"/>
          </p:cNvPicPr>
          <p:nvPr/>
        </p:nvPicPr>
        <p:blipFill>
          <a:blip r:embed="rId2"/>
          <a:stretch>
            <a:fillRect/>
          </a:stretch>
        </p:blipFill>
        <p:spPr>
          <a:xfrm>
            <a:off x="640080" y="1508760"/>
            <a:ext cx="11000232" cy="4828032"/>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ounded Rectangle 1"/>
          <p:cNvSpPr/>
          <p:nvPr/>
        </p:nvSpPr>
        <p:spPr>
          <a:xfrm>
            <a:off x="621792" y="384048"/>
            <a:ext cx="1108252" cy="292608"/>
          </a:xfrm>
          <a:prstGeom prst="roundRect">
            <a:avLst/>
          </a:prstGeom>
          <a:solidFill>
            <a:srgbClr val="E4F8FA"/>
          </a:solidFill>
          <a:ln w="6350">
            <a:solidFill>
              <a:srgbClr val="E4F8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67512" y="393192"/>
            <a:ext cx="1016812" cy="246888"/>
          </a:xfrm>
          <a:prstGeom prst="rect">
            <a:avLst/>
          </a:prstGeom>
          <a:noFill/>
        </p:spPr>
        <p:txBody>
          <a:bodyPr wrap="square" lIns="27432" rIns="27432" tIns="27432" bIns="27432" anchor="ctr">
            <a:spAutoFit/>
          </a:bodyPr>
          <a:lstStyle/>
          <a:p>
            <a:pPr algn="ctr"/>
            <a:r>
              <a:rPr sz="950" b="1">
                <a:solidFill>
                  <a:srgbClr val="06A6B5"/>
                </a:solidFill>
                <a:latin typeface="Aptos"/>
              </a:rPr>
              <a:t>TRAÇABILITÉ</a:t>
            </a:r>
          </a:p>
        </p:txBody>
      </p:sp>
      <p:sp>
        <p:nvSpPr>
          <p:cNvPr id="4" name="TextBox 3"/>
          <p:cNvSpPr txBox="1"/>
          <p:nvPr/>
        </p:nvSpPr>
        <p:spPr>
          <a:xfrm>
            <a:off x="621792" y="795528"/>
            <a:ext cx="10972800" cy="530352"/>
          </a:xfrm>
          <a:prstGeom prst="rect">
            <a:avLst/>
          </a:prstGeom>
          <a:noFill/>
        </p:spPr>
        <p:txBody>
          <a:bodyPr wrap="square" lIns="27432" rIns="27432" tIns="27432" bIns="27432" anchor="t">
            <a:spAutoFit/>
          </a:bodyPr>
          <a:lstStyle/>
          <a:p>
            <a:pPr algn="l"/>
            <a:r>
              <a:rPr sz="2850" b="1">
                <a:solidFill>
                  <a:srgbClr val="0B1F3A"/>
                </a:solidFill>
                <a:latin typeface="Aptos Display"/>
              </a:rPr>
              <a:t>PostgreSQL relie les faits, les preuves et la décision</a:t>
            </a:r>
          </a:p>
        </p:txBody>
      </p:sp>
      <p:sp>
        <p:nvSpPr>
          <p:cNvPr id="5" name="Rectangle 4"/>
          <p:cNvSpPr/>
          <p:nvPr/>
        </p:nvSpPr>
        <p:spPr>
          <a:xfrm>
            <a:off x="621792" y="1380744"/>
            <a:ext cx="10972800" cy="22860"/>
          </a:xfrm>
          <a:prstGeom prst="rect">
            <a:avLst/>
          </a:prstGeom>
          <a:solidFill>
            <a:srgbClr val="DCE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6519672"/>
            <a:ext cx="4937760" cy="164592"/>
          </a:xfrm>
          <a:prstGeom prst="rect">
            <a:avLst/>
          </a:prstGeom>
          <a:noFill/>
        </p:spPr>
        <p:txBody>
          <a:bodyPr wrap="square" lIns="27432" rIns="27432" tIns="27432" bIns="27432" anchor="t">
            <a:spAutoFit/>
          </a:bodyPr>
          <a:lstStyle/>
          <a:p>
            <a:pPr algn="l"/>
            <a:r>
              <a:rPr sz="840" b="1">
                <a:solidFill>
                  <a:srgbClr val="8A98AA"/>
                </a:solidFill>
                <a:latin typeface="Aptos"/>
              </a:rPr>
              <a:t>ONE TECH BUSINESS SOLUTIONS  ·  CY TECH</a:t>
            </a:r>
          </a:p>
        </p:txBody>
      </p:sp>
      <p:sp>
        <p:nvSpPr>
          <p:cNvPr id="7" name="TextBox 6"/>
          <p:cNvSpPr txBox="1"/>
          <p:nvPr/>
        </p:nvSpPr>
        <p:spPr>
          <a:xfrm>
            <a:off x="8321040" y="6519672"/>
            <a:ext cx="3063240" cy="164592"/>
          </a:xfrm>
          <a:prstGeom prst="rect">
            <a:avLst/>
          </a:prstGeom>
          <a:noFill/>
        </p:spPr>
        <p:txBody>
          <a:bodyPr wrap="square" lIns="27432" rIns="27432" tIns="27432" bIns="27432" anchor="t">
            <a:spAutoFit/>
          </a:bodyPr>
          <a:lstStyle/>
          <a:p>
            <a:pPr algn="r"/>
            <a:r>
              <a:rPr sz="840" b="1">
                <a:solidFill>
                  <a:srgbClr val="8A98AA"/>
                </a:solidFill>
                <a:latin typeface="Aptos"/>
              </a:rPr>
              <a:t>TRAÇABILITÉ</a:t>
            </a:r>
          </a:p>
        </p:txBody>
      </p:sp>
      <p:sp>
        <p:nvSpPr>
          <p:cNvPr id="8" name="Oval 7"/>
          <p:cNvSpPr/>
          <p:nvPr/>
        </p:nvSpPr>
        <p:spPr>
          <a:xfrm>
            <a:off x="11466576" y="6428232"/>
            <a:ext cx="256032" cy="256032"/>
          </a:xfrm>
          <a:prstGeom prst="ellipse">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66576" y="6437376"/>
            <a:ext cx="256032" cy="237744"/>
          </a:xfrm>
          <a:prstGeom prst="rect">
            <a:avLst/>
          </a:prstGeom>
          <a:noFill/>
        </p:spPr>
        <p:txBody>
          <a:bodyPr wrap="square" lIns="27432" rIns="27432" tIns="27432" bIns="27432" anchor="ctr">
            <a:spAutoFit/>
          </a:bodyPr>
          <a:lstStyle/>
          <a:p>
            <a:pPr algn="ctr"/>
            <a:r>
              <a:rPr sz="850" b="1">
                <a:solidFill>
                  <a:srgbClr val="FFFFFF"/>
                </a:solidFill>
                <a:latin typeface="Aptos"/>
              </a:rPr>
              <a:t>7</a:t>
            </a:r>
          </a:p>
        </p:txBody>
      </p:sp>
      <p:pic>
        <p:nvPicPr>
          <p:cNvPr id="10" name="Picture 9" descr="traceability_data.png"/>
          <p:cNvPicPr>
            <a:picLocks noChangeAspect="1"/>
          </p:cNvPicPr>
          <p:nvPr/>
        </p:nvPicPr>
        <p:blipFill>
          <a:blip r:embed="rId2"/>
          <a:stretch>
            <a:fillRect/>
          </a:stretch>
        </p:blipFill>
        <p:spPr>
          <a:xfrm>
            <a:off x="640080" y="1508760"/>
            <a:ext cx="11000232" cy="4828032"/>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ounded Rectangle 1"/>
          <p:cNvSpPr/>
          <p:nvPr/>
        </p:nvSpPr>
        <p:spPr>
          <a:xfrm>
            <a:off x="621792" y="384048"/>
            <a:ext cx="976579" cy="292608"/>
          </a:xfrm>
          <a:prstGeom prst="roundRect">
            <a:avLst/>
          </a:prstGeom>
          <a:solidFill>
            <a:srgbClr val="E4F8FA"/>
          </a:solidFill>
          <a:ln w="6350">
            <a:solidFill>
              <a:srgbClr val="E4F8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67512" y="393192"/>
            <a:ext cx="885139" cy="246888"/>
          </a:xfrm>
          <a:prstGeom prst="rect">
            <a:avLst/>
          </a:prstGeom>
          <a:noFill/>
        </p:spPr>
        <p:txBody>
          <a:bodyPr wrap="square" lIns="27432" rIns="27432" tIns="27432" bIns="27432" anchor="ctr">
            <a:spAutoFit/>
          </a:bodyPr>
          <a:lstStyle/>
          <a:p>
            <a:pPr algn="ctr"/>
            <a:r>
              <a:rPr sz="950" b="1">
                <a:solidFill>
                  <a:srgbClr val="06A6B5"/>
                </a:solidFill>
                <a:latin typeface="Aptos"/>
              </a:rPr>
              <a:t>DOCUMENTS</a:t>
            </a:r>
          </a:p>
        </p:txBody>
      </p:sp>
      <p:sp>
        <p:nvSpPr>
          <p:cNvPr id="4" name="TextBox 3"/>
          <p:cNvSpPr txBox="1"/>
          <p:nvPr/>
        </p:nvSpPr>
        <p:spPr>
          <a:xfrm>
            <a:off x="621792" y="795528"/>
            <a:ext cx="10972800" cy="530352"/>
          </a:xfrm>
          <a:prstGeom prst="rect">
            <a:avLst/>
          </a:prstGeom>
          <a:noFill/>
        </p:spPr>
        <p:txBody>
          <a:bodyPr wrap="square" lIns="27432" rIns="27432" tIns="27432" bIns="27432" anchor="t">
            <a:spAutoFit/>
          </a:bodyPr>
          <a:lstStyle/>
          <a:p>
            <a:pPr algn="l"/>
            <a:r>
              <a:rPr sz="2850" b="1">
                <a:solidFill>
                  <a:srgbClr val="0B1F3A"/>
                </a:solidFill>
                <a:latin typeface="Aptos Display"/>
              </a:rPr>
              <a:t>Du fichier brut au texte exploitable</a:t>
            </a:r>
          </a:p>
        </p:txBody>
      </p:sp>
      <p:sp>
        <p:nvSpPr>
          <p:cNvPr id="5" name="Rectangle 4"/>
          <p:cNvSpPr/>
          <p:nvPr/>
        </p:nvSpPr>
        <p:spPr>
          <a:xfrm>
            <a:off x="621792" y="1380744"/>
            <a:ext cx="10972800" cy="22860"/>
          </a:xfrm>
          <a:prstGeom prst="rect">
            <a:avLst/>
          </a:prstGeom>
          <a:solidFill>
            <a:srgbClr val="DCE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6519672"/>
            <a:ext cx="4937760" cy="164592"/>
          </a:xfrm>
          <a:prstGeom prst="rect">
            <a:avLst/>
          </a:prstGeom>
          <a:noFill/>
        </p:spPr>
        <p:txBody>
          <a:bodyPr wrap="square" lIns="27432" rIns="27432" tIns="27432" bIns="27432" anchor="t">
            <a:spAutoFit/>
          </a:bodyPr>
          <a:lstStyle/>
          <a:p>
            <a:pPr algn="l"/>
            <a:r>
              <a:rPr sz="840" b="1">
                <a:solidFill>
                  <a:srgbClr val="8A98AA"/>
                </a:solidFill>
                <a:latin typeface="Aptos"/>
              </a:rPr>
              <a:t>ONE TECH BUSINESS SOLUTIONS  ·  CY TECH</a:t>
            </a:r>
          </a:p>
        </p:txBody>
      </p:sp>
      <p:sp>
        <p:nvSpPr>
          <p:cNvPr id="7" name="TextBox 6"/>
          <p:cNvSpPr txBox="1"/>
          <p:nvPr/>
        </p:nvSpPr>
        <p:spPr>
          <a:xfrm>
            <a:off x="8321040" y="6519672"/>
            <a:ext cx="3063240" cy="164592"/>
          </a:xfrm>
          <a:prstGeom prst="rect">
            <a:avLst/>
          </a:prstGeom>
          <a:noFill/>
        </p:spPr>
        <p:txBody>
          <a:bodyPr wrap="square" lIns="27432" rIns="27432" tIns="27432" bIns="27432" anchor="t">
            <a:spAutoFit/>
          </a:bodyPr>
          <a:lstStyle/>
          <a:p>
            <a:pPr algn="r"/>
            <a:r>
              <a:rPr sz="840" b="1">
                <a:solidFill>
                  <a:srgbClr val="8A98AA"/>
                </a:solidFill>
                <a:latin typeface="Aptos"/>
              </a:rPr>
              <a:t>DOCUMENTS</a:t>
            </a:r>
          </a:p>
        </p:txBody>
      </p:sp>
      <p:sp>
        <p:nvSpPr>
          <p:cNvPr id="8" name="Oval 7"/>
          <p:cNvSpPr/>
          <p:nvPr/>
        </p:nvSpPr>
        <p:spPr>
          <a:xfrm>
            <a:off x="11466576" y="6428232"/>
            <a:ext cx="256032" cy="256032"/>
          </a:xfrm>
          <a:prstGeom prst="ellipse">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66576" y="6437376"/>
            <a:ext cx="256032" cy="237744"/>
          </a:xfrm>
          <a:prstGeom prst="rect">
            <a:avLst/>
          </a:prstGeom>
          <a:noFill/>
        </p:spPr>
        <p:txBody>
          <a:bodyPr wrap="square" lIns="27432" rIns="27432" tIns="27432" bIns="27432" anchor="ctr">
            <a:spAutoFit/>
          </a:bodyPr>
          <a:lstStyle/>
          <a:p>
            <a:pPr algn="ctr"/>
            <a:r>
              <a:rPr sz="850" b="1">
                <a:solidFill>
                  <a:srgbClr val="FFFFFF"/>
                </a:solidFill>
                <a:latin typeface="Aptos"/>
              </a:rPr>
              <a:t>8</a:t>
            </a:r>
          </a:p>
        </p:txBody>
      </p:sp>
      <p:pic>
        <p:nvPicPr>
          <p:cNvPr id="10" name="Picture 9" descr="pipeline_documents.png"/>
          <p:cNvPicPr>
            <a:picLocks noChangeAspect="1"/>
          </p:cNvPicPr>
          <p:nvPr/>
        </p:nvPicPr>
        <p:blipFill>
          <a:blip r:embed="rId2"/>
          <a:stretch>
            <a:fillRect/>
          </a:stretch>
        </p:blipFill>
        <p:spPr>
          <a:xfrm>
            <a:off x="640080" y="1508760"/>
            <a:ext cx="11000232" cy="4828032"/>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ounded Rectangle 1"/>
          <p:cNvSpPr/>
          <p:nvPr/>
        </p:nvSpPr>
        <p:spPr>
          <a:xfrm>
            <a:off x="621792" y="384048"/>
            <a:ext cx="1437436" cy="292608"/>
          </a:xfrm>
          <a:prstGeom prst="roundRect">
            <a:avLst/>
          </a:prstGeom>
          <a:solidFill>
            <a:srgbClr val="E4F8FA"/>
          </a:solidFill>
          <a:ln w="6350">
            <a:solidFill>
              <a:srgbClr val="E4F8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67512" y="393192"/>
            <a:ext cx="1345996" cy="246888"/>
          </a:xfrm>
          <a:prstGeom prst="rect">
            <a:avLst/>
          </a:prstGeom>
          <a:noFill/>
        </p:spPr>
        <p:txBody>
          <a:bodyPr wrap="square" lIns="27432" rIns="27432" tIns="27432" bIns="27432" anchor="ctr">
            <a:spAutoFit/>
          </a:bodyPr>
          <a:lstStyle/>
          <a:p>
            <a:pPr algn="ctr"/>
            <a:r>
              <a:rPr sz="950" b="1">
                <a:solidFill>
                  <a:srgbClr val="06A6B5"/>
                </a:solidFill>
                <a:latin typeface="Aptos"/>
              </a:rPr>
              <a:t>ANALYSE GO/NO-GO</a:t>
            </a:r>
          </a:p>
        </p:txBody>
      </p:sp>
      <p:sp>
        <p:nvSpPr>
          <p:cNvPr id="4" name="TextBox 3"/>
          <p:cNvSpPr txBox="1"/>
          <p:nvPr/>
        </p:nvSpPr>
        <p:spPr>
          <a:xfrm>
            <a:off x="621792" y="795528"/>
            <a:ext cx="10972800" cy="530352"/>
          </a:xfrm>
          <a:prstGeom prst="rect">
            <a:avLst/>
          </a:prstGeom>
          <a:noFill/>
        </p:spPr>
        <p:txBody>
          <a:bodyPr wrap="square" lIns="27432" rIns="27432" tIns="27432" bIns="27432" anchor="t">
            <a:spAutoFit/>
          </a:bodyPr>
          <a:lstStyle/>
          <a:p>
            <a:pPr algn="l"/>
            <a:r>
              <a:rPr sz="2850" b="1">
                <a:solidFill>
                  <a:srgbClr val="0B1F3A"/>
                </a:solidFill>
                <a:latin typeface="Aptos Display"/>
              </a:rPr>
              <a:t>Une recommandation liée à ce qui a été lu</a:t>
            </a:r>
          </a:p>
        </p:txBody>
      </p:sp>
      <p:sp>
        <p:nvSpPr>
          <p:cNvPr id="5" name="Rectangle 4"/>
          <p:cNvSpPr/>
          <p:nvPr/>
        </p:nvSpPr>
        <p:spPr>
          <a:xfrm>
            <a:off x="621792" y="1380744"/>
            <a:ext cx="10972800" cy="22860"/>
          </a:xfrm>
          <a:prstGeom prst="rect">
            <a:avLst/>
          </a:prstGeom>
          <a:solidFill>
            <a:srgbClr val="DCE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6519672"/>
            <a:ext cx="4937760" cy="164592"/>
          </a:xfrm>
          <a:prstGeom prst="rect">
            <a:avLst/>
          </a:prstGeom>
          <a:noFill/>
        </p:spPr>
        <p:txBody>
          <a:bodyPr wrap="square" lIns="27432" rIns="27432" tIns="27432" bIns="27432" anchor="t">
            <a:spAutoFit/>
          </a:bodyPr>
          <a:lstStyle/>
          <a:p>
            <a:pPr algn="l"/>
            <a:r>
              <a:rPr sz="840" b="1">
                <a:solidFill>
                  <a:srgbClr val="8A98AA"/>
                </a:solidFill>
                <a:latin typeface="Aptos"/>
              </a:rPr>
              <a:t>ONE TECH BUSINESS SOLUTIONS  ·  CY TECH</a:t>
            </a:r>
          </a:p>
        </p:txBody>
      </p:sp>
      <p:sp>
        <p:nvSpPr>
          <p:cNvPr id="7" name="TextBox 6"/>
          <p:cNvSpPr txBox="1"/>
          <p:nvPr/>
        </p:nvSpPr>
        <p:spPr>
          <a:xfrm>
            <a:off x="8321040" y="6519672"/>
            <a:ext cx="3063240" cy="164592"/>
          </a:xfrm>
          <a:prstGeom prst="rect">
            <a:avLst/>
          </a:prstGeom>
          <a:noFill/>
        </p:spPr>
        <p:txBody>
          <a:bodyPr wrap="square" lIns="27432" rIns="27432" tIns="27432" bIns="27432" anchor="t">
            <a:spAutoFit/>
          </a:bodyPr>
          <a:lstStyle/>
          <a:p>
            <a:pPr algn="r"/>
            <a:r>
              <a:rPr sz="840" b="1">
                <a:solidFill>
                  <a:srgbClr val="8A98AA"/>
                </a:solidFill>
                <a:latin typeface="Aptos"/>
              </a:rPr>
              <a:t>ANALYSE GO/NO-GO</a:t>
            </a:r>
          </a:p>
        </p:txBody>
      </p:sp>
      <p:sp>
        <p:nvSpPr>
          <p:cNvPr id="8" name="Oval 7"/>
          <p:cNvSpPr/>
          <p:nvPr/>
        </p:nvSpPr>
        <p:spPr>
          <a:xfrm>
            <a:off x="11466576" y="6428232"/>
            <a:ext cx="256032" cy="256032"/>
          </a:xfrm>
          <a:prstGeom prst="ellipse">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66576" y="6437376"/>
            <a:ext cx="256032" cy="237744"/>
          </a:xfrm>
          <a:prstGeom prst="rect">
            <a:avLst/>
          </a:prstGeom>
          <a:noFill/>
        </p:spPr>
        <p:txBody>
          <a:bodyPr wrap="square" lIns="27432" rIns="27432" tIns="27432" bIns="27432" anchor="ctr">
            <a:spAutoFit/>
          </a:bodyPr>
          <a:lstStyle/>
          <a:p>
            <a:pPr algn="ctr"/>
            <a:r>
              <a:rPr sz="850" b="1">
                <a:solidFill>
                  <a:srgbClr val="FFFFFF"/>
                </a:solidFill>
                <a:latin typeface="Aptos"/>
              </a:rPr>
              <a:t>9</a:t>
            </a:r>
          </a:p>
        </p:txBody>
      </p:sp>
      <p:sp>
        <p:nvSpPr>
          <p:cNvPr id="10" name="Rounded Rectangle 9"/>
          <p:cNvSpPr/>
          <p:nvPr/>
        </p:nvSpPr>
        <p:spPr>
          <a:xfrm>
            <a:off x="676656" y="1719072"/>
            <a:ext cx="3840480" cy="4224528"/>
          </a:xfrm>
          <a:prstGeom prst="roundRect">
            <a:avLst/>
          </a:prstGeom>
          <a:solidFill>
            <a:srgbClr val="FFFFFF"/>
          </a:solidFill>
          <a:ln w="12700">
            <a:solidFill>
              <a:srgbClr val="DCE4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60120" y="1993392"/>
            <a:ext cx="1207008" cy="292608"/>
          </a:xfrm>
          <a:prstGeom prst="roundRect">
            <a:avLst/>
          </a:prstGeom>
          <a:solidFill>
            <a:srgbClr val="EAF0FF"/>
          </a:solidFill>
          <a:ln w="6350">
            <a:solidFill>
              <a:srgbClr val="EA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2002536"/>
            <a:ext cx="1115568" cy="246888"/>
          </a:xfrm>
          <a:prstGeom prst="rect">
            <a:avLst/>
          </a:prstGeom>
          <a:noFill/>
        </p:spPr>
        <p:txBody>
          <a:bodyPr wrap="square" lIns="27432" rIns="27432" tIns="27432" bIns="27432" anchor="ctr">
            <a:spAutoFit/>
          </a:bodyPr>
          <a:lstStyle/>
          <a:p>
            <a:pPr algn="ctr"/>
            <a:r>
              <a:rPr sz="1050" b="1">
                <a:solidFill>
                  <a:srgbClr val="2D65F2"/>
                </a:solidFill>
                <a:latin typeface="Aptos"/>
              </a:rPr>
              <a:t>CAS VALIDÉ</a:t>
            </a:r>
          </a:p>
        </p:txBody>
      </p:sp>
      <p:sp>
        <p:nvSpPr>
          <p:cNvPr id="13" name="TextBox 12"/>
          <p:cNvSpPr txBox="1"/>
          <p:nvPr/>
        </p:nvSpPr>
        <p:spPr>
          <a:xfrm>
            <a:off x="960120" y="2487168"/>
            <a:ext cx="2971800" cy="320040"/>
          </a:xfrm>
          <a:prstGeom prst="rect">
            <a:avLst/>
          </a:prstGeom>
          <a:noFill/>
        </p:spPr>
        <p:txBody>
          <a:bodyPr wrap="square" lIns="27432" rIns="27432" tIns="27432" bIns="27432" anchor="t">
            <a:spAutoFit/>
          </a:bodyPr>
          <a:lstStyle/>
          <a:p>
            <a:pPr algn="l"/>
            <a:r>
              <a:rPr sz="2000" b="1">
                <a:solidFill>
                  <a:srgbClr val="0B1F3A"/>
                </a:solidFill>
                <a:latin typeface="Aptos"/>
              </a:rPr>
              <a:t>Tender-103307</a:t>
            </a:r>
          </a:p>
        </p:txBody>
      </p:sp>
      <p:sp>
        <p:nvSpPr>
          <p:cNvPr id="14" name="TextBox 13"/>
          <p:cNvSpPr txBox="1"/>
          <p:nvPr/>
        </p:nvSpPr>
        <p:spPr>
          <a:xfrm>
            <a:off x="960120" y="2907792"/>
            <a:ext cx="2194560" cy="256032"/>
          </a:xfrm>
          <a:prstGeom prst="rect">
            <a:avLst/>
          </a:prstGeom>
          <a:noFill/>
        </p:spPr>
        <p:txBody>
          <a:bodyPr wrap="square" lIns="27432" rIns="27432" tIns="27432" bIns="27432" anchor="t">
            <a:spAutoFit/>
          </a:bodyPr>
          <a:lstStyle/>
          <a:p>
            <a:pPr algn="l"/>
            <a:r>
              <a:rPr sz="1150" b="1">
                <a:solidFill>
                  <a:srgbClr val="66758A"/>
                </a:solidFill>
                <a:latin typeface="Aptos"/>
              </a:rPr>
              <a:t>2/2 documents lus</a:t>
            </a:r>
          </a:p>
        </p:txBody>
      </p:sp>
      <p:sp>
        <p:nvSpPr>
          <p:cNvPr id="15" name="TextBox 14"/>
          <p:cNvSpPr txBox="1"/>
          <p:nvPr/>
        </p:nvSpPr>
        <p:spPr>
          <a:xfrm>
            <a:off x="960120" y="3401568"/>
            <a:ext cx="1024128" cy="658368"/>
          </a:xfrm>
          <a:prstGeom prst="rect">
            <a:avLst/>
          </a:prstGeom>
          <a:noFill/>
        </p:spPr>
        <p:txBody>
          <a:bodyPr wrap="square" lIns="27432" rIns="27432" tIns="27432" bIns="27432" anchor="t">
            <a:spAutoFit/>
          </a:bodyPr>
          <a:lstStyle/>
          <a:p>
            <a:pPr algn="l"/>
            <a:r>
              <a:rPr sz="4400" b="1">
                <a:solidFill>
                  <a:srgbClr val="E35D6A"/>
                </a:solidFill>
                <a:latin typeface="Aptos"/>
              </a:rPr>
              <a:t>36</a:t>
            </a:r>
          </a:p>
        </p:txBody>
      </p:sp>
      <p:sp>
        <p:nvSpPr>
          <p:cNvPr id="16" name="TextBox 15"/>
          <p:cNvSpPr txBox="1"/>
          <p:nvPr/>
        </p:nvSpPr>
        <p:spPr>
          <a:xfrm>
            <a:off x="1965960" y="3730752"/>
            <a:ext cx="777240" cy="274320"/>
          </a:xfrm>
          <a:prstGeom prst="rect">
            <a:avLst/>
          </a:prstGeom>
          <a:noFill/>
        </p:spPr>
        <p:txBody>
          <a:bodyPr wrap="square" lIns="27432" rIns="27432" tIns="27432" bIns="27432" anchor="t">
            <a:spAutoFit/>
          </a:bodyPr>
          <a:lstStyle/>
          <a:p>
            <a:pPr algn="l"/>
            <a:r>
              <a:rPr sz="1500" b="1">
                <a:solidFill>
                  <a:srgbClr val="66758A"/>
                </a:solidFill>
                <a:latin typeface="Aptos"/>
              </a:rPr>
              <a:t>/100</a:t>
            </a:r>
          </a:p>
        </p:txBody>
      </p:sp>
      <p:sp>
        <p:nvSpPr>
          <p:cNvPr id="17" name="Rounded Rectangle 16"/>
          <p:cNvSpPr/>
          <p:nvPr/>
        </p:nvSpPr>
        <p:spPr>
          <a:xfrm>
            <a:off x="2907792" y="3602736"/>
            <a:ext cx="1078992" cy="292608"/>
          </a:xfrm>
          <a:prstGeom prst="roundRect">
            <a:avLst/>
          </a:prstGeom>
          <a:solidFill>
            <a:srgbClr val="FDECEF"/>
          </a:solidFill>
          <a:ln w="6350">
            <a:solidFill>
              <a:srgbClr val="FDEC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53512" y="3611879"/>
            <a:ext cx="987551" cy="246888"/>
          </a:xfrm>
          <a:prstGeom prst="rect">
            <a:avLst/>
          </a:prstGeom>
          <a:noFill/>
        </p:spPr>
        <p:txBody>
          <a:bodyPr wrap="square" lIns="27432" rIns="27432" tIns="27432" bIns="27432" anchor="ctr">
            <a:spAutoFit/>
          </a:bodyPr>
          <a:lstStyle/>
          <a:p>
            <a:pPr algn="ctr"/>
            <a:r>
              <a:rPr sz="1200" b="1">
                <a:solidFill>
                  <a:srgbClr val="E35D6A"/>
                </a:solidFill>
                <a:latin typeface="Aptos"/>
              </a:rPr>
              <a:t>NO_GO</a:t>
            </a:r>
          </a:p>
        </p:txBody>
      </p:sp>
      <p:sp>
        <p:nvSpPr>
          <p:cNvPr id="19" name="TextBox 18"/>
          <p:cNvSpPr txBox="1"/>
          <p:nvPr/>
        </p:nvSpPr>
        <p:spPr>
          <a:xfrm>
            <a:off x="960120" y="4343400"/>
            <a:ext cx="1508760" cy="274320"/>
          </a:xfrm>
          <a:prstGeom prst="rect">
            <a:avLst/>
          </a:prstGeom>
          <a:noFill/>
        </p:spPr>
        <p:txBody>
          <a:bodyPr wrap="square" lIns="27432" rIns="27432" tIns="27432" bIns="27432" anchor="t">
            <a:spAutoFit/>
          </a:bodyPr>
          <a:lstStyle/>
          <a:p>
            <a:pPr algn="l"/>
            <a:r>
              <a:rPr sz="1100" b="1">
                <a:solidFill>
                  <a:srgbClr val="17243B"/>
                </a:solidFill>
                <a:latin typeface="Aptos"/>
              </a:rPr>
              <a:t>Analyse ID 53</a:t>
            </a:r>
          </a:p>
        </p:txBody>
      </p:sp>
      <p:sp>
        <p:nvSpPr>
          <p:cNvPr id="20" name="TextBox 19"/>
          <p:cNvSpPr txBox="1"/>
          <p:nvPr/>
        </p:nvSpPr>
        <p:spPr>
          <a:xfrm>
            <a:off x="960120" y="4700016"/>
            <a:ext cx="1691640" cy="274320"/>
          </a:xfrm>
          <a:prstGeom prst="rect">
            <a:avLst/>
          </a:prstGeom>
          <a:noFill/>
        </p:spPr>
        <p:txBody>
          <a:bodyPr wrap="square" lIns="27432" rIns="27432" tIns="27432" bIns="27432" anchor="t">
            <a:spAutoFit/>
          </a:bodyPr>
          <a:lstStyle/>
          <a:p>
            <a:pPr algn="l"/>
            <a:r>
              <a:rPr sz="1100" b="1">
                <a:solidFill>
                  <a:srgbClr val="28B487"/>
                </a:solidFill>
                <a:latin typeface="Aptos"/>
              </a:rPr>
              <a:t>Replay → même ID</a:t>
            </a:r>
          </a:p>
        </p:txBody>
      </p:sp>
      <p:sp>
        <p:nvSpPr>
          <p:cNvPr id="21" name="TextBox 20"/>
          <p:cNvSpPr txBox="1"/>
          <p:nvPr/>
        </p:nvSpPr>
        <p:spPr>
          <a:xfrm>
            <a:off x="960120" y="5056632"/>
            <a:ext cx="1874519" cy="274320"/>
          </a:xfrm>
          <a:prstGeom prst="rect">
            <a:avLst/>
          </a:prstGeom>
          <a:noFill/>
        </p:spPr>
        <p:txBody>
          <a:bodyPr wrap="square" lIns="27432" rIns="27432" tIns="27432" bIns="27432" anchor="t">
            <a:spAutoFit/>
          </a:bodyPr>
          <a:lstStyle/>
          <a:p>
            <a:pPr algn="l"/>
            <a:r>
              <a:rPr sz="1100" b="1">
                <a:solidFill>
                  <a:srgbClr val="06A6B5"/>
                </a:solidFill>
                <a:latin typeface="Aptos"/>
              </a:rPr>
              <a:t>Profil OneTech validé</a:t>
            </a:r>
          </a:p>
        </p:txBody>
      </p:sp>
      <p:sp>
        <p:nvSpPr>
          <p:cNvPr id="22" name="TextBox 21"/>
          <p:cNvSpPr txBox="1"/>
          <p:nvPr/>
        </p:nvSpPr>
        <p:spPr>
          <a:xfrm>
            <a:off x="960120" y="5504688"/>
            <a:ext cx="3035808" cy="274320"/>
          </a:xfrm>
          <a:prstGeom prst="rect">
            <a:avLst/>
          </a:prstGeom>
          <a:noFill/>
        </p:spPr>
        <p:txBody>
          <a:bodyPr wrap="square" lIns="27432" rIns="27432" tIns="27432" bIns="27432" anchor="t">
            <a:spAutoFit/>
          </a:bodyPr>
          <a:lstStyle/>
          <a:p>
            <a:pPr algn="l"/>
            <a:r>
              <a:rPr sz="1080" b="0">
                <a:solidFill>
                  <a:srgbClr val="66758A"/>
                </a:solidFill>
                <a:latin typeface="Aptos"/>
              </a:rPr>
              <a:t>Une décision argumentée et reproductible.</a:t>
            </a:r>
          </a:p>
        </p:txBody>
      </p:sp>
      <p:sp>
        <p:nvSpPr>
          <p:cNvPr id="23" name="Rounded Rectangle 22"/>
          <p:cNvSpPr/>
          <p:nvPr/>
        </p:nvSpPr>
        <p:spPr>
          <a:xfrm>
            <a:off x="4791456" y="1709928"/>
            <a:ext cx="6812280" cy="667512"/>
          </a:xfrm>
          <a:prstGeom prst="roundRect">
            <a:avLst/>
          </a:prstGeom>
          <a:solidFill>
            <a:srgbClr val="FFFFFF"/>
          </a:solidFill>
          <a:ln w="12700">
            <a:solidFill>
              <a:srgbClr val="DCE4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791456" y="1709928"/>
            <a:ext cx="64008" cy="667512"/>
          </a:xfrm>
          <a:prstGeom prst="rect">
            <a:avLst/>
          </a:prstGeom>
          <a:solidFill>
            <a:srgbClr val="2D6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01768" y="1865376"/>
            <a:ext cx="6437376" cy="301752"/>
          </a:xfrm>
          <a:prstGeom prst="rect">
            <a:avLst/>
          </a:prstGeom>
          <a:noFill/>
        </p:spPr>
        <p:txBody>
          <a:bodyPr wrap="square" lIns="27432" rIns="27432" tIns="27432" bIns="27432" anchor="ctr">
            <a:spAutoFit/>
          </a:bodyPr>
          <a:lstStyle/>
          <a:p>
            <a:pPr algn="l"/>
            <a:r>
              <a:rPr sz="1240" b="1">
                <a:solidFill>
                  <a:srgbClr val="17243B"/>
                </a:solidFill>
                <a:latin typeface="Aptos"/>
              </a:rPr>
              <a:t>Contexte borné</a:t>
            </a:r>
          </a:p>
        </p:txBody>
      </p:sp>
      <p:sp>
        <p:nvSpPr>
          <p:cNvPr id="26" name="TextBox 25"/>
          <p:cNvSpPr txBox="1"/>
          <p:nvPr/>
        </p:nvSpPr>
        <p:spPr>
          <a:xfrm>
            <a:off x="5001768" y="2240280"/>
            <a:ext cx="6428232" cy="36576"/>
          </a:xfrm>
          <a:prstGeom prst="rect">
            <a:avLst/>
          </a:prstGeom>
          <a:noFill/>
        </p:spPr>
        <p:txBody>
          <a:bodyPr wrap="square" lIns="27432" rIns="27432" tIns="27432" bIns="27432" anchor="t">
            <a:spAutoFit/>
          </a:bodyPr>
          <a:lstStyle/>
          <a:p>
            <a:pPr algn="l">
              <a:lnSpc>
                <a:spcPct val="100000"/>
              </a:lnSpc>
            </a:pPr>
            <a:r>
              <a:rPr sz="969" b="0">
                <a:solidFill>
                  <a:srgbClr val="66758A"/>
                </a:solidFill>
                <a:latin typeface="Aptos"/>
              </a:rPr>
              <a:t>Export PostgreSQL complet</a:t>
            </a:r>
          </a:p>
        </p:txBody>
      </p:sp>
      <p:sp>
        <p:nvSpPr>
          <p:cNvPr id="27" name="Rounded Rectangle 26"/>
          <p:cNvSpPr/>
          <p:nvPr/>
        </p:nvSpPr>
        <p:spPr>
          <a:xfrm>
            <a:off x="4791456" y="2542032"/>
            <a:ext cx="6812280" cy="667512"/>
          </a:xfrm>
          <a:prstGeom prst="roundRect">
            <a:avLst/>
          </a:prstGeom>
          <a:solidFill>
            <a:srgbClr val="FFFFFF"/>
          </a:solidFill>
          <a:ln w="12700">
            <a:solidFill>
              <a:srgbClr val="DCE4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791456" y="2542032"/>
            <a:ext cx="64008" cy="667512"/>
          </a:xfrm>
          <a:prstGeom prst="rect">
            <a:avLst/>
          </a:prstGeom>
          <a:solidFill>
            <a:srgbClr val="06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01768" y="2697480"/>
            <a:ext cx="6437376" cy="301752"/>
          </a:xfrm>
          <a:prstGeom prst="rect">
            <a:avLst/>
          </a:prstGeom>
          <a:noFill/>
        </p:spPr>
        <p:txBody>
          <a:bodyPr wrap="square" lIns="27432" rIns="27432" tIns="27432" bIns="27432" anchor="ctr">
            <a:spAutoFit/>
          </a:bodyPr>
          <a:lstStyle/>
          <a:p>
            <a:pPr algn="l"/>
            <a:r>
              <a:rPr sz="1240" b="1">
                <a:solidFill>
                  <a:srgbClr val="17243B"/>
                </a:solidFill>
                <a:latin typeface="Aptos"/>
              </a:rPr>
              <a:t>Contexte hashé</a:t>
            </a:r>
          </a:p>
        </p:txBody>
      </p:sp>
      <p:sp>
        <p:nvSpPr>
          <p:cNvPr id="30" name="TextBox 29"/>
          <p:cNvSpPr txBox="1"/>
          <p:nvPr/>
        </p:nvSpPr>
        <p:spPr>
          <a:xfrm>
            <a:off x="5001768" y="3072384"/>
            <a:ext cx="6428232" cy="36576"/>
          </a:xfrm>
          <a:prstGeom prst="rect">
            <a:avLst/>
          </a:prstGeom>
          <a:noFill/>
        </p:spPr>
        <p:txBody>
          <a:bodyPr wrap="square" lIns="27432" rIns="27432" tIns="27432" bIns="27432" anchor="t">
            <a:spAutoFit/>
          </a:bodyPr>
          <a:lstStyle/>
          <a:p>
            <a:pPr algn="l">
              <a:lnSpc>
                <a:spcPct val="100000"/>
              </a:lnSpc>
            </a:pPr>
            <a:r>
              <a:rPr sz="969" b="0">
                <a:solidFill>
                  <a:srgbClr val="66758A"/>
                </a:solidFill>
                <a:latin typeface="Aptos"/>
              </a:rPr>
              <a:t>Décision liée au snapshot</a:t>
            </a:r>
          </a:p>
        </p:txBody>
      </p:sp>
      <p:sp>
        <p:nvSpPr>
          <p:cNvPr id="31" name="Rounded Rectangle 30"/>
          <p:cNvSpPr/>
          <p:nvPr/>
        </p:nvSpPr>
        <p:spPr>
          <a:xfrm>
            <a:off x="4791456" y="3374136"/>
            <a:ext cx="6812280" cy="667512"/>
          </a:xfrm>
          <a:prstGeom prst="roundRect">
            <a:avLst/>
          </a:prstGeom>
          <a:solidFill>
            <a:srgbClr val="FFFFFF"/>
          </a:solidFill>
          <a:ln w="12700">
            <a:solidFill>
              <a:srgbClr val="DCE4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791456" y="3374136"/>
            <a:ext cx="64008" cy="667512"/>
          </a:xfrm>
          <a:prstGeom prst="rect">
            <a:avLst/>
          </a:prstGeom>
          <a:solidFill>
            <a:srgbClr val="7165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001768" y="3529584"/>
            <a:ext cx="6437376" cy="301752"/>
          </a:xfrm>
          <a:prstGeom prst="rect">
            <a:avLst/>
          </a:prstGeom>
          <a:noFill/>
        </p:spPr>
        <p:txBody>
          <a:bodyPr wrap="square" lIns="27432" rIns="27432" tIns="27432" bIns="27432" anchor="ctr">
            <a:spAutoFit/>
          </a:bodyPr>
          <a:lstStyle/>
          <a:p>
            <a:pPr algn="l"/>
            <a:r>
              <a:rPr sz="1240" b="1">
                <a:solidFill>
                  <a:srgbClr val="17243B"/>
                </a:solidFill>
                <a:latin typeface="Aptos"/>
              </a:rPr>
              <a:t>Fiche en 9 sections</a:t>
            </a:r>
          </a:p>
        </p:txBody>
      </p:sp>
      <p:sp>
        <p:nvSpPr>
          <p:cNvPr id="34" name="TextBox 33"/>
          <p:cNvSpPr txBox="1"/>
          <p:nvPr/>
        </p:nvSpPr>
        <p:spPr>
          <a:xfrm>
            <a:off x="5001768" y="3904488"/>
            <a:ext cx="6428232" cy="36576"/>
          </a:xfrm>
          <a:prstGeom prst="rect">
            <a:avLst/>
          </a:prstGeom>
          <a:noFill/>
        </p:spPr>
        <p:txBody>
          <a:bodyPr wrap="square" lIns="27432" rIns="27432" tIns="27432" bIns="27432" anchor="t">
            <a:spAutoFit/>
          </a:bodyPr>
          <a:lstStyle/>
          <a:p>
            <a:pPr algn="l">
              <a:lnSpc>
                <a:spcPct val="100000"/>
              </a:lnSpc>
            </a:pPr>
            <a:r>
              <a:rPr sz="969" b="0">
                <a:solidFill>
                  <a:srgbClr val="66758A"/>
                </a:solidFill>
                <a:latin typeface="Aptos"/>
              </a:rPr>
              <a:t>Sources et risques explicites</a:t>
            </a:r>
          </a:p>
        </p:txBody>
      </p:sp>
      <p:sp>
        <p:nvSpPr>
          <p:cNvPr id="35" name="Rounded Rectangle 34"/>
          <p:cNvSpPr/>
          <p:nvPr/>
        </p:nvSpPr>
        <p:spPr>
          <a:xfrm>
            <a:off x="4791456" y="4206240"/>
            <a:ext cx="6812280" cy="667512"/>
          </a:xfrm>
          <a:prstGeom prst="roundRect">
            <a:avLst/>
          </a:prstGeom>
          <a:solidFill>
            <a:srgbClr val="FFFFFF"/>
          </a:solidFill>
          <a:ln w="12700">
            <a:solidFill>
              <a:srgbClr val="DCE4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791456" y="4206240"/>
            <a:ext cx="64008" cy="667512"/>
          </a:xfrm>
          <a:prstGeom prst="rect">
            <a:avLst/>
          </a:prstGeom>
          <a:solidFill>
            <a:srgbClr val="28B4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001768" y="4361688"/>
            <a:ext cx="6437376" cy="301752"/>
          </a:xfrm>
          <a:prstGeom prst="rect">
            <a:avLst/>
          </a:prstGeom>
          <a:noFill/>
        </p:spPr>
        <p:txBody>
          <a:bodyPr wrap="square" lIns="27432" rIns="27432" tIns="27432" bIns="27432" anchor="ctr">
            <a:spAutoFit/>
          </a:bodyPr>
          <a:lstStyle/>
          <a:p>
            <a:pPr algn="l"/>
            <a:r>
              <a:rPr sz="1240" b="1">
                <a:solidFill>
                  <a:srgbClr val="17243B"/>
                </a:solidFill>
                <a:latin typeface="Aptos"/>
              </a:rPr>
              <a:t>4 critères /25</a:t>
            </a:r>
          </a:p>
        </p:txBody>
      </p:sp>
      <p:sp>
        <p:nvSpPr>
          <p:cNvPr id="38" name="TextBox 37"/>
          <p:cNvSpPr txBox="1"/>
          <p:nvPr/>
        </p:nvSpPr>
        <p:spPr>
          <a:xfrm>
            <a:off x="5001768" y="4736592"/>
            <a:ext cx="6428232" cy="36576"/>
          </a:xfrm>
          <a:prstGeom prst="rect">
            <a:avLst/>
          </a:prstGeom>
          <a:noFill/>
        </p:spPr>
        <p:txBody>
          <a:bodyPr wrap="square" lIns="27432" rIns="27432" tIns="27432" bIns="27432" anchor="t">
            <a:spAutoFit/>
          </a:bodyPr>
          <a:lstStyle/>
          <a:p>
            <a:pPr algn="l">
              <a:lnSpc>
                <a:spcPct val="100000"/>
              </a:lnSpc>
            </a:pPr>
            <a:r>
              <a:rPr sz="969" b="0">
                <a:solidFill>
                  <a:srgbClr val="66758A"/>
                </a:solidFill>
                <a:latin typeface="Aptos"/>
              </a:rPr>
              <a:t>Adéquation · délai · admin · risque</a:t>
            </a:r>
          </a:p>
        </p:txBody>
      </p:sp>
      <p:sp>
        <p:nvSpPr>
          <p:cNvPr id="39" name="Rounded Rectangle 38"/>
          <p:cNvSpPr/>
          <p:nvPr/>
        </p:nvSpPr>
        <p:spPr>
          <a:xfrm>
            <a:off x="4791456" y="5038344"/>
            <a:ext cx="6812280" cy="667512"/>
          </a:xfrm>
          <a:prstGeom prst="roundRect">
            <a:avLst/>
          </a:prstGeom>
          <a:solidFill>
            <a:srgbClr val="FFFFFF"/>
          </a:solidFill>
          <a:ln w="12700">
            <a:solidFill>
              <a:srgbClr val="DCE4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791456" y="5038344"/>
            <a:ext cx="64008" cy="66751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001768" y="5193792"/>
            <a:ext cx="6437376" cy="301752"/>
          </a:xfrm>
          <a:prstGeom prst="rect">
            <a:avLst/>
          </a:prstGeom>
          <a:noFill/>
        </p:spPr>
        <p:txBody>
          <a:bodyPr wrap="square" lIns="27432" rIns="27432" tIns="27432" bIns="27432" anchor="ctr">
            <a:spAutoFit/>
          </a:bodyPr>
          <a:lstStyle/>
          <a:p>
            <a:pPr algn="l"/>
            <a:r>
              <a:rPr sz="1240" b="1">
                <a:solidFill>
                  <a:srgbClr val="17243B"/>
                </a:solidFill>
                <a:latin typeface="Aptos"/>
              </a:rPr>
              <a:t>Validation stricte</a:t>
            </a:r>
          </a:p>
        </p:txBody>
      </p:sp>
      <p:sp>
        <p:nvSpPr>
          <p:cNvPr id="42" name="TextBox 41"/>
          <p:cNvSpPr txBox="1"/>
          <p:nvPr/>
        </p:nvSpPr>
        <p:spPr>
          <a:xfrm>
            <a:off x="5001768" y="5568696"/>
            <a:ext cx="6428232" cy="36576"/>
          </a:xfrm>
          <a:prstGeom prst="rect">
            <a:avLst/>
          </a:prstGeom>
          <a:noFill/>
        </p:spPr>
        <p:txBody>
          <a:bodyPr wrap="square" lIns="27432" rIns="27432" tIns="27432" bIns="27432" anchor="t">
            <a:spAutoFit/>
          </a:bodyPr>
          <a:lstStyle/>
          <a:p>
            <a:pPr algn="l">
              <a:lnSpc>
                <a:spcPct val="100000"/>
              </a:lnSpc>
            </a:pPr>
            <a:r>
              <a:rPr sz="969" b="0">
                <a:solidFill>
                  <a:srgbClr val="66758A"/>
                </a:solidFill>
                <a:latin typeface="Aptos"/>
              </a:rPr>
              <a:t>GO interdit si analyse partielle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ounded Rectangle 1"/>
          <p:cNvSpPr/>
          <p:nvPr/>
        </p:nvSpPr>
        <p:spPr>
          <a:xfrm>
            <a:off x="621792" y="384048"/>
            <a:ext cx="1305763" cy="292608"/>
          </a:xfrm>
          <a:prstGeom prst="roundRect">
            <a:avLst/>
          </a:prstGeom>
          <a:solidFill>
            <a:srgbClr val="E4F8FA"/>
          </a:solidFill>
          <a:ln w="6350">
            <a:solidFill>
              <a:srgbClr val="E4F8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67512" y="393192"/>
            <a:ext cx="1214323" cy="246888"/>
          </a:xfrm>
          <a:prstGeom prst="rect">
            <a:avLst/>
          </a:prstGeom>
          <a:noFill/>
        </p:spPr>
        <p:txBody>
          <a:bodyPr wrap="square" lIns="27432" rIns="27432" tIns="27432" bIns="27432" anchor="ctr">
            <a:spAutoFit/>
          </a:bodyPr>
          <a:lstStyle/>
          <a:p>
            <a:pPr algn="ctr"/>
            <a:r>
              <a:rPr sz="950" b="1">
                <a:solidFill>
                  <a:srgbClr val="06A6B5"/>
                </a:solidFill>
                <a:latin typeface="Aptos"/>
              </a:rPr>
              <a:t>AUTOMATISATION</a:t>
            </a:r>
          </a:p>
        </p:txBody>
      </p:sp>
      <p:sp>
        <p:nvSpPr>
          <p:cNvPr id="4" name="TextBox 3"/>
          <p:cNvSpPr txBox="1"/>
          <p:nvPr/>
        </p:nvSpPr>
        <p:spPr>
          <a:xfrm>
            <a:off x="621792" y="795528"/>
            <a:ext cx="10972800" cy="530352"/>
          </a:xfrm>
          <a:prstGeom prst="rect">
            <a:avLst/>
          </a:prstGeom>
          <a:noFill/>
        </p:spPr>
        <p:txBody>
          <a:bodyPr wrap="square" lIns="27432" rIns="27432" tIns="27432" bIns="27432" anchor="t">
            <a:spAutoFit/>
          </a:bodyPr>
          <a:lstStyle/>
          <a:p>
            <a:pPr algn="l"/>
            <a:r>
              <a:rPr sz="2850" b="1">
                <a:solidFill>
                  <a:srgbClr val="0B1F3A"/>
                </a:solidFill>
                <a:latin typeface="Aptos Display"/>
              </a:rPr>
              <a:t>Chaque matin, le même processus — sans double envoi</a:t>
            </a:r>
          </a:p>
        </p:txBody>
      </p:sp>
      <p:sp>
        <p:nvSpPr>
          <p:cNvPr id="5" name="Rectangle 4"/>
          <p:cNvSpPr/>
          <p:nvPr/>
        </p:nvSpPr>
        <p:spPr>
          <a:xfrm>
            <a:off x="621792" y="1380744"/>
            <a:ext cx="10972800" cy="22860"/>
          </a:xfrm>
          <a:prstGeom prst="rect">
            <a:avLst/>
          </a:prstGeom>
          <a:solidFill>
            <a:srgbClr val="DCE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6519672"/>
            <a:ext cx="4937760" cy="164592"/>
          </a:xfrm>
          <a:prstGeom prst="rect">
            <a:avLst/>
          </a:prstGeom>
          <a:noFill/>
        </p:spPr>
        <p:txBody>
          <a:bodyPr wrap="square" lIns="27432" rIns="27432" tIns="27432" bIns="27432" anchor="t">
            <a:spAutoFit/>
          </a:bodyPr>
          <a:lstStyle/>
          <a:p>
            <a:pPr algn="l"/>
            <a:r>
              <a:rPr sz="840" b="1">
                <a:solidFill>
                  <a:srgbClr val="8A98AA"/>
                </a:solidFill>
                <a:latin typeface="Aptos"/>
              </a:rPr>
              <a:t>ONE TECH BUSINESS SOLUTIONS  ·  CY TECH</a:t>
            </a:r>
          </a:p>
        </p:txBody>
      </p:sp>
      <p:sp>
        <p:nvSpPr>
          <p:cNvPr id="7" name="TextBox 6"/>
          <p:cNvSpPr txBox="1"/>
          <p:nvPr/>
        </p:nvSpPr>
        <p:spPr>
          <a:xfrm>
            <a:off x="8321040" y="6519672"/>
            <a:ext cx="3063240" cy="164592"/>
          </a:xfrm>
          <a:prstGeom prst="rect">
            <a:avLst/>
          </a:prstGeom>
          <a:noFill/>
        </p:spPr>
        <p:txBody>
          <a:bodyPr wrap="square" lIns="27432" rIns="27432" tIns="27432" bIns="27432" anchor="t">
            <a:spAutoFit/>
          </a:bodyPr>
          <a:lstStyle/>
          <a:p>
            <a:pPr algn="r"/>
            <a:r>
              <a:rPr sz="840" b="1">
                <a:solidFill>
                  <a:srgbClr val="8A98AA"/>
                </a:solidFill>
                <a:latin typeface="Aptos"/>
              </a:rPr>
              <a:t>AUTOMATISATION</a:t>
            </a:r>
          </a:p>
        </p:txBody>
      </p:sp>
      <p:sp>
        <p:nvSpPr>
          <p:cNvPr id="8" name="Oval 7"/>
          <p:cNvSpPr/>
          <p:nvPr/>
        </p:nvSpPr>
        <p:spPr>
          <a:xfrm>
            <a:off x="11466576" y="6428232"/>
            <a:ext cx="256032" cy="256032"/>
          </a:xfrm>
          <a:prstGeom prst="ellipse">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66576" y="6437376"/>
            <a:ext cx="256032" cy="237744"/>
          </a:xfrm>
          <a:prstGeom prst="rect">
            <a:avLst/>
          </a:prstGeom>
          <a:noFill/>
        </p:spPr>
        <p:txBody>
          <a:bodyPr wrap="square" lIns="27432" rIns="27432" tIns="27432" bIns="27432" anchor="ctr">
            <a:spAutoFit/>
          </a:bodyPr>
          <a:lstStyle/>
          <a:p>
            <a:pPr algn="ctr"/>
            <a:r>
              <a:rPr sz="850" b="1">
                <a:solidFill>
                  <a:srgbClr val="FFFFFF"/>
                </a:solidFill>
                <a:latin typeface="Aptos"/>
              </a:rPr>
              <a:t>10</a:t>
            </a:r>
          </a:p>
        </p:txBody>
      </p:sp>
      <p:pic>
        <p:nvPicPr>
          <p:cNvPr id="10" name="Picture 9" descr="automation_channels.png"/>
          <p:cNvPicPr>
            <a:picLocks noChangeAspect="1"/>
          </p:cNvPicPr>
          <p:nvPr/>
        </p:nvPicPr>
        <p:blipFill>
          <a:blip r:embed="rId2"/>
          <a:stretch>
            <a:fillRect/>
          </a:stretch>
        </p:blipFill>
        <p:spPr>
          <a:xfrm>
            <a:off x="640080" y="1508760"/>
            <a:ext cx="11000232" cy="4828032"/>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ounded Rectangle 1"/>
          <p:cNvSpPr/>
          <p:nvPr/>
        </p:nvSpPr>
        <p:spPr>
          <a:xfrm>
            <a:off x="621792" y="384048"/>
            <a:ext cx="1437436" cy="292608"/>
          </a:xfrm>
          <a:prstGeom prst="roundRect">
            <a:avLst/>
          </a:prstGeom>
          <a:solidFill>
            <a:srgbClr val="E4F8FA"/>
          </a:solidFill>
          <a:ln w="6350">
            <a:solidFill>
              <a:srgbClr val="E4F8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67512" y="393192"/>
            <a:ext cx="1345996" cy="246888"/>
          </a:xfrm>
          <a:prstGeom prst="rect">
            <a:avLst/>
          </a:prstGeom>
          <a:noFill/>
        </p:spPr>
        <p:txBody>
          <a:bodyPr wrap="square" lIns="27432" rIns="27432" tIns="27432" bIns="27432" anchor="ctr">
            <a:spAutoFit/>
          </a:bodyPr>
          <a:lstStyle/>
          <a:p>
            <a:pPr algn="ctr"/>
            <a:r>
              <a:rPr sz="950" b="1">
                <a:solidFill>
                  <a:srgbClr val="06A6B5"/>
                </a:solidFill>
                <a:latin typeface="Aptos"/>
              </a:rPr>
              <a:t>INTEROPÉRABILITÉ</a:t>
            </a:r>
          </a:p>
        </p:txBody>
      </p:sp>
      <p:sp>
        <p:nvSpPr>
          <p:cNvPr id="4" name="TextBox 3"/>
          <p:cNvSpPr txBox="1"/>
          <p:nvPr/>
        </p:nvSpPr>
        <p:spPr>
          <a:xfrm>
            <a:off x="621792" y="795528"/>
            <a:ext cx="10972800" cy="530352"/>
          </a:xfrm>
          <a:prstGeom prst="rect">
            <a:avLst/>
          </a:prstGeom>
          <a:noFill/>
        </p:spPr>
        <p:txBody>
          <a:bodyPr wrap="square" lIns="27432" rIns="27432" tIns="27432" bIns="27432" anchor="t">
            <a:spAutoFit/>
          </a:bodyPr>
          <a:lstStyle/>
          <a:p>
            <a:pPr algn="l"/>
            <a:r>
              <a:rPr sz="2850" b="1">
                <a:solidFill>
                  <a:srgbClr val="0B1F3A"/>
                </a:solidFill>
                <a:latin typeface="Aptos Display"/>
              </a:rPr>
              <a:t>Cinq outils MCP pour réutiliser le cœur métier</a:t>
            </a:r>
          </a:p>
        </p:txBody>
      </p:sp>
      <p:sp>
        <p:nvSpPr>
          <p:cNvPr id="5" name="Rectangle 4"/>
          <p:cNvSpPr/>
          <p:nvPr/>
        </p:nvSpPr>
        <p:spPr>
          <a:xfrm>
            <a:off x="621792" y="1380744"/>
            <a:ext cx="10972800" cy="22860"/>
          </a:xfrm>
          <a:prstGeom prst="rect">
            <a:avLst/>
          </a:prstGeom>
          <a:solidFill>
            <a:srgbClr val="DCE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6519672"/>
            <a:ext cx="4937760" cy="164592"/>
          </a:xfrm>
          <a:prstGeom prst="rect">
            <a:avLst/>
          </a:prstGeom>
          <a:noFill/>
        </p:spPr>
        <p:txBody>
          <a:bodyPr wrap="square" lIns="27432" rIns="27432" tIns="27432" bIns="27432" anchor="t">
            <a:spAutoFit/>
          </a:bodyPr>
          <a:lstStyle/>
          <a:p>
            <a:pPr algn="l"/>
            <a:r>
              <a:rPr sz="840" b="1">
                <a:solidFill>
                  <a:srgbClr val="8A98AA"/>
                </a:solidFill>
                <a:latin typeface="Aptos"/>
              </a:rPr>
              <a:t>ONE TECH BUSINESS SOLUTIONS  ·  CY TECH</a:t>
            </a:r>
          </a:p>
        </p:txBody>
      </p:sp>
      <p:sp>
        <p:nvSpPr>
          <p:cNvPr id="7" name="TextBox 6"/>
          <p:cNvSpPr txBox="1"/>
          <p:nvPr/>
        </p:nvSpPr>
        <p:spPr>
          <a:xfrm>
            <a:off x="8321040" y="6519672"/>
            <a:ext cx="3063240" cy="164592"/>
          </a:xfrm>
          <a:prstGeom prst="rect">
            <a:avLst/>
          </a:prstGeom>
          <a:noFill/>
        </p:spPr>
        <p:txBody>
          <a:bodyPr wrap="square" lIns="27432" rIns="27432" tIns="27432" bIns="27432" anchor="t">
            <a:spAutoFit/>
          </a:bodyPr>
          <a:lstStyle/>
          <a:p>
            <a:pPr algn="r"/>
            <a:r>
              <a:rPr sz="840" b="1">
                <a:solidFill>
                  <a:srgbClr val="8A98AA"/>
                </a:solidFill>
                <a:latin typeface="Aptos"/>
              </a:rPr>
              <a:t>INTEROPÉRABILITÉ</a:t>
            </a:r>
          </a:p>
        </p:txBody>
      </p:sp>
      <p:sp>
        <p:nvSpPr>
          <p:cNvPr id="8" name="Oval 7"/>
          <p:cNvSpPr/>
          <p:nvPr/>
        </p:nvSpPr>
        <p:spPr>
          <a:xfrm>
            <a:off x="11466576" y="6428232"/>
            <a:ext cx="256032" cy="256032"/>
          </a:xfrm>
          <a:prstGeom prst="ellipse">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66576" y="6437376"/>
            <a:ext cx="256032" cy="237744"/>
          </a:xfrm>
          <a:prstGeom prst="rect">
            <a:avLst/>
          </a:prstGeom>
          <a:noFill/>
        </p:spPr>
        <p:txBody>
          <a:bodyPr wrap="square" lIns="27432" rIns="27432" tIns="27432" bIns="27432" anchor="ctr">
            <a:spAutoFit/>
          </a:bodyPr>
          <a:lstStyle/>
          <a:p>
            <a:pPr algn="ctr"/>
            <a:r>
              <a:rPr sz="850" b="1">
                <a:solidFill>
                  <a:srgbClr val="FFFFFF"/>
                </a:solidFill>
                <a:latin typeface="Aptos"/>
              </a:rPr>
              <a:t>11</a:t>
            </a:r>
          </a:p>
        </p:txBody>
      </p:sp>
      <p:sp>
        <p:nvSpPr>
          <p:cNvPr id="10" name="Rounded Rectangle 9"/>
          <p:cNvSpPr/>
          <p:nvPr/>
        </p:nvSpPr>
        <p:spPr>
          <a:xfrm>
            <a:off x="658368" y="1691640"/>
            <a:ext cx="5358384" cy="4462272"/>
          </a:xfrm>
          <a:prstGeom prst="roundRect">
            <a:avLst/>
          </a:prstGeom>
          <a:solidFill>
            <a:srgbClr val="FFFFFF"/>
          </a:solidFill>
          <a:ln w="12700">
            <a:solidFill>
              <a:srgbClr val="DCE4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32688" y="1947672"/>
            <a:ext cx="777240" cy="292608"/>
          </a:xfrm>
          <a:prstGeom prst="roundRect">
            <a:avLst/>
          </a:prstGeom>
          <a:solidFill>
            <a:srgbClr val="EAF0FF"/>
          </a:solidFill>
          <a:ln w="6350">
            <a:solidFill>
              <a:srgbClr val="EA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956815"/>
            <a:ext cx="685800" cy="246888"/>
          </a:xfrm>
          <a:prstGeom prst="rect">
            <a:avLst/>
          </a:prstGeom>
          <a:noFill/>
        </p:spPr>
        <p:txBody>
          <a:bodyPr wrap="square" lIns="27432" rIns="27432" tIns="27432" bIns="27432" anchor="ctr">
            <a:spAutoFit/>
          </a:bodyPr>
          <a:lstStyle/>
          <a:p>
            <a:pPr algn="ctr"/>
            <a:r>
              <a:rPr sz="1100" b="1">
                <a:solidFill>
                  <a:srgbClr val="2D65F2"/>
                </a:solidFill>
                <a:latin typeface="Aptos"/>
              </a:rPr>
              <a:t>MCP</a:t>
            </a:r>
          </a:p>
        </p:txBody>
      </p:sp>
      <p:sp>
        <p:nvSpPr>
          <p:cNvPr id="13" name="TextBox 12"/>
          <p:cNvSpPr txBox="1"/>
          <p:nvPr/>
        </p:nvSpPr>
        <p:spPr>
          <a:xfrm>
            <a:off x="932688" y="2423160"/>
            <a:ext cx="3840480" cy="365760"/>
          </a:xfrm>
          <a:prstGeom prst="rect">
            <a:avLst/>
          </a:prstGeom>
          <a:noFill/>
        </p:spPr>
        <p:txBody>
          <a:bodyPr wrap="square" lIns="27432" rIns="27432" tIns="27432" bIns="27432" anchor="t">
            <a:spAutoFit/>
          </a:bodyPr>
          <a:lstStyle/>
          <a:p>
            <a:pPr algn="l"/>
            <a:r>
              <a:rPr sz="2200" b="1">
                <a:solidFill>
                  <a:srgbClr val="0B1F3A"/>
                </a:solidFill>
                <a:latin typeface="Aptos"/>
              </a:rPr>
              <a:t>5 outils bornés</a:t>
            </a:r>
          </a:p>
        </p:txBody>
      </p:sp>
      <p:sp>
        <p:nvSpPr>
          <p:cNvPr id="14" name="Oval 13"/>
          <p:cNvSpPr/>
          <p:nvPr/>
        </p:nvSpPr>
        <p:spPr>
          <a:xfrm>
            <a:off x="950976" y="2971800"/>
            <a:ext cx="292608" cy="292608"/>
          </a:xfrm>
          <a:prstGeom prst="ellipse">
            <a:avLst/>
          </a:prstGeom>
          <a:solidFill>
            <a:srgbClr val="2D6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0976" y="2980944"/>
            <a:ext cx="292608" cy="274320"/>
          </a:xfrm>
          <a:prstGeom prst="rect">
            <a:avLst/>
          </a:prstGeom>
          <a:noFill/>
        </p:spPr>
        <p:txBody>
          <a:bodyPr wrap="square" lIns="27432" rIns="27432" tIns="27432" bIns="27432" anchor="ctr">
            <a:spAutoFit/>
          </a:bodyPr>
          <a:lstStyle/>
          <a:p>
            <a:pPr algn="ctr"/>
            <a:r>
              <a:rPr sz="800" b="1">
                <a:solidFill>
                  <a:srgbClr val="FFFFFF"/>
                </a:solidFill>
                <a:latin typeface="Aptos"/>
              </a:rPr>
              <a:t>1</a:t>
            </a:r>
          </a:p>
        </p:txBody>
      </p:sp>
      <p:sp>
        <p:nvSpPr>
          <p:cNvPr id="16" name="TextBox 15"/>
          <p:cNvSpPr txBox="1"/>
          <p:nvPr/>
        </p:nvSpPr>
        <p:spPr>
          <a:xfrm>
            <a:off x="1408176" y="2990088"/>
            <a:ext cx="3429000" cy="246888"/>
          </a:xfrm>
          <a:prstGeom prst="rect">
            <a:avLst/>
          </a:prstGeom>
          <a:noFill/>
        </p:spPr>
        <p:txBody>
          <a:bodyPr wrap="square" lIns="27432" rIns="27432" tIns="27432" bIns="27432" anchor="t">
            <a:spAutoFit/>
          </a:bodyPr>
          <a:lstStyle/>
          <a:p>
            <a:pPr algn="l"/>
            <a:r>
              <a:rPr sz="1150" b="1">
                <a:solidFill>
                  <a:srgbClr val="17243B"/>
                </a:solidFill>
                <a:latin typeface="Aptos"/>
              </a:rPr>
              <a:t>collect_tenders</a:t>
            </a:r>
          </a:p>
        </p:txBody>
      </p:sp>
      <p:sp>
        <p:nvSpPr>
          <p:cNvPr id="17" name="Oval 16"/>
          <p:cNvSpPr/>
          <p:nvPr/>
        </p:nvSpPr>
        <p:spPr>
          <a:xfrm>
            <a:off x="950976" y="3483864"/>
            <a:ext cx="292608" cy="292608"/>
          </a:xfrm>
          <a:prstGeom prst="ellipse">
            <a:avLst/>
          </a:prstGeom>
          <a:solidFill>
            <a:srgbClr val="2D6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0976" y="3493008"/>
            <a:ext cx="292608" cy="274320"/>
          </a:xfrm>
          <a:prstGeom prst="rect">
            <a:avLst/>
          </a:prstGeom>
          <a:noFill/>
        </p:spPr>
        <p:txBody>
          <a:bodyPr wrap="square" lIns="27432" rIns="27432" tIns="27432" bIns="27432" anchor="ctr">
            <a:spAutoFit/>
          </a:bodyPr>
          <a:lstStyle/>
          <a:p>
            <a:pPr algn="ctr"/>
            <a:r>
              <a:rPr sz="800" b="1">
                <a:solidFill>
                  <a:srgbClr val="FFFFFF"/>
                </a:solidFill>
                <a:latin typeface="Aptos"/>
              </a:rPr>
              <a:t>2</a:t>
            </a:r>
          </a:p>
        </p:txBody>
      </p:sp>
      <p:sp>
        <p:nvSpPr>
          <p:cNvPr id="19" name="TextBox 18"/>
          <p:cNvSpPr txBox="1"/>
          <p:nvPr/>
        </p:nvSpPr>
        <p:spPr>
          <a:xfrm>
            <a:off x="1408176" y="3502152"/>
            <a:ext cx="3429000" cy="246888"/>
          </a:xfrm>
          <a:prstGeom prst="rect">
            <a:avLst/>
          </a:prstGeom>
          <a:noFill/>
        </p:spPr>
        <p:txBody>
          <a:bodyPr wrap="square" lIns="27432" rIns="27432" tIns="27432" bIns="27432" anchor="t">
            <a:spAutoFit/>
          </a:bodyPr>
          <a:lstStyle/>
          <a:p>
            <a:pPr algn="l"/>
            <a:r>
              <a:rPr sz="1150" b="1">
                <a:solidFill>
                  <a:srgbClr val="17243B"/>
                </a:solidFill>
                <a:latin typeface="Aptos"/>
              </a:rPr>
              <a:t>list_open_tenders</a:t>
            </a:r>
          </a:p>
        </p:txBody>
      </p:sp>
      <p:sp>
        <p:nvSpPr>
          <p:cNvPr id="20" name="Oval 19"/>
          <p:cNvSpPr/>
          <p:nvPr/>
        </p:nvSpPr>
        <p:spPr>
          <a:xfrm>
            <a:off x="950976" y="3995928"/>
            <a:ext cx="292608" cy="292608"/>
          </a:xfrm>
          <a:prstGeom prst="ellipse">
            <a:avLst/>
          </a:prstGeom>
          <a:solidFill>
            <a:srgbClr val="2D6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50976" y="4005072"/>
            <a:ext cx="292608" cy="274320"/>
          </a:xfrm>
          <a:prstGeom prst="rect">
            <a:avLst/>
          </a:prstGeom>
          <a:noFill/>
        </p:spPr>
        <p:txBody>
          <a:bodyPr wrap="square" lIns="27432" rIns="27432" tIns="27432" bIns="27432" anchor="ctr">
            <a:spAutoFit/>
          </a:bodyPr>
          <a:lstStyle/>
          <a:p>
            <a:pPr algn="ctr"/>
            <a:r>
              <a:rPr sz="800" b="1">
                <a:solidFill>
                  <a:srgbClr val="FFFFFF"/>
                </a:solidFill>
                <a:latin typeface="Aptos"/>
              </a:rPr>
              <a:t>3</a:t>
            </a:r>
          </a:p>
        </p:txBody>
      </p:sp>
      <p:sp>
        <p:nvSpPr>
          <p:cNvPr id="22" name="TextBox 21"/>
          <p:cNvSpPr txBox="1"/>
          <p:nvPr/>
        </p:nvSpPr>
        <p:spPr>
          <a:xfrm>
            <a:off x="1408176" y="4014215"/>
            <a:ext cx="3429000" cy="246888"/>
          </a:xfrm>
          <a:prstGeom prst="rect">
            <a:avLst/>
          </a:prstGeom>
          <a:noFill/>
        </p:spPr>
        <p:txBody>
          <a:bodyPr wrap="square" lIns="27432" rIns="27432" tIns="27432" bIns="27432" anchor="t">
            <a:spAutoFit/>
          </a:bodyPr>
          <a:lstStyle/>
          <a:p>
            <a:pPr algn="l"/>
            <a:r>
              <a:rPr sz="1150" b="1">
                <a:solidFill>
                  <a:srgbClr val="17243B"/>
                </a:solidFill>
                <a:latin typeface="Aptos"/>
              </a:rPr>
              <a:t>get_tender</a:t>
            </a:r>
          </a:p>
        </p:txBody>
      </p:sp>
      <p:sp>
        <p:nvSpPr>
          <p:cNvPr id="23" name="Oval 22"/>
          <p:cNvSpPr/>
          <p:nvPr/>
        </p:nvSpPr>
        <p:spPr>
          <a:xfrm>
            <a:off x="950976" y="4507992"/>
            <a:ext cx="292608" cy="292608"/>
          </a:xfrm>
          <a:prstGeom prst="ellipse">
            <a:avLst/>
          </a:prstGeom>
          <a:solidFill>
            <a:srgbClr val="2D6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50976" y="4517136"/>
            <a:ext cx="292608" cy="274320"/>
          </a:xfrm>
          <a:prstGeom prst="rect">
            <a:avLst/>
          </a:prstGeom>
          <a:noFill/>
        </p:spPr>
        <p:txBody>
          <a:bodyPr wrap="square" lIns="27432" rIns="27432" tIns="27432" bIns="27432" anchor="ctr">
            <a:spAutoFit/>
          </a:bodyPr>
          <a:lstStyle/>
          <a:p>
            <a:pPr algn="ctr"/>
            <a:r>
              <a:rPr sz="800" b="1">
                <a:solidFill>
                  <a:srgbClr val="FFFFFF"/>
                </a:solidFill>
                <a:latin typeface="Aptos"/>
              </a:rPr>
              <a:t>4</a:t>
            </a:r>
          </a:p>
        </p:txBody>
      </p:sp>
      <p:sp>
        <p:nvSpPr>
          <p:cNvPr id="25" name="TextBox 24"/>
          <p:cNvSpPr txBox="1"/>
          <p:nvPr/>
        </p:nvSpPr>
        <p:spPr>
          <a:xfrm>
            <a:off x="1408176" y="4526279"/>
            <a:ext cx="3429000" cy="246888"/>
          </a:xfrm>
          <a:prstGeom prst="rect">
            <a:avLst/>
          </a:prstGeom>
          <a:noFill/>
        </p:spPr>
        <p:txBody>
          <a:bodyPr wrap="square" lIns="27432" rIns="27432" tIns="27432" bIns="27432" anchor="t">
            <a:spAutoFit/>
          </a:bodyPr>
          <a:lstStyle/>
          <a:p>
            <a:pPr algn="l"/>
            <a:r>
              <a:rPr sz="1150" b="1">
                <a:solidFill>
                  <a:srgbClr val="17243B"/>
                </a:solidFill>
                <a:latin typeface="Aptos"/>
              </a:rPr>
              <a:t>analyze_tender</a:t>
            </a:r>
          </a:p>
        </p:txBody>
      </p:sp>
      <p:sp>
        <p:nvSpPr>
          <p:cNvPr id="26" name="Oval 25"/>
          <p:cNvSpPr/>
          <p:nvPr/>
        </p:nvSpPr>
        <p:spPr>
          <a:xfrm>
            <a:off x="950976" y="5020056"/>
            <a:ext cx="292608" cy="292608"/>
          </a:xfrm>
          <a:prstGeom prst="ellipse">
            <a:avLst/>
          </a:prstGeom>
          <a:solidFill>
            <a:srgbClr val="2D6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50976" y="5029200"/>
            <a:ext cx="292608" cy="274320"/>
          </a:xfrm>
          <a:prstGeom prst="rect">
            <a:avLst/>
          </a:prstGeom>
          <a:noFill/>
        </p:spPr>
        <p:txBody>
          <a:bodyPr wrap="square" lIns="27432" rIns="27432" tIns="27432" bIns="27432" anchor="ctr">
            <a:spAutoFit/>
          </a:bodyPr>
          <a:lstStyle/>
          <a:p>
            <a:pPr algn="ctr"/>
            <a:r>
              <a:rPr sz="800" b="1">
                <a:solidFill>
                  <a:srgbClr val="FFFFFF"/>
                </a:solidFill>
                <a:latin typeface="Aptos"/>
              </a:rPr>
              <a:t>5</a:t>
            </a:r>
          </a:p>
        </p:txBody>
      </p:sp>
      <p:sp>
        <p:nvSpPr>
          <p:cNvPr id="28" name="TextBox 27"/>
          <p:cNvSpPr txBox="1"/>
          <p:nvPr/>
        </p:nvSpPr>
        <p:spPr>
          <a:xfrm>
            <a:off x="1408176" y="5038344"/>
            <a:ext cx="3429000" cy="246888"/>
          </a:xfrm>
          <a:prstGeom prst="rect">
            <a:avLst/>
          </a:prstGeom>
          <a:noFill/>
        </p:spPr>
        <p:txBody>
          <a:bodyPr wrap="square" lIns="27432" rIns="27432" tIns="27432" bIns="27432" anchor="t">
            <a:spAutoFit/>
          </a:bodyPr>
          <a:lstStyle/>
          <a:p>
            <a:pPr algn="l"/>
            <a:r>
              <a:rPr sz="1150" b="1">
                <a:solidFill>
                  <a:srgbClr val="17243B"/>
                </a:solidFill>
                <a:latin typeface="Aptos"/>
              </a:rPr>
              <a:t>generate_digest</a:t>
            </a:r>
          </a:p>
        </p:txBody>
      </p:sp>
      <p:sp>
        <p:nvSpPr>
          <p:cNvPr id="29" name="TextBox 28"/>
          <p:cNvSpPr txBox="1"/>
          <p:nvPr/>
        </p:nvSpPr>
        <p:spPr>
          <a:xfrm>
            <a:off x="932688" y="5669280"/>
            <a:ext cx="4526280" cy="256032"/>
          </a:xfrm>
          <a:prstGeom prst="rect">
            <a:avLst/>
          </a:prstGeom>
          <a:noFill/>
        </p:spPr>
        <p:txBody>
          <a:bodyPr wrap="square" lIns="27432" rIns="27432" tIns="27432" bIns="27432" anchor="t">
            <a:spAutoFit/>
          </a:bodyPr>
          <a:lstStyle/>
          <a:p>
            <a:pPr algn="l"/>
            <a:r>
              <a:rPr sz="1050" b="1">
                <a:solidFill>
                  <a:srgbClr val="66758A"/>
                </a:solidFill>
                <a:latin typeface="Aptos"/>
              </a:rPr>
              <a:t>Même logique métier · même PostgreSQL · clients compatibles</a:t>
            </a:r>
          </a:p>
        </p:txBody>
      </p:sp>
      <p:sp>
        <p:nvSpPr>
          <p:cNvPr id="30" name="Rounded Rectangle 29"/>
          <p:cNvSpPr/>
          <p:nvPr/>
        </p:nvSpPr>
        <p:spPr>
          <a:xfrm>
            <a:off x="6254496" y="1691640"/>
            <a:ext cx="5376672" cy="4462272"/>
          </a:xfrm>
          <a:prstGeom prst="roundRect">
            <a:avLst/>
          </a:prstGeom>
          <a:solidFill>
            <a:srgbClr val="0B1F3A"/>
          </a:solidFill>
          <a:ln w="12700">
            <a:solidFill>
              <a:srgbClr val="0B1F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565392" y="1947672"/>
            <a:ext cx="1938528" cy="292608"/>
          </a:xfrm>
          <a:prstGeom prst="roundRect">
            <a:avLst/>
          </a:prstGeom>
          <a:solidFill>
            <a:srgbClr val="19365D"/>
          </a:solidFill>
          <a:ln w="6350">
            <a:solidFill>
              <a:srgbClr val="19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611112" y="1956815"/>
            <a:ext cx="1847088" cy="246888"/>
          </a:xfrm>
          <a:prstGeom prst="rect">
            <a:avLst/>
          </a:prstGeom>
          <a:noFill/>
        </p:spPr>
        <p:txBody>
          <a:bodyPr wrap="square" lIns="27432" rIns="27432" tIns="27432" bIns="27432" anchor="ctr">
            <a:spAutoFit/>
          </a:bodyPr>
          <a:lstStyle/>
          <a:p>
            <a:pPr algn="ctr"/>
            <a:r>
              <a:rPr sz="1000" b="1">
                <a:solidFill>
                  <a:srgbClr val="8FE2E7"/>
                </a:solidFill>
                <a:latin typeface="Aptos"/>
              </a:rPr>
              <a:t>GARDE-FOUS LIVRÉS</a:t>
            </a:r>
          </a:p>
        </p:txBody>
      </p:sp>
      <p:sp>
        <p:nvSpPr>
          <p:cNvPr id="33" name="Oval 32"/>
          <p:cNvSpPr/>
          <p:nvPr/>
        </p:nvSpPr>
        <p:spPr>
          <a:xfrm>
            <a:off x="6583680" y="2542032"/>
            <a:ext cx="310896" cy="310896"/>
          </a:xfrm>
          <a:prstGeom prst="ellipse">
            <a:avLst/>
          </a:prstGeom>
          <a:solidFill>
            <a:srgbClr val="2D6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83680" y="2551175"/>
            <a:ext cx="310896" cy="292608"/>
          </a:xfrm>
          <a:prstGeom prst="rect">
            <a:avLst/>
          </a:prstGeom>
          <a:noFill/>
        </p:spPr>
        <p:txBody>
          <a:bodyPr wrap="square" lIns="27432" rIns="27432" tIns="27432" bIns="27432" anchor="ctr">
            <a:spAutoFit/>
          </a:bodyPr>
          <a:lstStyle/>
          <a:p>
            <a:pPr algn="ctr"/>
            <a:r>
              <a:rPr sz="850" b="1">
                <a:solidFill>
                  <a:srgbClr val="FFFFFF"/>
                </a:solidFill>
                <a:latin typeface="Aptos"/>
              </a:rPr>
              <a:t>1</a:t>
            </a:r>
          </a:p>
        </p:txBody>
      </p:sp>
      <p:sp>
        <p:nvSpPr>
          <p:cNvPr id="35" name="TextBox 34"/>
          <p:cNvSpPr txBox="1"/>
          <p:nvPr/>
        </p:nvSpPr>
        <p:spPr>
          <a:xfrm>
            <a:off x="7059168" y="2532888"/>
            <a:ext cx="1874519" cy="256032"/>
          </a:xfrm>
          <a:prstGeom prst="rect">
            <a:avLst/>
          </a:prstGeom>
          <a:noFill/>
        </p:spPr>
        <p:txBody>
          <a:bodyPr wrap="square" lIns="27432" rIns="27432" tIns="27432" bIns="27432" anchor="t">
            <a:spAutoFit/>
          </a:bodyPr>
          <a:lstStyle/>
          <a:p>
            <a:pPr algn="l"/>
            <a:r>
              <a:rPr sz="1210" b="1">
                <a:solidFill>
                  <a:srgbClr val="FFFFFF"/>
                </a:solidFill>
                <a:latin typeface="Aptos"/>
              </a:rPr>
              <a:t>Entrées validées</a:t>
            </a:r>
          </a:p>
        </p:txBody>
      </p:sp>
      <p:sp>
        <p:nvSpPr>
          <p:cNvPr id="36" name="TextBox 35"/>
          <p:cNvSpPr txBox="1"/>
          <p:nvPr/>
        </p:nvSpPr>
        <p:spPr>
          <a:xfrm>
            <a:off x="8897112" y="2532888"/>
            <a:ext cx="2240280" cy="310896"/>
          </a:xfrm>
          <a:prstGeom prst="rect">
            <a:avLst/>
          </a:prstGeom>
          <a:noFill/>
        </p:spPr>
        <p:txBody>
          <a:bodyPr wrap="square" lIns="27432" rIns="27432" tIns="27432" bIns="27432" anchor="t">
            <a:spAutoFit/>
          </a:bodyPr>
          <a:lstStyle/>
          <a:p>
            <a:pPr algn="l"/>
            <a:r>
              <a:rPr sz="1019" b="0">
                <a:solidFill>
                  <a:srgbClr val="C8D6E8"/>
                </a:solidFill>
                <a:latin typeface="Aptos"/>
              </a:rPr>
              <a:t>schémas et tailles bornées</a:t>
            </a:r>
          </a:p>
        </p:txBody>
      </p:sp>
      <p:sp>
        <p:nvSpPr>
          <p:cNvPr id="37" name="Oval 36"/>
          <p:cNvSpPr/>
          <p:nvPr/>
        </p:nvSpPr>
        <p:spPr>
          <a:xfrm>
            <a:off x="6583680" y="3291839"/>
            <a:ext cx="310896" cy="310896"/>
          </a:xfrm>
          <a:prstGeom prst="ellipse">
            <a:avLst/>
          </a:prstGeom>
          <a:solidFill>
            <a:srgbClr val="06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0" y="3300983"/>
            <a:ext cx="310896" cy="292608"/>
          </a:xfrm>
          <a:prstGeom prst="rect">
            <a:avLst/>
          </a:prstGeom>
          <a:noFill/>
        </p:spPr>
        <p:txBody>
          <a:bodyPr wrap="square" lIns="27432" rIns="27432" tIns="27432" bIns="27432" anchor="ctr">
            <a:spAutoFit/>
          </a:bodyPr>
          <a:lstStyle/>
          <a:p>
            <a:pPr algn="ctr"/>
            <a:r>
              <a:rPr sz="850" b="1">
                <a:solidFill>
                  <a:srgbClr val="FFFFFF"/>
                </a:solidFill>
                <a:latin typeface="Aptos"/>
              </a:rPr>
              <a:t>2</a:t>
            </a:r>
          </a:p>
        </p:txBody>
      </p:sp>
      <p:sp>
        <p:nvSpPr>
          <p:cNvPr id="39" name="TextBox 38"/>
          <p:cNvSpPr txBox="1"/>
          <p:nvPr/>
        </p:nvSpPr>
        <p:spPr>
          <a:xfrm>
            <a:off x="7059168" y="3282696"/>
            <a:ext cx="1874519" cy="256032"/>
          </a:xfrm>
          <a:prstGeom prst="rect">
            <a:avLst/>
          </a:prstGeom>
          <a:noFill/>
        </p:spPr>
        <p:txBody>
          <a:bodyPr wrap="square" lIns="27432" rIns="27432" tIns="27432" bIns="27432" anchor="t">
            <a:spAutoFit/>
          </a:bodyPr>
          <a:lstStyle/>
          <a:p>
            <a:pPr algn="l"/>
            <a:r>
              <a:rPr sz="1210" b="1">
                <a:solidFill>
                  <a:srgbClr val="FFFFFF"/>
                </a:solidFill>
                <a:latin typeface="Aptos"/>
              </a:rPr>
              <a:t>Accès contrôlé</a:t>
            </a:r>
          </a:p>
        </p:txBody>
      </p:sp>
      <p:sp>
        <p:nvSpPr>
          <p:cNvPr id="40" name="TextBox 39"/>
          <p:cNvSpPr txBox="1"/>
          <p:nvPr/>
        </p:nvSpPr>
        <p:spPr>
          <a:xfrm>
            <a:off x="8897112" y="3282696"/>
            <a:ext cx="2240280" cy="310896"/>
          </a:xfrm>
          <a:prstGeom prst="rect">
            <a:avLst/>
          </a:prstGeom>
          <a:noFill/>
        </p:spPr>
        <p:txBody>
          <a:bodyPr wrap="square" lIns="27432" rIns="27432" tIns="27432" bIns="27432" anchor="t">
            <a:spAutoFit/>
          </a:bodyPr>
          <a:lstStyle/>
          <a:p>
            <a:pPr algn="l"/>
            <a:r>
              <a:rPr sz="1019" b="0">
                <a:solidFill>
                  <a:srgbClr val="C8D6E8"/>
                </a:solidFill>
                <a:latin typeface="Aptos"/>
              </a:rPr>
              <a:t>aucune requête SQL arbitraire</a:t>
            </a:r>
          </a:p>
        </p:txBody>
      </p:sp>
      <p:sp>
        <p:nvSpPr>
          <p:cNvPr id="41" name="Oval 40"/>
          <p:cNvSpPr/>
          <p:nvPr/>
        </p:nvSpPr>
        <p:spPr>
          <a:xfrm>
            <a:off x="6583680" y="4041648"/>
            <a:ext cx="310896" cy="310896"/>
          </a:xfrm>
          <a:prstGeom prst="ellipse">
            <a:avLst/>
          </a:prstGeom>
          <a:solidFill>
            <a:srgbClr val="28B4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583680" y="4050791"/>
            <a:ext cx="310896" cy="292608"/>
          </a:xfrm>
          <a:prstGeom prst="rect">
            <a:avLst/>
          </a:prstGeom>
          <a:noFill/>
        </p:spPr>
        <p:txBody>
          <a:bodyPr wrap="square" lIns="27432" rIns="27432" tIns="27432" bIns="27432" anchor="ctr">
            <a:spAutoFit/>
          </a:bodyPr>
          <a:lstStyle/>
          <a:p>
            <a:pPr algn="ctr"/>
            <a:r>
              <a:rPr sz="850" b="1">
                <a:solidFill>
                  <a:srgbClr val="FFFFFF"/>
                </a:solidFill>
                <a:latin typeface="Aptos"/>
              </a:rPr>
              <a:t>3</a:t>
            </a:r>
          </a:p>
        </p:txBody>
      </p:sp>
      <p:sp>
        <p:nvSpPr>
          <p:cNvPr id="43" name="TextBox 42"/>
          <p:cNvSpPr txBox="1"/>
          <p:nvPr/>
        </p:nvSpPr>
        <p:spPr>
          <a:xfrm>
            <a:off x="7059168" y="4032504"/>
            <a:ext cx="1874519" cy="256032"/>
          </a:xfrm>
          <a:prstGeom prst="rect">
            <a:avLst/>
          </a:prstGeom>
          <a:noFill/>
        </p:spPr>
        <p:txBody>
          <a:bodyPr wrap="square" lIns="27432" rIns="27432" tIns="27432" bIns="27432" anchor="t">
            <a:spAutoFit/>
          </a:bodyPr>
          <a:lstStyle/>
          <a:p>
            <a:pPr algn="l"/>
            <a:r>
              <a:rPr sz="1210" b="1">
                <a:solidFill>
                  <a:srgbClr val="FFFFFF"/>
                </a:solidFill>
                <a:latin typeface="Aptos"/>
              </a:rPr>
              <a:t>Source unique</a:t>
            </a:r>
          </a:p>
        </p:txBody>
      </p:sp>
      <p:sp>
        <p:nvSpPr>
          <p:cNvPr id="44" name="TextBox 43"/>
          <p:cNvSpPr txBox="1"/>
          <p:nvPr/>
        </p:nvSpPr>
        <p:spPr>
          <a:xfrm>
            <a:off x="8897112" y="4032504"/>
            <a:ext cx="2240280" cy="310896"/>
          </a:xfrm>
          <a:prstGeom prst="rect">
            <a:avLst/>
          </a:prstGeom>
          <a:noFill/>
        </p:spPr>
        <p:txBody>
          <a:bodyPr wrap="square" lIns="27432" rIns="27432" tIns="27432" bIns="27432" anchor="t">
            <a:spAutoFit/>
          </a:bodyPr>
          <a:lstStyle/>
          <a:p>
            <a:pPr algn="l"/>
            <a:r>
              <a:rPr sz="1019" b="0">
                <a:solidFill>
                  <a:srgbClr val="C8D6E8"/>
                </a:solidFill>
                <a:latin typeface="Aptos"/>
              </a:rPr>
              <a:t>même PostgreSQL pour tous les clients</a:t>
            </a:r>
          </a:p>
        </p:txBody>
      </p:sp>
      <p:sp>
        <p:nvSpPr>
          <p:cNvPr id="45" name="Oval 44"/>
          <p:cNvSpPr/>
          <p:nvPr/>
        </p:nvSpPr>
        <p:spPr>
          <a:xfrm>
            <a:off x="6583680" y="4791456"/>
            <a:ext cx="310896" cy="310896"/>
          </a:xfrm>
          <a:prstGeom prst="ellipse">
            <a:avLst/>
          </a:prstGeom>
          <a:solidFill>
            <a:srgbClr val="7165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83680" y="4800600"/>
            <a:ext cx="310896" cy="292608"/>
          </a:xfrm>
          <a:prstGeom prst="rect">
            <a:avLst/>
          </a:prstGeom>
          <a:noFill/>
        </p:spPr>
        <p:txBody>
          <a:bodyPr wrap="square" lIns="27432" rIns="27432" tIns="27432" bIns="27432" anchor="ctr">
            <a:spAutoFit/>
          </a:bodyPr>
          <a:lstStyle/>
          <a:p>
            <a:pPr algn="ctr"/>
            <a:r>
              <a:rPr sz="850" b="1">
                <a:solidFill>
                  <a:srgbClr val="FFFFFF"/>
                </a:solidFill>
                <a:latin typeface="Aptos"/>
              </a:rPr>
              <a:t>4</a:t>
            </a:r>
          </a:p>
        </p:txBody>
      </p:sp>
      <p:sp>
        <p:nvSpPr>
          <p:cNvPr id="47" name="TextBox 46"/>
          <p:cNvSpPr txBox="1"/>
          <p:nvPr/>
        </p:nvSpPr>
        <p:spPr>
          <a:xfrm>
            <a:off x="7059168" y="4782312"/>
            <a:ext cx="1874519" cy="256032"/>
          </a:xfrm>
          <a:prstGeom prst="rect">
            <a:avLst/>
          </a:prstGeom>
          <a:noFill/>
        </p:spPr>
        <p:txBody>
          <a:bodyPr wrap="square" lIns="27432" rIns="27432" tIns="27432" bIns="27432" anchor="t">
            <a:spAutoFit/>
          </a:bodyPr>
          <a:lstStyle/>
          <a:p>
            <a:pPr algn="l"/>
            <a:r>
              <a:rPr sz="1210" b="1">
                <a:solidFill>
                  <a:srgbClr val="FFFFFF"/>
                </a:solidFill>
                <a:latin typeface="Aptos"/>
              </a:rPr>
              <a:t>Sorties auditables</a:t>
            </a:r>
          </a:p>
        </p:txBody>
      </p:sp>
      <p:sp>
        <p:nvSpPr>
          <p:cNvPr id="48" name="TextBox 47"/>
          <p:cNvSpPr txBox="1"/>
          <p:nvPr/>
        </p:nvSpPr>
        <p:spPr>
          <a:xfrm>
            <a:off x="8897112" y="4782312"/>
            <a:ext cx="2240280" cy="310896"/>
          </a:xfrm>
          <a:prstGeom prst="rect">
            <a:avLst/>
          </a:prstGeom>
          <a:noFill/>
        </p:spPr>
        <p:txBody>
          <a:bodyPr wrap="square" lIns="27432" rIns="27432" tIns="27432" bIns="27432" anchor="t">
            <a:spAutoFit/>
          </a:bodyPr>
          <a:lstStyle/>
          <a:p>
            <a:pPr algn="l"/>
            <a:r>
              <a:rPr sz="1019" b="0">
                <a:solidFill>
                  <a:srgbClr val="C8D6E8"/>
                </a:solidFill>
                <a:latin typeface="Aptos"/>
              </a:rPr>
              <a:t>IDs, sources et statuts explicites</a:t>
            </a:r>
          </a:p>
        </p:txBody>
      </p:sp>
      <p:sp>
        <p:nvSpPr>
          <p:cNvPr id="49" name="TextBox 48"/>
          <p:cNvSpPr txBox="1"/>
          <p:nvPr/>
        </p:nvSpPr>
        <p:spPr>
          <a:xfrm>
            <a:off x="6565392" y="5623560"/>
            <a:ext cx="4526280" cy="310896"/>
          </a:xfrm>
          <a:prstGeom prst="rect">
            <a:avLst/>
          </a:prstGeom>
          <a:noFill/>
        </p:spPr>
        <p:txBody>
          <a:bodyPr wrap="square" lIns="27432" rIns="27432" tIns="27432" bIns="27432" anchor="t">
            <a:spAutoFit/>
          </a:bodyPr>
          <a:lstStyle/>
          <a:p>
            <a:pPr algn="ctr"/>
            <a:r>
              <a:rPr sz="1210" b="1">
                <a:solidFill>
                  <a:srgbClr val="8FE2E7"/>
                </a:solidFill>
                <a:latin typeface="Aptos"/>
              </a:rPr>
              <a:t>Une interface standard sans dupliquer la logique du projet.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ounded Rectangle 1"/>
          <p:cNvSpPr/>
          <p:nvPr/>
        </p:nvSpPr>
        <p:spPr>
          <a:xfrm>
            <a:off x="621792" y="384048"/>
            <a:ext cx="976579" cy="292608"/>
          </a:xfrm>
          <a:prstGeom prst="roundRect">
            <a:avLst/>
          </a:prstGeom>
          <a:solidFill>
            <a:srgbClr val="E4F8FA"/>
          </a:solidFill>
          <a:ln w="6350">
            <a:solidFill>
              <a:srgbClr val="E4F8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67512" y="393192"/>
            <a:ext cx="885139" cy="246888"/>
          </a:xfrm>
          <a:prstGeom prst="rect">
            <a:avLst/>
          </a:prstGeom>
          <a:noFill/>
        </p:spPr>
        <p:txBody>
          <a:bodyPr wrap="square" lIns="27432" rIns="27432" tIns="27432" bIns="27432" anchor="ctr">
            <a:spAutoFit/>
          </a:bodyPr>
          <a:lstStyle/>
          <a:p>
            <a:pPr algn="ctr"/>
            <a:r>
              <a:rPr sz="950" b="1">
                <a:solidFill>
                  <a:srgbClr val="06A6B5"/>
                </a:solidFill>
                <a:latin typeface="Aptos"/>
              </a:rPr>
              <a:t>RÉSULTATS</a:t>
            </a:r>
          </a:p>
        </p:txBody>
      </p:sp>
      <p:sp>
        <p:nvSpPr>
          <p:cNvPr id="4" name="TextBox 3"/>
          <p:cNvSpPr txBox="1"/>
          <p:nvPr/>
        </p:nvSpPr>
        <p:spPr>
          <a:xfrm>
            <a:off x="621792" y="795528"/>
            <a:ext cx="10972800" cy="530352"/>
          </a:xfrm>
          <a:prstGeom prst="rect">
            <a:avLst/>
          </a:prstGeom>
          <a:noFill/>
        </p:spPr>
        <p:txBody>
          <a:bodyPr wrap="square" lIns="27432" rIns="27432" tIns="27432" bIns="27432" anchor="t">
            <a:spAutoFit/>
          </a:bodyPr>
          <a:lstStyle/>
          <a:p>
            <a:pPr algn="l"/>
            <a:r>
              <a:rPr sz="2850" b="1">
                <a:solidFill>
                  <a:srgbClr val="0B1F3A"/>
                </a:solidFill>
                <a:latin typeface="Aptos Display"/>
              </a:rPr>
              <a:t>Des résultats validés sur des données réelles</a:t>
            </a:r>
          </a:p>
        </p:txBody>
      </p:sp>
      <p:sp>
        <p:nvSpPr>
          <p:cNvPr id="5" name="Rectangle 4"/>
          <p:cNvSpPr/>
          <p:nvPr/>
        </p:nvSpPr>
        <p:spPr>
          <a:xfrm>
            <a:off x="621792" y="1380744"/>
            <a:ext cx="10972800" cy="22860"/>
          </a:xfrm>
          <a:prstGeom prst="rect">
            <a:avLst/>
          </a:prstGeom>
          <a:solidFill>
            <a:srgbClr val="DCE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6519672"/>
            <a:ext cx="4937760" cy="164592"/>
          </a:xfrm>
          <a:prstGeom prst="rect">
            <a:avLst/>
          </a:prstGeom>
          <a:noFill/>
        </p:spPr>
        <p:txBody>
          <a:bodyPr wrap="square" lIns="27432" rIns="27432" tIns="27432" bIns="27432" anchor="t">
            <a:spAutoFit/>
          </a:bodyPr>
          <a:lstStyle/>
          <a:p>
            <a:pPr algn="l"/>
            <a:r>
              <a:rPr sz="840" b="1">
                <a:solidFill>
                  <a:srgbClr val="8A98AA"/>
                </a:solidFill>
                <a:latin typeface="Aptos"/>
              </a:rPr>
              <a:t>ONE TECH BUSINESS SOLUTIONS  ·  CY TECH</a:t>
            </a:r>
          </a:p>
        </p:txBody>
      </p:sp>
      <p:sp>
        <p:nvSpPr>
          <p:cNvPr id="7" name="TextBox 6"/>
          <p:cNvSpPr txBox="1"/>
          <p:nvPr/>
        </p:nvSpPr>
        <p:spPr>
          <a:xfrm>
            <a:off x="8321040" y="6519672"/>
            <a:ext cx="3063240" cy="164592"/>
          </a:xfrm>
          <a:prstGeom prst="rect">
            <a:avLst/>
          </a:prstGeom>
          <a:noFill/>
        </p:spPr>
        <p:txBody>
          <a:bodyPr wrap="square" lIns="27432" rIns="27432" tIns="27432" bIns="27432" anchor="t">
            <a:spAutoFit/>
          </a:bodyPr>
          <a:lstStyle/>
          <a:p>
            <a:pPr algn="r"/>
            <a:r>
              <a:rPr sz="840" b="1">
                <a:solidFill>
                  <a:srgbClr val="8A98AA"/>
                </a:solidFill>
                <a:latin typeface="Aptos"/>
              </a:rPr>
              <a:t>RÉSULTATS</a:t>
            </a:r>
          </a:p>
        </p:txBody>
      </p:sp>
      <p:sp>
        <p:nvSpPr>
          <p:cNvPr id="8" name="Oval 7"/>
          <p:cNvSpPr/>
          <p:nvPr/>
        </p:nvSpPr>
        <p:spPr>
          <a:xfrm>
            <a:off x="11466576" y="6428232"/>
            <a:ext cx="256032" cy="256032"/>
          </a:xfrm>
          <a:prstGeom prst="ellipse">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66576" y="6437376"/>
            <a:ext cx="256032" cy="237744"/>
          </a:xfrm>
          <a:prstGeom prst="rect">
            <a:avLst/>
          </a:prstGeom>
          <a:noFill/>
        </p:spPr>
        <p:txBody>
          <a:bodyPr wrap="square" lIns="27432" rIns="27432" tIns="27432" bIns="27432" anchor="ctr">
            <a:spAutoFit/>
          </a:bodyPr>
          <a:lstStyle/>
          <a:p>
            <a:pPr algn="ctr"/>
            <a:r>
              <a:rPr sz="850" b="1">
                <a:solidFill>
                  <a:srgbClr val="FFFFFF"/>
                </a:solidFill>
                <a:latin typeface="Aptos"/>
              </a:rPr>
              <a:t>12</a:t>
            </a:r>
          </a:p>
        </p:txBody>
      </p:sp>
      <p:pic>
        <p:nvPicPr>
          <p:cNvPr id="10" name="Picture 9" descr="results_dashboard.png"/>
          <p:cNvPicPr>
            <a:picLocks noChangeAspect="1"/>
          </p:cNvPicPr>
          <p:nvPr/>
        </p:nvPicPr>
        <p:blipFill>
          <a:blip r:embed="rId2"/>
          <a:stretch>
            <a:fillRect/>
          </a:stretch>
        </p:blipFill>
        <p:spPr>
          <a:xfrm>
            <a:off x="640080" y="1508760"/>
            <a:ext cx="11000232" cy="4828032"/>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ounded Rectangle 1"/>
          <p:cNvSpPr/>
          <p:nvPr/>
        </p:nvSpPr>
        <p:spPr>
          <a:xfrm>
            <a:off x="621792" y="384048"/>
            <a:ext cx="960120" cy="292608"/>
          </a:xfrm>
          <a:prstGeom prst="roundRect">
            <a:avLst/>
          </a:prstGeom>
          <a:solidFill>
            <a:srgbClr val="E4F8FA"/>
          </a:solidFill>
          <a:ln w="6350">
            <a:solidFill>
              <a:srgbClr val="E4F8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67512" y="393192"/>
            <a:ext cx="868680" cy="246888"/>
          </a:xfrm>
          <a:prstGeom prst="rect">
            <a:avLst/>
          </a:prstGeom>
          <a:noFill/>
        </p:spPr>
        <p:txBody>
          <a:bodyPr wrap="square" lIns="27432" rIns="27432" tIns="27432" bIns="27432" anchor="ctr">
            <a:spAutoFit/>
          </a:bodyPr>
          <a:lstStyle/>
          <a:p>
            <a:pPr algn="ctr"/>
            <a:r>
              <a:rPr sz="950" b="1">
                <a:solidFill>
                  <a:srgbClr val="06A6B5"/>
                </a:solidFill>
                <a:latin typeface="Aptos"/>
              </a:rPr>
              <a:t>DÉMO</a:t>
            </a:r>
          </a:p>
        </p:txBody>
      </p:sp>
      <p:sp>
        <p:nvSpPr>
          <p:cNvPr id="4" name="TextBox 3"/>
          <p:cNvSpPr txBox="1"/>
          <p:nvPr/>
        </p:nvSpPr>
        <p:spPr>
          <a:xfrm>
            <a:off x="621792" y="795528"/>
            <a:ext cx="10972800" cy="530352"/>
          </a:xfrm>
          <a:prstGeom prst="rect">
            <a:avLst/>
          </a:prstGeom>
          <a:noFill/>
        </p:spPr>
        <p:txBody>
          <a:bodyPr wrap="square" lIns="27432" rIns="27432" tIns="27432" bIns="27432" anchor="t">
            <a:spAutoFit/>
          </a:bodyPr>
          <a:lstStyle/>
          <a:p>
            <a:pPr algn="l"/>
            <a:r>
              <a:rPr sz="2850" b="1">
                <a:solidFill>
                  <a:srgbClr val="0B1F3A"/>
                </a:solidFill>
                <a:latin typeface="Aptos Display"/>
              </a:rPr>
              <a:t>Une démonstration en quatre preuves</a:t>
            </a:r>
          </a:p>
        </p:txBody>
      </p:sp>
      <p:sp>
        <p:nvSpPr>
          <p:cNvPr id="5" name="Rectangle 4"/>
          <p:cNvSpPr/>
          <p:nvPr/>
        </p:nvSpPr>
        <p:spPr>
          <a:xfrm>
            <a:off x="621792" y="1380744"/>
            <a:ext cx="10972800" cy="22860"/>
          </a:xfrm>
          <a:prstGeom prst="rect">
            <a:avLst/>
          </a:prstGeom>
          <a:solidFill>
            <a:srgbClr val="DCE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6519672"/>
            <a:ext cx="4937760" cy="164592"/>
          </a:xfrm>
          <a:prstGeom prst="rect">
            <a:avLst/>
          </a:prstGeom>
          <a:noFill/>
        </p:spPr>
        <p:txBody>
          <a:bodyPr wrap="square" lIns="27432" rIns="27432" tIns="27432" bIns="27432" anchor="t">
            <a:spAutoFit/>
          </a:bodyPr>
          <a:lstStyle/>
          <a:p>
            <a:pPr algn="l"/>
            <a:r>
              <a:rPr sz="840" b="1">
                <a:solidFill>
                  <a:srgbClr val="8A98AA"/>
                </a:solidFill>
                <a:latin typeface="Aptos"/>
              </a:rPr>
              <a:t>ONE TECH BUSINESS SOLUTIONS  ·  CY TECH</a:t>
            </a:r>
          </a:p>
        </p:txBody>
      </p:sp>
      <p:sp>
        <p:nvSpPr>
          <p:cNvPr id="7" name="TextBox 6"/>
          <p:cNvSpPr txBox="1"/>
          <p:nvPr/>
        </p:nvSpPr>
        <p:spPr>
          <a:xfrm>
            <a:off x="8321040" y="6519672"/>
            <a:ext cx="3063240" cy="164592"/>
          </a:xfrm>
          <a:prstGeom prst="rect">
            <a:avLst/>
          </a:prstGeom>
          <a:noFill/>
        </p:spPr>
        <p:txBody>
          <a:bodyPr wrap="square" lIns="27432" rIns="27432" tIns="27432" bIns="27432" anchor="t">
            <a:spAutoFit/>
          </a:bodyPr>
          <a:lstStyle/>
          <a:p>
            <a:pPr algn="r"/>
            <a:r>
              <a:rPr sz="840" b="1">
                <a:solidFill>
                  <a:srgbClr val="8A98AA"/>
                </a:solidFill>
                <a:latin typeface="Aptos"/>
              </a:rPr>
              <a:t>DÉMO</a:t>
            </a:r>
          </a:p>
        </p:txBody>
      </p:sp>
      <p:sp>
        <p:nvSpPr>
          <p:cNvPr id="8" name="Oval 7"/>
          <p:cNvSpPr/>
          <p:nvPr/>
        </p:nvSpPr>
        <p:spPr>
          <a:xfrm>
            <a:off x="11466576" y="6428232"/>
            <a:ext cx="256032" cy="256032"/>
          </a:xfrm>
          <a:prstGeom prst="ellipse">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66576" y="6437376"/>
            <a:ext cx="256032" cy="237744"/>
          </a:xfrm>
          <a:prstGeom prst="rect">
            <a:avLst/>
          </a:prstGeom>
          <a:noFill/>
        </p:spPr>
        <p:txBody>
          <a:bodyPr wrap="square" lIns="27432" rIns="27432" tIns="27432" bIns="27432" anchor="ctr">
            <a:spAutoFit/>
          </a:bodyPr>
          <a:lstStyle/>
          <a:p>
            <a:pPr algn="ctr"/>
            <a:r>
              <a:rPr sz="850" b="1">
                <a:solidFill>
                  <a:srgbClr val="FFFFFF"/>
                </a:solidFill>
                <a:latin typeface="Aptos"/>
              </a:rPr>
              <a:t>13</a:t>
            </a:r>
          </a:p>
        </p:txBody>
      </p:sp>
      <p:sp>
        <p:nvSpPr>
          <p:cNvPr id="10" name="Rounded Rectangle 9"/>
          <p:cNvSpPr/>
          <p:nvPr/>
        </p:nvSpPr>
        <p:spPr>
          <a:xfrm>
            <a:off x="749808" y="1764792"/>
            <a:ext cx="5175504" cy="1508760"/>
          </a:xfrm>
          <a:prstGeom prst="roundRect">
            <a:avLst/>
          </a:prstGeom>
          <a:solidFill>
            <a:srgbClr val="FFFFFF"/>
          </a:solidFill>
          <a:ln w="12700">
            <a:solidFill>
              <a:srgbClr val="DCE4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4127" y="2029967"/>
            <a:ext cx="493776" cy="493776"/>
          </a:xfrm>
          <a:prstGeom prst="ellipse">
            <a:avLst/>
          </a:prstGeom>
          <a:solidFill>
            <a:srgbClr val="2D6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7" y="2039111"/>
            <a:ext cx="493776" cy="475488"/>
          </a:xfrm>
          <a:prstGeom prst="rect">
            <a:avLst/>
          </a:prstGeom>
          <a:noFill/>
        </p:spPr>
        <p:txBody>
          <a:bodyPr wrap="square" lIns="27432" rIns="27432" tIns="27432" bIns="27432" anchor="ctr">
            <a:spAutoFit/>
          </a:bodyPr>
          <a:lstStyle/>
          <a:p>
            <a:pPr algn="ctr"/>
            <a:r>
              <a:rPr sz="1000" b="1">
                <a:solidFill>
                  <a:srgbClr val="FFFFFF"/>
                </a:solidFill>
                <a:latin typeface="Aptos"/>
              </a:rPr>
              <a:t>01</a:t>
            </a:r>
          </a:p>
        </p:txBody>
      </p:sp>
      <p:sp>
        <p:nvSpPr>
          <p:cNvPr id="13" name="TextBox 12"/>
          <p:cNvSpPr txBox="1"/>
          <p:nvPr/>
        </p:nvSpPr>
        <p:spPr>
          <a:xfrm>
            <a:off x="1709928" y="1993391"/>
            <a:ext cx="1417320" cy="310896"/>
          </a:xfrm>
          <a:prstGeom prst="rect">
            <a:avLst/>
          </a:prstGeom>
          <a:noFill/>
        </p:spPr>
        <p:txBody>
          <a:bodyPr wrap="square" lIns="27432" rIns="27432" tIns="27432" bIns="27432" anchor="t">
            <a:spAutoFit/>
          </a:bodyPr>
          <a:lstStyle/>
          <a:p>
            <a:pPr algn="l"/>
            <a:r>
              <a:rPr sz="1550" b="1">
                <a:solidFill>
                  <a:srgbClr val="0B1F3A"/>
                </a:solidFill>
                <a:latin typeface="Aptos"/>
              </a:rPr>
              <a:t>Données</a:t>
            </a:r>
          </a:p>
        </p:txBody>
      </p:sp>
      <p:sp>
        <p:nvSpPr>
          <p:cNvPr id="14" name="TextBox 13"/>
          <p:cNvSpPr txBox="1"/>
          <p:nvPr/>
        </p:nvSpPr>
        <p:spPr>
          <a:xfrm>
            <a:off x="1709928" y="2423160"/>
            <a:ext cx="3749039" cy="530352"/>
          </a:xfrm>
          <a:prstGeom prst="rect">
            <a:avLst/>
          </a:prstGeom>
          <a:noFill/>
        </p:spPr>
        <p:txBody>
          <a:bodyPr wrap="square" lIns="27432" rIns="27432" tIns="27432" bIns="27432" anchor="t">
            <a:spAutoFit/>
          </a:bodyPr>
          <a:lstStyle/>
          <a:p>
            <a:pPr algn="l"/>
            <a:r>
              <a:rPr sz="1170" b="0">
                <a:solidFill>
                  <a:srgbClr val="66758A"/>
                </a:solidFill>
                <a:latin typeface="Aptos"/>
              </a:rPr>
              <a:t>Afficher l’AO, ses documents et leurs hashes dans PostgreSQL</a:t>
            </a:r>
          </a:p>
        </p:txBody>
      </p:sp>
      <p:sp>
        <p:nvSpPr>
          <p:cNvPr id="15" name="Rounded Rectangle 14"/>
          <p:cNvSpPr/>
          <p:nvPr/>
        </p:nvSpPr>
        <p:spPr>
          <a:xfrm>
            <a:off x="6309360" y="1764792"/>
            <a:ext cx="5175504" cy="1508760"/>
          </a:xfrm>
          <a:prstGeom prst="roundRect">
            <a:avLst/>
          </a:prstGeom>
          <a:solidFill>
            <a:srgbClr val="FFFFFF"/>
          </a:solidFill>
          <a:ln w="12700">
            <a:solidFill>
              <a:srgbClr val="DCE4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583680" y="2029967"/>
            <a:ext cx="493776" cy="493776"/>
          </a:xfrm>
          <a:prstGeom prst="ellipse">
            <a:avLst/>
          </a:prstGeom>
          <a:solidFill>
            <a:srgbClr val="7165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0" y="2039111"/>
            <a:ext cx="493776" cy="475488"/>
          </a:xfrm>
          <a:prstGeom prst="rect">
            <a:avLst/>
          </a:prstGeom>
          <a:noFill/>
        </p:spPr>
        <p:txBody>
          <a:bodyPr wrap="square" lIns="27432" rIns="27432" tIns="27432" bIns="27432" anchor="ctr">
            <a:spAutoFit/>
          </a:bodyPr>
          <a:lstStyle/>
          <a:p>
            <a:pPr algn="ctr"/>
            <a:r>
              <a:rPr sz="1000" b="1">
                <a:solidFill>
                  <a:srgbClr val="FFFFFF"/>
                </a:solidFill>
                <a:latin typeface="Aptos"/>
              </a:rPr>
              <a:t>02</a:t>
            </a:r>
          </a:p>
        </p:txBody>
      </p:sp>
      <p:sp>
        <p:nvSpPr>
          <p:cNvPr id="18" name="TextBox 17"/>
          <p:cNvSpPr txBox="1"/>
          <p:nvPr/>
        </p:nvSpPr>
        <p:spPr>
          <a:xfrm>
            <a:off x="7269480" y="1993391"/>
            <a:ext cx="1417320" cy="310896"/>
          </a:xfrm>
          <a:prstGeom prst="rect">
            <a:avLst/>
          </a:prstGeom>
          <a:noFill/>
        </p:spPr>
        <p:txBody>
          <a:bodyPr wrap="square" lIns="27432" rIns="27432" tIns="27432" bIns="27432" anchor="t">
            <a:spAutoFit/>
          </a:bodyPr>
          <a:lstStyle/>
          <a:p>
            <a:pPr algn="l"/>
            <a:r>
              <a:rPr sz="1550" b="1">
                <a:solidFill>
                  <a:srgbClr val="0B1F3A"/>
                </a:solidFill>
                <a:latin typeface="Aptos"/>
              </a:rPr>
              <a:t>Analyse</a:t>
            </a:r>
          </a:p>
        </p:txBody>
      </p:sp>
      <p:sp>
        <p:nvSpPr>
          <p:cNvPr id="19" name="TextBox 18"/>
          <p:cNvSpPr txBox="1"/>
          <p:nvPr/>
        </p:nvSpPr>
        <p:spPr>
          <a:xfrm>
            <a:off x="7269480" y="2423160"/>
            <a:ext cx="3749039" cy="530352"/>
          </a:xfrm>
          <a:prstGeom prst="rect">
            <a:avLst/>
          </a:prstGeom>
          <a:noFill/>
        </p:spPr>
        <p:txBody>
          <a:bodyPr wrap="square" lIns="27432" rIns="27432" tIns="27432" bIns="27432" anchor="t">
            <a:spAutoFit/>
          </a:bodyPr>
          <a:lstStyle/>
          <a:p>
            <a:pPr algn="l"/>
            <a:r>
              <a:rPr sz="1170" b="0">
                <a:solidFill>
                  <a:srgbClr val="66758A"/>
                </a:solidFill>
                <a:latin typeface="Aptos"/>
              </a:rPr>
              <a:t>Lancer la qualification et ouvrir la fiche Go/No-Go sourcée</a:t>
            </a:r>
          </a:p>
        </p:txBody>
      </p:sp>
      <p:sp>
        <p:nvSpPr>
          <p:cNvPr id="20" name="Rounded Rectangle 19"/>
          <p:cNvSpPr/>
          <p:nvPr/>
        </p:nvSpPr>
        <p:spPr>
          <a:xfrm>
            <a:off x="749808" y="3639311"/>
            <a:ext cx="5175504" cy="1508760"/>
          </a:xfrm>
          <a:prstGeom prst="roundRect">
            <a:avLst/>
          </a:prstGeom>
          <a:solidFill>
            <a:srgbClr val="FFFFFF"/>
          </a:solidFill>
          <a:ln w="12700">
            <a:solidFill>
              <a:srgbClr val="DCE4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24127" y="3904487"/>
            <a:ext cx="493776" cy="493776"/>
          </a:xfrm>
          <a:prstGeom prst="ellipse">
            <a:avLst/>
          </a:prstGeom>
          <a:solidFill>
            <a:srgbClr val="28B4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24127" y="3913631"/>
            <a:ext cx="493776" cy="475488"/>
          </a:xfrm>
          <a:prstGeom prst="rect">
            <a:avLst/>
          </a:prstGeom>
          <a:noFill/>
        </p:spPr>
        <p:txBody>
          <a:bodyPr wrap="square" lIns="27432" rIns="27432" tIns="27432" bIns="27432" anchor="ctr">
            <a:spAutoFit/>
          </a:bodyPr>
          <a:lstStyle/>
          <a:p>
            <a:pPr algn="ctr"/>
            <a:r>
              <a:rPr sz="1000" b="1">
                <a:solidFill>
                  <a:srgbClr val="FFFFFF"/>
                </a:solidFill>
                <a:latin typeface="Aptos"/>
              </a:rPr>
              <a:t>03</a:t>
            </a:r>
          </a:p>
        </p:txBody>
      </p:sp>
      <p:sp>
        <p:nvSpPr>
          <p:cNvPr id="23" name="TextBox 22"/>
          <p:cNvSpPr txBox="1"/>
          <p:nvPr/>
        </p:nvSpPr>
        <p:spPr>
          <a:xfrm>
            <a:off x="1709928" y="3867911"/>
            <a:ext cx="1417320" cy="310896"/>
          </a:xfrm>
          <a:prstGeom prst="rect">
            <a:avLst/>
          </a:prstGeom>
          <a:noFill/>
        </p:spPr>
        <p:txBody>
          <a:bodyPr wrap="square" lIns="27432" rIns="27432" tIns="27432" bIns="27432" anchor="t">
            <a:spAutoFit/>
          </a:bodyPr>
          <a:lstStyle/>
          <a:p>
            <a:pPr algn="l"/>
            <a:r>
              <a:rPr sz="1550" b="1">
                <a:solidFill>
                  <a:srgbClr val="0B1F3A"/>
                </a:solidFill>
                <a:latin typeface="Aptos"/>
              </a:rPr>
              <a:t>Rejeu</a:t>
            </a:r>
          </a:p>
        </p:txBody>
      </p:sp>
      <p:sp>
        <p:nvSpPr>
          <p:cNvPr id="24" name="TextBox 23"/>
          <p:cNvSpPr txBox="1"/>
          <p:nvPr/>
        </p:nvSpPr>
        <p:spPr>
          <a:xfrm>
            <a:off x="1709928" y="4297679"/>
            <a:ext cx="3749039" cy="530352"/>
          </a:xfrm>
          <a:prstGeom prst="rect">
            <a:avLst/>
          </a:prstGeom>
          <a:noFill/>
        </p:spPr>
        <p:txBody>
          <a:bodyPr wrap="square" lIns="27432" rIns="27432" tIns="27432" bIns="27432" anchor="t">
            <a:spAutoFit/>
          </a:bodyPr>
          <a:lstStyle/>
          <a:p>
            <a:pPr algn="l"/>
            <a:r>
              <a:rPr sz="1170" b="0">
                <a:solidFill>
                  <a:srgbClr val="66758A"/>
                </a:solidFill>
                <a:latin typeface="Aptos"/>
              </a:rPr>
              <a:t>Relancer le même contexte et retrouver le même identifiant</a:t>
            </a:r>
          </a:p>
        </p:txBody>
      </p:sp>
      <p:sp>
        <p:nvSpPr>
          <p:cNvPr id="25" name="Rounded Rectangle 24"/>
          <p:cNvSpPr/>
          <p:nvPr/>
        </p:nvSpPr>
        <p:spPr>
          <a:xfrm>
            <a:off x="6309360" y="3639311"/>
            <a:ext cx="5175504" cy="1508760"/>
          </a:xfrm>
          <a:prstGeom prst="roundRect">
            <a:avLst/>
          </a:prstGeom>
          <a:solidFill>
            <a:srgbClr val="FFFFFF"/>
          </a:solidFill>
          <a:ln w="12700">
            <a:solidFill>
              <a:srgbClr val="DCE4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583680" y="3904487"/>
            <a:ext cx="493776" cy="493776"/>
          </a:xfrm>
          <a:prstGeom prst="ellipse">
            <a:avLst/>
          </a:prstGeom>
          <a:solidFill>
            <a:srgbClr val="06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0" y="3913631"/>
            <a:ext cx="493776" cy="475488"/>
          </a:xfrm>
          <a:prstGeom prst="rect">
            <a:avLst/>
          </a:prstGeom>
          <a:noFill/>
        </p:spPr>
        <p:txBody>
          <a:bodyPr wrap="square" lIns="27432" rIns="27432" tIns="27432" bIns="27432" anchor="ctr">
            <a:spAutoFit/>
          </a:bodyPr>
          <a:lstStyle/>
          <a:p>
            <a:pPr algn="ctr"/>
            <a:r>
              <a:rPr sz="1000" b="1">
                <a:solidFill>
                  <a:srgbClr val="FFFFFF"/>
                </a:solidFill>
                <a:latin typeface="Aptos"/>
              </a:rPr>
              <a:t>04</a:t>
            </a:r>
          </a:p>
        </p:txBody>
      </p:sp>
      <p:sp>
        <p:nvSpPr>
          <p:cNvPr id="28" name="TextBox 27"/>
          <p:cNvSpPr txBox="1"/>
          <p:nvPr/>
        </p:nvSpPr>
        <p:spPr>
          <a:xfrm>
            <a:off x="7269480" y="3867911"/>
            <a:ext cx="1417320" cy="310896"/>
          </a:xfrm>
          <a:prstGeom prst="rect">
            <a:avLst/>
          </a:prstGeom>
          <a:noFill/>
        </p:spPr>
        <p:txBody>
          <a:bodyPr wrap="square" lIns="27432" rIns="27432" tIns="27432" bIns="27432" anchor="t">
            <a:spAutoFit/>
          </a:bodyPr>
          <a:lstStyle/>
          <a:p>
            <a:pPr algn="l"/>
            <a:r>
              <a:rPr sz="1550" b="1">
                <a:solidFill>
                  <a:srgbClr val="0B1F3A"/>
                </a:solidFill>
                <a:latin typeface="Aptos"/>
              </a:rPr>
              <a:t>Diffusion</a:t>
            </a:r>
          </a:p>
        </p:txBody>
      </p:sp>
      <p:sp>
        <p:nvSpPr>
          <p:cNvPr id="29" name="TextBox 28"/>
          <p:cNvSpPr txBox="1"/>
          <p:nvPr/>
        </p:nvSpPr>
        <p:spPr>
          <a:xfrm>
            <a:off x="7269480" y="4297679"/>
            <a:ext cx="3749039" cy="530352"/>
          </a:xfrm>
          <a:prstGeom prst="rect">
            <a:avLst/>
          </a:prstGeom>
          <a:noFill/>
        </p:spPr>
        <p:txBody>
          <a:bodyPr wrap="square" lIns="27432" rIns="27432" tIns="27432" bIns="27432" anchor="t">
            <a:spAutoFit/>
          </a:bodyPr>
          <a:lstStyle/>
          <a:p>
            <a:pPr algn="l"/>
            <a:r>
              <a:rPr sz="1170" b="0">
                <a:solidFill>
                  <a:srgbClr val="66758A"/>
                </a:solidFill>
                <a:latin typeface="Aptos"/>
              </a:rPr>
              <a:t>Montrer le workflow n8n, Gmail et le groupe Telegram</a:t>
            </a:r>
          </a:p>
        </p:txBody>
      </p:sp>
      <p:sp>
        <p:nvSpPr>
          <p:cNvPr id="30" name="Rounded Rectangle 29"/>
          <p:cNvSpPr/>
          <p:nvPr/>
        </p:nvSpPr>
        <p:spPr>
          <a:xfrm>
            <a:off x="2057400" y="5650992"/>
            <a:ext cx="8065008" cy="475488"/>
          </a:xfrm>
          <a:prstGeom prst="roundRect">
            <a:avLst/>
          </a:prstGeom>
          <a:solidFill>
            <a:srgbClr val="0B1F3A"/>
          </a:solidFill>
          <a:ln w="12700">
            <a:solidFill>
              <a:srgbClr val="0B1F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304288" y="5769864"/>
            <a:ext cx="7571231" cy="219456"/>
          </a:xfrm>
          <a:prstGeom prst="rect">
            <a:avLst/>
          </a:prstGeom>
          <a:noFill/>
        </p:spPr>
        <p:txBody>
          <a:bodyPr wrap="square" lIns="27432" rIns="27432" tIns="27432" bIns="27432" anchor="t">
            <a:spAutoFit/>
          </a:bodyPr>
          <a:lstStyle/>
          <a:p>
            <a:pPr algn="ctr"/>
            <a:r>
              <a:rPr sz="1150" b="1">
                <a:solidFill>
                  <a:srgbClr val="FFFFFF"/>
                </a:solidFill>
                <a:latin typeface="Aptos"/>
              </a:rPr>
              <a:t>Prouver le lien entre la source, la décision, le replay et la notification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ounded Rectangle 1"/>
          <p:cNvSpPr/>
          <p:nvPr/>
        </p:nvSpPr>
        <p:spPr>
          <a:xfrm>
            <a:off x="621792" y="384048"/>
            <a:ext cx="1569110" cy="292608"/>
          </a:xfrm>
          <a:prstGeom prst="roundRect">
            <a:avLst/>
          </a:prstGeom>
          <a:solidFill>
            <a:srgbClr val="E4F8FA"/>
          </a:solidFill>
          <a:ln w="6350">
            <a:solidFill>
              <a:srgbClr val="E4F8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67512" y="393192"/>
            <a:ext cx="1477670" cy="246888"/>
          </a:xfrm>
          <a:prstGeom prst="rect">
            <a:avLst/>
          </a:prstGeom>
          <a:noFill/>
        </p:spPr>
        <p:txBody>
          <a:bodyPr wrap="square" lIns="27432" rIns="27432" tIns="27432" bIns="27432" anchor="ctr">
            <a:spAutoFit/>
          </a:bodyPr>
          <a:lstStyle/>
          <a:p>
            <a:pPr algn="ctr"/>
            <a:r>
              <a:rPr sz="950" b="1">
                <a:solidFill>
                  <a:srgbClr val="06A6B5"/>
                </a:solidFill>
                <a:latin typeface="Aptos"/>
              </a:rPr>
              <a:t>QUALITÉ &amp; SÉCURITÉ</a:t>
            </a:r>
          </a:p>
        </p:txBody>
      </p:sp>
      <p:sp>
        <p:nvSpPr>
          <p:cNvPr id="4" name="TextBox 3"/>
          <p:cNvSpPr txBox="1"/>
          <p:nvPr/>
        </p:nvSpPr>
        <p:spPr>
          <a:xfrm>
            <a:off x="621792" y="795528"/>
            <a:ext cx="10972800" cy="530352"/>
          </a:xfrm>
          <a:prstGeom prst="rect">
            <a:avLst/>
          </a:prstGeom>
          <a:noFill/>
        </p:spPr>
        <p:txBody>
          <a:bodyPr wrap="square" lIns="27432" rIns="27432" tIns="27432" bIns="27432" anchor="t">
            <a:spAutoFit/>
          </a:bodyPr>
          <a:lstStyle/>
          <a:p>
            <a:pPr algn="l"/>
            <a:r>
              <a:rPr sz="2850" b="1">
                <a:solidFill>
                  <a:srgbClr val="0B1F3A"/>
                </a:solidFill>
                <a:latin typeface="Aptos Display"/>
              </a:rPr>
              <a:t>Des garde-fous intégrés dans chaque couche</a:t>
            </a:r>
          </a:p>
        </p:txBody>
      </p:sp>
      <p:sp>
        <p:nvSpPr>
          <p:cNvPr id="5" name="Rectangle 4"/>
          <p:cNvSpPr/>
          <p:nvPr/>
        </p:nvSpPr>
        <p:spPr>
          <a:xfrm>
            <a:off x="621792" y="1380744"/>
            <a:ext cx="10972800" cy="22860"/>
          </a:xfrm>
          <a:prstGeom prst="rect">
            <a:avLst/>
          </a:prstGeom>
          <a:solidFill>
            <a:srgbClr val="DCE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6519672"/>
            <a:ext cx="4937760" cy="164592"/>
          </a:xfrm>
          <a:prstGeom prst="rect">
            <a:avLst/>
          </a:prstGeom>
          <a:noFill/>
        </p:spPr>
        <p:txBody>
          <a:bodyPr wrap="square" lIns="27432" rIns="27432" tIns="27432" bIns="27432" anchor="t">
            <a:spAutoFit/>
          </a:bodyPr>
          <a:lstStyle/>
          <a:p>
            <a:pPr algn="l"/>
            <a:r>
              <a:rPr sz="840" b="1">
                <a:solidFill>
                  <a:srgbClr val="8A98AA"/>
                </a:solidFill>
                <a:latin typeface="Aptos"/>
              </a:rPr>
              <a:t>ONE TECH BUSINESS SOLUTIONS  ·  CY TECH</a:t>
            </a:r>
          </a:p>
        </p:txBody>
      </p:sp>
      <p:sp>
        <p:nvSpPr>
          <p:cNvPr id="7" name="TextBox 6"/>
          <p:cNvSpPr txBox="1"/>
          <p:nvPr/>
        </p:nvSpPr>
        <p:spPr>
          <a:xfrm>
            <a:off x="8321040" y="6519672"/>
            <a:ext cx="3063240" cy="164592"/>
          </a:xfrm>
          <a:prstGeom prst="rect">
            <a:avLst/>
          </a:prstGeom>
          <a:noFill/>
        </p:spPr>
        <p:txBody>
          <a:bodyPr wrap="square" lIns="27432" rIns="27432" tIns="27432" bIns="27432" anchor="t">
            <a:spAutoFit/>
          </a:bodyPr>
          <a:lstStyle/>
          <a:p>
            <a:pPr algn="r"/>
            <a:r>
              <a:rPr sz="840" b="1">
                <a:solidFill>
                  <a:srgbClr val="8A98AA"/>
                </a:solidFill>
                <a:latin typeface="Aptos"/>
              </a:rPr>
              <a:t>QUALITÉ &amp; SÉCURITÉ</a:t>
            </a:r>
          </a:p>
        </p:txBody>
      </p:sp>
      <p:sp>
        <p:nvSpPr>
          <p:cNvPr id="8" name="Oval 7"/>
          <p:cNvSpPr/>
          <p:nvPr/>
        </p:nvSpPr>
        <p:spPr>
          <a:xfrm>
            <a:off x="11466576" y="6428232"/>
            <a:ext cx="256032" cy="256032"/>
          </a:xfrm>
          <a:prstGeom prst="ellipse">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66576" y="6437376"/>
            <a:ext cx="256032" cy="237744"/>
          </a:xfrm>
          <a:prstGeom prst="rect">
            <a:avLst/>
          </a:prstGeom>
          <a:noFill/>
        </p:spPr>
        <p:txBody>
          <a:bodyPr wrap="square" lIns="27432" rIns="27432" tIns="27432" bIns="27432" anchor="ctr">
            <a:spAutoFit/>
          </a:bodyPr>
          <a:lstStyle/>
          <a:p>
            <a:pPr algn="ctr"/>
            <a:r>
              <a:rPr sz="850" b="1">
                <a:solidFill>
                  <a:srgbClr val="FFFFFF"/>
                </a:solidFill>
                <a:latin typeface="Aptos"/>
              </a:rPr>
              <a:t>14</a:t>
            </a:r>
          </a:p>
        </p:txBody>
      </p:sp>
      <p:sp>
        <p:nvSpPr>
          <p:cNvPr id="10" name="Rounded Rectangle 9"/>
          <p:cNvSpPr/>
          <p:nvPr/>
        </p:nvSpPr>
        <p:spPr>
          <a:xfrm>
            <a:off x="658368" y="1682496"/>
            <a:ext cx="3502152" cy="1243584"/>
          </a:xfrm>
          <a:prstGeom prst="roundRect">
            <a:avLst/>
          </a:prstGeom>
          <a:solidFill>
            <a:srgbClr val="FFFFFF"/>
          </a:solidFill>
          <a:ln w="12700">
            <a:solidFill>
              <a:srgbClr val="DCE4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1682496"/>
            <a:ext cx="64008" cy="1243584"/>
          </a:xfrm>
          <a:prstGeom prst="rect">
            <a:avLst/>
          </a:prstGeom>
          <a:solidFill>
            <a:srgbClr val="2D6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59536" y="1847088"/>
            <a:ext cx="347472" cy="347472"/>
          </a:xfrm>
          <a:prstGeom prst="ellipse">
            <a:avLst/>
          </a:prstGeom>
          <a:solidFill>
            <a:srgbClr val="2D6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1856231"/>
            <a:ext cx="347472" cy="329184"/>
          </a:xfrm>
          <a:prstGeom prst="rect">
            <a:avLst/>
          </a:prstGeom>
          <a:noFill/>
        </p:spPr>
        <p:txBody>
          <a:bodyPr wrap="square" lIns="27432" rIns="27432" tIns="27432" bIns="27432" anchor="ctr">
            <a:spAutoFit/>
          </a:bodyPr>
          <a:lstStyle/>
          <a:p>
            <a:pPr algn="ctr"/>
            <a:r>
              <a:rPr sz="1000" b="1">
                <a:solidFill>
                  <a:srgbClr val="FFFFFF"/>
                </a:solidFill>
                <a:latin typeface="Aptos"/>
              </a:rPr>
              <a:t>#</a:t>
            </a:r>
          </a:p>
        </p:txBody>
      </p:sp>
      <p:sp>
        <p:nvSpPr>
          <p:cNvPr id="14" name="TextBox 13"/>
          <p:cNvSpPr txBox="1"/>
          <p:nvPr/>
        </p:nvSpPr>
        <p:spPr>
          <a:xfrm>
            <a:off x="1316736" y="1837944"/>
            <a:ext cx="2679192" cy="301752"/>
          </a:xfrm>
          <a:prstGeom prst="rect">
            <a:avLst/>
          </a:prstGeom>
          <a:noFill/>
        </p:spPr>
        <p:txBody>
          <a:bodyPr wrap="square" lIns="27432" rIns="27432" tIns="27432" bIns="27432" anchor="ctr">
            <a:spAutoFit/>
          </a:bodyPr>
          <a:lstStyle/>
          <a:p>
            <a:pPr algn="l"/>
            <a:r>
              <a:rPr sz="1420" b="1">
                <a:solidFill>
                  <a:srgbClr val="17243B"/>
                </a:solidFill>
                <a:latin typeface="Aptos"/>
              </a:rPr>
              <a:t>SHA-256</a:t>
            </a:r>
          </a:p>
        </p:txBody>
      </p:sp>
      <p:sp>
        <p:nvSpPr>
          <p:cNvPr id="15" name="TextBox 14"/>
          <p:cNvSpPr txBox="1"/>
          <p:nvPr/>
        </p:nvSpPr>
        <p:spPr>
          <a:xfrm>
            <a:off x="868680" y="2212848"/>
            <a:ext cx="3118104" cy="612648"/>
          </a:xfrm>
          <a:prstGeom prst="rect">
            <a:avLst/>
          </a:prstGeom>
          <a:noFill/>
        </p:spPr>
        <p:txBody>
          <a:bodyPr wrap="square" lIns="27432" rIns="27432" tIns="27432" bIns="27432" anchor="t">
            <a:spAutoFit/>
          </a:bodyPr>
          <a:lstStyle/>
          <a:p>
            <a:pPr algn="l">
              <a:lnSpc>
                <a:spcPct val="100000"/>
              </a:lnSpc>
            </a:pPr>
            <a:r>
              <a:rPr sz="1050" b="0">
                <a:solidFill>
                  <a:srgbClr val="66758A"/>
                </a:solidFill>
                <a:latin typeface="Aptos"/>
              </a:rPr>
              <a:t>Identifier chaque fichier et chaque contexte</a:t>
            </a:r>
          </a:p>
        </p:txBody>
      </p:sp>
      <p:sp>
        <p:nvSpPr>
          <p:cNvPr id="16" name="Rounded Rectangle 15"/>
          <p:cNvSpPr/>
          <p:nvPr/>
        </p:nvSpPr>
        <p:spPr>
          <a:xfrm>
            <a:off x="4480559" y="1682496"/>
            <a:ext cx="3502152" cy="1243584"/>
          </a:xfrm>
          <a:prstGeom prst="roundRect">
            <a:avLst/>
          </a:prstGeom>
          <a:solidFill>
            <a:srgbClr val="FFFFFF"/>
          </a:solidFill>
          <a:ln w="12700">
            <a:solidFill>
              <a:srgbClr val="DCE4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59" y="1682496"/>
            <a:ext cx="64008" cy="1243584"/>
          </a:xfrm>
          <a:prstGeom prst="rect">
            <a:avLst/>
          </a:prstGeom>
          <a:solidFill>
            <a:srgbClr val="28B4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4681727" y="1847088"/>
            <a:ext cx="347472" cy="347472"/>
          </a:xfrm>
          <a:prstGeom prst="ellipse">
            <a:avLst/>
          </a:prstGeom>
          <a:solidFill>
            <a:srgbClr val="28B4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81727" y="1856231"/>
            <a:ext cx="347472" cy="329184"/>
          </a:xfrm>
          <a:prstGeom prst="rect">
            <a:avLst/>
          </a:prstGeom>
          <a:noFill/>
        </p:spPr>
        <p:txBody>
          <a:bodyPr wrap="square" lIns="27432" rIns="27432" tIns="27432" bIns="27432" anchor="ctr">
            <a:spAutoFit/>
          </a:bodyPr>
          <a:lstStyle/>
          <a:p>
            <a:pPr algn="ctr"/>
            <a:r>
              <a:rPr sz="1000" b="1">
                <a:solidFill>
                  <a:srgbClr val="FFFFFF"/>
                </a:solidFill>
                <a:latin typeface="Aptos"/>
              </a:rPr>
              <a:t>↻</a:t>
            </a:r>
          </a:p>
        </p:txBody>
      </p:sp>
      <p:sp>
        <p:nvSpPr>
          <p:cNvPr id="20" name="TextBox 19"/>
          <p:cNvSpPr txBox="1"/>
          <p:nvPr/>
        </p:nvSpPr>
        <p:spPr>
          <a:xfrm>
            <a:off x="5138927" y="1837944"/>
            <a:ext cx="2679192" cy="301752"/>
          </a:xfrm>
          <a:prstGeom prst="rect">
            <a:avLst/>
          </a:prstGeom>
          <a:noFill/>
        </p:spPr>
        <p:txBody>
          <a:bodyPr wrap="square" lIns="27432" rIns="27432" tIns="27432" bIns="27432" anchor="ctr">
            <a:spAutoFit/>
          </a:bodyPr>
          <a:lstStyle/>
          <a:p>
            <a:pPr algn="l"/>
            <a:r>
              <a:rPr sz="1420" b="1">
                <a:solidFill>
                  <a:srgbClr val="17243B"/>
                </a:solidFill>
                <a:latin typeface="Aptos"/>
              </a:rPr>
              <a:t>Idempotence</a:t>
            </a:r>
          </a:p>
        </p:txBody>
      </p:sp>
      <p:sp>
        <p:nvSpPr>
          <p:cNvPr id="21" name="TextBox 20"/>
          <p:cNvSpPr txBox="1"/>
          <p:nvPr/>
        </p:nvSpPr>
        <p:spPr>
          <a:xfrm>
            <a:off x="4690872" y="2212848"/>
            <a:ext cx="3118104" cy="612648"/>
          </a:xfrm>
          <a:prstGeom prst="rect">
            <a:avLst/>
          </a:prstGeom>
          <a:noFill/>
        </p:spPr>
        <p:txBody>
          <a:bodyPr wrap="square" lIns="27432" rIns="27432" tIns="27432" bIns="27432" anchor="t">
            <a:spAutoFit/>
          </a:bodyPr>
          <a:lstStyle/>
          <a:p>
            <a:pPr algn="l">
              <a:lnSpc>
                <a:spcPct val="100000"/>
              </a:lnSpc>
            </a:pPr>
            <a:r>
              <a:rPr sz="1050" b="0">
                <a:solidFill>
                  <a:srgbClr val="66758A"/>
                </a:solidFill>
                <a:latin typeface="Aptos"/>
              </a:rPr>
              <a:t>Rejouer sans dupliquer données ni envois</a:t>
            </a:r>
          </a:p>
        </p:txBody>
      </p:sp>
      <p:sp>
        <p:nvSpPr>
          <p:cNvPr id="22" name="Rounded Rectangle 21"/>
          <p:cNvSpPr/>
          <p:nvPr/>
        </p:nvSpPr>
        <p:spPr>
          <a:xfrm>
            <a:off x="8302752" y="1682496"/>
            <a:ext cx="3502152" cy="1243584"/>
          </a:xfrm>
          <a:prstGeom prst="roundRect">
            <a:avLst/>
          </a:prstGeom>
          <a:solidFill>
            <a:srgbClr val="FFFFFF"/>
          </a:solidFill>
          <a:ln w="12700">
            <a:solidFill>
              <a:srgbClr val="DCE4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302752" y="1682496"/>
            <a:ext cx="64008" cy="1243584"/>
          </a:xfrm>
          <a:prstGeom prst="rect">
            <a:avLst/>
          </a:prstGeom>
          <a:solidFill>
            <a:srgbClr val="7165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503920" y="1847088"/>
            <a:ext cx="347472" cy="347472"/>
          </a:xfrm>
          <a:prstGeom prst="ellipse">
            <a:avLst/>
          </a:prstGeom>
          <a:solidFill>
            <a:srgbClr val="7165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03920" y="1856231"/>
            <a:ext cx="347472" cy="329184"/>
          </a:xfrm>
          <a:prstGeom prst="rect">
            <a:avLst/>
          </a:prstGeom>
          <a:noFill/>
        </p:spPr>
        <p:txBody>
          <a:bodyPr wrap="square" lIns="27432" rIns="27432" tIns="27432" bIns="27432" anchor="ctr">
            <a:spAutoFit/>
          </a:bodyPr>
          <a:lstStyle/>
          <a:p>
            <a:pPr algn="ctr"/>
            <a:r>
              <a:rPr sz="1000" b="1">
                <a:solidFill>
                  <a:srgbClr val="FFFFFF"/>
                </a:solidFill>
                <a:latin typeface="Aptos"/>
              </a:rPr>
              <a:t>&lt;&gt;</a:t>
            </a:r>
          </a:p>
        </p:txBody>
      </p:sp>
      <p:sp>
        <p:nvSpPr>
          <p:cNvPr id="26" name="TextBox 25"/>
          <p:cNvSpPr txBox="1"/>
          <p:nvPr/>
        </p:nvSpPr>
        <p:spPr>
          <a:xfrm>
            <a:off x="8961120" y="1837944"/>
            <a:ext cx="2679191" cy="301752"/>
          </a:xfrm>
          <a:prstGeom prst="rect">
            <a:avLst/>
          </a:prstGeom>
          <a:noFill/>
        </p:spPr>
        <p:txBody>
          <a:bodyPr wrap="square" lIns="27432" rIns="27432" tIns="27432" bIns="27432" anchor="ctr">
            <a:spAutoFit/>
          </a:bodyPr>
          <a:lstStyle/>
          <a:p>
            <a:pPr algn="l"/>
            <a:r>
              <a:rPr sz="1420" b="1">
                <a:solidFill>
                  <a:srgbClr val="17243B"/>
                </a:solidFill>
                <a:latin typeface="Aptos"/>
              </a:rPr>
              <a:t>Outils bornés</a:t>
            </a:r>
          </a:p>
        </p:txBody>
      </p:sp>
      <p:sp>
        <p:nvSpPr>
          <p:cNvPr id="27" name="TextBox 26"/>
          <p:cNvSpPr txBox="1"/>
          <p:nvPr/>
        </p:nvSpPr>
        <p:spPr>
          <a:xfrm>
            <a:off x="8513064" y="2212848"/>
            <a:ext cx="3118104" cy="612648"/>
          </a:xfrm>
          <a:prstGeom prst="rect">
            <a:avLst/>
          </a:prstGeom>
          <a:noFill/>
        </p:spPr>
        <p:txBody>
          <a:bodyPr wrap="square" lIns="27432" rIns="27432" tIns="27432" bIns="27432" anchor="t">
            <a:spAutoFit/>
          </a:bodyPr>
          <a:lstStyle/>
          <a:p>
            <a:pPr algn="l">
              <a:lnSpc>
                <a:spcPct val="100000"/>
              </a:lnSpc>
            </a:pPr>
            <a:r>
              <a:rPr sz="1050" b="0">
                <a:solidFill>
                  <a:srgbClr val="66758A"/>
                </a:solidFill>
                <a:latin typeface="Aptos"/>
              </a:rPr>
              <a:t>Valider les entrées et limiter les actions</a:t>
            </a:r>
          </a:p>
        </p:txBody>
      </p:sp>
      <p:sp>
        <p:nvSpPr>
          <p:cNvPr id="28" name="Rounded Rectangle 27"/>
          <p:cNvSpPr/>
          <p:nvPr/>
        </p:nvSpPr>
        <p:spPr>
          <a:xfrm>
            <a:off x="658368" y="3163824"/>
            <a:ext cx="3502152" cy="1243584"/>
          </a:xfrm>
          <a:prstGeom prst="roundRect">
            <a:avLst/>
          </a:prstGeom>
          <a:solidFill>
            <a:srgbClr val="FFFFFF"/>
          </a:solidFill>
          <a:ln w="12700">
            <a:solidFill>
              <a:srgbClr val="DCE4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58368" y="3163824"/>
            <a:ext cx="64008" cy="1243584"/>
          </a:xfrm>
          <a:prstGeom prst="rect">
            <a:avLst/>
          </a:prstGeom>
          <a:solidFill>
            <a:srgbClr val="06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59536" y="3328416"/>
            <a:ext cx="347472" cy="347472"/>
          </a:xfrm>
          <a:prstGeom prst="ellipse">
            <a:avLst/>
          </a:prstGeom>
          <a:solidFill>
            <a:srgbClr val="06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9536" y="3337560"/>
            <a:ext cx="347472" cy="329184"/>
          </a:xfrm>
          <a:prstGeom prst="rect">
            <a:avLst/>
          </a:prstGeom>
          <a:noFill/>
        </p:spPr>
        <p:txBody>
          <a:bodyPr wrap="square" lIns="27432" rIns="27432" tIns="27432" bIns="27432" anchor="ctr">
            <a:spAutoFit/>
          </a:bodyPr>
          <a:lstStyle/>
          <a:p>
            <a:pPr algn="ctr"/>
            <a:r>
              <a:rPr sz="1000" b="1">
                <a:solidFill>
                  <a:srgbClr val="FFFFFF"/>
                </a:solidFill>
                <a:latin typeface="Aptos"/>
              </a:rPr>
              <a:t>≠</a:t>
            </a:r>
          </a:p>
        </p:txBody>
      </p:sp>
      <p:sp>
        <p:nvSpPr>
          <p:cNvPr id="32" name="TextBox 31"/>
          <p:cNvSpPr txBox="1"/>
          <p:nvPr/>
        </p:nvSpPr>
        <p:spPr>
          <a:xfrm>
            <a:off x="1316736" y="3319272"/>
            <a:ext cx="2679192" cy="301752"/>
          </a:xfrm>
          <a:prstGeom prst="rect">
            <a:avLst/>
          </a:prstGeom>
          <a:noFill/>
        </p:spPr>
        <p:txBody>
          <a:bodyPr wrap="square" lIns="27432" rIns="27432" tIns="27432" bIns="27432" anchor="ctr">
            <a:spAutoFit/>
          </a:bodyPr>
          <a:lstStyle/>
          <a:p>
            <a:pPr algn="l"/>
            <a:r>
              <a:rPr sz="1420" b="1">
                <a:solidFill>
                  <a:srgbClr val="17243B"/>
                </a:solidFill>
                <a:latin typeface="Aptos"/>
              </a:rPr>
              <a:t>Sources séparées</a:t>
            </a:r>
          </a:p>
        </p:txBody>
      </p:sp>
      <p:sp>
        <p:nvSpPr>
          <p:cNvPr id="33" name="TextBox 32"/>
          <p:cNvSpPr txBox="1"/>
          <p:nvPr/>
        </p:nvSpPr>
        <p:spPr>
          <a:xfrm>
            <a:off x="868680" y="3694176"/>
            <a:ext cx="3118104" cy="612648"/>
          </a:xfrm>
          <a:prstGeom prst="rect">
            <a:avLst/>
          </a:prstGeom>
          <a:noFill/>
        </p:spPr>
        <p:txBody>
          <a:bodyPr wrap="square" lIns="27432" rIns="27432" tIns="27432" bIns="27432" anchor="t">
            <a:spAutoFit/>
          </a:bodyPr>
          <a:lstStyle/>
          <a:p>
            <a:pPr algn="l">
              <a:lnSpc>
                <a:spcPct val="100000"/>
              </a:lnSpc>
            </a:pPr>
            <a:r>
              <a:rPr sz="1050" b="0">
                <a:solidFill>
                  <a:srgbClr val="66758A"/>
                </a:solidFill>
                <a:latin typeface="Aptos"/>
              </a:rPr>
              <a:t>Distinguer les faits du raisonnement généré</a:t>
            </a:r>
          </a:p>
        </p:txBody>
      </p:sp>
      <p:sp>
        <p:nvSpPr>
          <p:cNvPr id="34" name="Rounded Rectangle 33"/>
          <p:cNvSpPr/>
          <p:nvPr/>
        </p:nvSpPr>
        <p:spPr>
          <a:xfrm>
            <a:off x="4480559" y="3163824"/>
            <a:ext cx="3502152" cy="1243584"/>
          </a:xfrm>
          <a:prstGeom prst="roundRect">
            <a:avLst/>
          </a:prstGeom>
          <a:solidFill>
            <a:srgbClr val="FFFFFF"/>
          </a:solidFill>
          <a:ln w="12700">
            <a:solidFill>
              <a:srgbClr val="DCE4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480559" y="3163824"/>
            <a:ext cx="64008" cy="1243584"/>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4681727" y="3328416"/>
            <a:ext cx="347472" cy="347472"/>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681727" y="3337560"/>
            <a:ext cx="347472" cy="329184"/>
          </a:xfrm>
          <a:prstGeom prst="rect">
            <a:avLst/>
          </a:prstGeom>
          <a:noFill/>
        </p:spPr>
        <p:txBody>
          <a:bodyPr wrap="square" lIns="27432" rIns="27432" tIns="27432" bIns="27432" anchor="ctr">
            <a:spAutoFit/>
          </a:bodyPr>
          <a:lstStyle/>
          <a:p>
            <a:pPr algn="ctr"/>
            <a:r>
              <a:rPr sz="1000" b="1">
                <a:solidFill>
                  <a:srgbClr val="FFFFFF"/>
                </a:solidFill>
                <a:latin typeface="Aptos"/>
              </a:rPr>
              <a:t>✓</a:t>
            </a:r>
          </a:p>
        </p:txBody>
      </p:sp>
      <p:sp>
        <p:nvSpPr>
          <p:cNvPr id="38" name="TextBox 37"/>
          <p:cNvSpPr txBox="1"/>
          <p:nvPr/>
        </p:nvSpPr>
        <p:spPr>
          <a:xfrm>
            <a:off x="5138927" y="3319272"/>
            <a:ext cx="2679192" cy="301752"/>
          </a:xfrm>
          <a:prstGeom prst="rect">
            <a:avLst/>
          </a:prstGeom>
          <a:noFill/>
        </p:spPr>
        <p:txBody>
          <a:bodyPr wrap="square" lIns="27432" rIns="27432" tIns="27432" bIns="27432" anchor="ctr">
            <a:spAutoFit/>
          </a:bodyPr>
          <a:lstStyle/>
          <a:p>
            <a:pPr algn="l"/>
            <a:r>
              <a:rPr sz="1420" b="1">
                <a:solidFill>
                  <a:srgbClr val="17243B"/>
                </a:solidFill>
                <a:latin typeface="Aptos"/>
              </a:rPr>
              <a:t>Tests</a:t>
            </a:r>
          </a:p>
        </p:txBody>
      </p:sp>
      <p:sp>
        <p:nvSpPr>
          <p:cNvPr id="39" name="TextBox 38"/>
          <p:cNvSpPr txBox="1"/>
          <p:nvPr/>
        </p:nvSpPr>
        <p:spPr>
          <a:xfrm>
            <a:off x="4690872" y="3694176"/>
            <a:ext cx="3118104" cy="612648"/>
          </a:xfrm>
          <a:prstGeom prst="rect">
            <a:avLst/>
          </a:prstGeom>
          <a:noFill/>
        </p:spPr>
        <p:txBody>
          <a:bodyPr wrap="square" lIns="27432" rIns="27432" tIns="27432" bIns="27432" anchor="t">
            <a:spAutoFit/>
          </a:bodyPr>
          <a:lstStyle/>
          <a:p>
            <a:pPr algn="l">
              <a:lnSpc>
                <a:spcPct val="100000"/>
              </a:lnSpc>
            </a:pPr>
            <a:r>
              <a:rPr sz="1050" b="0">
                <a:solidFill>
                  <a:srgbClr val="66758A"/>
                </a:solidFill>
                <a:latin typeface="Aptos"/>
              </a:rPr>
              <a:t>Vérifier Python, SQL et restauration</a:t>
            </a:r>
          </a:p>
        </p:txBody>
      </p:sp>
      <p:sp>
        <p:nvSpPr>
          <p:cNvPr id="40" name="Rounded Rectangle 39"/>
          <p:cNvSpPr/>
          <p:nvPr/>
        </p:nvSpPr>
        <p:spPr>
          <a:xfrm>
            <a:off x="8302752" y="3163824"/>
            <a:ext cx="3502152" cy="1243584"/>
          </a:xfrm>
          <a:prstGeom prst="roundRect">
            <a:avLst/>
          </a:prstGeom>
          <a:solidFill>
            <a:srgbClr val="FFFFFF"/>
          </a:solidFill>
          <a:ln w="12700">
            <a:solidFill>
              <a:srgbClr val="DCE4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8302752" y="3163824"/>
            <a:ext cx="64008" cy="1243584"/>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8503920" y="3328416"/>
            <a:ext cx="347472" cy="347472"/>
          </a:xfrm>
          <a:prstGeom prst="ellipse">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503920" y="3337560"/>
            <a:ext cx="347472" cy="329184"/>
          </a:xfrm>
          <a:prstGeom prst="rect">
            <a:avLst/>
          </a:prstGeom>
          <a:noFill/>
        </p:spPr>
        <p:txBody>
          <a:bodyPr wrap="square" lIns="27432" rIns="27432" tIns="27432" bIns="27432" anchor="ctr">
            <a:spAutoFit/>
          </a:bodyPr>
          <a:lstStyle/>
          <a:p>
            <a:pPr algn="ctr"/>
            <a:r>
              <a:rPr sz="1000" b="1">
                <a:solidFill>
                  <a:srgbClr val="FFFFFF"/>
                </a:solidFill>
                <a:latin typeface="Aptos"/>
              </a:rPr>
              <a:t>H</a:t>
            </a:r>
          </a:p>
        </p:txBody>
      </p:sp>
      <p:sp>
        <p:nvSpPr>
          <p:cNvPr id="44" name="TextBox 43"/>
          <p:cNvSpPr txBox="1"/>
          <p:nvPr/>
        </p:nvSpPr>
        <p:spPr>
          <a:xfrm>
            <a:off x="8961120" y="3319272"/>
            <a:ext cx="2679191" cy="301752"/>
          </a:xfrm>
          <a:prstGeom prst="rect">
            <a:avLst/>
          </a:prstGeom>
          <a:noFill/>
        </p:spPr>
        <p:txBody>
          <a:bodyPr wrap="square" lIns="27432" rIns="27432" tIns="27432" bIns="27432" anchor="ctr">
            <a:spAutoFit/>
          </a:bodyPr>
          <a:lstStyle/>
          <a:p>
            <a:pPr algn="l"/>
            <a:r>
              <a:rPr sz="1420" b="1">
                <a:solidFill>
                  <a:srgbClr val="17243B"/>
                </a:solidFill>
                <a:latin typeface="Aptos"/>
              </a:rPr>
              <a:t>Validation humaine</a:t>
            </a:r>
          </a:p>
        </p:txBody>
      </p:sp>
      <p:sp>
        <p:nvSpPr>
          <p:cNvPr id="45" name="TextBox 44"/>
          <p:cNvSpPr txBox="1"/>
          <p:nvPr/>
        </p:nvSpPr>
        <p:spPr>
          <a:xfrm>
            <a:off x="8513064" y="3694176"/>
            <a:ext cx="3118104" cy="612648"/>
          </a:xfrm>
          <a:prstGeom prst="rect">
            <a:avLst/>
          </a:prstGeom>
          <a:noFill/>
        </p:spPr>
        <p:txBody>
          <a:bodyPr wrap="square" lIns="27432" rIns="27432" tIns="27432" bIns="27432" anchor="t">
            <a:spAutoFit/>
          </a:bodyPr>
          <a:lstStyle/>
          <a:p>
            <a:pPr algn="l">
              <a:lnSpc>
                <a:spcPct val="100000"/>
              </a:lnSpc>
            </a:pPr>
            <a:r>
              <a:rPr sz="1050" b="0">
                <a:solidFill>
                  <a:srgbClr val="66758A"/>
                </a:solidFill>
                <a:latin typeface="Aptos"/>
              </a:rPr>
              <a:t>Conserver la décision commerciale finale</a:t>
            </a:r>
          </a:p>
        </p:txBody>
      </p:sp>
      <p:sp>
        <p:nvSpPr>
          <p:cNvPr id="46" name="Rounded Rectangle 45"/>
          <p:cNvSpPr/>
          <p:nvPr/>
        </p:nvSpPr>
        <p:spPr>
          <a:xfrm>
            <a:off x="1389888" y="5084064"/>
            <a:ext cx="9418320" cy="749808"/>
          </a:xfrm>
          <a:prstGeom prst="roundRect">
            <a:avLst/>
          </a:prstGeom>
          <a:solidFill>
            <a:srgbClr val="0B1F3A"/>
          </a:solidFill>
          <a:ln w="12700">
            <a:solidFill>
              <a:srgbClr val="0B1F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691640" y="5303520"/>
            <a:ext cx="8814816" cy="274320"/>
          </a:xfrm>
          <a:prstGeom prst="rect">
            <a:avLst/>
          </a:prstGeom>
          <a:noFill/>
        </p:spPr>
        <p:txBody>
          <a:bodyPr wrap="square" lIns="27432" rIns="27432" tIns="27432" bIns="27432" anchor="t">
            <a:spAutoFit/>
          </a:bodyPr>
          <a:lstStyle/>
          <a:p>
            <a:pPr algn="ctr"/>
            <a:r>
              <a:rPr sz="1420" b="1">
                <a:solidFill>
                  <a:srgbClr val="FFFFFF"/>
                </a:solidFill>
                <a:latin typeface="Aptos"/>
              </a:rPr>
              <a:t>Le modèle raisonne · le code vérifie · PostgreSQL conserve la preuve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ounded Rectangle 1"/>
          <p:cNvSpPr/>
          <p:nvPr/>
        </p:nvSpPr>
        <p:spPr>
          <a:xfrm>
            <a:off x="621792" y="384048"/>
            <a:ext cx="1371599" cy="292608"/>
          </a:xfrm>
          <a:prstGeom prst="roundRect">
            <a:avLst/>
          </a:prstGeom>
          <a:solidFill>
            <a:srgbClr val="E4F8FA"/>
          </a:solidFill>
          <a:ln w="6350">
            <a:solidFill>
              <a:srgbClr val="E4F8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67512" y="393192"/>
            <a:ext cx="1280159" cy="246888"/>
          </a:xfrm>
          <a:prstGeom prst="rect">
            <a:avLst/>
          </a:prstGeom>
          <a:noFill/>
        </p:spPr>
        <p:txBody>
          <a:bodyPr wrap="square" lIns="27432" rIns="27432" tIns="27432" bIns="27432" anchor="ctr">
            <a:spAutoFit/>
          </a:bodyPr>
          <a:lstStyle/>
          <a:p>
            <a:pPr algn="ctr"/>
            <a:r>
              <a:rPr sz="950" b="1">
                <a:solidFill>
                  <a:srgbClr val="06A6B5"/>
                </a:solidFill>
                <a:latin typeface="Aptos"/>
              </a:rPr>
              <a:t>BILAN PERSONNEL</a:t>
            </a:r>
          </a:p>
        </p:txBody>
      </p:sp>
      <p:sp>
        <p:nvSpPr>
          <p:cNvPr id="4" name="TextBox 3"/>
          <p:cNvSpPr txBox="1"/>
          <p:nvPr/>
        </p:nvSpPr>
        <p:spPr>
          <a:xfrm>
            <a:off x="621792" y="795528"/>
            <a:ext cx="10972800" cy="530352"/>
          </a:xfrm>
          <a:prstGeom prst="rect">
            <a:avLst/>
          </a:prstGeom>
          <a:noFill/>
        </p:spPr>
        <p:txBody>
          <a:bodyPr wrap="square" lIns="27432" rIns="27432" tIns="27432" bIns="27432" anchor="t">
            <a:spAutoFit/>
          </a:bodyPr>
          <a:lstStyle/>
          <a:p>
            <a:pPr algn="l"/>
            <a:r>
              <a:rPr sz="2850" b="1">
                <a:solidFill>
                  <a:srgbClr val="0B1F3A"/>
                </a:solidFill>
                <a:latin typeface="Aptos Display"/>
              </a:rPr>
              <a:t>Compétences développées pendant le stage</a:t>
            </a:r>
          </a:p>
        </p:txBody>
      </p:sp>
      <p:sp>
        <p:nvSpPr>
          <p:cNvPr id="5" name="Rectangle 4"/>
          <p:cNvSpPr/>
          <p:nvPr/>
        </p:nvSpPr>
        <p:spPr>
          <a:xfrm>
            <a:off x="621792" y="1380744"/>
            <a:ext cx="10972800" cy="22860"/>
          </a:xfrm>
          <a:prstGeom prst="rect">
            <a:avLst/>
          </a:prstGeom>
          <a:solidFill>
            <a:srgbClr val="DCE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6519672"/>
            <a:ext cx="4937760" cy="164592"/>
          </a:xfrm>
          <a:prstGeom prst="rect">
            <a:avLst/>
          </a:prstGeom>
          <a:noFill/>
        </p:spPr>
        <p:txBody>
          <a:bodyPr wrap="square" lIns="27432" rIns="27432" tIns="27432" bIns="27432" anchor="t">
            <a:spAutoFit/>
          </a:bodyPr>
          <a:lstStyle/>
          <a:p>
            <a:pPr algn="l"/>
            <a:r>
              <a:rPr sz="840" b="1">
                <a:solidFill>
                  <a:srgbClr val="8A98AA"/>
                </a:solidFill>
                <a:latin typeface="Aptos"/>
              </a:rPr>
              <a:t>ONE TECH BUSINESS SOLUTIONS  ·  CY TECH</a:t>
            </a:r>
          </a:p>
        </p:txBody>
      </p:sp>
      <p:sp>
        <p:nvSpPr>
          <p:cNvPr id="7" name="TextBox 6"/>
          <p:cNvSpPr txBox="1"/>
          <p:nvPr/>
        </p:nvSpPr>
        <p:spPr>
          <a:xfrm>
            <a:off x="8321040" y="6519672"/>
            <a:ext cx="3063240" cy="164592"/>
          </a:xfrm>
          <a:prstGeom prst="rect">
            <a:avLst/>
          </a:prstGeom>
          <a:noFill/>
        </p:spPr>
        <p:txBody>
          <a:bodyPr wrap="square" lIns="27432" rIns="27432" tIns="27432" bIns="27432" anchor="t">
            <a:spAutoFit/>
          </a:bodyPr>
          <a:lstStyle/>
          <a:p>
            <a:pPr algn="r"/>
            <a:r>
              <a:rPr sz="840" b="1">
                <a:solidFill>
                  <a:srgbClr val="8A98AA"/>
                </a:solidFill>
                <a:latin typeface="Aptos"/>
              </a:rPr>
              <a:t>BILAN PERSONNEL</a:t>
            </a:r>
          </a:p>
        </p:txBody>
      </p:sp>
      <p:sp>
        <p:nvSpPr>
          <p:cNvPr id="8" name="Oval 7"/>
          <p:cNvSpPr/>
          <p:nvPr/>
        </p:nvSpPr>
        <p:spPr>
          <a:xfrm>
            <a:off x="11466576" y="6428232"/>
            <a:ext cx="256032" cy="256032"/>
          </a:xfrm>
          <a:prstGeom prst="ellipse">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66576" y="6437376"/>
            <a:ext cx="256032" cy="237744"/>
          </a:xfrm>
          <a:prstGeom prst="rect">
            <a:avLst/>
          </a:prstGeom>
          <a:noFill/>
        </p:spPr>
        <p:txBody>
          <a:bodyPr wrap="square" lIns="27432" rIns="27432" tIns="27432" bIns="27432" anchor="ctr">
            <a:spAutoFit/>
          </a:bodyPr>
          <a:lstStyle/>
          <a:p>
            <a:pPr algn="ctr"/>
            <a:r>
              <a:rPr sz="850" b="1">
                <a:solidFill>
                  <a:srgbClr val="FFFFFF"/>
                </a:solidFill>
                <a:latin typeface="Aptos"/>
              </a:rPr>
              <a:t>15</a:t>
            </a:r>
          </a:p>
        </p:txBody>
      </p:sp>
      <p:sp>
        <p:nvSpPr>
          <p:cNvPr id="10" name="Rounded Rectangle 9"/>
          <p:cNvSpPr/>
          <p:nvPr/>
        </p:nvSpPr>
        <p:spPr>
          <a:xfrm>
            <a:off x="658368" y="1682496"/>
            <a:ext cx="5358384" cy="4370832"/>
          </a:xfrm>
          <a:prstGeom prst="roundRect">
            <a:avLst/>
          </a:prstGeom>
          <a:solidFill>
            <a:srgbClr val="FFFFFF"/>
          </a:solidFill>
          <a:ln w="12700">
            <a:solidFill>
              <a:srgbClr val="DCE4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50976" y="1965960"/>
            <a:ext cx="1225296" cy="292608"/>
          </a:xfrm>
          <a:prstGeom prst="roundRect">
            <a:avLst/>
          </a:prstGeom>
          <a:solidFill>
            <a:srgbClr val="EAF0FF"/>
          </a:solidFill>
          <a:ln w="6350">
            <a:solidFill>
              <a:srgbClr val="EA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96696" y="1975103"/>
            <a:ext cx="1133856" cy="246888"/>
          </a:xfrm>
          <a:prstGeom prst="rect">
            <a:avLst/>
          </a:prstGeom>
          <a:noFill/>
        </p:spPr>
        <p:txBody>
          <a:bodyPr wrap="square" lIns="27432" rIns="27432" tIns="27432" bIns="27432" anchor="ctr">
            <a:spAutoFit/>
          </a:bodyPr>
          <a:lstStyle/>
          <a:p>
            <a:pPr algn="ctr"/>
            <a:r>
              <a:rPr sz="1050" b="1">
                <a:solidFill>
                  <a:srgbClr val="2D65F2"/>
                </a:solidFill>
                <a:latin typeface="Aptos"/>
              </a:rPr>
              <a:t>TECHNIQUES</a:t>
            </a:r>
          </a:p>
        </p:txBody>
      </p:sp>
      <p:sp>
        <p:nvSpPr>
          <p:cNvPr id="13" name="Oval 12"/>
          <p:cNvSpPr/>
          <p:nvPr/>
        </p:nvSpPr>
        <p:spPr>
          <a:xfrm>
            <a:off x="969264" y="2587752"/>
            <a:ext cx="109728" cy="109728"/>
          </a:xfrm>
          <a:prstGeom prst="ellipse">
            <a:avLst/>
          </a:prstGeom>
          <a:solidFill>
            <a:srgbClr val="2D6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43584" y="2505456"/>
            <a:ext cx="1417320" cy="274320"/>
          </a:xfrm>
          <a:prstGeom prst="rect">
            <a:avLst/>
          </a:prstGeom>
          <a:noFill/>
        </p:spPr>
        <p:txBody>
          <a:bodyPr wrap="square" lIns="27432" rIns="27432" tIns="27432" bIns="27432" anchor="t">
            <a:spAutoFit/>
          </a:bodyPr>
          <a:lstStyle/>
          <a:p>
            <a:pPr algn="l"/>
            <a:r>
              <a:rPr sz="1170" b="1">
                <a:solidFill>
                  <a:srgbClr val="0B1F3A"/>
                </a:solidFill>
                <a:latin typeface="Aptos"/>
              </a:rPr>
              <a:t>Python &amp; API</a:t>
            </a:r>
          </a:p>
        </p:txBody>
      </p:sp>
      <p:sp>
        <p:nvSpPr>
          <p:cNvPr id="15" name="TextBox 14"/>
          <p:cNvSpPr txBox="1"/>
          <p:nvPr/>
        </p:nvSpPr>
        <p:spPr>
          <a:xfrm>
            <a:off x="2688336" y="2505456"/>
            <a:ext cx="2670048" cy="274320"/>
          </a:xfrm>
          <a:prstGeom prst="rect">
            <a:avLst/>
          </a:prstGeom>
          <a:noFill/>
        </p:spPr>
        <p:txBody>
          <a:bodyPr wrap="square" lIns="27432" rIns="27432" tIns="27432" bIns="27432" anchor="t">
            <a:spAutoFit/>
          </a:bodyPr>
          <a:lstStyle/>
          <a:p>
            <a:pPr algn="l"/>
            <a:r>
              <a:rPr sz="1060" b="0">
                <a:solidFill>
                  <a:srgbClr val="66758A"/>
                </a:solidFill>
                <a:latin typeface="Aptos"/>
              </a:rPr>
              <a:t>collecte, parsing, worker</a:t>
            </a:r>
          </a:p>
        </p:txBody>
      </p:sp>
      <p:sp>
        <p:nvSpPr>
          <p:cNvPr id="16" name="Oval 15"/>
          <p:cNvSpPr/>
          <p:nvPr/>
        </p:nvSpPr>
        <p:spPr>
          <a:xfrm>
            <a:off x="969264" y="3099816"/>
            <a:ext cx="109728" cy="109728"/>
          </a:xfrm>
          <a:prstGeom prst="ellipse">
            <a:avLst/>
          </a:prstGeom>
          <a:solidFill>
            <a:srgbClr val="2D6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43584" y="3017520"/>
            <a:ext cx="1417320" cy="274320"/>
          </a:xfrm>
          <a:prstGeom prst="rect">
            <a:avLst/>
          </a:prstGeom>
          <a:noFill/>
        </p:spPr>
        <p:txBody>
          <a:bodyPr wrap="square" lIns="27432" rIns="27432" tIns="27432" bIns="27432" anchor="t">
            <a:spAutoFit/>
          </a:bodyPr>
          <a:lstStyle/>
          <a:p>
            <a:pPr algn="l"/>
            <a:r>
              <a:rPr sz="1170" b="1">
                <a:solidFill>
                  <a:srgbClr val="0B1F3A"/>
                </a:solidFill>
                <a:latin typeface="Aptos"/>
              </a:rPr>
              <a:t>PostgreSQL</a:t>
            </a:r>
          </a:p>
        </p:txBody>
      </p:sp>
      <p:sp>
        <p:nvSpPr>
          <p:cNvPr id="18" name="TextBox 17"/>
          <p:cNvSpPr txBox="1"/>
          <p:nvPr/>
        </p:nvSpPr>
        <p:spPr>
          <a:xfrm>
            <a:off x="2688336" y="3017520"/>
            <a:ext cx="2670048" cy="274320"/>
          </a:xfrm>
          <a:prstGeom prst="rect">
            <a:avLst/>
          </a:prstGeom>
          <a:noFill/>
        </p:spPr>
        <p:txBody>
          <a:bodyPr wrap="square" lIns="27432" rIns="27432" tIns="27432" bIns="27432" anchor="t">
            <a:spAutoFit/>
          </a:bodyPr>
          <a:lstStyle/>
          <a:p>
            <a:pPr algn="l"/>
            <a:r>
              <a:rPr sz="1060" b="0">
                <a:solidFill>
                  <a:srgbClr val="66758A"/>
                </a:solidFill>
                <a:latin typeface="Aptos"/>
              </a:rPr>
              <a:t>modélisation, JSONB, UPSERT</a:t>
            </a:r>
          </a:p>
        </p:txBody>
      </p:sp>
      <p:sp>
        <p:nvSpPr>
          <p:cNvPr id="19" name="Oval 18"/>
          <p:cNvSpPr/>
          <p:nvPr/>
        </p:nvSpPr>
        <p:spPr>
          <a:xfrm>
            <a:off x="969264" y="3611880"/>
            <a:ext cx="109728" cy="109728"/>
          </a:xfrm>
          <a:prstGeom prst="ellipse">
            <a:avLst/>
          </a:prstGeom>
          <a:solidFill>
            <a:srgbClr val="2D6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243584" y="3529584"/>
            <a:ext cx="1417320" cy="274320"/>
          </a:xfrm>
          <a:prstGeom prst="rect">
            <a:avLst/>
          </a:prstGeom>
          <a:noFill/>
        </p:spPr>
        <p:txBody>
          <a:bodyPr wrap="square" lIns="27432" rIns="27432" tIns="27432" bIns="27432" anchor="t">
            <a:spAutoFit/>
          </a:bodyPr>
          <a:lstStyle/>
          <a:p>
            <a:pPr algn="l"/>
            <a:r>
              <a:rPr sz="1170" b="1">
                <a:solidFill>
                  <a:srgbClr val="0B1F3A"/>
                </a:solidFill>
                <a:latin typeface="Aptos"/>
              </a:rPr>
              <a:t>Docker &amp; n8n</a:t>
            </a:r>
          </a:p>
        </p:txBody>
      </p:sp>
      <p:sp>
        <p:nvSpPr>
          <p:cNvPr id="21" name="TextBox 20"/>
          <p:cNvSpPr txBox="1"/>
          <p:nvPr/>
        </p:nvSpPr>
        <p:spPr>
          <a:xfrm>
            <a:off x="2688336" y="3529584"/>
            <a:ext cx="2670048" cy="274320"/>
          </a:xfrm>
          <a:prstGeom prst="rect">
            <a:avLst/>
          </a:prstGeom>
          <a:noFill/>
        </p:spPr>
        <p:txBody>
          <a:bodyPr wrap="square" lIns="27432" rIns="27432" tIns="27432" bIns="27432" anchor="t">
            <a:spAutoFit/>
          </a:bodyPr>
          <a:lstStyle/>
          <a:p>
            <a:pPr algn="l"/>
            <a:r>
              <a:rPr sz="1060" b="0">
                <a:solidFill>
                  <a:srgbClr val="66758A"/>
                </a:solidFill>
                <a:latin typeface="Aptos"/>
              </a:rPr>
              <a:t>services et orchestration</a:t>
            </a:r>
          </a:p>
        </p:txBody>
      </p:sp>
      <p:sp>
        <p:nvSpPr>
          <p:cNvPr id="22" name="Oval 21"/>
          <p:cNvSpPr/>
          <p:nvPr/>
        </p:nvSpPr>
        <p:spPr>
          <a:xfrm>
            <a:off x="969264" y="4123944"/>
            <a:ext cx="109728" cy="109728"/>
          </a:xfrm>
          <a:prstGeom prst="ellipse">
            <a:avLst/>
          </a:prstGeom>
          <a:solidFill>
            <a:srgbClr val="2D6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43584" y="4041648"/>
            <a:ext cx="1417320" cy="274320"/>
          </a:xfrm>
          <a:prstGeom prst="rect">
            <a:avLst/>
          </a:prstGeom>
          <a:noFill/>
        </p:spPr>
        <p:txBody>
          <a:bodyPr wrap="square" lIns="27432" rIns="27432" tIns="27432" bIns="27432" anchor="t">
            <a:spAutoFit/>
          </a:bodyPr>
          <a:lstStyle/>
          <a:p>
            <a:pPr algn="l"/>
            <a:r>
              <a:rPr sz="1170" b="1">
                <a:solidFill>
                  <a:srgbClr val="0B1F3A"/>
                </a:solidFill>
                <a:latin typeface="Aptos"/>
              </a:rPr>
              <a:t>IA agentique</a:t>
            </a:r>
          </a:p>
        </p:txBody>
      </p:sp>
      <p:sp>
        <p:nvSpPr>
          <p:cNvPr id="24" name="TextBox 23"/>
          <p:cNvSpPr txBox="1"/>
          <p:nvPr/>
        </p:nvSpPr>
        <p:spPr>
          <a:xfrm>
            <a:off x="2688336" y="4041648"/>
            <a:ext cx="2670048" cy="274320"/>
          </a:xfrm>
          <a:prstGeom prst="rect">
            <a:avLst/>
          </a:prstGeom>
          <a:noFill/>
        </p:spPr>
        <p:txBody>
          <a:bodyPr wrap="square" lIns="27432" rIns="27432" tIns="27432" bIns="27432" anchor="t">
            <a:spAutoFit/>
          </a:bodyPr>
          <a:lstStyle/>
          <a:p>
            <a:pPr algn="l"/>
            <a:r>
              <a:rPr sz="1060" b="0">
                <a:solidFill>
                  <a:srgbClr val="66758A"/>
                </a:solidFill>
                <a:latin typeface="Aptos"/>
              </a:rPr>
              <a:t>OpenClaw, skills, MCP</a:t>
            </a:r>
          </a:p>
        </p:txBody>
      </p:sp>
      <p:sp>
        <p:nvSpPr>
          <p:cNvPr id="25" name="Oval 24"/>
          <p:cNvSpPr/>
          <p:nvPr/>
        </p:nvSpPr>
        <p:spPr>
          <a:xfrm>
            <a:off x="969264" y="4636008"/>
            <a:ext cx="109728" cy="109728"/>
          </a:xfrm>
          <a:prstGeom prst="ellipse">
            <a:avLst/>
          </a:prstGeom>
          <a:solidFill>
            <a:srgbClr val="2D6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243584" y="4553712"/>
            <a:ext cx="1417320" cy="274320"/>
          </a:xfrm>
          <a:prstGeom prst="rect">
            <a:avLst/>
          </a:prstGeom>
          <a:noFill/>
        </p:spPr>
        <p:txBody>
          <a:bodyPr wrap="square" lIns="27432" rIns="27432" tIns="27432" bIns="27432" anchor="t">
            <a:spAutoFit/>
          </a:bodyPr>
          <a:lstStyle/>
          <a:p>
            <a:pPr algn="l"/>
            <a:r>
              <a:rPr sz="1170" b="1">
                <a:solidFill>
                  <a:srgbClr val="0B1F3A"/>
                </a:solidFill>
                <a:latin typeface="Aptos"/>
              </a:rPr>
              <a:t>Documents</a:t>
            </a:r>
          </a:p>
        </p:txBody>
      </p:sp>
      <p:sp>
        <p:nvSpPr>
          <p:cNvPr id="27" name="TextBox 26"/>
          <p:cNvSpPr txBox="1"/>
          <p:nvPr/>
        </p:nvSpPr>
        <p:spPr>
          <a:xfrm>
            <a:off x="2688336" y="4553712"/>
            <a:ext cx="2670048" cy="274320"/>
          </a:xfrm>
          <a:prstGeom prst="rect">
            <a:avLst/>
          </a:prstGeom>
          <a:noFill/>
        </p:spPr>
        <p:txBody>
          <a:bodyPr wrap="square" lIns="27432" rIns="27432" tIns="27432" bIns="27432" anchor="t">
            <a:spAutoFit/>
          </a:bodyPr>
          <a:lstStyle/>
          <a:p>
            <a:pPr algn="l"/>
            <a:r>
              <a:rPr sz="1060" b="0">
                <a:solidFill>
                  <a:srgbClr val="66758A"/>
                </a:solidFill>
                <a:latin typeface="Aptos"/>
              </a:rPr>
              <a:t>OCR, PDF, DOCX et DOC</a:t>
            </a:r>
          </a:p>
        </p:txBody>
      </p:sp>
      <p:sp>
        <p:nvSpPr>
          <p:cNvPr id="28" name="Oval 27"/>
          <p:cNvSpPr/>
          <p:nvPr/>
        </p:nvSpPr>
        <p:spPr>
          <a:xfrm>
            <a:off x="969264" y="5148072"/>
            <a:ext cx="109728" cy="109728"/>
          </a:xfrm>
          <a:prstGeom prst="ellipse">
            <a:avLst/>
          </a:prstGeom>
          <a:solidFill>
            <a:srgbClr val="2D6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243584" y="5065776"/>
            <a:ext cx="1417320" cy="274320"/>
          </a:xfrm>
          <a:prstGeom prst="rect">
            <a:avLst/>
          </a:prstGeom>
          <a:noFill/>
        </p:spPr>
        <p:txBody>
          <a:bodyPr wrap="square" lIns="27432" rIns="27432" tIns="27432" bIns="27432" anchor="t">
            <a:spAutoFit/>
          </a:bodyPr>
          <a:lstStyle/>
          <a:p>
            <a:pPr algn="l"/>
            <a:r>
              <a:rPr sz="1170" b="1">
                <a:solidFill>
                  <a:srgbClr val="0B1F3A"/>
                </a:solidFill>
                <a:latin typeface="Aptos"/>
              </a:rPr>
              <a:t>Qualité</a:t>
            </a:r>
          </a:p>
        </p:txBody>
      </p:sp>
      <p:sp>
        <p:nvSpPr>
          <p:cNvPr id="30" name="TextBox 29"/>
          <p:cNvSpPr txBox="1"/>
          <p:nvPr/>
        </p:nvSpPr>
        <p:spPr>
          <a:xfrm>
            <a:off x="2688336" y="5065776"/>
            <a:ext cx="2670048" cy="274320"/>
          </a:xfrm>
          <a:prstGeom prst="rect">
            <a:avLst/>
          </a:prstGeom>
          <a:noFill/>
        </p:spPr>
        <p:txBody>
          <a:bodyPr wrap="square" lIns="27432" rIns="27432" tIns="27432" bIns="27432" anchor="t">
            <a:spAutoFit/>
          </a:bodyPr>
          <a:lstStyle/>
          <a:p>
            <a:pPr algn="l"/>
            <a:r>
              <a:rPr sz="1060" b="0">
                <a:solidFill>
                  <a:srgbClr val="66758A"/>
                </a:solidFill>
                <a:latin typeface="Aptos"/>
              </a:rPr>
              <a:t>tests, sécurité, sauvegarde</a:t>
            </a:r>
          </a:p>
        </p:txBody>
      </p:sp>
      <p:sp>
        <p:nvSpPr>
          <p:cNvPr id="31" name="Rounded Rectangle 30"/>
          <p:cNvSpPr/>
          <p:nvPr/>
        </p:nvSpPr>
        <p:spPr>
          <a:xfrm>
            <a:off x="6254496" y="1682496"/>
            <a:ext cx="5376672" cy="4370832"/>
          </a:xfrm>
          <a:prstGeom prst="roundRect">
            <a:avLst/>
          </a:prstGeom>
          <a:solidFill>
            <a:srgbClr val="0B1F3A"/>
          </a:solidFill>
          <a:ln w="12700">
            <a:solidFill>
              <a:srgbClr val="0B1F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6547104" y="1965960"/>
            <a:ext cx="1353312" cy="292608"/>
          </a:xfrm>
          <a:prstGeom prst="roundRect">
            <a:avLst/>
          </a:prstGeom>
          <a:solidFill>
            <a:srgbClr val="19365D"/>
          </a:solidFill>
          <a:ln w="6350">
            <a:solidFill>
              <a:srgbClr val="19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92824" y="1975103"/>
            <a:ext cx="1261872" cy="246888"/>
          </a:xfrm>
          <a:prstGeom prst="rect">
            <a:avLst/>
          </a:prstGeom>
          <a:noFill/>
        </p:spPr>
        <p:txBody>
          <a:bodyPr wrap="square" lIns="27432" rIns="27432" tIns="27432" bIns="27432" anchor="ctr">
            <a:spAutoFit/>
          </a:bodyPr>
          <a:lstStyle/>
          <a:p>
            <a:pPr algn="ctr"/>
            <a:r>
              <a:rPr sz="1050" b="1">
                <a:solidFill>
                  <a:srgbClr val="8FE2E7"/>
                </a:solidFill>
                <a:latin typeface="Aptos"/>
              </a:rPr>
              <a:t>SOFT SKILLS</a:t>
            </a:r>
          </a:p>
        </p:txBody>
      </p:sp>
      <p:sp>
        <p:nvSpPr>
          <p:cNvPr id="34" name="Oval 33"/>
          <p:cNvSpPr/>
          <p:nvPr/>
        </p:nvSpPr>
        <p:spPr>
          <a:xfrm>
            <a:off x="6565392" y="2587752"/>
            <a:ext cx="109728" cy="109728"/>
          </a:xfrm>
          <a:prstGeom prst="ellipse">
            <a:avLst/>
          </a:prstGeom>
          <a:solidFill>
            <a:srgbClr val="06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39712" y="2505456"/>
            <a:ext cx="1463040" cy="274320"/>
          </a:xfrm>
          <a:prstGeom prst="rect">
            <a:avLst/>
          </a:prstGeom>
          <a:noFill/>
        </p:spPr>
        <p:txBody>
          <a:bodyPr wrap="square" lIns="27432" rIns="27432" tIns="27432" bIns="27432" anchor="t">
            <a:spAutoFit/>
          </a:bodyPr>
          <a:lstStyle/>
          <a:p>
            <a:pPr algn="l"/>
            <a:r>
              <a:rPr sz="1170" b="1">
                <a:solidFill>
                  <a:srgbClr val="FFFFFF"/>
                </a:solidFill>
                <a:latin typeface="Aptos"/>
              </a:rPr>
              <a:t>Autonomie</a:t>
            </a:r>
          </a:p>
        </p:txBody>
      </p:sp>
      <p:sp>
        <p:nvSpPr>
          <p:cNvPr id="36" name="TextBox 35"/>
          <p:cNvSpPr txBox="1"/>
          <p:nvPr/>
        </p:nvSpPr>
        <p:spPr>
          <a:xfrm>
            <a:off x="8339327" y="2505456"/>
            <a:ext cx="2615184" cy="274320"/>
          </a:xfrm>
          <a:prstGeom prst="rect">
            <a:avLst/>
          </a:prstGeom>
          <a:noFill/>
        </p:spPr>
        <p:txBody>
          <a:bodyPr wrap="square" lIns="27432" rIns="27432" tIns="27432" bIns="27432" anchor="t">
            <a:spAutoFit/>
          </a:bodyPr>
          <a:lstStyle/>
          <a:p>
            <a:pPr algn="l"/>
            <a:r>
              <a:rPr sz="1060" b="0">
                <a:solidFill>
                  <a:srgbClr val="C8D6E8"/>
                </a:solidFill>
                <a:latin typeface="Aptos"/>
              </a:rPr>
              <a:t>chercher, tester et documenter</a:t>
            </a:r>
          </a:p>
        </p:txBody>
      </p:sp>
      <p:sp>
        <p:nvSpPr>
          <p:cNvPr id="37" name="Oval 36"/>
          <p:cNvSpPr/>
          <p:nvPr/>
        </p:nvSpPr>
        <p:spPr>
          <a:xfrm>
            <a:off x="6565392" y="3099816"/>
            <a:ext cx="109728" cy="109728"/>
          </a:xfrm>
          <a:prstGeom prst="ellipse">
            <a:avLst/>
          </a:prstGeom>
          <a:solidFill>
            <a:srgbClr val="06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39712" y="3017520"/>
            <a:ext cx="1463040" cy="274320"/>
          </a:xfrm>
          <a:prstGeom prst="rect">
            <a:avLst/>
          </a:prstGeom>
          <a:noFill/>
        </p:spPr>
        <p:txBody>
          <a:bodyPr wrap="square" lIns="27432" rIns="27432" tIns="27432" bIns="27432" anchor="t">
            <a:spAutoFit/>
          </a:bodyPr>
          <a:lstStyle/>
          <a:p>
            <a:pPr algn="l"/>
            <a:r>
              <a:rPr sz="1170" b="1">
                <a:solidFill>
                  <a:srgbClr val="FFFFFF"/>
                </a:solidFill>
                <a:latin typeface="Aptos"/>
              </a:rPr>
              <a:t>Communication</a:t>
            </a:r>
          </a:p>
        </p:txBody>
      </p:sp>
      <p:sp>
        <p:nvSpPr>
          <p:cNvPr id="39" name="TextBox 38"/>
          <p:cNvSpPr txBox="1"/>
          <p:nvPr/>
        </p:nvSpPr>
        <p:spPr>
          <a:xfrm>
            <a:off x="8339327" y="3017520"/>
            <a:ext cx="2615184" cy="274320"/>
          </a:xfrm>
          <a:prstGeom prst="rect">
            <a:avLst/>
          </a:prstGeom>
          <a:noFill/>
        </p:spPr>
        <p:txBody>
          <a:bodyPr wrap="square" lIns="27432" rIns="27432" tIns="27432" bIns="27432" anchor="t">
            <a:spAutoFit/>
          </a:bodyPr>
          <a:lstStyle/>
          <a:p>
            <a:pPr algn="l"/>
            <a:r>
              <a:rPr sz="1060" b="0">
                <a:solidFill>
                  <a:srgbClr val="C8D6E8"/>
                </a:solidFill>
                <a:latin typeface="Aptos"/>
              </a:rPr>
              <a:t>expliquer les choix techniques</a:t>
            </a:r>
          </a:p>
        </p:txBody>
      </p:sp>
      <p:sp>
        <p:nvSpPr>
          <p:cNvPr id="40" name="Oval 39"/>
          <p:cNvSpPr/>
          <p:nvPr/>
        </p:nvSpPr>
        <p:spPr>
          <a:xfrm>
            <a:off x="6565392" y="3611880"/>
            <a:ext cx="109728" cy="109728"/>
          </a:xfrm>
          <a:prstGeom prst="ellipse">
            <a:avLst/>
          </a:prstGeom>
          <a:solidFill>
            <a:srgbClr val="06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839712" y="3529584"/>
            <a:ext cx="1463040" cy="274320"/>
          </a:xfrm>
          <a:prstGeom prst="rect">
            <a:avLst/>
          </a:prstGeom>
          <a:noFill/>
        </p:spPr>
        <p:txBody>
          <a:bodyPr wrap="square" lIns="27432" rIns="27432" tIns="27432" bIns="27432" anchor="t">
            <a:spAutoFit/>
          </a:bodyPr>
          <a:lstStyle/>
          <a:p>
            <a:pPr algn="l"/>
            <a:r>
              <a:rPr sz="1170" b="1">
                <a:solidFill>
                  <a:srgbClr val="FFFFFF"/>
                </a:solidFill>
                <a:latin typeface="Aptos"/>
              </a:rPr>
              <a:t>Organisation</a:t>
            </a:r>
          </a:p>
        </p:txBody>
      </p:sp>
      <p:sp>
        <p:nvSpPr>
          <p:cNvPr id="42" name="TextBox 41"/>
          <p:cNvSpPr txBox="1"/>
          <p:nvPr/>
        </p:nvSpPr>
        <p:spPr>
          <a:xfrm>
            <a:off x="8339327" y="3529584"/>
            <a:ext cx="2615184" cy="274320"/>
          </a:xfrm>
          <a:prstGeom prst="rect">
            <a:avLst/>
          </a:prstGeom>
          <a:noFill/>
        </p:spPr>
        <p:txBody>
          <a:bodyPr wrap="square" lIns="27432" rIns="27432" tIns="27432" bIns="27432" anchor="t">
            <a:spAutoFit/>
          </a:bodyPr>
          <a:lstStyle/>
          <a:p>
            <a:pPr algn="l"/>
            <a:r>
              <a:rPr sz="1060" b="0">
                <a:solidFill>
                  <a:srgbClr val="C8D6E8"/>
                </a:solidFill>
                <a:latin typeface="Aptos"/>
              </a:rPr>
              <a:t>avancer par jalons vérifiables</a:t>
            </a:r>
          </a:p>
        </p:txBody>
      </p:sp>
      <p:sp>
        <p:nvSpPr>
          <p:cNvPr id="43" name="Oval 42"/>
          <p:cNvSpPr/>
          <p:nvPr/>
        </p:nvSpPr>
        <p:spPr>
          <a:xfrm>
            <a:off x="6565392" y="4123944"/>
            <a:ext cx="109728" cy="109728"/>
          </a:xfrm>
          <a:prstGeom prst="ellipse">
            <a:avLst/>
          </a:prstGeom>
          <a:solidFill>
            <a:srgbClr val="06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839712" y="4041648"/>
            <a:ext cx="1463040" cy="274320"/>
          </a:xfrm>
          <a:prstGeom prst="rect">
            <a:avLst/>
          </a:prstGeom>
          <a:noFill/>
        </p:spPr>
        <p:txBody>
          <a:bodyPr wrap="square" lIns="27432" rIns="27432" tIns="27432" bIns="27432" anchor="t">
            <a:spAutoFit/>
          </a:bodyPr>
          <a:lstStyle/>
          <a:p>
            <a:pPr algn="l"/>
            <a:r>
              <a:rPr sz="1170" b="1">
                <a:solidFill>
                  <a:srgbClr val="FFFFFF"/>
                </a:solidFill>
                <a:latin typeface="Aptos"/>
              </a:rPr>
              <a:t>Esprit critique</a:t>
            </a:r>
          </a:p>
        </p:txBody>
      </p:sp>
      <p:sp>
        <p:nvSpPr>
          <p:cNvPr id="45" name="TextBox 44"/>
          <p:cNvSpPr txBox="1"/>
          <p:nvPr/>
        </p:nvSpPr>
        <p:spPr>
          <a:xfrm>
            <a:off x="8339327" y="4041648"/>
            <a:ext cx="2615184" cy="274320"/>
          </a:xfrm>
          <a:prstGeom prst="rect">
            <a:avLst/>
          </a:prstGeom>
          <a:noFill/>
        </p:spPr>
        <p:txBody>
          <a:bodyPr wrap="square" lIns="27432" rIns="27432" tIns="27432" bIns="27432" anchor="t">
            <a:spAutoFit/>
          </a:bodyPr>
          <a:lstStyle/>
          <a:p>
            <a:pPr algn="l"/>
            <a:r>
              <a:rPr sz="1060" b="0">
                <a:solidFill>
                  <a:srgbClr val="C8D6E8"/>
                </a:solidFill>
                <a:latin typeface="Aptos"/>
              </a:rPr>
              <a:t>comparer mesure et intuition</a:t>
            </a:r>
          </a:p>
        </p:txBody>
      </p:sp>
      <p:sp>
        <p:nvSpPr>
          <p:cNvPr id="46" name="Oval 45"/>
          <p:cNvSpPr/>
          <p:nvPr/>
        </p:nvSpPr>
        <p:spPr>
          <a:xfrm>
            <a:off x="6565392" y="4636008"/>
            <a:ext cx="109728" cy="109728"/>
          </a:xfrm>
          <a:prstGeom prst="ellipse">
            <a:avLst/>
          </a:prstGeom>
          <a:solidFill>
            <a:srgbClr val="06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839712" y="4553712"/>
            <a:ext cx="1463040" cy="274320"/>
          </a:xfrm>
          <a:prstGeom prst="rect">
            <a:avLst/>
          </a:prstGeom>
          <a:noFill/>
        </p:spPr>
        <p:txBody>
          <a:bodyPr wrap="square" lIns="27432" rIns="27432" tIns="27432" bIns="27432" anchor="t">
            <a:spAutoFit/>
          </a:bodyPr>
          <a:lstStyle/>
          <a:p>
            <a:pPr algn="l"/>
            <a:r>
              <a:rPr sz="1170" b="1">
                <a:solidFill>
                  <a:srgbClr val="FFFFFF"/>
                </a:solidFill>
                <a:latin typeface="Aptos"/>
              </a:rPr>
              <a:t>Persévérance</a:t>
            </a:r>
          </a:p>
        </p:txBody>
      </p:sp>
      <p:sp>
        <p:nvSpPr>
          <p:cNvPr id="48" name="TextBox 47"/>
          <p:cNvSpPr txBox="1"/>
          <p:nvPr/>
        </p:nvSpPr>
        <p:spPr>
          <a:xfrm>
            <a:off x="8339327" y="4553712"/>
            <a:ext cx="2615184" cy="274320"/>
          </a:xfrm>
          <a:prstGeom prst="rect">
            <a:avLst/>
          </a:prstGeom>
          <a:noFill/>
        </p:spPr>
        <p:txBody>
          <a:bodyPr wrap="square" lIns="27432" rIns="27432" tIns="27432" bIns="27432" anchor="t">
            <a:spAutoFit/>
          </a:bodyPr>
          <a:lstStyle/>
          <a:p>
            <a:pPr algn="l"/>
            <a:r>
              <a:rPr sz="1060" b="0">
                <a:solidFill>
                  <a:srgbClr val="C8D6E8"/>
                </a:solidFill>
                <a:latin typeface="Aptos"/>
              </a:rPr>
              <a:t>diagnostiquer les échecs réels</a:t>
            </a:r>
          </a:p>
        </p:txBody>
      </p:sp>
      <p:sp>
        <p:nvSpPr>
          <p:cNvPr id="49" name="Oval 48"/>
          <p:cNvSpPr/>
          <p:nvPr/>
        </p:nvSpPr>
        <p:spPr>
          <a:xfrm>
            <a:off x="6565392" y="5148072"/>
            <a:ext cx="109728" cy="109728"/>
          </a:xfrm>
          <a:prstGeom prst="ellipse">
            <a:avLst/>
          </a:prstGeom>
          <a:solidFill>
            <a:srgbClr val="06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839712" y="5065776"/>
            <a:ext cx="1463040" cy="274320"/>
          </a:xfrm>
          <a:prstGeom prst="rect">
            <a:avLst/>
          </a:prstGeom>
          <a:noFill/>
        </p:spPr>
        <p:txBody>
          <a:bodyPr wrap="square" lIns="27432" rIns="27432" tIns="27432" bIns="27432" anchor="t">
            <a:spAutoFit/>
          </a:bodyPr>
          <a:lstStyle/>
          <a:p>
            <a:pPr algn="l"/>
            <a:r>
              <a:rPr sz="1170" b="1">
                <a:solidFill>
                  <a:srgbClr val="FFFFFF"/>
                </a:solidFill>
                <a:latin typeface="Aptos"/>
              </a:rPr>
              <a:t>Responsabilité</a:t>
            </a:r>
          </a:p>
        </p:txBody>
      </p:sp>
      <p:sp>
        <p:nvSpPr>
          <p:cNvPr id="51" name="TextBox 50"/>
          <p:cNvSpPr txBox="1"/>
          <p:nvPr/>
        </p:nvSpPr>
        <p:spPr>
          <a:xfrm>
            <a:off x="8339327" y="5065776"/>
            <a:ext cx="2615184" cy="274320"/>
          </a:xfrm>
          <a:prstGeom prst="rect">
            <a:avLst/>
          </a:prstGeom>
          <a:noFill/>
        </p:spPr>
        <p:txBody>
          <a:bodyPr wrap="square" lIns="27432" rIns="27432" tIns="27432" bIns="27432" anchor="t">
            <a:spAutoFit/>
          </a:bodyPr>
          <a:lstStyle/>
          <a:p>
            <a:pPr algn="l"/>
            <a:r>
              <a:rPr sz="1060" b="0">
                <a:solidFill>
                  <a:srgbClr val="C8D6E8"/>
                </a:solidFill>
                <a:latin typeface="Aptos"/>
              </a:rPr>
              <a:t>protéger données et secrets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Rounded Rectangle 1"/>
          <p:cNvSpPr/>
          <p:nvPr/>
        </p:nvSpPr>
        <p:spPr>
          <a:xfrm>
            <a:off x="749808" y="566928"/>
            <a:ext cx="1097280" cy="292608"/>
          </a:xfrm>
          <a:prstGeom prst="roundRect">
            <a:avLst/>
          </a:prstGeom>
          <a:solidFill>
            <a:srgbClr val="19365D"/>
          </a:solidFill>
          <a:ln w="6350">
            <a:solidFill>
              <a:srgbClr val="19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95528" y="576072"/>
            <a:ext cx="1005839" cy="246888"/>
          </a:xfrm>
          <a:prstGeom prst="rect">
            <a:avLst/>
          </a:prstGeom>
          <a:noFill/>
        </p:spPr>
        <p:txBody>
          <a:bodyPr wrap="square" lIns="27432" rIns="27432" tIns="27432" bIns="27432" anchor="ctr">
            <a:spAutoFit/>
          </a:bodyPr>
          <a:lstStyle/>
          <a:p>
            <a:pPr algn="ctr"/>
            <a:r>
              <a:rPr sz="1050" b="1">
                <a:solidFill>
                  <a:srgbClr val="8FE2E7"/>
                </a:solidFill>
                <a:latin typeface="Aptos"/>
              </a:rPr>
              <a:t>CONCLUSION</a:t>
            </a:r>
          </a:p>
        </p:txBody>
      </p:sp>
      <p:sp>
        <p:nvSpPr>
          <p:cNvPr id="4" name="TextBox 3"/>
          <p:cNvSpPr txBox="1"/>
          <p:nvPr/>
        </p:nvSpPr>
        <p:spPr>
          <a:xfrm>
            <a:off x="749808" y="1188720"/>
            <a:ext cx="8138160" cy="1298448"/>
          </a:xfrm>
          <a:prstGeom prst="rect">
            <a:avLst/>
          </a:prstGeom>
          <a:noFill/>
        </p:spPr>
        <p:txBody>
          <a:bodyPr wrap="square" lIns="27432" rIns="27432" tIns="27432" bIns="27432" anchor="t">
            <a:spAutoFit/>
          </a:bodyPr>
          <a:lstStyle/>
          <a:p>
            <a:pPr algn="l"/>
            <a:r>
              <a:rPr sz="3500" b="1">
                <a:solidFill>
                  <a:srgbClr val="FFFFFF"/>
                </a:solidFill>
                <a:latin typeface="Aptos Display"/>
              </a:rPr>
              <a:t>Une chaîne de décision</a:t>
            </a:r>
            <a:br/>
            <a:r>
              <a:rPr sz="3500" b="1">
                <a:solidFill>
                  <a:srgbClr val="FFFFFF"/>
                </a:solidFill>
                <a:latin typeface="Aptos Display"/>
              </a:rPr>
              <a:t>explicable, testée et réutilisable</a:t>
            </a:r>
          </a:p>
        </p:txBody>
      </p:sp>
      <p:sp>
        <p:nvSpPr>
          <p:cNvPr id="5" name="Oval 4"/>
          <p:cNvSpPr/>
          <p:nvPr/>
        </p:nvSpPr>
        <p:spPr>
          <a:xfrm>
            <a:off x="749808" y="3063240"/>
            <a:ext cx="201168" cy="201168"/>
          </a:xfrm>
          <a:prstGeom prst="ellipse">
            <a:avLst/>
          </a:prstGeom>
          <a:solidFill>
            <a:srgbClr val="06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 y="2990088"/>
            <a:ext cx="1645920" cy="256032"/>
          </a:xfrm>
          <a:prstGeom prst="rect">
            <a:avLst/>
          </a:prstGeom>
          <a:noFill/>
        </p:spPr>
        <p:txBody>
          <a:bodyPr wrap="square" lIns="27432" rIns="27432" tIns="27432" bIns="27432" anchor="t">
            <a:spAutoFit/>
          </a:bodyPr>
          <a:lstStyle/>
          <a:p>
            <a:pPr algn="l"/>
            <a:r>
              <a:rPr sz="1019" b="1">
                <a:solidFill>
                  <a:srgbClr val="FFFFFF"/>
                </a:solidFill>
                <a:latin typeface="Aptos"/>
              </a:rPr>
              <a:t>CENTRALISER</a:t>
            </a:r>
          </a:p>
        </p:txBody>
      </p:sp>
      <p:sp>
        <p:nvSpPr>
          <p:cNvPr id="7" name="TextBox 6"/>
          <p:cNvSpPr txBox="1"/>
          <p:nvPr/>
        </p:nvSpPr>
        <p:spPr>
          <a:xfrm>
            <a:off x="1078992" y="3310128"/>
            <a:ext cx="1627632" cy="256032"/>
          </a:xfrm>
          <a:prstGeom prst="rect">
            <a:avLst/>
          </a:prstGeom>
          <a:noFill/>
        </p:spPr>
        <p:txBody>
          <a:bodyPr wrap="square" lIns="27432" rIns="27432" tIns="27432" bIns="27432" anchor="t">
            <a:spAutoFit/>
          </a:bodyPr>
          <a:lstStyle/>
          <a:p>
            <a:pPr algn="l"/>
            <a:r>
              <a:rPr sz="950" b="0">
                <a:solidFill>
                  <a:srgbClr val="AFC0D4"/>
                </a:solidFill>
                <a:latin typeface="Aptos"/>
              </a:rPr>
              <a:t>faits officiels</a:t>
            </a:r>
          </a:p>
        </p:txBody>
      </p:sp>
      <p:sp>
        <p:nvSpPr>
          <p:cNvPr id="8" name="Oval 7"/>
          <p:cNvSpPr/>
          <p:nvPr/>
        </p:nvSpPr>
        <p:spPr>
          <a:xfrm>
            <a:off x="2971800" y="3063240"/>
            <a:ext cx="201168" cy="201168"/>
          </a:xfrm>
          <a:prstGeom prst="ellipse">
            <a:avLst/>
          </a:prstGeom>
          <a:solidFill>
            <a:srgbClr val="2D6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00984" y="2990088"/>
            <a:ext cx="1645920" cy="256032"/>
          </a:xfrm>
          <a:prstGeom prst="rect">
            <a:avLst/>
          </a:prstGeom>
          <a:noFill/>
        </p:spPr>
        <p:txBody>
          <a:bodyPr wrap="square" lIns="27432" rIns="27432" tIns="27432" bIns="27432" anchor="t">
            <a:spAutoFit/>
          </a:bodyPr>
          <a:lstStyle/>
          <a:p>
            <a:pPr algn="l"/>
            <a:r>
              <a:rPr sz="1019" b="1">
                <a:solidFill>
                  <a:srgbClr val="FFFFFF"/>
                </a:solidFill>
                <a:latin typeface="Aptos"/>
              </a:rPr>
              <a:t>TRACER</a:t>
            </a:r>
          </a:p>
        </p:txBody>
      </p:sp>
      <p:sp>
        <p:nvSpPr>
          <p:cNvPr id="10" name="TextBox 9"/>
          <p:cNvSpPr txBox="1"/>
          <p:nvPr/>
        </p:nvSpPr>
        <p:spPr>
          <a:xfrm>
            <a:off x="3300984" y="3310128"/>
            <a:ext cx="1627632" cy="256032"/>
          </a:xfrm>
          <a:prstGeom prst="rect">
            <a:avLst/>
          </a:prstGeom>
          <a:noFill/>
        </p:spPr>
        <p:txBody>
          <a:bodyPr wrap="square" lIns="27432" rIns="27432" tIns="27432" bIns="27432" anchor="t">
            <a:spAutoFit/>
          </a:bodyPr>
          <a:lstStyle/>
          <a:p>
            <a:pPr algn="l"/>
            <a:r>
              <a:rPr sz="950" b="0">
                <a:solidFill>
                  <a:srgbClr val="AFC0D4"/>
                </a:solidFill>
                <a:latin typeface="Aptos"/>
              </a:rPr>
              <a:t>sources et contexte</a:t>
            </a:r>
          </a:p>
        </p:txBody>
      </p:sp>
      <p:sp>
        <p:nvSpPr>
          <p:cNvPr id="11" name="Oval 10"/>
          <p:cNvSpPr/>
          <p:nvPr/>
        </p:nvSpPr>
        <p:spPr>
          <a:xfrm>
            <a:off x="5193792" y="3063240"/>
            <a:ext cx="201168" cy="201168"/>
          </a:xfrm>
          <a:prstGeom prst="ellipse">
            <a:avLst/>
          </a:prstGeom>
          <a:solidFill>
            <a:srgbClr val="28B4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522976" y="2990088"/>
            <a:ext cx="1645920" cy="256032"/>
          </a:xfrm>
          <a:prstGeom prst="rect">
            <a:avLst/>
          </a:prstGeom>
          <a:noFill/>
        </p:spPr>
        <p:txBody>
          <a:bodyPr wrap="square" lIns="27432" rIns="27432" tIns="27432" bIns="27432" anchor="t">
            <a:spAutoFit/>
          </a:bodyPr>
          <a:lstStyle/>
          <a:p>
            <a:pPr algn="l"/>
            <a:r>
              <a:rPr sz="1019" b="1">
                <a:solidFill>
                  <a:srgbClr val="FFFFFF"/>
                </a:solidFill>
                <a:latin typeface="Aptos"/>
              </a:rPr>
              <a:t>DÉDUPLIQUER</a:t>
            </a:r>
          </a:p>
        </p:txBody>
      </p:sp>
      <p:sp>
        <p:nvSpPr>
          <p:cNvPr id="13" name="TextBox 12"/>
          <p:cNvSpPr txBox="1"/>
          <p:nvPr/>
        </p:nvSpPr>
        <p:spPr>
          <a:xfrm>
            <a:off x="5522976" y="3310128"/>
            <a:ext cx="1627632" cy="256032"/>
          </a:xfrm>
          <a:prstGeom prst="rect">
            <a:avLst/>
          </a:prstGeom>
          <a:noFill/>
        </p:spPr>
        <p:txBody>
          <a:bodyPr wrap="square" lIns="27432" rIns="27432" tIns="27432" bIns="27432" anchor="t">
            <a:spAutoFit/>
          </a:bodyPr>
          <a:lstStyle/>
          <a:p>
            <a:pPr algn="l"/>
            <a:r>
              <a:rPr sz="950" b="0">
                <a:solidFill>
                  <a:srgbClr val="AFC0D4"/>
                </a:solidFill>
                <a:latin typeface="Aptos"/>
              </a:rPr>
              <a:t>données et envois</a:t>
            </a:r>
          </a:p>
        </p:txBody>
      </p:sp>
      <p:sp>
        <p:nvSpPr>
          <p:cNvPr id="14" name="Oval 13"/>
          <p:cNvSpPr/>
          <p:nvPr/>
        </p:nvSpPr>
        <p:spPr>
          <a:xfrm>
            <a:off x="7415784" y="3063240"/>
            <a:ext cx="201168" cy="201168"/>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44968" y="2990088"/>
            <a:ext cx="1645920" cy="256032"/>
          </a:xfrm>
          <a:prstGeom prst="rect">
            <a:avLst/>
          </a:prstGeom>
          <a:noFill/>
        </p:spPr>
        <p:txBody>
          <a:bodyPr wrap="square" lIns="27432" rIns="27432" tIns="27432" bIns="27432" anchor="t">
            <a:spAutoFit/>
          </a:bodyPr>
          <a:lstStyle/>
          <a:p>
            <a:pPr algn="l"/>
            <a:r>
              <a:rPr sz="1019" b="1">
                <a:solidFill>
                  <a:srgbClr val="FFFFFF"/>
                </a:solidFill>
                <a:latin typeface="Aptos"/>
              </a:rPr>
              <a:t>AUTOMATISER</a:t>
            </a:r>
          </a:p>
        </p:txBody>
      </p:sp>
      <p:sp>
        <p:nvSpPr>
          <p:cNvPr id="16" name="TextBox 15"/>
          <p:cNvSpPr txBox="1"/>
          <p:nvPr/>
        </p:nvSpPr>
        <p:spPr>
          <a:xfrm>
            <a:off x="7744968" y="3310128"/>
            <a:ext cx="1627632" cy="256032"/>
          </a:xfrm>
          <a:prstGeom prst="rect">
            <a:avLst/>
          </a:prstGeom>
          <a:noFill/>
        </p:spPr>
        <p:txBody>
          <a:bodyPr wrap="square" lIns="27432" rIns="27432" tIns="27432" bIns="27432" anchor="t">
            <a:spAutoFit/>
          </a:bodyPr>
          <a:lstStyle/>
          <a:p>
            <a:pPr algn="l"/>
            <a:r>
              <a:rPr sz="950" b="0">
                <a:solidFill>
                  <a:srgbClr val="AFC0D4"/>
                </a:solidFill>
                <a:latin typeface="Aptos"/>
              </a:rPr>
              <a:t>Gmail + Telegram</a:t>
            </a:r>
          </a:p>
        </p:txBody>
      </p:sp>
      <p:sp>
        <p:nvSpPr>
          <p:cNvPr id="17" name="Oval 16"/>
          <p:cNvSpPr/>
          <p:nvPr/>
        </p:nvSpPr>
        <p:spPr>
          <a:xfrm>
            <a:off x="9637776" y="3063240"/>
            <a:ext cx="201168" cy="201168"/>
          </a:xfrm>
          <a:prstGeom prst="ellipse">
            <a:avLst/>
          </a:prstGeom>
          <a:solidFill>
            <a:srgbClr val="7165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0" y="2990088"/>
            <a:ext cx="1645920" cy="256032"/>
          </a:xfrm>
          <a:prstGeom prst="rect">
            <a:avLst/>
          </a:prstGeom>
          <a:noFill/>
        </p:spPr>
        <p:txBody>
          <a:bodyPr wrap="square" lIns="27432" rIns="27432" tIns="27432" bIns="27432" anchor="t">
            <a:spAutoFit/>
          </a:bodyPr>
          <a:lstStyle/>
          <a:p>
            <a:pPr algn="l"/>
            <a:r>
              <a:rPr sz="1019" b="1">
                <a:solidFill>
                  <a:srgbClr val="FFFFFF"/>
                </a:solidFill>
                <a:latin typeface="Aptos"/>
              </a:rPr>
              <a:t>ÉTENDRE</a:t>
            </a:r>
          </a:p>
        </p:txBody>
      </p:sp>
      <p:sp>
        <p:nvSpPr>
          <p:cNvPr id="19" name="TextBox 18"/>
          <p:cNvSpPr txBox="1"/>
          <p:nvPr/>
        </p:nvSpPr>
        <p:spPr>
          <a:xfrm>
            <a:off x="9966960" y="3310128"/>
            <a:ext cx="1627632" cy="256032"/>
          </a:xfrm>
          <a:prstGeom prst="rect">
            <a:avLst/>
          </a:prstGeom>
          <a:noFill/>
        </p:spPr>
        <p:txBody>
          <a:bodyPr wrap="square" lIns="27432" rIns="27432" tIns="27432" bIns="27432" anchor="t">
            <a:spAutoFit/>
          </a:bodyPr>
          <a:lstStyle/>
          <a:p>
            <a:pPr algn="l"/>
            <a:r>
              <a:rPr sz="950" b="0">
                <a:solidFill>
                  <a:srgbClr val="AFC0D4"/>
                </a:solidFill>
                <a:latin typeface="Aptos"/>
              </a:rPr>
              <a:t>skills + MCP</a:t>
            </a:r>
          </a:p>
        </p:txBody>
      </p:sp>
      <p:sp>
        <p:nvSpPr>
          <p:cNvPr id="20" name="Rounded Rectangle 19"/>
          <p:cNvSpPr/>
          <p:nvPr/>
        </p:nvSpPr>
        <p:spPr>
          <a:xfrm>
            <a:off x="749808" y="4041648"/>
            <a:ext cx="10716768" cy="1188720"/>
          </a:xfrm>
          <a:prstGeom prst="roundRect">
            <a:avLst/>
          </a:prstGeom>
          <a:solidFill>
            <a:srgbClr val="132B4B"/>
          </a:solidFill>
          <a:ln w="12700">
            <a:solidFill>
              <a:srgbClr val="2946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78992" y="4160520"/>
            <a:ext cx="2103120" cy="347472"/>
          </a:xfrm>
          <a:prstGeom prst="rect">
            <a:avLst/>
          </a:prstGeom>
          <a:noFill/>
        </p:spPr>
        <p:txBody>
          <a:bodyPr wrap="square" lIns="27432" rIns="27432" tIns="27432" bIns="27432" anchor="t">
            <a:spAutoFit/>
          </a:bodyPr>
          <a:lstStyle/>
          <a:p>
            <a:pPr algn="ctr"/>
            <a:r>
              <a:rPr sz="2200" b="1">
                <a:solidFill>
                  <a:srgbClr val="06A6B5"/>
                </a:solidFill>
                <a:latin typeface="Aptos"/>
              </a:rPr>
              <a:t>100</a:t>
            </a:r>
          </a:p>
        </p:txBody>
      </p:sp>
      <p:sp>
        <p:nvSpPr>
          <p:cNvPr id="22" name="TextBox 21"/>
          <p:cNvSpPr txBox="1"/>
          <p:nvPr/>
        </p:nvSpPr>
        <p:spPr>
          <a:xfrm>
            <a:off x="1078992" y="4663440"/>
            <a:ext cx="2103120" cy="256032"/>
          </a:xfrm>
          <a:prstGeom prst="rect">
            <a:avLst/>
          </a:prstGeom>
          <a:noFill/>
        </p:spPr>
        <p:txBody>
          <a:bodyPr wrap="square" lIns="27432" rIns="27432" tIns="27432" bIns="27432" anchor="t">
            <a:spAutoFit/>
          </a:bodyPr>
          <a:lstStyle/>
          <a:p>
            <a:pPr algn="ctr"/>
            <a:r>
              <a:rPr sz="960" b="1">
                <a:solidFill>
                  <a:srgbClr val="FFFFFF"/>
                </a:solidFill>
                <a:latin typeface="Aptos"/>
              </a:rPr>
              <a:t>AO centralisées</a:t>
            </a:r>
          </a:p>
        </p:txBody>
      </p:sp>
      <p:sp>
        <p:nvSpPr>
          <p:cNvPr id="23" name="TextBox 22"/>
          <p:cNvSpPr txBox="1"/>
          <p:nvPr/>
        </p:nvSpPr>
        <p:spPr>
          <a:xfrm>
            <a:off x="3694176" y="4160520"/>
            <a:ext cx="2103120" cy="347472"/>
          </a:xfrm>
          <a:prstGeom prst="rect">
            <a:avLst/>
          </a:prstGeom>
          <a:noFill/>
        </p:spPr>
        <p:txBody>
          <a:bodyPr wrap="square" lIns="27432" rIns="27432" tIns="27432" bIns="27432" anchor="t">
            <a:spAutoFit/>
          </a:bodyPr>
          <a:lstStyle/>
          <a:p>
            <a:pPr algn="ctr"/>
            <a:r>
              <a:rPr sz="2200" b="1">
                <a:solidFill>
                  <a:srgbClr val="28B487"/>
                </a:solidFill>
                <a:latin typeface="Aptos"/>
              </a:rPr>
              <a:t>152/152</a:t>
            </a:r>
          </a:p>
        </p:txBody>
      </p:sp>
      <p:sp>
        <p:nvSpPr>
          <p:cNvPr id="24" name="TextBox 23"/>
          <p:cNvSpPr txBox="1"/>
          <p:nvPr/>
        </p:nvSpPr>
        <p:spPr>
          <a:xfrm>
            <a:off x="3694176" y="4663440"/>
            <a:ext cx="2103120" cy="256032"/>
          </a:xfrm>
          <a:prstGeom prst="rect">
            <a:avLst/>
          </a:prstGeom>
          <a:noFill/>
        </p:spPr>
        <p:txBody>
          <a:bodyPr wrap="square" lIns="27432" rIns="27432" tIns="27432" bIns="27432" anchor="t">
            <a:spAutoFit/>
          </a:bodyPr>
          <a:lstStyle/>
          <a:p>
            <a:pPr algn="ctr"/>
            <a:r>
              <a:rPr sz="960" b="1">
                <a:solidFill>
                  <a:srgbClr val="FFFFFF"/>
                </a:solidFill>
                <a:latin typeface="Aptos"/>
              </a:rPr>
              <a:t>documents traités</a:t>
            </a:r>
          </a:p>
        </p:txBody>
      </p:sp>
      <p:sp>
        <p:nvSpPr>
          <p:cNvPr id="25" name="TextBox 24"/>
          <p:cNvSpPr txBox="1"/>
          <p:nvPr/>
        </p:nvSpPr>
        <p:spPr>
          <a:xfrm>
            <a:off x="6309359" y="4160520"/>
            <a:ext cx="2103120" cy="347472"/>
          </a:xfrm>
          <a:prstGeom prst="rect">
            <a:avLst/>
          </a:prstGeom>
          <a:noFill/>
        </p:spPr>
        <p:txBody>
          <a:bodyPr wrap="square" lIns="27432" rIns="27432" tIns="27432" bIns="27432" anchor="t">
            <a:spAutoFit/>
          </a:bodyPr>
          <a:lstStyle/>
          <a:p>
            <a:pPr algn="ctr"/>
            <a:r>
              <a:rPr sz="2200" b="1">
                <a:solidFill>
                  <a:srgbClr val="2D65F2"/>
                </a:solidFill>
                <a:latin typeface="Aptos"/>
              </a:rPr>
              <a:t>0</a:t>
            </a:r>
          </a:p>
        </p:txBody>
      </p:sp>
      <p:sp>
        <p:nvSpPr>
          <p:cNvPr id="26" name="TextBox 25"/>
          <p:cNvSpPr txBox="1"/>
          <p:nvPr/>
        </p:nvSpPr>
        <p:spPr>
          <a:xfrm>
            <a:off x="6309359" y="4663440"/>
            <a:ext cx="2103120" cy="256032"/>
          </a:xfrm>
          <a:prstGeom prst="rect">
            <a:avLst/>
          </a:prstGeom>
          <a:noFill/>
        </p:spPr>
        <p:txBody>
          <a:bodyPr wrap="square" lIns="27432" rIns="27432" tIns="27432" bIns="27432" anchor="t">
            <a:spAutoFit/>
          </a:bodyPr>
          <a:lstStyle/>
          <a:p>
            <a:pPr algn="ctr"/>
            <a:r>
              <a:rPr sz="960" b="1">
                <a:solidFill>
                  <a:srgbClr val="FFFFFF"/>
                </a:solidFill>
                <a:latin typeface="Aptos"/>
              </a:rPr>
              <a:t>doublon détecté</a:t>
            </a:r>
          </a:p>
        </p:txBody>
      </p:sp>
      <p:sp>
        <p:nvSpPr>
          <p:cNvPr id="27" name="TextBox 26"/>
          <p:cNvSpPr txBox="1"/>
          <p:nvPr/>
        </p:nvSpPr>
        <p:spPr>
          <a:xfrm>
            <a:off x="8924544" y="4160520"/>
            <a:ext cx="2103120" cy="347472"/>
          </a:xfrm>
          <a:prstGeom prst="rect">
            <a:avLst/>
          </a:prstGeom>
          <a:noFill/>
        </p:spPr>
        <p:txBody>
          <a:bodyPr wrap="square" lIns="27432" rIns="27432" tIns="27432" bIns="27432" anchor="t">
            <a:spAutoFit/>
          </a:bodyPr>
          <a:lstStyle/>
          <a:p>
            <a:pPr algn="ctr"/>
            <a:r>
              <a:rPr sz="2200" b="1">
                <a:solidFill>
                  <a:srgbClr val="F59E0B"/>
                </a:solidFill>
                <a:latin typeface="Aptos"/>
              </a:rPr>
              <a:t>5/5</a:t>
            </a:r>
          </a:p>
        </p:txBody>
      </p:sp>
      <p:sp>
        <p:nvSpPr>
          <p:cNvPr id="28" name="TextBox 27"/>
          <p:cNvSpPr txBox="1"/>
          <p:nvPr/>
        </p:nvSpPr>
        <p:spPr>
          <a:xfrm>
            <a:off x="8924544" y="4663440"/>
            <a:ext cx="2103120" cy="256032"/>
          </a:xfrm>
          <a:prstGeom prst="rect">
            <a:avLst/>
          </a:prstGeom>
          <a:noFill/>
        </p:spPr>
        <p:txBody>
          <a:bodyPr wrap="square" lIns="27432" rIns="27432" tIns="27432" bIns="27432" anchor="t">
            <a:spAutoFit/>
          </a:bodyPr>
          <a:lstStyle/>
          <a:p>
            <a:pPr algn="ctr"/>
            <a:r>
              <a:rPr sz="960" b="1">
                <a:solidFill>
                  <a:srgbClr val="FFFFFF"/>
                </a:solidFill>
                <a:latin typeface="Aptos"/>
              </a:rPr>
              <a:t>outils MCP</a:t>
            </a:r>
          </a:p>
        </p:txBody>
      </p:sp>
      <p:sp>
        <p:nvSpPr>
          <p:cNvPr id="29" name="TextBox 28"/>
          <p:cNvSpPr txBox="1"/>
          <p:nvPr/>
        </p:nvSpPr>
        <p:spPr>
          <a:xfrm>
            <a:off x="1325880" y="5687568"/>
            <a:ext cx="9555480" cy="438912"/>
          </a:xfrm>
          <a:prstGeom prst="rect">
            <a:avLst/>
          </a:prstGeom>
          <a:noFill/>
        </p:spPr>
        <p:txBody>
          <a:bodyPr wrap="square" lIns="27432" rIns="27432" tIns="27432" bIns="27432" anchor="t">
            <a:spAutoFit/>
          </a:bodyPr>
          <a:lstStyle/>
          <a:p>
            <a:pPr algn="ctr"/>
            <a:r>
              <a:rPr sz="1700" b="1">
                <a:solidFill>
                  <a:srgbClr val="D9E6F5"/>
                </a:solidFill>
                <a:latin typeface="Aptos"/>
              </a:rPr>
              <a:t>L’IA reste encadrée par les données, le code et les contrôles métier.</a:t>
            </a:r>
          </a:p>
        </p:txBody>
      </p:sp>
      <p:sp>
        <p:nvSpPr>
          <p:cNvPr id="30" name="TextBox 29"/>
          <p:cNvSpPr txBox="1"/>
          <p:nvPr/>
        </p:nvSpPr>
        <p:spPr>
          <a:xfrm>
            <a:off x="4709160" y="6245352"/>
            <a:ext cx="2834640" cy="256032"/>
          </a:xfrm>
          <a:prstGeom prst="rect">
            <a:avLst/>
          </a:prstGeom>
          <a:noFill/>
        </p:spPr>
        <p:txBody>
          <a:bodyPr wrap="square" lIns="27432" rIns="27432" tIns="27432" bIns="27432" anchor="t">
            <a:spAutoFit/>
          </a:bodyPr>
          <a:lstStyle/>
          <a:p>
            <a:pPr algn="ctr"/>
            <a:r>
              <a:rPr sz="1250" b="1">
                <a:solidFill>
                  <a:srgbClr val="8FE2E7"/>
                </a:solidFill>
                <a:latin typeface="Aptos"/>
              </a:rPr>
              <a:t>Merci —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OneTech Tender Agent — Soutenance de stage</dc:title>
  <dc:subject>Système IA agentique pour la gestion des appels d'offres publics</dc:subject>
  <dc:creator>Khayem Ben Ghorbel</dc:creator>
  <cp:keywords>OneTech, OpenClaw, HAICOP, PostgreSQL, n8n, MCP, IA agentique</cp:keywords>
  <dc:description>Présentation sans secrets — version finale de travail</dc:description>
  <cp:lastModifiedBy>Steve Canny</cp:lastModifiedBy>
  <cp:revision>1</cp:revision>
  <dcterms:created xsi:type="dcterms:W3CDTF">2013-01-27T09:14:16Z</dcterms:created>
  <dcterms:modified xsi:type="dcterms:W3CDTF">2013-01-27T09:15:58Z</dcterms:modified>
  <cp:category/>
</cp:coreProperties>
</file>